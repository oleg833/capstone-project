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&#65279;<?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7560564" cy="10692384"/>
  <p:notesSz cx="7560564" cy="10692384"/>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&#65279;<?xml version="1.0"?><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&#65279;<?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&#65279;<?xml version='1.0' encoding='UTF-8' standalone='yes'?><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9pPr>
    </p:bodyStyle>
    <p:otherStyle>
      <a:defPPr>
        <a:defRPr lang="en-US"/>
      </a:defPPr>
      <a:lvl1pPr marL="0" algn="l" defTabSz="914400" rtl="0" eaLnBrk="1" latinLnBrk="0" hangingPunct="1">
        <a:defRPr sz="1800">
          <a:solidFill>
            <a:schemeClr val="tx1"/>
          </a:solidFill>
          <a:latin typeface="+mn-lt"/>
          <a:ea typeface="+mn-ea"/>
          <a:cs typeface="+mn-cs"/>
        </a:defRPr>
      </a:lvl1pPr>
      <a:lvl2pPr marL="457200" algn="l" defTabSz="914400" rtl="0" eaLnBrk="1" latinLnBrk="0" hangingPunct="1">
        <a:defRPr sz="1800">
          <a:solidFill>
            <a:schemeClr val="tx1"/>
          </a:solidFill>
          <a:latin typeface="+mn-lt"/>
          <a:ea typeface="+mn-ea"/>
          <a:cs typeface="+mn-cs"/>
        </a:defRPr>
      </a:lvl2pPr>
      <a:lvl3pPr marL="914400" algn="l" defTabSz="914400" rtl="0" eaLnBrk="1" latinLnBrk="0" hangingPunct="1">
        <a:defRPr sz="1800">
          <a:solidFill>
            <a:schemeClr val="tx1"/>
          </a:solidFill>
          <a:latin typeface="+mn-lt"/>
          <a:ea typeface="+mn-ea"/>
          <a:cs typeface="+mn-cs"/>
        </a:defRPr>
      </a:lvl3pPr>
      <a:lvl4pPr marL="1371600" algn="l" defTabSz="914400" rtl="0" eaLnBrk="1" latinLnBrk="0" hangingPunct="1">
        <a:defRPr sz="1800">
          <a:solidFill>
            <a:schemeClr val="tx1"/>
          </a:solidFill>
          <a:latin typeface="+mn-lt"/>
          <a:ea typeface="+mn-ea"/>
          <a:cs typeface="+mn-cs"/>
        </a:defRPr>
      </a:lvl4pPr>
      <a:lvl5pPr marL="1828800" algn="l" defTabSz="914400" rtl="0" eaLnBrk="1" latinLnBrk="0" hangingPunct="1">
        <a:defRPr sz="1800">
          <a:solidFill>
            <a:schemeClr val="tx1"/>
          </a:solidFill>
          <a:latin typeface="+mn-lt"/>
          <a:ea typeface="+mn-ea"/>
          <a:cs typeface="+mn-cs"/>
        </a:defRPr>
      </a:lvl5pPr>
      <a:lvl6pPr marL="2286000" algn="l" defTabSz="914400" rtl="0" eaLnBrk="1" latinLnBrk="0" hangingPunct="1">
        <a:defRPr sz="1800">
          <a:solidFill>
            <a:schemeClr val="tx1"/>
          </a:solidFill>
          <a:latin typeface="+mn-lt"/>
          <a:ea typeface="+mn-ea"/>
          <a:cs typeface="+mn-cs"/>
        </a:defRPr>
      </a:lvl6pPr>
      <a:lvl7pPr marL="2743200" algn="l" defTabSz="914400" rtl="0" eaLnBrk="1" latinLnBrk="0" hangingPunct="1">
        <a:defRPr sz="1800">
          <a:solidFill>
            <a:schemeClr val="tx1"/>
          </a:solidFill>
          <a:latin typeface="+mn-lt"/>
          <a:ea typeface="+mn-ea"/>
          <a:cs typeface="+mn-cs"/>
        </a:defRPr>
      </a:lvl7pPr>
      <a:lvl8pPr marL="3200400" algn="l" defTabSz="914400" rtl="0" eaLnBrk="1" latinLnBrk="0" hangingPunct="1">
        <a:defRPr sz="1800">
          <a:solidFill>
            <a:schemeClr val="tx1"/>
          </a:solidFill>
          <a:latin typeface="+mn-lt"/>
          <a:ea typeface="+mn-ea"/>
          <a:cs typeface="+mn-cs"/>
        </a:defRPr>
      </a:lvl8pPr>
      <a:lvl9pPr marL="3657600" algn="l" defTabSz="914400" rtl="0" eaLnBrk="1" latinLnBrk="0" hangingPunct="1">
        <a:defRPr sz="1800">
          <a:solidFill>
            <a:schemeClr val="tx1"/>
          </a:solidFill>
          <a:latin typeface="+mn-lt"/>
          <a:ea typeface="+mn-ea"/>
          <a:cs typeface="+mn-cs"/>
        </a:defRPr>
      </a:lvl9pPr>
    </p:otherStyle>
  </p:txStyles>
</p:sldMaster>
</file>

<file path=ppt/slides/_rels/slide1.xml.rels>&#65279;<?xml version="1.0"?><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leksandra.pieloch@eksoc.uni.lodz.pl' TargetMode='External'/><Relationship Id='rId3' Type='http://schemas.openxmlformats.org/officeDocument/2006/relationships/hyperlink' Target='https://doi.org/10.26642/ppa-2021-1' TargetMode='External'/></Relationships>
</file>

<file path=ppt/slides/_rels/slide2.xml.rels>&#65279;<?xml version="1.0"?><Relationships xmlns='http://schemas.openxmlformats.org/package/2006/relationships'><Relationship Id='rId1' Type='http://schemas.openxmlformats.org/officeDocument/2006/relationships/slideLayout' Target='../slideLayouts/slideLayout1.xml'/></Relationships>
</file>

<file path=ppt/slides/_rels/slide3.xml.rels>&#65279;<?xml version="1.0"?><Relationships xmlns='http://schemas.openxmlformats.org/package/2006/relationships'><Relationship Id='rId1' Type='http://schemas.openxmlformats.org/officeDocument/2006/relationships/slideLayout' Target='../slideLayouts/slideLayout1.xml'/></Relationships>
</file>

<file path=ppt/slides/_rels/slide4.xml.rels>&#65279;<?xml version="1.0"?><Relationships xmlns='http://schemas.openxmlformats.org/package/2006/relationships'><Relationship Id='rId1' Type='http://schemas.openxmlformats.org/officeDocument/2006/relationships/slideLayout' Target='../slideLayouts/slideLayout1.xml'/></Relationships>
</file>

<file path=ppt/slides/_rels/slide5.xml.rels>&#65279;<?xml version="1.0"?><Relationships xmlns='http://schemas.openxmlformats.org/package/2006/relationships'><Relationship Id='rId1' Type='http://schemas.openxmlformats.org/officeDocument/2006/relationships/slideLayout' Target='../slideLayouts/slideLayout1.xml'/></Relationships>
</file>

<file path=ppt/slides/_rels/slide6.xml.rels>&#65279;<?xml version="1.0"?><Relationships xmlns='http://schemas.openxmlformats.org/package/2006/relationships'><Relationship Id='rId1' Type='http://schemas.openxmlformats.org/officeDocument/2006/relationships/slideLayout' Target='../slideLayouts/slideLayout1.xml'/></Relationships>
</file>

<file path=ppt/slides/_rels/slide7.xml.rels>&#65279;<?xml version="1.0"?><Relationships xmlns='http://schemas.openxmlformats.org/package/2006/relationships'><Relationship Id='rId1' Type='http://schemas.openxmlformats.org/officeDocument/2006/relationships/slideLayout' Target='../slideLayouts/slideLayout1.xml'/></Relationships>
</file>

<file path=ppt/slides/_rels/slide8.xml.rels>&#65279;<?xml version="1.0"?><Relationships xmlns='http://schemas.openxmlformats.org/package/2006/relationships'><Relationship Id='rId1' Type='http://schemas.openxmlformats.org/officeDocument/2006/relationships/slideLayout' Target='../slideLayouts/slideLayout1.xml'/></Relationships>
</file>

<file path=ppt/slides/_rels/slide9.xml.rels>&#65279;<?xml version="1.0"?><Relationships xmlns='http://schemas.openxmlformats.org/package/2006/relationships'><Relationship Id='rId4' Type='http://schemas.openxmlformats.org/officeDocument/2006/relationships/hyperlink' Target='http://dx.doi.org/10.3905/jpm.2000.319785' TargetMode='External'/><Relationship Id='rId1' Type='http://schemas.openxmlformats.org/officeDocument/2006/relationships/slideLayout' Target='../slideLayouts/slideLayout1.xml'/><Relationship Id='rId2' Type='http://schemas.openxmlformats.org/officeDocument/2006/relationships/hyperlink' Target='http://dx.doi.org/10.5430/afr.v4n3p66' TargetMode='External'/><Relationship Id='rId3' Type='http://schemas.openxmlformats.org/officeDocument/2006/relationships/hyperlink' Target='http://dx.doi.org/10.1016/j.jfineco.2003.08.001' TargetMode='External'/><Relationship Id='rId5' Type='http://schemas.openxmlformats.org/officeDocument/2006/relationships/hyperlink' Target='http://dx.doi.org/10.1016/j.ejor.2014.08.031' TargetMode='External'/><Relationship Id='rId6' Type='http://schemas.openxmlformats.org/officeDocument/2006/relationships/hyperlink' Target='http://dx.doi.org/10.1080/1540496X.2015.1073991' TargetMode='External'/><Relationship Id='rId7' Type='http://schemas.openxmlformats.org/officeDocument/2006/relationships/hyperlink' Target='http://dx.doi.org/10.1016/j.irfa.2017.04.010' TargetMode='External'/><Relationship Id='rId8' Type='http://schemas.openxmlformats.org/officeDocument/2006/relationships/hyperlink' Target='https://doi.org/10.26642/ppa-2021-1' TargetMode='External'/></Relationships>
</file>

<file path=ppt/slides/slide1.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p:nvPr/>
        </p:nvSpPr>
        <p:spPr>
          <a:xfrm>
            <a:off x="4050157" y="900684"/>
            <a:ext cx="2966339" cy="6096"/>
          </a:xfrm>
          <a:prstGeom prst="rect">
            <a:avLst/>
          </a:prstGeom>
          <a:solidFill>
            <a:srgbClr val="000000"/>
          </a:solidFill>
        </p:spPr>
      </p:sp>
      <p:sp>
        <p:nvSpPr>
          <p:cNvPr id="3" name="shape 3"/>
          <p:cNvSpPr/>
          <p:nvPr/>
        </p:nvSpPr>
        <p:spPr>
          <a:xfrm>
            <a:off x="4041013" y="1350518"/>
            <a:ext cx="2975483" cy="6096"/>
          </a:xfrm>
          <a:prstGeom prst="rect">
            <a:avLst/>
          </a:prstGeom>
          <a:solidFill>
            <a:srgbClr val="000000"/>
          </a:solidFill>
        </p:spPr>
      </p:sp>
      <p:sp>
        <p:nvSpPr>
          <p:cNvPr id="4" name="shape 4"/>
          <p:cNvSpPr/>
          <p:nvPr/>
        </p:nvSpPr>
        <p:spPr>
          <a:xfrm>
            <a:off x="541020" y="4613783"/>
            <a:ext cx="6370320" cy="6097"/>
          </a:xfrm>
          <a:prstGeom prst="rect">
            <a:avLst/>
          </a:prstGeom>
          <a:solidFill>
            <a:srgbClr val="000000"/>
          </a:solidFill>
        </p:spPr>
      </p:sp>
      <p:sp>
        <p:nvSpPr>
          <p:cNvPr id="5" name="shape 5"/>
          <p:cNvSpPr/>
          <p:nvPr/>
        </p:nvSpPr>
        <p:spPr>
          <a:xfrm>
            <a:off x="531876" y="8710930"/>
            <a:ext cx="6379464" cy="6096"/>
          </a:xfrm>
          <a:prstGeom prst="rect">
            <a:avLst/>
          </a:prstGeom>
          <a:solidFill>
            <a:srgbClr val="000000"/>
          </a:solidFill>
        </p:spPr>
      </p:sp>
      <p:sp>
        <p:nvSpPr>
          <p:cNvPr id="6" name="shape 6"/>
          <p:cNvSpPr/>
          <p:nvPr/>
        </p:nvSpPr>
        <p:spPr>
          <a:xfrm>
            <a:off x="541020" y="8921242"/>
            <a:ext cx="1829435" cy="9145"/>
          </a:xfrm>
          <a:prstGeom prst="rect">
            <a:avLst/>
          </a:prstGeom>
          <a:solidFill>
            <a:srgbClr val="000000"/>
          </a:solidFill>
        </p:spPr>
      </p:sp>
      <p:sp>
        <p:nvSpPr>
          <p:cNvPr id="7" name="shape 7"/>
          <p:cNvSpPr txBox="1"/>
          <p:nvPr/>
        </p:nvSpPr>
        <p:spPr>
          <a:xfrm>
            <a:off x="596900" y="891794"/>
            <a:ext cx="6363335" cy="453390"/>
          </a:xfrm>
          <a:prstGeom prst="rect"/>
          <a:noFill/>
        </p:spPr>
        <p:txBody>
          <a:bodyPr vertOverflow="overflow" horzOverflow="overflow" numCol="1" wrap="square" lIns="0" tIns="0" rIns="0" bIns="0">
            <a:spAutoFit/>
          </a:bodyPr>
          <a:p>
            <a:pPr marL="3535045"/>
            <a:r>
              <a:rPr sz="1800" b="1" i="1" spc="-110">
                <a:latin typeface="Arial"/>
                <a:cs typeface="Arial"/>
              </a:rPr>
              <a:t>Public Policy and Accounting</a:t>
            </a:r>
            <a:endParaRPr/>
          </a:p>
          <a:p>
            <a:pPr marL="5311140">
              <a:lnSpc>
                <a:spcPts val="1410"/>
              </a:lnSpc>
            </a:pPr>
            <a:r>
              <a:rPr sz="1200" b="1">
                <a:latin typeface="Times New Roman"/>
                <a:cs typeface="Times New Roman"/>
              </a:rPr>
              <a:t>ISSN 2707-9325</a:t>
            </a:r>
            <a:endParaRPr/>
          </a:p>
        </p:txBody>
      </p:sp>
      <p:sp>
        <p:nvSpPr>
          <p:cNvPr id="8" name="shape 8"/>
          <p:cNvSpPr txBox="1"/>
          <p:nvPr/>
        </p:nvSpPr>
        <p:spPr>
          <a:xfrm>
            <a:off x="596900" y="1932686"/>
            <a:ext cx="6363335" cy="2410257"/>
          </a:xfrm>
          <a:prstGeom prst="rect"/>
          <a:noFill/>
        </p:spPr>
        <p:txBody>
          <a:bodyPr vertOverflow="overflow" horzOverflow="overflow" numCol="1" wrap="square" lIns="0" tIns="0" rIns="0" bIns="0">
            <a:spAutoFit/>
          </a:bodyPr>
          <a:p>
            <a:pPr marL="291465" marR="288290" algn="ctr">
              <a:lnSpc>
                <a:spcPct val="95916"/>
              </a:lnSpc>
            </a:pPr>
            <a:r>
              <a:rPr sz="2400" b="1">
                <a:latin typeface="Times New Roman"/>
                <a:cs typeface="Times New Roman"/>
              </a:rPr>
              <a:t>The first-largest shareholder and the </a:t>
            </a:r>
            <a:r>
              <a:rPr sz="2400" b="1" spc="-15">
                <a:latin typeface="Times New Roman"/>
                <a:cs typeface="Times New Roman"/>
              </a:rPr>
              <a:t>attractiveness of investing in Polish dividend </a:t>
            </a:r>
            <a:r>
              <a:rPr sz="2400" b="1">
                <a:latin typeface="Times New Roman"/>
                <a:cs typeface="Times New Roman"/>
              </a:rPr>
              <a:t>companies</a:t>
            </a:r>
            <a:r>
              <a:rPr sz="2400" b="1" spc="-5" baseline="53888">
                <a:latin typeface="Times New Roman"/>
                <a:cs typeface="Times New Roman"/>
              </a:rPr>
              <a:t>**</a:t>
            </a:r>
            <a:endParaRPr/>
          </a:p>
          <a:p>
            <a:pPr/>
            <a:r>
              <a:rPr sz="1000">
                <a:latin typeface="Times New Roman"/>
                <a:cs typeface="Times New Roman"/>
              </a:rPr>
              <a:t/>
            </a:r>
            <a:endParaRPr sz="1000"/>
          </a:p>
          <a:p>
            <a:pPr marL="2085975">
              <a:spcBef>
                <a:spcPts val="1000"/>
              </a:spcBef>
            </a:pPr>
            <a:r>
              <a:rPr sz="1400" b="1">
                <a:latin typeface="Times New Roman"/>
                <a:cs typeface="Times New Roman"/>
              </a:rPr>
              <a:t>Aleksandra Pieloch-Babiarz</a:t>
            </a:r>
            <a:r>
              <a:rPr sz="1400" b="1" baseline="51904">
                <a:latin typeface="Times New Roman"/>
                <a:cs typeface="Times New Roman"/>
              </a:rPr>
              <a:t>1</a:t>
            </a:r>
            <a:endParaRPr/>
          </a:p>
          <a:p>
            <a:pPr/>
            <a:r>
              <a:rPr sz="1000">
                <a:latin typeface="Times New Roman"/>
                <a:cs typeface="Times New Roman"/>
              </a:rPr>
              <a:t/>
            </a:r>
            <a:endParaRPr sz="1000"/>
          </a:p>
          <a:p>
            <a:pPr marL="686435" marR="679450" algn="ctr">
              <a:lnSpc>
                <a:spcPct val="95680"/>
              </a:lnSpc>
              <a:spcBef>
                <a:spcPts val="1100"/>
              </a:spcBef>
            </a:pPr>
            <a:r>
              <a:rPr sz="1000" i="1" spc="-5">
                <a:latin typeface="Times New Roman"/>
                <a:cs typeface="Times New Roman"/>
              </a:rPr>
              <a:t>PhD, Department of International Finance and Investments, Faculty of Economics and Sociology, </a:t>
            </a:r>
            <a:r>
              <a:rPr sz="1000" i="1">
                <a:latin typeface="Times New Roman"/>
                <a:cs typeface="Times New Roman"/>
              </a:rPr>
              <a:t>University of Lodz</a:t>
            </a:r>
            <a:endParaRPr/>
          </a:p>
          <a:p>
            <a:pPr marL="2285365">
              <a:spcBef>
                <a:spcPts val="1000"/>
              </a:spcBef>
            </a:pPr>
            <a:r>
              <a:rPr sz="1000" i="1">
                <a:latin typeface="Times New Roman"/>
                <a:cs typeface="Times New Roman"/>
              </a:rPr>
              <a:t>JEL Classification: G30, G32, G35</a:t>
            </a:r>
            <a:endParaRPr/>
          </a:p>
        </p:txBody>
      </p:sp>
      <p:sp>
        <p:nvSpPr>
          <p:cNvPr id="9" name="shape 9"/>
          <p:cNvSpPr txBox="1"/>
          <p:nvPr/>
        </p:nvSpPr>
        <p:spPr>
          <a:xfrm>
            <a:off x="596900" y="4756531"/>
            <a:ext cx="6363335" cy="152400"/>
          </a:xfrm>
          <a:prstGeom prst="rect"/>
          <a:noFill/>
        </p:spPr>
        <p:txBody>
          <a:bodyPr vertOverflow="overflow" horzOverflow="overflow" numCol="1" wrap="square" lIns="0" tIns="0" rIns="0" bIns="0">
            <a:spAutoFit/>
          </a:bodyPr>
          <a:p>
            <a:pPr marL="12700"/>
            <a:r>
              <a:rPr sz="1000" b="1">
                <a:latin typeface="Times New Roman"/>
                <a:cs typeface="Times New Roman"/>
              </a:rPr>
              <a:t>Abstract</a:t>
            </a:r>
            <a:endParaRPr/>
          </a:p>
        </p:txBody>
      </p:sp>
      <p:sp>
        <p:nvSpPr>
          <p:cNvPr id="10" name="shape 10"/>
          <p:cNvSpPr txBox="1"/>
          <p:nvPr/>
        </p:nvSpPr>
        <p:spPr>
          <a:xfrm>
            <a:off x="596900" y="5051171"/>
            <a:ext cx="6259195" cy="3503675"/>
          </a:xfrm>
          <a:prstGeom prst="rect"/>
          <a:noFill/>
        </p:spPr>
        <p:txBody>
          <a:bodyPr vertOverflow="overflow" horzOverflow="overflow" numCol="1" wrap="square" lIns="0" tIns="0" rIns="0" bIns="0">
            <a:spAutoFit/>
          </a:bodyPr>
          <a:p>
            <a:pPr marL="12700" marR="12700" indent="179705" algn="just">
              <a:lnSpc>
                <a:spcPct val="96307"/>
              </a:lnSpc>
            </a:pPr>
            <a:r>
              <a:rPr sz="1000">
                <a:latin typeface="Times New Roman"/>
                <a:cs typeface="Times New Roman"/>
              </a:rPr>
              <a:t>The purpose of this article is to examine the attractiveness of investing in shares of listed companies that regularly pay out dividends depending on the type of the first-largest shareholder. In order to achieve the aim of the paper, two following research questions we formulated: 1) in which companies, broken down by type of the first-largest shareholder, is the highest dividend payment observed? 2) considering the main shareholder, owning shares of which dividend companies is most beneficial for a stock market investor? Furthermore, the research hypothesis is: when investing in dividend, the most attractive investments are those companies in which the most shares are held by institutional investors and the State Treasury. The research was conducted on non-financial companies listed on the Warsaw Stock Exchange in the years 2005-2019 that regularly paid out dividends. The main research method was the classical technique for order of preference by similarity to ideal solution (i.e., TOPSIS) in which stimulants and destimulants were selected in a way which enables to assess the investment attractiveness from the point of view of a long-term stock market investor interested in dividend. Moreover, the Pearson correlation matrix and descriptive statistics were used. In order to conduct the computation we used the statistical software Statistica 13.5 and Excel.</a:t>
            </a:r>
            <a:endParaRPr/>
          </a:p>
          <a:p>
            <a:pPr marL="192405" algn="just">
              <a:lnSpc>
                <a:spcPts val="1175"/>
              </a:lnSpc>
            </a:pPr>
            <a:r>
              <a:rPr sz="1000" spc="-5">
                <a:latin typeface="Times New Roman"/>
                <a:cs typeface="Times New Roman"/>
              </a:rPr>
              <a:t>The</a:t>
            </a:r>
            <a:r>
              <a:rPr sz="1000" spc="285">
                <a:latin typeface="Times New Roman"/>
                <a:cs typeface="Times New Roman"/>
              </a:rPr>
              <a:t> </a:t>
            </a:r>
            <a:r>
              <a:rPr sz="1000" spc="-5">
                <a:latin typeface="Times New Roman"/>
                <a:cs typeface="Times New Roman"/>
              </a:rPr>
              <a:t>research</a:t>
            </a:r>
            <a:r>
              <a:rPr sz="1000" spc="280">
                <a:latin typeface="Times New Roman"/>
                <a:cs typeface="Times New Roman"/>
              </a:rPr>
              <a:t> </a:t>
            </a:r>
            <a:r>
              <a:rPr sz="1000" spc="-5">
                <a:latin typeface="Times New Roman"/>
                <a:cs typeface="Times New Roman"/>
              </a:rPr>
              <a:t>revealed</a:t>
            </a:r>
            <a:r>
              <a:rPr sz="1000" spc="290">
                <a:latin typeface="Times New Roman"/>
                <a:cs typeface="Times New Roman"/>
              </a:rPr>
              <a:t> </a:t>
            </a:r>
            <a:r>
              <a:rPr sz="1000" spc="-5">
                <a:latin typeface="Times New Roman"/>
                <a:cs typeface="Times New Roman"/>
              </a:rPr>
              <a:t>that</a:t>
            </a:r>
            <a:r>
              <a:rPr sz="1000" spc="285">
                <a:latin typeface="Times New Roman"/>
                <a:cs typeface="Times New Roman"/>
              </a:rPr>
              <a:t> </a:t>
            </a:r>
            <a:r>
              <a:rPr sz="1000" spc="-5">
                <a:latin typeface="Times New Roman"/>
                <a:cs typeface="Times New Roman"/>
              </a:rPr>
              <a:t>the</a:t>
            </a:r>
            <a:r>
              <a:rPr sz="1000" spc="285">
                <a:latin typeface="Times New Roman"/>
                <a:cs typeface="Times New Roman"/>
              </a:rPr>
              <a:t> </a:t>
            </a:r>
            <a:r>
              <a:rPr sz="1000" spc="-5">
                <a:latin typeface="Times New Roman"/>
                <a:cs typeface="Times New Roman"/>
              </a:rPr>
              <a:t>highest</a:t>
            </a:r>
            <a:r>
              <a:rPr sz="1000" spc="285">
                <a:latin typeface="Times New Roman"/>
                <a:cs typeface="Times New Roman"/>
              </a:rPr>
              <a:t> </a:t>
            </a:r>
            <a:r>
              <a:rPr sz="1000" spc="-5">
                <a:latin typeface="Times New Roman"/>
                <a:cs typeface="Times New Roman"/>
              </a:rPr>
              <a:t>dividends</a:t>
            </a:r>
            <a:r>
              <a:rPr sz="1000" spc="295">
                <a:latin typeface="Times New Roman"/>
                <a:cs typeface="Times New Roman"/>
              </a:rPr>
              <a:t> </a:t>
            </a:r>
            <a:r>
              <a:rPr sz="1000" spc="-5">
                <a:latin typeface="Times New Roman"/>
                <a:cs typeface="Times New Roman"/>
              </a:rPr>
              <a:t>were</a:t>
            </a:r>
            <a:r>
              <a:rPr sz="1000" spc="300">
                <a:latin typeface="Times New Roman"/>
                <a:cs typeface="Times New Roman"/>
              </a:rPr>
              <a:t> </a:t>
            </a:r>
            <a:r>
              <a:rPr sz="1000" spc="-5">
                <a:latin typeface="Times New Roman"/>
                <a:cs typeface="Times New Roman"/>
              </a:rPr>
              <a:t>paid</a:t>
            </a:r>
            <a:r>
              <a:rPr sz="1000" spc="290">
                <a:latin typeface="Times New Roman"/>
                <a:cs typeface="Times New Roman"/>
              </a:rPr>
              <a:t> </a:t>
            </a:r>
            <a:r>
              <a:rPr sz="1000" spc="-5">
                <a:latin typeface="Times New Roman"/>
                <a:cs typeface="Times New Roman"/>
              </a:rPr>
              <a:t>out</a:t>
            </a:r>
            <a:r>
              <a:rPr sz="1000" spc="285">
                <a:latin typeface="Times New Roman"/>
                <a:cs typeface="Times New Roman"/>
              </a:rPr>
              <a:t> </a:t>
            </a:r>
            <a:r>
              <a:rPr sz="1000" spc="-5">
                <a:latin typeface="Times New Roman"/>
                <a:cs typeface="Times New Roman"/>
              </a:rPr>
              <a:t>by</a:t>
            </a:r>
            <a:r>
              <a:rPr sz="1000" spc="265">
                <a:latin typeface="Times New Roman"/>
                <a:cs typeface="Times New Roman"/>
              </a:rPr>
              <a:t> </a:t>
            </a:r>
            <a:r>
              <a:rPr sz="1000" spc="-5">
                <a:latin typeface="Times New Roman"/>
                <a:cs typeface="Times New Roman"/>
              </a:rPr>
              <a:t>these</a:t>
            </a:r>
            <a:r>
              <a:rPr sz="1000" spc="285">
                <a:latin typeface="Times New Roman"/>
                <a:cs typeface="Times New Roman"/>
              </a:rPr>
              <a:t> </a:t>
            </a:r>
            <a:r>
              <a:rPr sz="1000" spc="-5">
                <a:latin typeface="Times New Roman"/>
                <a:cs typeface="Times New Roman"/>
              </a:rPr>
              <a:t>companies</a:t>
            </a:r>
            <a:r>
              <a:rPr sz="1000" spc="280">
                <a:latin typeface="Times New Roman"/>
                <a:cs typeface="Times New Roman"/>
              </a:rPr>
              <a:t> </a:t>
            </a:r>
            <a:r>
              <a:rPr sz="1000" spc="-5">
                <a:latin typeface="Times New Roman"/>
                <a:cs typeface="Times New Roman"/>
              </a:rPr>
              <a:t>in</a:t>
            </a:r>
            <a:r>
              <a:rPr sz="1000" spc="290">
                <a:latin typeface="Times New Roman"/>
                <a:cs typeface="Times New Roman"/>
              </a:rPr>
              <a:t> </a:t>
            </a:r>
            <a:r>
              <a:rPr sz="1000" spc="-5">
                <a:latin typeface="Times New Roman"/>
                <a:cs typeface="Times New Roman"/>
              </a:rPr>
              <a:t>which</a:t>
            </a:r>
            <a:r>
              <a:rPr sz="1000" spc="280">
                <a:latin typeface="Times New Roman"/>
                <a:cs typeface="Times New Roman"/>
              </a:rPr>
              <a:t> </a:t>
            </a:r>
            <a:r>
              <a:rPr sz="1000" spc="-5">
                <a:latin typeface="Times New Roman"/>
                <a:cs typeface="Times New Roman"/>
              </a:rPr>
              <a:t>the</a:t>
            </a:r>
            <a:r>
              <a:rPr sz="1000" spc="300">
                <a:latin typeface="Times New Roman"/>
                <a:cs typeface="Times New Roman"/>
              </a:rPr>
              <a:t> </a:t>
            </a:r>
            <a:r>
              <a:rPr sz="1000" spc="-5">
                <a:latin typeface="Times New Roman"/>
                <a:cs typeface="Times New Roman"/>
              </a:rPr>
              <a:t>first-largest</a:t>
            </a:r>
            <a:endParaRPr/>
          </a:p>
          <a:p>
            <a:pPr marL="12700" algn="just">
              <a:lnSpc>
                <a:spcPts val="1145"/>
              </a:lnSpc>
            </a:pPr>
            <a:r>
              <a:rPr sz="1000">
                <a:latin typeface="Times New Roman"/>
                <a:cs typeface="Times New Roman"/>
              </a:rPr>
              <a:t>shareholder was the institutional investor. In addition, our calculations based on a synthetic indicator showed that the most</a:t>
            </a:r>
            <a:endParaRPr/>
          </a:p>
          <a:p>
            <a:pPr marL="12700" algn="just">
              <a:lnSpc>
                <a:spcPts val="1155"/>
              </a:lnSpc>
            </a:pPr>
            <a:r>
              <a:rPr sz="1000">
                <a:latin typeface="Times New Roman"/>
                <a:cs typeface="Times New Roman"/>
              </a:rPr>
              <a:t>attractive investments (in terms of stock market investor interested in so called ‘dividend investing’) were shares of these</a:t>
            </a:r>
            <a:endParaRPr/>
          </a:p>
          <a:p>
            <a:pPr marL="12700" algn="just">
              <a:lnSpc>
                <a:spcPts val="1135"/>
              </a:lnSpc>
            </a:pPr>
            <a:r>
              <a:rPr sz="1000">
                <a:latin typeface="Times New Roman"/>
                <a:cs typeface="Times New Roman"/>
              </a:rPr>
              <a:t>companies</a:t>
            </a:r>
            <a:r>
              <a:rPr sz="1000" spc="70">
                <a:latin typeface="Times New Roman"/>
                <a:cs typeface="Times New Roman"/>
              </a:rPr>
              <a:t> </a:t>
            </a:r>
            <a:r>
              <a:rPr sz="1000">
                <a:latin typeface="Times New Roman"/>
                <a:cs typeface="Times New Roman"/>
              </a:rPr>
              <a:t>in</a:t>
            </a:r>
            <a:r>
              <a:rPr sz="1000" spc="80">
                <a:latin typeface="Times New Roman"/>
                <a:cs typeface="Times New Roman"/>
              </a:rPr>
              <a:t> </a:t>
            </a:r>
            <a:r>
              <a:rPr sz="1000">
                <a:latin typeface="Times New Roman"/>
                <a:cs typeface="Times New Roman"/>
              </a:rPr>
              <a:t>which</a:t>
            </a:r>
            <a:r>
              <a:rPr sz="1000" spc="7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main</a:t>
            </a:r>
            <a:r>
              <a:rPr sz="1000" spc="80">
                <a:latin typeface="Times New Roman"/>
                <a:cs typeface="Times New Roman"/>
              </a:rPr>
              <a:t> </a:t>
            </a:r>
            <a:r>
              <a:rPr sz="1000">
                <a:latin typeface="Times New Roman"/>
                <a:cs typeface="Times New Roman"/>
              </a:rPr>
              <a:t>shareholder</a:t>
            </a:r>
            <a:r>
              <a:rPr sz="1000" spc="90">
                <a:latin typeface="Times New Roman"/>
                <a:cs typeface="Times New Roman"/>
              </a:rPr>
              <a:t> </a:t>
            </a:r>
            <a:r>
              <a:rPr sz="1000">
                <a:latin typeface="Times New Roman"/>
                <a:cs typeface="Times New Roman"/>
              </a:rPr>
              <a:t>was</a:t>
            </a:r>
            <a:r>
              <a:rPr sz="1000" spc="70">
                <a:latin typeface="Times New Roman"/>
                <a:cs typeface="Times New Roman"/>
              </a:rPr>
              <a:t> </a:t>
            </a:r>
            <a:r>
              <a:rPr sz="1000">
                <a:latin typeface="Times New Roman"/>
                <a:cs typeface="Times New Roman"/>
              </a:rPr>
              <a:t>an</a:t>
            </a:r>
            <a:r>
              <a:rPr sz="1000" spc="65">
                <a:latin typeface="Times New Roman"/>
                <a:cs typeface="Times New Roman"/>
              </a:rPr>
              <a:t> </a:t>
            </a:r>
            <a:r>
              <a:rPr sz="1000">
                <a:latin typeface="Times New Roman"/>
                <a:cs typeface="Times New Roman"/>
              </a:rPr>
              <a:t>institutional</a:t>
            </a:r>
            <a:r>
              <a:rPr sz="1000" spc="75">
                <a:latin typeface="Times New Roman"/>
                <a:cs typeface="Times New Roman"/>
              </a:rPr>
              <a:t> </a:t>
            </a:r>
            <a:r>
              <a:rPr sz="1000">
                <a:latin typeface="Times New Roman"/>
                <a:cs typeface="Times New Roman"/>
              </a:rPr>
              <a:t>investor,</a:t>
            </a:r>
            <a:r>
              <a:rPr sz="1000" spc="75">
                <a:latin typeface="Times New Roman"/>
                <a:cs typeface="Times New Roman"/>
              </a:rPr>
              <a:t> </a:t>
            </a:r>
            <a:r>
              <a:rPr sz="1000">
                <a:latin typeface="Times New Roman"/>
                <a:cs typeface="Times New Roman"/>
              </a:rPr>
              <a:t>individual</a:t>
            </a:r>
            <a:r>
              <a:rPr sz="1000" spc="75">
                <a:latin typeface="Times New Roman"/>
                <a:cs typeface="Times New Roman"/>
              </a:rPr>
              <a:t> </a:t>
            </a:r>
            <a:r>
              <a:rPr sz="1000">
                <a:latin typeface="Times New Roman"/>
                <a:cs typeface="Times New Roman"/>
              </a:rPr>
              <a:t>investor</a:t>
            </a:r>
            <a:r>
              <a:rPr sz="1000" spc="75">
                <a:latin typeface="Times New Roman"/>
                <a:cs typeface="Times New Roman"/>
              </a:rPr>
              <a:t> </a:t>
            </a:r>
            <a:r>
              <a:rPr sz="1000">
                <a:latin typeface="Times New Roman"/>
                <a:cs typeface="Times New Roman"/>
              </a:rPr>
              <a:t>and</a:t>
            </a:r>
            <a:r>
              <a:rPr sz="1000" spc="80">
                <a:latin typeface="Times New Roman"/>
                <a:cs typeface="Times New Roman"/>
              </a:rPr>
              <a:t> </a:t>
            </a:r>
            <a:r>
              <a:rPr sz="1000">
                <a:latin typeface="Times New Roman"/>
                <a:cs typeface="Times New Roman"/>
              </a:rPr>
              <a:t>legal</a:t>
            </a:r>
            <a:r>
              <a:rPr sz="1000" spc="75">
                <a:latin typeface="Times New Roman"/>
                <a:cs typeface="Times New Roman"/>
              </a:rPr>
              <a:t> </a:t>
            </a:r>
            <a:r>
              <a:rPr sz="1000">
                <a:latin typeface="Times New Roman"/>
                <a:cs typeface="Times New Roman"/>
              </a:rPr>
              <a:t>person.</a:t>
            </a:r>
            <a:r>
              <a:rPr sz="1000" spc="75">
                <a:latin typeface="Times New Roman"/>
                <a:cs typeface="Times New Roman"/>
              </a:rPr>
              <a:t> </a:t>
            </a:r>
            <a:r>
              <a:rPr sz="1000">
                <a:latin typeface="Times New Roman"/>
                <a:cs typeface="Times New Roman"/>
              </a:rPr>
              <a:t>In</a:t>
            </a:r>
            <a:r>
              <a:rPr sz="1000" spc="65">
                <a:latin typeface="Times New Roman"/>
                <a:cs typeface="Times New Roman"/>
              </a:rPr>
              <a:t> </a:t>
            </a:r>
            <a:r>
              <a:rPr sz="1000">
                <a:latin typeface="Times New Roman"/>
                <a:cs typeface="Times New Roman"/>
              </a:rPr>
              <a:t>all</a:t>
            </a:r>
            <a:r>
              <a:rPr sz="1000" spc="75">
                <a:latin typeface="Times New Roman"/>
                <a:cs typeface="Times New Roman"/>
              </a:rPr>
              <a:t> </a:t>
            </a:r>
            <a:r>
              <a:rPr sz="1000">
                <a:latin typeface="Times New Roman"/>
                <a:cs typeface="Times New Roman"/>
              </a:rPr>
              <a:t>these</a:t>
            </a:r>
            <a:endParaRPr/>
          </a:p>
          <a:p>
            <a:pPr marL="12700" algn="just">
              <a:lnSpc>
                <a:spcPts val="1155"/>
              </a:lnSpc>
            </a:pPr>
            <a:r>
              <a:rPr sz="1000">
                <a:latin typeface="Times New Roman"/>
                <a:cs typeface="Times New Roman"/>
              </a:rPr>
              <a:t>types</a:t>
            </a:r>
            <a:r>
              <a:rPr sz="1000" spc="70">
                <a:latin typeface="Times New Roman"/>
                <a:cs typeface="Times New Roman"/>
              </a:rPr>
              <a:t> </a:t>
            </a:r>
            <a:r>
              <a:rPr sz="1000">
                <a:latin typeface="Times New Roman"/>
                <a:cs typeface="Times New Roman"/>
              </a:rPr>
              <a:t>of</a:t>
            </a:r>
            <a:r>
              <a:rPr sz="1000" spc="65">
                <a:latin typeface="Times New Roman"/>
                <a:cs typeface="Times New Roman"/>
              </a:rPr>
              <a:t> </a:t>
            </a:r>
            <a:r>
              <a:rPr sz="1000">
                <a:latin typeface="Times New Roman"/>
                <a:cs typeface="Times New Roman"/>
              </a:rPr>
              <a:t>companies,</a:t>
            </a:r>
            <a:r>
              <a:rPr sz="1000" spc="7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average</a:t>
            </a:r>
            <a:r>
              <a:rPr sz="1000" spc="75">
                <a:latin typeface="Times New Roman"/>
                <a:cs typeface="Times New Roman"/>
              </a:rPr>
              <a:t> </a:t>
            </a:r>
            <a:r>
              <a:rPr sz="1000">
                <a:latin typeface="Times New Roman"/>
                <a:cs typeface="Times New Roman"/>
              </a:rPr>
              <a:t>value</a:t>
            </a:r>
            <a:r>
              <a:rPr sz="1000" spc="75">
                <a:latin typeface="Times New Roman"/>
                <a:cs typeface="Times New Roman"/>
              </a:rPr>
              <a:t> </a:t>
            </a:r>
            <a:r>
              <a:rPr sz="1000">
                <a:latin typeface="Times New Roman"/>
                <a:cs typeface="Times New Roman"/>
              </a:rPr>
              <a:t>of</a:t>
            </a:r>
            <a:r>
              <a:rPr sz="1000" spc="65">
                <a:latin typeface="Times New Roman"/>
                <a:cs typeface="Times New Roman"/>
              </a:rPr>
              <a:t> </a:t>
            </a:r>
            <a:r>
              <a:rPr sz="1000">
                <a:latin typeface="Times New Roman"/>
                <a:cs typeface="Times New Roman"/>
              </a:rPr>
              <a:t>dividend</a:t>
            </a:r>
            <a:r>
              <a:rPr sz="1000" spc="80">
                <a:latin typeface="Times New Roman"/>
                <a:cs typeface="Times New Roman"/>
              </a:rPr>
              <a:t> </a:t>
            </a:r>
            <a:r>
              <a:rPr sz="1000">
                <a:latin typeface="Times New Roman"/>
                <a:cs typeface="Times New Roman"/>
              </a:rPr>
              <a:t>payout</a:t>
            </a:r>
            <a:r>
              <a:rPr sz="1000" spc="70">
                <a:latin typeface="Times New Roman"/>
                <a:cs typeface="Times New Roman"/>
              </a:rPr>
              <a:t> </a:t>
            </a:r>
            <a:r>
              <a:rPr sz="1000">
                <a:latin typeface="Times New Roman"/>
                <a:cs typeface="Times New Roman"/>
              </a:rPr>
              <a:t>ratio</a:t>
            </a:r>
            <a:r>
              <a:rPr sz="1000" spc="90">
                <a:latin typeface="Times New Roman"/>
                <a:cs typeface="Times New Roman"/>
              </a:rPr>
              <a:t> </a:t>
            </a:r>
            <a:r>
              <a:rPr sz="1000">
                <a:latin typeface="Times New Roman"/>
                <a:cs typeface="Times New Roman"/>
              </a:rPr>
              <a:t>was</a:t>
            </a:r>
            <a:r>
              <a:rPr sz="1000" spc="80">
                <a:latin typeface="Times New Roman"/>
                <a:cs typeface="Times New Roman"/>
              </a:rPr>
              <a:t> </a:t>
            </a:r>
            <a:r>
              <a:rPr sz="1000">
                <a:latin typeface="Times New Roman"/>
                <a:cs typeface="Times New Roman"/>
              </a:rPr>
              <a:t>higher</a:t>
            </a:r>
            <a:r>
              <a:rPr sz="1000" spc="80">
                <a:latin typeface="Times New Roman"/>
                <a:cs typeface="Times New Roman"/>
              </a:rPr>
              <a:t> </a:t>
            </a:r>
            <a:r>
              <a:rPr sz="1000">
                <a:latin typeface="Times New Roman"/>
                <a:cs typeface="Times New Roman"/>
              </a:rPr>
              <a:t>than</a:t>
            </a:r>
            <a:r>
              <a:rPr sz="1000" spc="80">
                <a:latin typeface="Times New Roman"/>
                <a:cs typeface="Times New Roman"/>
              </a:rPr>
              <a:t> </a:t>
            </a:r>
            <a:r>
              <a:rPr sz="1000">
                <a:latin typeface="Times New Roman"/>
                <a:cs typeface="Times New Roman"/>
              </a:rPr>
              <a:t>in</a:t>
            </a:r>
            <a:r>
              <a:rPr sz="1000" spc="75">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entire</a:t>
            </a:r>
            <a:r>
              <a:rPr sz="1000" spc="75">
                <a:latin typeface="Times New Roman"/>
                <a:cs typeface="Times New Roman"/>
              </a:rPr>
              <a:t> </a:t>
            </a:r>
            <a:r>
              <a:rPr sz="1000">
                <a:latin typeface="Times New Roman"/>
                <a:cs typeface="Times New Roman"/>
              </a:rPr>
              <a:t>research</a:t>
            </a:r>
            <a:r>
              <a:rPr sz="1000" spc="80">
                <a:latin typeface="Times New Roman"/>
                <a:cs typeface="Times New Roman"/>
              </a:rPr>
              <a:t> </a:t>
            </a:r>
            <a:r>
              <a:rPr sz="1000">
                <a:latin typeface="Times New Roman"/>
                <a:cs typeface="Times New Roman"/>
              </a:rPr>
              <a:t>group.</a:t>
            </a:r>
            <a:r>
              <a:rPr sz="1000" spc="7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fourth</a:t>
            </a:r>
            <a:endParaRPr/>
          </a:p>
          <a:p>
            <a:pPr marL="12700" algn="just">
              <a:lnSpc>
                <a:spcPts val="1150"/>
              </a:lnSpc>
            </a:pPr>
            <a:r>
              <a:rPr sz="1000">
                <a:latin typeface="Times New Roman"/>
                <a:cs typeface="Times New Roman"/>
              </a:rPr>
              <a:t>position</a:t>
            </a:r>
            <a:r>
              <a:rPr sz="1000" spc="104">
                <a:latin typeface="Times New Roman"/>
                <a:cs typeface="Times New Roman"/>
              </a:rPr>
              <a:t> </a:t>
            </a:r>
            <a:r>
              <a:rPr sz="1000">
                <a:latin typeface="Times New Roman"/>
                <a:cs typeface="Times New Roman"/>
              </a:rPr>
              <a:t>in</a:t>
            </a:r>
            <a:r>
              <a:rPr sz="1000" spc="100">
                <a:latin typeface="Times New Roman"/>
                <a:cs typeface="Times New Roman"/>
              </a:rPr>
              <a:t> </a:t>
            </a:r>
            <a:r>
              <a:rPr sz="1000">
                <a:latin typeface="Times New Roman"/>
                <a:cs typeface="Times New Roman"/>
              </a:rPr>
              <a:t>terms</a:t>
            </a:r>
            <a:r>
              <a:rPr sz="1000" spc="104">
                <a:latin typeface="Times New Roman"/>
                <a:cs typeface="Times New Roman"/>
              </a:rPr>
              <a:t> </a:t>
            </a:r>
            <a:r>
              <a:rPr sz="1000">
                <a:latin typeface="Times New Roman"/>
                <a:cs typeface="Times New Roman"/>
              </a:rPr>
              <a:t>of</a:t>
            </a:r>
            <a:r>
              <a:rPr sz="1000" spc="100">
                <a:latin typeface="Times New Roman"/>
                <a:cs typeface="Times New Roman"/>
              </a:rPr>
              <a:t> </a:t>
            </a:r>
            <a:r>
              <a:rPr sz="1000">
                <a:latin typeface="Times New Roman"/>
                <a:cs typeface="Times New Roman"/>
              </a:rPr>
              <a:t>investment</a:t>
            </a:r>
            <a:r>
              <a:rPr sz="1000" spc="110">
                <a:latin typeface="Times New Roman"/>
                <a:cs typeface="Times New Roman"/>
              </a:rPr>
              <a:t> </a:t>
            </a:r>
            <a:r>
              <a:rPr sz="1000">
                <a:latin typeface="Times New Roman"/>
                <a:cs typeface="Times New Roman"/>
              </a:rPr>
              <a:t>attractiveness</a:t>
            </a:r>
            <a:r>
              <a:rPr sz="1000" spc="120">
                <a:latin typeface="Times New Roman"/>
                <a:cs typeface="Times New Roman"/>
              </a:rPr>
              <a:t> </a:t>
            </a:r>
            <a:r>
              <a:rPr sz="1000">
                <a:latin typeface="Times New Roman"/>
                <a:cs typeface="Times New Roman"/>
              </a:rPr>
              <a:t>was</a:t>
            </a:r>
            <a:r>
              <a:rPr sz="1000" spc="104">
                <a:latin typeface="Times New Roman"/>
                <a:cs typeface="Times New Roman"/>
              </a:rPr>
              <a:t> </a:t>
            </a:r>
            <a:r>
              <a:rPr sz="1000">
                <a:latin typeface="Times New Roman"/>
                <a:cs typeface="Times New Roman"/>
              </a:rPr>
              <a:t>occupied</a:t>
            </a:r>
            <a:r>
              <a:rPr sz="1000" spc="150">
                <a:latin typeface="Times New Roman"/>
                <a:cs typeface="Times New Roman"/>
              </a:rPr>
              <a:t> </a:t>
            </a:r>
            <a:r>
              <a:rPr sz="1000">
                <a:latin typeface="Times New Roman"/>
                <a:cs typeface="Times New Roman"/>
              </a:rPr>
              <a:t>by</a:t>
            </a:r>
            <a:r>
              <a:rPr sz="1000" spc="90">
                <a:latin typeface="Times New Roman"/>
                <a:cs typeface="Times New Roman"/>
              </a:rPr>
              <a:t> </a:t>
            </a:r>
            <a:r>
              <a:rPr sz="1000">
                <a:latin typeface="Times New Roman"/>
                <a:cs typeface="Times New Roman"/>
              </a:rPr>
              <a:t>the</a:t>
            </a:r>
            <a:r>
              <a:rPr sz="1000" spc="110">
                <a:latin typeface="Times New Roman"/>
                <a:cs typeface="Times New Roman"/>
              </a:rPr>
              <a:t> </a:t>
            </a:r>
            <a:r>
              <a:rPr sz="1000">
                <a:latin typeface="Times New Roman"/>
                <a:cs typeface="Times New Roman"/>
              </a:rPr>
              <a:t>companies</a:t>
            </a:r>
            <a:r>
              <a:rPr sz="1000" spc="104">
                <a:latin typeface="Times New Roman"/>
                <a:cs typeface="Times New Roman"/>
              </a:rPr>
              <a:t> </a:t>
            </a:r>
            <a:r>
              <a:rPr sz="1000">
                <a:latin typeface="Times New Roman"/>
                <a:cs typeface="Times New Roman"/>
              </a:rPr>
              <a:t>in</a:t>
            </a:r>
            <a:r>
              <a:rPr sz="1000" spc="115">
                <a:latin typeface="Times New Roman"/>
                <a:cs typeface="Times New Roman"/>
              </a:rPr>
              <a:t> </a:t>
            </a:r>
            <a:r>
              <a:rPr sz="1000">
                <a:latin typeface="Times New Roman"/>
                <a:cs typeface="Times New Roman"/>
              </a:rPr>
              <a:t>which</a:t>
            </a:r>
            <a:r>
              <a:rPr sz="1000" spc="125">
                <a:latin typeface="Times New Roman"/>
                <a:cs typeface="Times New Roman"/>
              </a:rPr>
              <a:t> </a:t>
            </a:r>
            <a:r>
              <a:rPr sz="1000">
                <a:latin typeface="Times New Roman"/>
                <a:cs typeface="Times New Roman"/>
              </a:rPr>
              <a:t>managers</a:t>
            </a:r>
            <a:r>
              <a:rPr sz="1000" spc="120">
                <a:latin typeface="Times New Roman"/>
                <a:cs typeface="Times New Roman"/>
              </a:rPr>
              <a:t> </a:t>
            </a:r>
            <a:r>
              <a:rPr sz="1000">
                <a:latin typeface="Times New Roman"/>
                <a:cs typeface="Times New Roman"/>
              </a:rPr>
              <a:t>held</a:t>
            </a:r>
            <a:r>
              <a:rPr sz="1000" spc="115">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most</a:t>
            </a:r>
            <a:r>
              <a:rPr sz="1000" spc="110">
                <a:latin typeface="Times New Roman"/>
                <a:cs typeface="Times New Roman"/>
              </a:rPr>
              <a:t> </a:t>
            </a:r>
            <a:r>
              <a:rPr sz="1000">
                <a:latin typeface="Times New Roman"/>
                <a:cs typeface="Times New Roman"/>
              </a:rPr>
              <a:t>shares</a:t>
            </a:r>
            <a:endParaRPr/>
          </a:p>
          <a:p>
            <a:pPr marL="12700" algn="just">
              <a:lnSpc>
                <a:spcPts val="1160"/>
              </a:lnSpc>
            </a:pPr>
            <a:r>
              <a:rPr sz="1000">
                <a:latin typeface="Times New Roman"/>
                <a:cs typeface="Times New Roman"/>
              </a:rPr>
              <a:t>(these companies paid</a:t>
            </a:r>
            <a:r>
              <a:rPr sz="1000" spc="65">
                <a:latin typeface="Times New Roman"/>
                <a:cs typeface="Times New Roman"/>
              </a:rPr>
              <a:t> </a:t>
            </a:r>
            <a:r>
              <a:rPr sz="1000">
                <a:latin typeface="Times New Roman"/>
                <a:cs typeface="Times New Roman"/>
              </a:rPr>
              <a:t>out</a:t>
            </a:r>
            <a:r>
              <a:rPr sz="1000" spc="70">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lowest dividends</a:t>
            </a:r>
            <a:r>
              <a:rPr sz="1000" spc="70">
                <a:latin typeface="Times New Roman"/>
                <a:cs typeface="Times New Roman"/>
              </a:rPr>
              <a:t> </a:t>
            </a:r>
            <a:r>
              <a:rPr sz="1000">
                <a:latin typeface="Times New Roman"/>
                <a:cs typeface="Times New Roman"/>
              </a:rPr>
              <a:t>in the</a:t>
            </a:r>
            <a:r>
              <a:rPr sz="1000" spc="65">
                <a:latin typeface="Times New Roman"/>
                <a:cs typeface="Times New Roman"/>
              </a:rPr>
              <a:t> </a:t>
            </a:r>
            <a:r>
              <a:rPr sz="1000">
                <a:latin typeface="Times New Roman"/>
                <a:cs typeface="Times New Roman"/>
              </a:rPr>
              <a:t>entire</a:t>
            </a:r>
            <a:r>
              <a:rPr sz="1000" spc="65">
                <a:latin typeface="Times New Roman"/>
                <a:cs typeface="Times New Roman"/>
              </a:rPr>
              <a:t> </a:t>
            </a:r>
            <a:r>
              <a:rPr sz="1000">
                <a:latin typeface="Times New Roman"/>
                <a:cs typeface="Times New Roman"/>
              </a:rPr>
              <a:t>research</a:t>
            </a:r>
            <a:r>
              <a:rPr sz="1000" spc="70">
                <a:latin typeface="Times New Roman"/>
                <a:cs typeface="Times New Roman"/>
              </a:rPr>
              <a:t> </a:t>
            </a:r>
            <a:r>
              <a:rPr sz="1000">
                <a:latin typeface="Times New Roman"/>
                <a:cs typeface="Times New Roman"/>
              </a:rPr>
              <a:t>group).</a:t>
            </a:r>
            <a:r>
              <a:rPr sz="1000" spc="110">
                <a:latin typeface="Times New Roman"/>
                <a:cs typeface="Times New Roman"/>
              </a:rPr>
              <a:t> </a:t>
            </a:r>
            <a:r>
              <a:rPr sz="1000">
                <a:latin typeface="Times New Roman"/>
                <a:cs typeface="Times New Roman"/>
              </a:rPr>
              <a:t>The</a:t>
            </a:r>
            <a:r>
              <a:rPr sz="1000" spc="65">
                <a:latin typeface="Times New Roman"/>
                <a:cs typeface="Times New Roman"/>
              </a:rPr>
              <a:t> </a:t>
            </a:r>
            <a:r>
              <a:rPr sz="1000">
                <a:latin typeface="Times New Roman"/>
                <a:cs typeface="Times New Roman"/>
              </a:rPr>
              <a:t>last</a:t>
            </a:r>
            <a:r>
              <a:rPr sz="1000" spc="70">
                <a:latin typeface="Times New Roman"/>
                <a:cs typeface="Times New Roman"/>
              </a:rPr>
              <a:t> </a:t>
            </a:r>
            <a:r>
              <a:rPr sz="1000">
                <a:latin typeface="Times New Roman"/>
                <a:cs typeface="Times New Roman"/>
              </a:rPr>
              <a:t>place</a:t>
            </a:r>
            <a:r>
              <a:rPr sz="1000" spc="65">
                <a:latin typeface="Times New Roman"/>
                <a:cs typeface="Times New Roman"/>
              </a:rPr>
              <a:t> </a:t>
            </a:r>
            <a:r>
              <a:rPr sz="1000">
                <a:latin typeface="Times New Roman"/>
                <a:cs typeface="Times New Roman"/>
              </a:rPr>
              <a:t>in</a:t>
            </a:r>
            <a:r>
              <a:rPr sz="1000" spc="6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ranking</a:t>
            </a:r>
            <a:r>
              <a:rPr sz="1000" spc="80">
                <a:latin typeface="Times New Roman"/>
                <a:cs typeface="Times New Roman"/>
              </a:rPr>
              <a:t> </a:t>
            </a:r>
            <a:r>
              <a:rPr sz="1000">
                <a:latin typeface="Times New Roman"/>
                <a:cs typeface="Times New Roman"/>
              </a:rPr>
              <a:t>was</a:t>
            </a:r>
            <a:r>
              <a:rPr sz="1000" spc="70">
                <a:latin typeface="Times New Roman"/>
                <a:cs typeface="Times New Roman"/>
              </a:rPr>
              <a:t> </a:t>
            </a:r>
            <a:r>
              <a:rPr sz="1000">
                <a:latin typeface="Times New Roman"/>
                <a:cs typeface="Times New Roman"/>
              </a:rPr>
              <a:t>taken</a:t>
            </a:r>
            <a:r>
              <a:rPr sz="1000" spc="80">
                <a:latin typeface="Times New Roman"/>
                <a:cs typeface="Times New Roman"/>
              </a:rPr>
              <a:t> </a:t>
            </a:r>
            <a:r>
              <a:rPr sz="1000">
                <a:latin typeface="Times New Roman"/>
                <a:cs typeface="Times New Roman"/>
              </a:rPr>
              <a:t>by</a:t>
            </a:r>
            <a:endParaRPr/>
          </a:p>
          <a:p>
            <a:pPr marL="12700" algn="just">
              <a:lnSpc>
                <a:spcPts val="1150"/>
              </a:lnSpc>
            </a:pPr>
            <a:r>
              <a:rPr sz="1000">
                <a:latin typeface="Times New Roman"/>
                <a:cs typeface="Times New Roman"/>
              </a:rPr>
              <a:t>the</a:t>
            </a:r>
            <a:r>
              <a:rPr sz="1000" spc="170">
                <a:latin typeface="Times New Roman"/>
                <a:cs typeface="Times New Roman"/>
              </a:rPr>
              <a:t> </a:t>
            </a:r>
            <a:r>
              <a:rPr sz="1000">
                <a:latin typeface="Times New Roman"/>
                <a:cs typeface="Times New Roman"/>
              </a:rPr>
              <a:t>companies</a:t>
            </a:r>
            <a:r>
              <a:rPr sz="1000" spc="165">
                <a:latin typeface="Times New Roman"/>
                <a:cs typeface="Times New Roman"/>
              </a:rPr>
              <a:t> </a:t>
            </a:r>
            <a:r>
              <a:rPr sz="1000">
                <a:latin typeface="Times New Roman"/>
                <a:cs typeface="Times New Roman"/>
              </a:rPr>
              <a:t>in</a:t>
            </a:r>
            <a:r>
              <a:rPr sz="1000" spc="175">
                <a:latin typeface="Times New Roman"/>
                <a:cs typeface="Times New Roman"/>
              </a:rPr>
              <a:t> </a:t>
            </a:r>
            <a:r>
              <a:rPr sz="1000">
                <a:latin typeface="Times New Roman"/>
                <a:cs typeface="Times New Roman"/>
              </a:rPr>
              <a:t>which</a:t>
            </a:r>
            <a:r>
              <a:rPr sz="1000" spc="16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State</a:t>
            </a:r>
            <a:r>
              <a:rPr sz="1000" spc="170">
                <a:latin typeface="Times New Roman"/>
                <a:cs typeface="Times New Roman"/>
              </a:rPr>
              <a:t> </a:t>
            </a:r>
            <a:r>
              <a:rPr sz="1000">
                <a:latin typeface="Times New Roman"/>
                <a:cs typeface="Times New Roman"/>
              </a:rPr>
              <a:t>Treasury</a:t>
            </a:r>
            <a:r>
              <a:rPr sz="1000" spc="165">
                <a:latin typeface="Times New Roman"/>
                <a:cs typeface="Times New Roman"/>
              </a:rPr>
              <a:t> </a:t>
            </a:r>
            <a:r>
              <a:rPr sz="1000">
                <a:latin typeface="Times New Roman"/>
                <a:cs typeface="Times New Roman"/>
              </a:rPr>
              <a:t>was</a:t>
            </a:r>
            <a:r>
              <a:rPr sz="1000" spc="16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main</a:t>
            </a:r>
            <a:r>
              <a:rPr sz="1000" spc="175">
                <a:latin typeface="Times New Roman"/>
                <a:cs typeface="Times New Roman"/>
              </a:rPr>
              <a:t> </a:t>
            </a:r>
            <a:r>
              <a:rPr sz="1000">
                <a:latin typeface="Times New Roman"/>
                <a:cs typeface="Times New Roman"/>
              </a:rPr>
              <a:t>shareholder</a:t>
            </a:r>
            <a:r>
              <a:rPr sz="1000" spc="175">
                <a:latin typeface="Times New Roman"/>
                <a:cs typeface="Times New Roman"/>
              </a:rPr>
              <a:t> </a:t>
            </a:r>
            <a:r>
              <a:rPr sz="1000">
                <a:latin typeface="Times New Roman"/>
                <a:cs typeface="Times New Roman"/>
              </a:rPr>
              <a:t>(these</a:t>
            </a:r>
            <a:r>
              <a:rPr sz="1000" spc="170">
                <a:latin typeface="Times New Roman"/>
                <a:cs typeface="Times New Roman"/>
              </a:rPr>
              <a:t> </a:t>
            </a:r>
            <a:r>
              <a:rPr sz="1000">
                <a:latin typeface="Times New Roman"/>
                <a:cs typeface="Times New Roman"/>
              </a:rPr>
              <a:t>companies,</a:t>
            </a:r>
            <a:r>
              <a:rPr sz="1000" spc="170">
                <a:latin typeface="Times New Roman"/>
                <a:cs typeface="Times New Roman"/>
              </a:rPr>
              <a:t> </a:t>
            </a:r>
            <a:r>
              <a:rPr sz="1000">
                <a:latin typeface="Times New Roman"/>
                <a:cs typeface="Times New Roman"/>
              </a:rPr>
              <a:t>despite</a:t>
            </a:r>
            <a:r>
              <a:rPr sz="1000" spc="170">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payment</a:t>
            </a:r>
            <a:r>
              <a:rPr sz="1000" spc="170">
                <a:latin typeface="Times New Roman"/>
                <a:cs typeface="Times New Roman"/>
              </a:rPr>
              <a:t> </a:t>
            </a:r>
            <a:r>
              <a:rPr sz="1000">
                <a:latin typeface="Times New Roman"/>
                <a:cs typeface="Times New Roman"/>
              </a:rPr>
              <a:t>of</a:t>
            </a:r>
            <a:r>
              <a:rPr sz="1000" spc="160">
                <a:latin typeface="Times New Roman"/>
                <a:cs typeface="Times New Roman"/>
              </a:rPr>
              <a:t> </a:t>
            </a:r>
            <a:r>
              <a:rPr sz="1000">
                <a:latin typeface="Times New Roman"/>
                <a:cs typeface="Times New Roman"/>
              </a:rPr>
              <a:t>high</a:t>
            </a:r>
            <a:endParaRPr/>
          </a:p>
          <a:p>
            <a:pPr marL="12700" algn="just">
              <a:lnSpc>
                <a:spcPts val="1135"/>
              </a:lnSpc>
            </a:pPr>
            <a:r>
              <a:rPr sz="1000">
                <a:latin typeface="Times New Roman"/>
                <a:cs typeface="Times New Roman"/>
              </a:rPr>
              <a:t>dividends, turned out not to be attractive investment due to their financial condition, and in particular, very high debt).</a:t>
            </a:r>
            <a:endParaRPr/>
          </a:p>
          <a:p>
            <a:pPr marL="12700" marR="13970" algn="just">
              <a:lnSpc>
                <a:spcPct val="95680"/>
              </a:lnSpc>
              <a:spcBef>
                <a:spcPts val="1100"/>
              </a:spcBef>
            </a:pPr>
            <a:r>
              <a:rPr sz="1000" i="1">
                <a:latin typeface="Times New Roman"/>
                <a:cs typeface="Times New Roman"/>
              </a:rPr>
              <a:t>Keywords: </a:t>
            </a:r>
            <a:r>
              <a:rPr sz="1000">
                <a:latin typeface="Times New Roman"/>
                <a:cs typeface="Times New Roman"/>
              </a:rPr>
              <a:t>investment attractiveness; dividend payouts; first-largest shareholder; synthetic indicator; the Warsaw Stock Exchange.</a:t>
            </a:r>
            <a:endParaRPr/>
          </a:p>
        </p:txBody>
      </p:sp>
      <p:sp>
        <p:nvSpPr>
          <p:cNvPr id="11" name="shape 11"/>
          <p:cNvSpPr txBox="1"/>
          <p:nvPr/>
        </p:nvSpPr>
        <p:spPr>
          <a:xfrm>
            <a:off x="708025" y="8983218"/>
            <a:ext cx="3003550" cy="983491"/>
          </a:xfrm>
          <a:prstGeom prst="rect"/>
          <a:noFill/>
        </p:spPr>
        <p:txBody>
          <a:bodyPr vertOverflow="overflow" horzOverflow="overflow" numCol="1" wrap="square" lIns="0" tIns="0" rIns="0" bIns="0">
            <a:spAutoFit/>
          </a:bodyPr>
          <a:p>
            <a:pPr marL="12700"/>
            <a:r>
              <a:rPr sz="1000">
                <a:latin typeface="Times New Roman"/>
                <a:cs typeface="Times New Roman"/>
              </a:rPr>
              <a:t>Corresponding author:</a:t>
            </a:r>
            <a:endParaRPr/>
          </a:p>
          <a:p>
            <a:pPr marL="12700">
              <a:spcBef>
                <a:spcPts val="700"/>
              </a:spcBef>
            </a:pPr>
            <a:r>
              <a:rPr sz="1200" spc="-7" baseline="31250">
                <a:latin typeface="Times New Roman"/>
                <a:cs typeface="Times New Roman"/>
              </a:rPr>
              <a:t>1  </a:t>
            </a:r>
            <a:r>
              <a:rPr sz="1000" i="1" spc="-5">
                <a:latin typeface="Times New Roman"/>
                <a:cs typeface="Times New Roman"/>
              </a:rPr>
              <a:t>E-mail addresses: </a:t>
            </a:r>
            <a:r>
              <a:rPr sz="1000" i="1" spc="-5">
                <a:latin typeface="Times New Roman"/>
                <a:cs typeface="Times New Roman"/>
                <a:hlinkClick r:id="rId2">
                  <a:extLst>
                    <a:ext uri="{A12FA001-AC4F-418D-AE19-62706E023703}">
                      <ahyp:hlinkClr xmlns:ahyp="http://schemas.microsoft.com/office/drawing/2018/hyperlinkcolor" val="tx"/>
                    </a:ext>
                  </a:extLst>
                </a:hlinkClick>
              </a:rPr>
              <a:t>aleksandra.pieloch@eksoc.uni.lodz.pl</a:t>
            </a:r>
            <a:endParaRPr/>
          </a:p>
          <a:p>
            <a:pPr marL="12700" marR="1038225" algn="just">
              <a:lnSpc>
                <a:spcPct val="122346"/>
              </a:lnSpc>
            </a:pPr>
            <a:r>
              <a:rPr sz="1000">
                <a:latin typeface="Arial"/>
                <a:cs typeface="Arial"/>
              </a:rPr>
              <a:t>ORCID ID: 0000-0001-7885-1284 </a:t>
            </a:r>
            <a:r>
              <a:rPr sz="1000">
                <a:latin typeface="Franklin Gothic Book"/>
                <a:cs typeface="Franklin Gothic Book"/>
              </a:rPr>
              <a:t>© 2021 A.Pieloch-Babiarz</a:t>
            </a:r>
            <a:endParaRPr/>
          </a:p>
          <a:p>
            <a:pPr marL="12700">
              <a:spcBef>
                <a:spcPts val="500"/>
              </a:spcBef>
            </a:pPr>
            <a:r>
              <a:rPr sz="1000">
                <a:latin typeface="Arial Narrow"/>
                <a:cs typeface="Arial Narrow"/>
              </a:rPr>
              <a:t>doi: </a:t>
            </a:r>
            <a:r>
              <a:rPr sz="1000">
                <a:latin typeface="Arial Narrow"/>
                <a:cs typeface="Arial Narrow"/>
                <a:hlinkClick r:id="rId3">
                  <a:extLst>
                    <a:ext uri="{A12FA001-AC4F-418D-AE19-62706E023703}">
                      <ahyp:hlinkClr xmlns:ahyp="http://schemas.microsoft.com/office/drawing/2018/hyperlinkcolor" val="tx"/>
                    </a:ext>
                  </a:extLst>
                </a:hlinkClick>
              </a:rPr>
              <a:t>https://doi.org/10.26642/ppa-2021-1</a:t>
            </a:r>
            <a:r>
              <a:rPr sz="1000">
                <a:latin typeface="Arial Narrow"/>
                <a:cs typeface="Arial Narrow"/>
              </a:rPr>
              <a:t>(3)-3-11</a:t>
            </a:r>
            <a:endParaRPr/>
          </a:p>
        </p:txBody>
      </p:sp>
      <p:sp>
        <p:nvSpPr>
          <p:cNvPr id="12" name="shape 12"/>
          <p:cNvSpPr txBox="1"/>
          <p:nvPr/>
        </p:nvSpPr>
        <p:spPr>
          <a:xfrm>
            <a:off x="6945631" y="9993884"/>
            <a:ext cx="88900" cy="152400"/>
          </a:xfrm>
          <a:prstGeom prst="rect"/>
          <a:noFill/>
        </p:spPr>
        <p:txBody>
          <a:bodyPr vertOverflow="overflow" horzOverflow="overflow" numCol="1" wrap="square" lIns="0" tIns="0" rIns="0" bIns="0">
            <a:spAutoFit/>
          </a:bodyPr>
          <a:p>
            <a:pPr marL="12700"/>
            <a:r>
              <a:rPr sz="1000" i="1">
                <a:latin typeface="Times New Roman"/>
                <a:cs typeface="Times New Roman"/>
              </a:rPr>
              <a:t>3</a:t>
            </a: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txBox="1"/>
          <p:nvPr/>
        </p:nvSpPr>
        <p:spPr>
          <a:xfrm>
            <a:off x="3265805" y="528320"/>
            <a:ext cx="3769995" cy="152400"/>
          </a:xfrm>
          <a:prstGeom prst="rect"/>
          <a:noFill/>
        </p:spPr>
        <p:txBody>
          <a:bodyPr vertOverflow="overflow" horzOverflow="overflow" numCol="1" wrap="square" lIns="0" tIns="0" rIns="0" bIns="0">
            <a:spAutoFit/>
          </a:bodyPr>
          <a:p>
            <a:pPr marL="12700"/>
            <a:r>
              <a:rPr sz="1000" i="1">
                <a:latin typeface="Times New Roman"/>
                <a:cs typeface="Times New Roman"/>
              </a:rPr>
              <a:t>A.Pieloch-Babiarz / Public Policy and Accounting, Vol. 1 (3), 20</a:t>
            </a:r>
            <a:r>
              <a:rPr sz="1000" i="1" spc="5">
                <a:latin typeface="Times New Roman"/>
                <a:cs typeface="Times New Roman"/>
              </a:rPr>
              <a:t>21</a:t>
            </a:r>
            <a:r>
              <a:rPr sz="1000" i="1">
                <a:latin typeface="Times New Roman"/>
                <a:cs typeface="Times New Roman"/>
              </a:rPr>
              <a:t>, 3–</a:t>
            </a:r>
            <a:r>
              <a:rPr sz="1000" i="1" spc="-5">
                <a:latin typeface="Times New Roman"/>
                <a:cs typeface="Times New Roman"/>
              </a:rPr>
              <a:t>11</a:t>
            </a:r>
            <a:endParaRPr/>
          </a:p>
        </p:txBody>
      </p:sp>
      <p:sp>
        <p:nvSpPr>
          <p:cNvPr id="3" name="shape 3"/>
          <p:cNvSpPr txBox="1"/>
          <p:nvPr/>
        </p:nvSpPr>
        <p:spPr>
          <a:xfrm>
            <a:off x="528320" y="891032"/>
            <a:ext cx="6508750" cy="9252966"/>
          </a:xfrm>
          <a:prstGeom prst="rect"/>
          <a:noFill/>
        </p:spPr>
        <p:txBody>
          <a:bodyPr vertOverflow="overflow" horzOverflow="overflow" numCol="1" wrap="square" lIns="0" tIns="0" rIns="0" bIns="0">
            <a:spAutoFit/>
          </a:bodyPr>
          <a:p>
            <a:pPr marL="140335" indent="-127635">
              <a:buSzPts val="1000"/>
              <a:buFont typeface="Times New Roman"/>
              <a:buAutoNum type="arabicPeriod"/>
            </a:pPr>
            <a:r>
              <a:rPr sz="1000" b="1">
                <a:latin typeface="Times New Roman"/>
                <a:cs typeface="Times New Roman"/>
              </a:rPr>
              <a:t>Introduction</a:t>
            </a:r>
            <a:endParaRPr/>
          </a:p>
          <a:p>
            <a:pPr marL="12700" marR="15240" indent="179705" algn="just">
              <a:lnSpc>
                <a:spcPct val="95404"/>
              </a:lnSpc>
              <a:spcBef>
                <a:spcPts val="1100"/>
              </a:spcBef>
            </a:pPr>
            <a:r>
              <a:rPr sz="1000">
                <a:latin typeface="Times New Roman"/>
                <a:cs typeface="Times New Roman"/>
              </a:rPr>
              <a:t>In general, the investment attractiveness of shares is understood as a such involvement of capital that will make the stock market investor achieve the highest income at taking an acceptable investment risk. Investment income may take the form of </a:t>
            </a:r>
            <a:r>
              <a:rPr sz="1000" spc="-5">
                <a:latin typeface="Times New Roman"/>
                <a:cs typeface="Times New Roman"/>
              </a:rPr>
              <a:t>capital gain (which is related to an increase in the company's market value) and dividends (that is paid out of the company's net </a:t>
            </a:r>
            <a:r>
              <a:rPr sz="1000">
                <a:latin typeface="Times New Roman"/>
                <a:cs typeface="Times New Roman"/>
              </a:rPr>
              <a:t>profit). Typically, stock market speculators, who are short-term investors, are interested in this first form of income, while dividends are usually of interest to long-term investors. Long-term investors treat dividends as a regular source of income, and therefore expect companies to conduct a stable dividend policy. In line with the clientele effect, they are looking for dividend companies with an appropriate payout policy. A company that meets their expectations in this area seems to be the most </a:t>
            </a:r>
            <a:r>
              <a:rPr sz="1000" spc="-5">
                <a:latin typeface="Times New Roman"/>
                <a:cs typeface="Times New Roman"/>
              </a:rPr>
              <a:t>attractive investment. Furthermore, long-term investing in stocks of dividend companies is so common that it has got its term – </a:t>
            </a:r>
            <a:r>
              <a:rPr sz="1000">
                <a:latin typeface="Times New Roman"/>
                <a:cs typeface="Times New Roman"/>
              </a:rPr>
              <a:t>we call it 'investing in dividend' or 'dividend investing'.</a:t>
            </a:r>
            <a:endParaRPr/>
          </a:p>
          <a:p>
            <a:pPr marL="12700" marR="15240" indent="179705" algn="just">
              <a:lnSpc>
                <a:spcPct val="95560"/>
              </a:lnSpc>
              <a:spcBef>
                <a:spcPts val="100"/>
              </a:spcBef>
            </a:pPr>
            <a:r>
              <a:rPr sz="1000">
                <a:latin typeface="Times New Roman"/>
                <a:cs typeface="Times New Roman"/>
              </a:rPr>
              <a:t>Choosing a dividend company suitable for investment involves the analysis of many different factors influencing its investment attractiveness. One of these determinants is the company's ownership structure. Therefore, there is a cognitively and practically justified need to examine the investment attractiveness of dividend companies in terms of their ownership structure. The purpose of the article is to examine the attractiveness of investing in shares of listed companies that regularly pay out dividends depending on the type of the first-largest shareholder. This objective fits into the current stream of research regarding the fundamental factors determining dividend payouts and is important due to the efficiency of capital investment. Furthermore, it was formulated to get further knowledge of ownership structure as a determinant dividend. Although there are a lot of studies in this research area, there is still a research gap in the attractiveness of investing in shares of dividend companies in terms of the first-largest shareholder.</a:t>
            </a:r>
            <a:endParaRPr/>
          </a:p>
          <a:p>
            <a:pPr marL="192405" algn="just">
              <a:lnSpc>
                <a:spcPts val="1180"/>
              </a:lnSpc>
            </a:pPr>
            <a:r>
              <a:rPr sz="1000">
                <a:latin typeface="Times New Roman"/>
                <a:cs typeface="Times New Roman"/>
              </a:rPr>
              <a:t>The remainder of this article is organized as follows.</a:t>
            </a:r>
            <a:r>
              <a:rPr sz="1000" spc="65">
                <a:latin typeface="Times New Roman"/>
                <a:cs typeface="Times New Roman"/>
              </a:rPr>
              <a:t> </a:t>
            </a:r>
            <a:r>
              <a:rPr sz="1000">
                <a:latin typeface="Times New Roman"/>
                <a:cs typeface="Times New Roman"/>
              </a:rPr>
              <a:t>Section 2 is focused on the</a:t>
            </a:r>
            <a:r>
              <a:rPr sz="1000" spc="65">
                <a:latin typeface="Times New Roman"/>
                <a:cs typeface="Times New Roman"/>
              </a:rPr>
              <a:t> </a:t>
            </a:r>
            <a:r>
              <a:rPr sz="1000">
                <a:latin typeface="Times New Roman"/>
                <a:cs typeface="Times New Roman"/>
              </a:rPr>
              <a:t>literature review. Section 3</a:t>
            </a:r>
            <a:r>
              <a:rPr sz="1000" spc="70">
                <a:latin typeface="Times New Roman"/>
                <a:cs typeface="Times New Roman"/>
              </a:rPr>
              <a:t> </a:t>
            </a:r>
            <a:r>
              <a:rPr sz="1000">
                <a:latin typeface="Times New Roman"/>
                <a:cs typeface="Times New Roman"/>
              </a:rPr>
              <a:t>identifies the</a:t>
            </a:r>
            <a:endParaRPr/>
          </a:p>
          <a:p>
            <a:pPr marL="12700" algn="just">
              <a:lnSpc>
                <a:spcPts val="1145"/>
              </a:lnSpc>
            </a:pPr>
            <a:r>
              <a:rPr sz="1000">
                <a:latin typeface="Times New Roman"/>
                <a:cs typeface="Times New Roman"/>
              </a:rPr>
              <a:t>previously</a:t>
            </a:r>
            <a:r>
              <a:rPr sz="1000" spc="125">
                <a:latin typeface="Times New Roman"/>
                <a:cs typeface="Times New Roman"/>
              </a:rPr>
              <a:t> </a:t>
            </a:r>
            <a:r>
              <a:rPr sz="1000">
                <a:latin typeface="Times New Roman"/>
                <a:cs typeface="Times New Roman"/>
              </a:rPr>
              <a:t>unresolved</a:t>
            </a:r>
            <a:r>
              <a:rPr sz="1000" spc="125">
                <a:latin typeface="Times New Roman"/>
                <a:cs typeface="Times New Roman"/>
              </a:rPr>
              <a:t> </a:t>
            </a:r>
            <a:r>
              <a:rPr sz="1000">
                <a:latin typeface="Times New Roman"/>
                <a:cs typeface="Times New Roman"/>
              </a:rPr>
              <a:t>issues</a:t>
            </a:r>
            <a:r>
              <a:rPr sz="1000" spc="130">
                <a:latin typeface="Times New Roman"/>
                <a:cs typeface="Times New Roman"/>
              </a:rPr>
              <a:t> </a:t>
            </a:r>
            <a:r>
              <a:rPr sz="1000">
                <a:latin typeface="Times New Roman"/>
                <a:cs typeface="Times New Roman"/>
              </a:rPr>
              <a:t>and</a:t>
            </a:r>
            <a:r>
              <a:rPr sz="1000" spc="125">
                <a:latin typeface="Times New Roman"/>
                <a:cs typeface="Times New Roman"/>
              </a:rPr>
              <a:t> </a:t>
            </a:r>
            <a:r>
              <a:rPr sz="1000">
                <a:latin typeface="Times New Roman"/>
                <a:cs typeface="Times New Roman"/>
              </a:rPr>
              <a:t>the</a:t>
            </a:r>
            <a:r>
              <a:rPr sz="1000" spc="135">
                <a:latin typeface="Times New Roman"/>
                <a:cs typeface="Times New Roman"/>
              </a:rPr>
              <a:t> </a:t>
            </a:r>
            <a:r>
              <a:rPr sz="1000">
                <a:latin typeface="Times New Roman"/>
                <a:cs typeface="Times New Roman"/>
              </a:rPr>
              <a:t>formulates</a:t>
            </a:r>
            <a:r>
              <a:rPr sz="1000" spc="120">
                <a:latin typeface="Times New Roman"/>
                <a:cs typeface="Times New Roman"/>
              </a:rPr>
              <a:t> </a:t>
            </a:r>
            <a:r>
              <a:rPr sz="1000">
                <a:latin typeface="Times New Roman"/>
                <a:cs typeface="Times New Roman"/>
              </a:rPr>
              <a:t>research</a:t>
            </a:r>
            <a:r>
              <a:rPr sz="1000" spc="130">
                <a:latin typeface="Times New Roman"/>
                <a:cs typeface="Times New Roman"/>
              </a:rPr>
              <a:t> </a:t>
            </a:r>
            <a:r>
              <a:rPr sz="1000">
                <a:latin typeface="Times New Roman"/>
                <a:cs typeface="Times New Roman"/>
              </a:rPr>
              <a:t>hypotheses.</a:t>
            </a:r>
            <a:r>
              <a:rPr sz="1000" spc="125">
                <a:latin typeface="Times New Roman"/>
                <a:cs typeface="Times New Roman"/>
              </a:rPr>
              <a:t> </a:t>
            </a:r>
            <a:r>
              <a:rPr sz="1000">
                <a:latin typeface="Times New Roman"/>
                <a:cs typeface="Times New Roman"/>
              </a:rPr>
              <a:t>Section</a:t>
            </a:r>
            <a:r>
              <a:rPr sz="1000" spc="115">
                <a:latin typeface="Times New Roman"/>
                <a:cs typeface="Times New Roman"/>
              </a:rPr>
              <a:t> </a:t>
            </a:r>
            <a:r>
              <a:rPr sz="1000">
                <a:latin typeface="Times New Roman"/>
                <a:cs typeface="Times New Roman"/>
              </a:rPr>
              <a:t>4</a:t>
            </a:r>
            <a:r>
              <a:rPr sz="1000" spc="125">
                <a:latin typeface="Times New Roman"/>
                <a:cs typeface="Times New Roman"/>
              </a:rPr>
              <a:t> </a:t>
            </a:r>
            <a:r>
              <a:rPr sz="1000">
                <a:latin typeface="Times New Roman"/>
                <a:cs typeface="Times New Roman"/>
              </a:rPr>
              <a:t>details</a:t>
            </a:r>
            <a:r>
              <a:rPr sz="1000" spc="120">
                <a:latin typeface="Times New Roman"/>
                <a:cs typeface="Times New Roman"/>
              </a:rPr>
              <a:t> </a:t>
            </a:r>
            <a:r>
              <a:rPr sz="1000">
                <a:latin typeface="Times New Roman"/>
                <a:cs typeface="Times New Roman"/>
              </a:rPr>
              <a:t>research</a:t>
            </a:r>
            <a:r>
              <a:rPr sz="1000" spc="145">
                <a:latin typeface="Times New Roman"/>
                <a:cs typeface="Times New Roman"/>
              </a:rPr>
              <a:t> </a:t>
            </a:r>
            <a:r>
              <a:rPr sz="1000">
                <a:latin typeface="Times New Roman"/>
                <a:cs typeface="Times New Roman"/>
              </a:rPr>
              <a:t>methodology</a:t>
            </a:r>
            <a:r>
              <a:rPr sz="1000" spc="104">
                <a:latin typeface="Times New Roman"/>
                <a:cs typeface="Times New Roman"/>
              </a:rPr>
              <a:t> </a:t>
            </a:r>
            <a:r>
              <a:rPr sz="1000">
                <a:latin typeface="Times New Roman"/>
                <a:cs typeface="Times New Roman"/>
              </a:rPr>
              <a:t>and</a:t>
            </a:r>
            <a:r>
              <a:rPr sz="1000" spc="140">
                <a:latin typeface="Times New Roman"/>
                <a:cs typeface="Times New Roman"/>
              </a:rPr>
              <a:t> </a:t>
            </a:r>
            <a:r>
              <a:rPr sz="1000">
                <a:latin typeface="Times New Roman"/>
                <a:cs typeface="Times New Roman"/>
              </a:rPr>
              <a:t>methods</a:t>
            </a:r>
            <a:r>
              <a:rPr sz="1000" spc="5">
                <a:latin typeface="Times New Roman"/>
                <a:cs typeface="Times New Roman"/>
              </a:rPr>
              <a:t>.</a:t>
            </a:r>
            <a:endParaRPr/>
          </a:p>
          <a:p>
            <a:pPr marL="12700" algn="just">
              <a:lnSpc>
                <a:spcPts val="1155"/>
              </a:lnSpc>
            </a:pPr>
            <a:r>
              <a:rPr sz="1000">
                <a:latin typeface="Times New Roman"/>
                <a:cs typeface="Times New Roman"/>
              </a:rPr>
              <a:t>Section 5 presents the main results of empirical research. Section 6 highlights the main concluding remarks.</a:t>
            </a:r>
            <a:endParaRPr/>
          </a:p>
          <a:p>
            <a:pPr marL="140335" indent="-127635">
              <a:spcBef>
                <a:spcPts val="1100"/>
              </a:spcBef>
              <a:buSzPts val="1000"/>
              <a:buFont typeface="Times New Roman"/>
              <a:buAutoNum startAt="2" type="arabicPeriod"/>
            </a:pPr>
            <a:r>
              <a:rPr sz="1000" b="1">
                <a:latin typeface="Times New Roman"/>
                <a:cs typeface="Times New Roman"/>
              </a:rPr>
              <a:t>Literature review</a:t>
            </a:r>
            <a:endParaRPr/>
          </a:p>
          <a:p>
            <a:pPr marL="12700" marR="15240" indent="179705" algn="just">
              <a:lnSpc>
                <a:spcPct val="95432"/>
              </a:lnSpc>
              <a:spcBef>
                <a:spcPts val="1100"/>
              </a:spcBef>
            </a:pPr>
            <a:r>
              <a:rPr sz="1000">
                <a:latin typeface="Times New Roman"/>
                <a:cs typeface="Times New Roman"/>
              </a:rPr>
              <a:t>Stock market investors take into account a number of different factors when making investment decisions. However, the basic investment criterion is the possibility of making a profit. This profit may take the form of capital gain or dividend. The </a:t>
            </a:r>
            <a:r>
              <a:rPr sz="1000" spc="-5">
                <a:latin typeface="Times New Roman"/>
                <a:cs typeface="Times New Roman"/>
              </a:rPr>
              <a:t>dividend is of particular interest to long-term investors that – investing their capital for many years – are looking for companies </a:t>
            </a:r>
            <a:r>
              <a:rPr sz="1000">
                <a:latin typeface="Times New Roman"/>
                <a:cs typeface="Times New Roman"/>
              </a:rPr>
              <a:t>that will provide them with regular and stable dividend income [11]</a:t>
            </a:r>
            <a:r>
              <a:rPr sz="1000" spc="5">
                <a:latin typeface="Times New Roman"/>
                <a:cs typeface="Times New Roman"/>
              </a:rPr>
              <a:t>. </a:t>
            </a:r>
            <a:r>
              <a:rPr sz="1000">
                <a:latin typeface="Times New Roman"/>
                <a:cs typeface="Times New Roman"/>
              </a:rPr>
              <a:t>The achievement of their investment goals is possible, in particular, after an investment decision as the consequence of analysis of not only the company's dividend policy (understood </a:t>
            </a:r>
            <a:r>
              <a:rPr sz="1000" spc="-5">
                <a:latin typeface="Times New Roman"/>
                <a:cs typeface="Times New Roman"/>
              </a:rPr>
              <a:t>as a strategy of dividing the net profit into the part paid to shareholders in the form of dividend and part left in the company for </a:t>
            </a:r>
            <a:r>
              <a:rPr sz="1000">
                <a:latin typeface="Times New Roman"/>
                <a:cs typeface="Times New Roman"/>
              </a:rPr>
              <a:t>development purposes), but also the company's financial condition. The financial standing of the company is not only an essential factor in making investment decisions, but also one of the determinants of conducting a dividend policy [17].</a:t>
            </a:r>
            <a:endParaRPr/>
          </a:p>
          <a:p>
            <a:pPr marL="12700" marR="13970" indent="179705" algn="just">
              <a:lnSpc>
                <a:spcPct val="96167"/>
              </a:lnSpc>
              <a:spcBef>
                <a:spcPts val="100"/>
              </a:spcBef>
            </a:pPr>
            <a:r>
              <a:rPr sz="1000" spc="-5">
                <a:latin typeface="Times New Roman"/>
                <a:cs typeface="Times New Roman"/>
              </a:rPr>
              <a:t>In the literature, the most important financial determinants of dividend payment include the following factors: a) liquidity – </a:t>
            </a:r>
            <a:r>
              <a:rPr sz="1000">
                <a:latin typeface="Times New Roman"/>
                <a:cs typeface="Times New Roman"/>
              </a:rPr>
              <a:t>according to the agency theory highly liquid companies pay out dividends to reduce agency costs [14]; b) profitability – based on the signaling theory, it should be indicated that companies that achieve high net profits may pay out dividends in order to </a:t>
            </a:r>
            <a:r>
              <a:rPr sz="1000" spc="-5">
                <a:latin typeface="Times New Roman"/>
                <a:cs typeface="Times New Roman"/>
              </a:rPr>
              <a:t>send a positive signal to the market about their financial condition [12]; c) leverage – a high debt increases the costs of external </a:t>
            </a:r>
            <a:r>
              <a:rPr sz="1000">
                <a:latin typeface="Times New Roman"/>
                <a:cs typeface="Times New Roman"/>
              </a:rPr>
              <a:t>financing, and consequently also the risk of its operations. In addition, companies with high levels of indebtedness may be less inclined to pay dividends when they use the net profit to pay off their liabilities [7]; d) growth opportunities – it is indicated that mature companies are more eager to pay out dividends due to lower investment opportunities and greater chances of obtaining cheaper capital for development [6]; e) company’s size – it has been proven that larger companies pay dividends relatively more often and of greater value [17]. It may be related to the stage of the company's life cycle, its development opportunities or the sector’s maturity.</a:t>
            </a:r>
            <a:endParaRPr/>
          </a:p>
          <a:p>
            <a:pPr marL="192405" algn="just">
              <a:lnSpc>
                <a:spcPts val="1160"/>
              </a:lnSpc>
            </a:pPr>
            <a:r>
              <a:rPr sz="1000">
                <a:latin typeface="Times New Roman"/>
                <a:cs typeface="Times New Roman"/>
              </a:rPr>
              <a:t>Other</a:t>
            </a:r>
            <a:r>
              <a:rPr sz="1000" spc="380">
                <a:latin typeface="Times New Roman"/>
                <a:cs typeface="Times New Roman"/>
              </a:rPr>
              <a:t> </a:t>
            </a:r>
            <a:r>
              <a:rPr sz="1000">
                <a:latin typeface="Times New Roman"/>
                <a:cs typeface="Times New Roman"/>
              </a:rPr>
              <a:t>factors</a:t>
            </a:r>
            <a:r>
              <a:rPr sz="1000" spc="360">
                <a:latin typeface="Times New Roman"/>
                <a:cs typeface="Times New Roman"/>
              </a:rPr>
              <a:t> </a:t>
            </a:r>
            <a:r>
              <a:rPr sz="1000">
                <a:latin typeface="Times New Roman"/>
                <a:cs typeface="Times New Roman"/>
              </a:rPr>
              <a:t>determining</a:t>
            </a:r>
            <a:r>
              <a:rPr sz="1000" spc="355">
                <a:latin typeface="Times New Roman"/>
                <a:cs typeface="Times New Roman"/>
              </a:rPr>
              <a:t> </a:t>
            </a:r>
            <a:r>
              <a:rPr sz="1000">
                <a:latin typeface="Times New Roman"/>
                <a:cs typeface="Times New Roman"/>
              </a:rPr>
              <a:t>the</a:t>
            </a:r>
            <a:r>
              <a:rPr sz="1000" spc="365">
                <a:latin typeface="Times New Roman"/>
                <a:cs typeface="Times New Roman"/>
              </a:rPr>
              <a:t> </a:t>
            </a:r>
            <a:r>
              <a:rPr sz="1000">
                <a:latin typeface="Times New Roman"/>
                <a:cs typeface="Times New Roman"/>
              </a:rPr>
              <a:t>implementation</a:t>
            </a:r>
            <a:r>
              <a:rPr sz="1000" spc="355">
                <a:latin typeface="Times New Roman"/>
                <a:cs typeface="Times New Roman"/>
              </a:rPr>
              <a:t> </a:t>
            </a:r>
            <a:r>
              <a:rPr sz="1000">
                <a:latin typeface="Times New Roman"/>
                <a:cs typeface="Times New Roman"/>
              </a:rPr>
              <a:t>of</a:t>
            </a:r>
            <a:r>
              <a:rPr sz="1000" spc="355">
                <a:latin typeface="Times New Roman"/>
                <a:cs typeface="Times New Roman"/>
              </a:rPr>
              <a:t> </a:t>
            </a:r>
            <a:r>
              <a:rPr sz="1000">
                <a:latin typeface="Times New Roman"/>
                <a:cs typeface="Times New Roman"/>
              </a:rPr>
              <a:t>the</a:t>
            </a:r>
            <a:r>
              <a:rPr sz="1000" spc="365">
                <a:latin typeface="Times New Roman"/>
                <a:cs typeface="Times New Roman"/>
              </a:rPr>
              <a:t> </a:t>
            </a:r>
            <a:r>
              <a:rPr sz="1000">
                <a:latin typeface="Times New Roman"/>
                <a:cs typeface="Times New Roman"/>
              </a:rPr>
              <a:t>dividend</a:t>
            </a:r>
            <a:r>
              <a:rPr sz="1000" spc="365">
                <a:latin typeface="Times New Roman"/>
                <a:cs typeface="Times New Roman"/>
              </a:rPr>
              <a:t> </a:t>
            </a:r>
            <a:r>
              <a:rPr sz="1000">
                <a:latin typeface="Times New Roman"/>
                <a:cs typeface="Times New Roman"/>
              </a:rPr>
              <a:t>policy</a:t>
            </a:r>
            <a:r>
              <a:rPr sz="1000" spc="355">
                <a:latin typeface="Times New Roman"/>
                <a:cs typeface="Times New Roman"/>
              </a:rPr>
              <a:t> </a:t>
            </a:r>
            <a:r>
              <a:rPr sz="1000">
                <a:latin typeface="Times New Roman"/>
                <a:cs typeface="Times New Roman"/>
              </a:rPr>
              <a:t>include,</a:t>
            </a:r>
            <a:r>
              <a:rPr sz="1000" spc="365">
                <a:latin typeface="Times New Roman"/>
                <a:cs typeface="Times New Roman"/>
              </a:rPr>
              <a:t> </a:t>
            </a:r>
            <a:r>
              <a:rPr sz="1000">
                <a:latin typeface="Times New Roman"/>
                <a:cs typeface="Times New Roman"/>
              </a:rPr>
              <a:t>among</a:t>
            </a:r>
            <a:r>
              <a:rPr sz="1000" spc="365">
                <a:latin typeface="Times New Roman"/>
                <a:cs typeface="Times New Roman"/>
              </a:rPr>
              <a:t> </a:t>
            </a:r>
            <a:r>
              <a:rPr sz="1000">
                <a:latin typeface="Times New Roman"/>
                <a:cs typeface="Times New Roman"/>
              </a:rPr>
              <a:t>others,</a:t>
            </a:r>
            <a:r>
              <a:rPr sz="1000" spc="375">
                <a:latin typeface="Times New Roman"/>
                <a:cs typeface="Times New Roman"/>
              </a:rPr>
              <a:t> </a:t>
            </a:r>
            <a:r>
              <a:rPr sz="1000">
                <a:latin typeface="Times New Roman"/>
                <a:cs typeface="Times New Roman"/>
              </a:rPr>
              <a:t>the</a:t>
            </a:r>
            <a:r>
              <a:rPr sz="1000" spc="385">
                <a:latin typeface="Times New Roman"/>
                <a:cs typeface="Times New Roman"/>
              </a:rPr>
              <a:t> </a:t>
            </a:r>
            <a:r>
              <a:rPr sz="1000">
                <a:latin typeface="Times New Roman"/>
                <a:cs typeface="Times New Roman"/>
              </a:rPr>
              <a:t>macroeconomic</a:t>
            </a:r>
            <a:endParaRPr/>
          </a:p>
          <a:p>
            <a:pPr marL="12700" algn="just">
              <a:lnSpc>
                <a:spcPts val="1150"/>
              </a:lnSpc>
            </a:pPr>
            <a:r>
              <a:rPr sz="1000">
                <a:latin typeface="Times New Roman"/>
                <a:cs typeface="Times New Roman"/>
              </a:rPr>
              <a:t>determinants, i.e., economic situation and tax system [13]</a:t>
            </a:r>
            <a:r>
              <a:rPr sz="1000" spc="5">
                <a:latin typeface="Times New Roman"/>
                <a:cs typeface="Times New Roman"/>
              </a:rPr>
              <a:t>, </a:t>
            </a:r>
            <a:r>
              <a:rPr sz="1000">
                <a:latin typeface="Times New Roman"/>
                <a:cs typeface="Times New Roman"/>
              </a:rPr>
              <a:t>legal system [7]</a:t>
            </a:r>
            <a:r>
              <a:rPr sz="1000" spc="5">
                <a:latin typeface="Times New Roman"/>
                <a:cs typeface="Times New Roman"/>
              </a:rPr>
              <a:t>, </a:t>
            </a:r>
            <a:r>
              <a:rPr sz="1000">
                <a:latin typeface="Times New Roman"/>
                <a:cs typeface="Times New Roman"/>
              </a:rPr>
              <a:t>market situation [11]</a:t>
            </a:r>
            <a:r>
              <a:rPr sz="1000" spc="5">
                <a:latin typeface="Times New Roman"/>
                <a:cs typeface="Times New Roman"/>
              </a:rPr>
              <a:t>, </a:t>
            </a:r>
            <a:r>
              <a:rPr sz="1000">
                <a:latin typeface="Times New Roman"/>
                <a:cs typeface="Times New Roman"/>
              </a:rPr>
              <a:t>as well as behavioral factors,</a:t>
            </a:r>
            <a:endParaRPr/>
          </a:p>
          <a:p>
            <a:pPr marL="12700" algn="just">
              <a:lnSpc>
                <a:spcPts val="1155"/>
              </a:lnSpc>
            </a:pPr>
            <a:r>
              <a:rPr sz="1000">
                <a:latin typeface="Times New Roman"/>
                <a:cs typeface="Times New Roman"/>
              </a:rPr>
              <a:t>such as the preferences of stock market investors manifested in the</a:t>
            </a:r>
            <a:r>
              <a:rPr sz="1000" spc="65">
                <a:latin typeface="Times New Roman"/>
                <a:cs typeface="Times New Roman"/>
              </a:rPr>
              <a:t> </a:t>
            </a:r>
            <a:r>
              <a:rPr sz="1000">
                <a:latin typeface="Times New Roman"/>
                <a:cs typeface="Times New Roman"/>
              </a:rPr>
              <a:t>level of dividend premium [4], the anchoring effect [9] and</a:t>
            </a:r>
            <a:endParaRPr/>
          </a:p>
          <a:p>
            <a:pPr marL="12700" algn="just">
              <a:lnSpc>
                <a:spcPts val="1150"/>
              </a:lnSpc>
            </a:pPr>
            <a:r>
              <a:rPr sz="1000">
                <a:latin typeface="Times New Roman"/>
                <a:cs typeface="Times New Roman"/>
              </a:rPr>
              <a:t>mental accounting.</a:t>
            </a:r>
            <a:endParaRPr/>
          </a:p>
          <a:p>
            <a:pPr marL="192405" algn="just">
              <a:lnSpc>
                <a:spcPts val="1140"/>
              </a:lnSpc>
            </a:pPr>
            <a:r>
              <a:rPr sz="1000">
                <a:latin typeface="Times New Roman"/>
                <a:cs typeface="Times New Roman"/>
              </a:rPr>
              <a:t>Moreover, further determinants of dividend payouts are the ownership concentration and ownership structure. Research on</a:t>
            </a:r>
            <a:endParaRPr/>
          </a:p>
          <a:p>
            <a:pPr marL="12700" algn="just">
              <a:lnSpc>
                <a:spcPts val="1155"/>
              </a:lnSpc>
            </a:pPr>
            <a:r>
              <a:rPr sz="1000">
                <a:latin typeface="Times New Roman"/>
                <a:cs typeface="Times New Roman"/>
              </a:rPr>
              <a:t>the</a:t>
            </a:r>
            <a:r>
              <a:rPr sz="1000" spc="135">
                <a:latin typeface="Times New Roman"/>
                <a:cs typeface="Times New Roman"/>
              </a:rPr>
              <a:t> </a:t>
            </a:r>
            <a:r>
              <a:rPr sz="1000">
                <a:latin typeface="Times New Roman"/>
                <a:cs typeface="Times New Roman"/>
              </a:rPr>
              <a:t>relationship</a:t>
            </a:r>
            <a:r>
              <a:rPr sz="1000" spc="135">
                <a:latin typeface="Times New Roman"/>
                <a:cs typeface="Times New Roman"/>
              </a:rPr>
              <a:t> </a:t>
            </a:r>
            <a:r>
              <a:rPr sz="1000">
                <a:latin typeface="Times New Roman"/>
                <a:cs typeface="Times New Roman"/>
              </a:rPr>
              <a:t>between</a:t>
            </a:r>
            <a:r>
              <a:rPr sz="1000" spc="125">
                <a:latin typeface="Times New Roman"/>
                <a:cs typeface="Times New Roman"/>
              </a:rPr>
              <a:t> </a:t>
            </a:r>
            <a:r>
              <a:rPr sz="1000">
                <a:latin typeface="Times New Roman"/>
                <a:cs typeface="Times New Roman"/>
              </a:rPr>
              <a:t>the</a:t>
            </a:r>
            <a:r>
              <a:rPr sz="1000" spc="145">
                <a:latin typeface="Times New Roman"/>
                <a:cs typeface="Times New Roman"/>
              </a:rPr>
              <a:t> </a:t>
            </a:r>
            <a:r>
              <a:rPr sz="1000">
                <a:latin typeface="Times New Roman"/>
                <a:cs typeface="Times New Roman"/>
              </a:rPr>
              <a:t>degree</a:t>
            </a:r>
            <a:r>
              <a:rPr sz="1000" spc="135">
                <a:latin typeface="Times New Roman"/>
                <a:cs typeface="Times New Roman"/>
              </a:rPr>
              <a:t> </a:t>
            </a:r>
            <a:r>
              <a:rPr sz="1000">
                <a:latin typeface="Times New Roman"/>
                <a:cs typeface="Times New Roman"/>
              </a:rPr>
              <a:t>of</a:t>
            </a:r>
            <a:r>
              <a:rPr sz="1000" spc="125">
                <a:latin typeface="Times New Roman"/>
                <a:cs typeface="Times New Roman"/>
              </a:rPr>
              <a:t> </a:t>
            </a:r>
            <a:r>
              <a:rPr sz="1000">
                <a:latin typeface="Times New Roman"/>
                <a:cs typeface="Times New Roman"/>
              </a:rPr>
              <a:t>ownership</a:t>
            </a:r>
            <a:r>
              <a:rPr sz="1000" spc="135">
                <a:latin typeface="Times New Roman"/>
                <a:cs typeface="Times New Roman"/>
              </a:rPr>
              <a:t> </a:t>
            </a:r>
            <a:r>
              <a:rPr sz="1000">
                <a:latin typeface="Times New Roman"/>
                <a:cs typeface="Times New Roman"/>
              </a:rPr>
              <a:t>concentration</a:t>
            </a:r>
            <a:r>
              <a:rPr sz="1000" spc="125">
                <a:latin typeface="Times New Roman"/>
                <a:cs typeface="Times New Roman"/>
              </a:rPr>
              <a:t> </a:t>
            </a:r>
            <a:r>
              <a:rPr sz="1000">
                <a:latin typeface="Times New Roman"/>
                <a:cs typeface="Times New Roman"/>
              </a:rPr>
              <a:t>and</a:t>
            </a:r>
            <a:r>
              <a:rPr sz="1000" spc="140">
                <a:latin typeface="Times New Roman"/>
                <a:cs typeface="Times New Roman"/>
              </a:rPr>
              <a:t> </a:t>
            </a:r>
            <a:r>
              <a:rPr sz="1000">
                <a:latin typeface="Times New Roman"/>
                <a:cs typeface="Times New Roman"/>
              </a:rPr>
              <a:t>dividend</a:t>
            </a:r>
            <a:r>
              <a:rPr sz="1000" spc="140">
                <a:latin typeface="Times New Roman"/>
                <a:cs typeface="Times New Roman"/>
              </a:rPr>
              <a:t> </a:t>
            </a:r>
            <a:r>
              <a:rPr sz="1000">
                <a:latin typeface="Times New Roman"/>
                <a:cs typeface="Times New Roman"/>
              </a:rPr>
              <a:t>payout,</a:t>
            </a:r>
            <a:r>
              <a:rPr sz="1000" spc="145">
                <a:latin typeface="Times New Roman"/>
                <a:cs typeface="Times New Roman"/>
              </a:rPr>
              <a:t> </a:t>
            </a:r>
            <a:r>
              <a:rPr sz="1000">
                <a:latin typeface="Times New Roman"/>
                <a:cs typeface="Times New Roman"/>
              </a:rPr>
              <a:t>carried</a:t>
            </a:r>
            <a:r>
              <a:rPr sz="1000" spc="140">
                <a:latin typeface="Times New Roman"/>
                <a:cs typeface="Times New Roman"/>
              </a:rPr>
              <a:t> </a:t>
            </a:r>
            <a:r>
              <a:rPr sz="1000">
                <a:latin typeface="Times New Roman"/>
                <a:cs typeface="Times New Roman"/>
              </a:rPr>
              <a:t>out</a:t>
            </a:r>
            <a:r>
              <a:rPr sz="1000" spc="130">
                <a:latin typeface="Times New Roman"/>
                <a:cs typeface="Times New Roman"/>
              </a:rPr>
              <a:t> </a:t>
            </a:r>
            <a:r>
              <a:rPr sz="1000">
                <a:latin typeface="Times New Roman"/>
                <a:cs typeface="Times New Roman"/>
              </a:rPr>
              <a:t>on</a:t>
            </a:r>
            <a:r>
              <a:rPr sz="1000" spc="140">
                <a:latin typeface="Times New Roman"/>
                <a:cs typeface="Times New Roman"/>
              </a:rPr>
              <a:t> </a:t>
            </a:r>
            <a:r>
              <a:rPr sz="1000">
                <a:latin typeface="Times New Roman"/>
                <a:cs typeface="Times New Roman"/>
              </a:rPr>
              <a:t>various</a:t>
            </a:r>
            <a:r>
              <a:rPr sz="1000" spc="155">
                <a:latin typeface="Times New Roman"/>
                <a:cs typeface="Times New Roman"/>
              </a:rPr>
              <a:t> </a:t>
            </a:r>
            <a:r>
              <a:rPr sz="1000">
                <a:latin typeface="Times New Roman"/>
                <a:cs typeface="Times New Roman"/>
              </a:rPr>
              <a:t>markets,</a:t>
            </a:r>
            <a:r>
              <a:rPr sz="1000" spc="135">
                <a:latin typeface="Times New Roman"/>
                <a:cs typeface="Times New Roman"/>
              </a:rPr>
              <a:t> </a:t>
            </a:r>
            <a:r>
              <a:rPr sz="1000">
                <a:latin typeface="Times New Roman"/>
                <a:cs typeface="Times New Roman"/>
              </a:rPr>
              <a:t>gave</a:t>
            </a:r>
            <a:endParaRPr/>
          </a:p>
          <a:p>
            <a:pPr marL="12700" algn="just">
              <a:lnSpc>
                <a:spcPts val="1150"/>
              </a:lnSpc>
            </a:pPr>
            <a:r>
              <a:rPr sz="1000">
                <a:latin typeface="Times New Roman"/>
                <a:cs typeface="Times New Roman"/>
              </a:rPr>
              <a:t>different results.</a:t>
            </a:r>
            <a:r>
              <a:rPr sz="1000" spc="65">
                <a:latin typeface="Times New Roman"/>
                <a:cs typeface="Times New Roman"/>
              </a:rPr>
              <a:t> </a:t>
            </a:r>
            <a:r>
              <a:rPr sz="1000">
                <a:latin typeface="Times New Roman"/>
                <a:cs typeface="Times New Roman"/>
              </a:rPr>
              <a:t>The increase in dividends along with the</a:t>
            </a:r>
            <a:r>
              <a:rPr sz="1000" spc="65">
                <a:latin typeface="Times New Roman"/>
                <a:cs typeface="Times New Roman"/>
              </a:rPr>
              <a:t> </a:t>
            </a:r>
            <a:r>
              <a:rPr sz="1000">
                <a:latin typeface="Times New Roman"/>
                <a:cs typeface="Times New Roman"/>
              </a:rPr>
              <a:t>increase in ownership concentration occurred in Great Britain</a:t>
            </a:r>
            <a:r>
              <a:rPr sz="1000" spc="95">
                <a:latin typeface="Times New Roman"/>
                <a:cs typeface="Times New Roman"/>
              </a:rPr>
              <a:t> </a:t>
            </a:r>
            <a:r>
              <a:rPr sz="1000">
                <a:latin typeface="Times New Roman"/>
                <a:cs typeface="Times New Roman"/>
              </a:rPr>
              <a:t>[19]</a:t>
            </a:r>
            <a:r>
              <a:rPr sz="1000" spc="-10">
                <a:latin typeface="Times New Roman"/>
                <a:cs typeface="Times New Roman"/>
              </a:rPr>
              <a:t>,</a:t>
            </a:r>
            <a:endParaRPr/>
          </a:p>
          <a:p>
            <a:pPr marL="12700" algn="just">
              <a:lnSpc>
                <a:spcPts val="1150"/>
              </a:lnSpc>
            </a:pPr>
            <a:r>
              <a:rPr sz="1000">
                <a:latin typeface="Times New Roman"/>
                <a:cs typeface="Times New Roman"/>
              </a:rPr>
              <a:t>Czechia</a:t>
            </a:r>
            <a:r>
              <a:rPr sz="1000" spc="90">
                <a:latin typeface="Times New Roman"/>
                <a:cs typeface="Times New Roman"/>
              </a:rPr>
              <a:t> </a:t>
            </a:r>
            <a:r>
              <a:rPr sz="1000">
                <a:latin typeface="Times New Roman"/>
                <a:cs typeface="Times New Roman"/>
              </a:rPr>
              <a:t>[5]</a:t>
            </a:r>
            <a:r>
              <a:rPr sz="1000" spc="5">
                <a:latin typeface="Times New Roman"/>
                <a:cs typeface="Times New Roman"/>
              </a:rPr>
              <a:t>,</a:t>
            </a:r>
            <a:r>
              <a:rPr sz="1000" spc="70">
                <a:latin typeface="Times New Roman"/>
                <a:cs typeface="Times New Roman"/>
              </a:rPr>
              <a:t> </a:t>
            </a:r>
            <a:r>
              <a:rPr sz="1000">
                <a:latin typeface="Times New Roman"/>
                <a:cs typeface="Times New Roman"/>
              </a:rPr>
              <a:t>Poland</a:t>
            </a:r>
            <a:r>
              <a:rPr sz="1000" spc="80">
                <a:latin typeface="Times New Roman"/>
                <a:cs typeface="Times New Roman"/>
              </a:rPr>
              <a:t> </a:t>
            </a:r>
            <a:r>
              <a:rPr sz="1000">
                <a:latin typeface="Times New Roman"/>
                <a:cs typeface="Times New Roman"/>
              </a:rPr>
              <a:t>[24]</a:t>
            </a:r>
            <a:r>
              <a:rPr sz="1000" spc="5">
                <a:latin typeface="Times New Roman"/>
                <a:cs typeface="Times New Roman"/>
              </a:rPr>
              <a:t>, </a:t>
            </a:r>
            <a:r>
              <a:rPr sz="1000">
                <a:latin typeface="Times New Roman"/>
                <a:cs typeface="Times New Roman"/>
              </a:rPr>
              <a:t>Turkey</a:t>
            </a:r>
            <a:r>
              <a:rPr sz="1000" spc="70">
                <a:latin typeface="Times New Roman"/>
                <a:cs typeface="Times New Roman"/>
              </a:rPr>
              <a:t> </a:t>
            </a:r>
            <a:r>
              <a:rPr sz="1000">
                <a:latin typeface="Times New Roman"/>
                <a:cs typeface="Times New Roman"/>
              </a:rPr>
              <a:t>[3],</a:t>
            </a:r>
            <a:r>
              <a:rPr sz="1000" spc="75">
                <a:latin typeface="Times New Roman"/>
                <a:cs typeface="Times New Roman"/>
              </a:rPr>
              <a:t> </a:t>
            </a:r>
            <a:r>
              <a:rPr sz="1000">
                <a:latin typeface="Times New Roman"/>
                <a:cs typeface="Times New Roman"/>
              </a:rPr>
              <a:t>Malaysia</a:t>
            </a:r>
            <a:r>
              <a:rPr sz="1000" spc="80">
                <a:latin typeface="Times New Roman"/>
                <a:cs typeface="Times New Roman"/>
              </a:rPr>
              <a:t> </a:t>
            </a:r>
            <a:r>
              <a:rPr sz="1000">
                <a:latin typeface="Times New Roman"/>
                <a:cs typeface="Times New Roman"/>
              </a:rPr>
              <a:t>[18]</a:t>
            </a:r>
            <a:r>
              <a:rPr sz="1000" spc="80">
                <a:latin typeface="Times New Roman"/>
                <a:cs typeface="Times New Roman"/>
              </a:rPr>
              <a:t> </a:t>
            </a:r>
            <a:r>
              <a:rPr sz="1000">
                <a:latin typeface="Times New Roman"/>
                <a:cs typeface="Times New Roman"/>
              </a:rPr>
              <a:t>and</a:t>
            </a:r>
            <a:r>
              <a:rPr sz="1000" spc="80">
                <a:latin typeface="Times New Roman"/>
                <a:cs typeface="Times New Roman"/>
              </a:rPr>
              <a:t> </a:t>
            </a:r>
            <a:r>
              <a:rPr sz="1000">
                <a:latin typeface="Times New Roman"/>
                <a:cs typeface="Times New Roman"/>
              </a:rPr>
              <a:t>Pakistan</a:t>
            </a:r>
            <a:r>
              <a:rPr sz="1000" spc="75">
                <a:latin typeface="Times New Roman"/>
                <a:cs typeface="Times New Roman"/>
              </a:rPr>
              <a:t> </a:t>
            </a:r>
            <a:r>
              <a:rPr sz="1000">
                <a:latin typeface="Times New Roman"/>
                <a:cs typeface="Times New Roman"/>
              </a:rPr>
              <a:t>[21].</a:t>
            </a:r>
            <a:r>
              <a:rPr sz="1000" spc="75">
                <a:latin typeface="Times New Roman"/>
                <a:cs typeface="Times New Roman"/>
              </a:rPr>
              <a:t> </a:t>
            </a:r>
            <a:r>
              <a:rPr sz="1000">
                <a:latin typeface="Times New Roman"/>
                <a:cs typeface="Times New Roman"/>
              </a:rPr>
              <a:t>On</a:t>
            </a:r>
            <a:r>
              <a:rPr sz="1000" spc="80">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other</a:t>
            </a:r>
            <a:r>
              <a:rPr sz="1000" spc="90">
                <a:latin typeface="Times New Roman"/>
                <a:cs typeface="Times New Roman"/>
              </a:rPr>
              <a:t> </a:t>
            </a:r>
            <a:r>
              <a:rPr sz="1000">
                <a:latin typeface="Times New Roman"/>
                <a:cs typeface="Times New Roman"/>
              </a:rPr>
              <a:t>hand,</a:t>
            </a:r>
            <a:r>
              <a:rPr sz="1000" spc="75">
                <a:latin typeface="Times New Roman"/>
                <a:cs typeface="Times New Roman"/>
              </a:rPr>
              <a:t> </a:t>
            </a:r>
            <a:r>
              <a:rPr sz="1000">
                <a:latin typeface="Times New Roman"/>
                <a:cs typeface="Times New Roman"/>
              </a:rPr>
              <a:t>a</a:t>
            </a:r>
            <a:r>
              <a:rPr sz="1000" spc="75">
                <a:latin typeface="Times New Roman"/>
                <a:cs typeface="Times New Roman"/>
              </a:rPr>
              <a:t> </a:t>
            </a:r>
            <a:r>
              <a:rPr sz="1000">
                <a:latin typeface="Times New Roman"/>
                <a:cs typeface="Times New Roman"/>
              </a:rPr>
              <a:t>decrease</a:t>
            </a:r>
            <a:r>
              <a:rPr sz="1000" spc="75">
                <a:latin typeface="Times New Roman"/>
                <a:cs typeface="Times New Roman"/>
              </a:rPr>
              <a:t> </a:t>
            </a:r>
            <a:r>
              <a:rPr sz="1000">
                <a:latin typeface="Times New Roman"/>
                <a:cs typeface="Times New Roman"/>
              </a:rPr>
              <a:t>in</a:t>
            </a:r>
            <a:r>
              <a:rPr sz="1000" spc="75">
                <a:latin typeface="Times New Roman"/>
                <a:cs typeface="Times New Roman"/>
              </a:rPr>
              <a:t> </a:t>
            </a:r>
            <a:r>
              <a:rPr sz="1000">
                <a:latin typeface="Times New Roman"/>
                <a:cs typeface="Times New Roman"/>
              </a:rPr>
              <a:t>dividends</a:t>
            </a:r>
            <a:r>
              <a:rPr sz="1000" spc="70">
                <a:latin typeface="Times New Roman"/>
                <a:cs typeface="Times New Roman"/>
              </a:rPr>
              <a:t> </a:t>
            </a:r>
            <a:r>
              <a:rPr sz="1000">
                <a:latin typeface="Times New Roman"/>
                <a:cs typeface="Times New Roman"/>
              </a:rPr>
              <a:t>due</a:t>
            </a:r>
            <a:r>
              <a:rPr sz="1000" spc="75">
                <a:latin typeface="Times New Roman"/>
                <a:cs typeface="Times New Roman"/>
              </a:rPr>
              <a:t> </a:t>
            </a:r>
            <a:r>
              <a:rPr sz="1000">
                <a:latin typeface="Times New Roman"/>
                <a:cs typeface="Times New Roman"/>
              </a:rPr>
              <a:t>to</a:t>
            </a:r>
            <a:r>
              <a:rPr sz="1000" spc="75">
                <a:latin typeface="Times New Roman"/>
                <a:cs typeface="Times New Roman"/>
              </a:rPr>
              <a:t> </a:t>
            </a:r>
            <a:r>
              <a:rPr sz="1000">
                <a:latin typeface="Times New Roman"/>
                <a:cs typeface="Times New Roman"/>
              </a:rPr>
              <a:t>an</a:t>
            </a:r>
            <a:endParaRPr/>
          </a:p>
          <a:p>
            <a:pPr marL="12700" algn="just">
              <a:lnSpc>
                <a:spcPts val="1155"/>
              </a:lnSpc>
            </a:pPr>
            <a:r>
              <a:rPr sz="1000">
                <a:latin typeface="Times New Roman"/>
                <a:cs typeface="Times New Roman"/>
              </a:rPr>
              <a:t>increase in ownership concentration was observed, for example, in Germany [8].</a:t>
            </a:r>
            <a:endParaRPr/>
          </a:p>
          <a:p>
            <a:pPr marL="192405" algn="just">
              <a:lnSpc>
                <a:spcPts val="1150"/>
              </a:lnSpc>
            </a:pPr>
            <a:r>
              <a:rPr sz="1000" spc="-5">
                <a:latin typeface="Times New Roman"/>
                <a:cs typeface="Times New Roman"/>
              </a:rPr>
              <a:t>Literature</a:t>
            </a:r>
            <a:r>
              <a:rPr sz="1000" spc="165">
                <a:latin typeface="Times New Roman"/>
                <a:cs typeface="Times New Roman"/>
              </a:rPr>
              <a:t> </a:t>
            </a:r>
            <a:r>
              <a:rPr sz="1000" spc="-5">
                <a:latin typeface="Times New Roman"/>
                <a:cs typeface="Times New Roman"/>
              </a:rPr>
              <a:t>analysis</a:t>
            </a:r>
            <a:r>
              <a:rPr sz="1000" spc="160">
                <a:latin typeface="Times New Roman"/>
                <a:cs typeface="Times New Roman"/>
              </a:rPr>
              <a:t> </a:t>
            </a:r>
            <a:r>
              <a:rPr sz="1000" spc="-5">
                <a:latin typeface="Times New Roman"/>
                <a:cs typeface="Times New Roman"/>
              </a:rPr>
              <a:t>regarding</a:t>
            </a:r>
            <a:r>
              <a:rPr sz="1000" spc="145">
                <a:latin typeface="Times New Roman"/>
                <a:cs typeface="Times New Roman"/>
              </a:rPr>
              <a:t> </a:t>
            </a:r>
            <a:r>
              <a:rPr sz="1000" spc="-5">
                <a:latin typeface="Times New Roman"/>
                <a:cs typeface="Times New Roman"/>
              </a:rPr>
              <a:t>the</a:t>
            </a:r>
            <a:r>
              <a:rPr sz="1000" spc="165">
                <a:latin typeface="Times New Roman"/>
                <a:cs typeface="Times New Roman"/>
              </a:rPr>
              <a:t> </a:t>
            </a:r>
            <a:r>
              <a:rPr sz="1000" spc="-5">
                <a:latin typeface="Times New Roman"/>
                <a:cs typeface="Times New Roman"/>
              </a:rPr>
              <a:t>impact</a:t>
            </a:r>
            <a:r>
              <a:rPr sz="1000" spc="160">
                <a:latin typeface="Times New Roman"/>
                <a:cs typeface="Times New Roman"/>
              </a:rPr>
              <a:t> </a:t>
            </a:r>
            <a:r>
              <a:rPr sz="1000" spc="-5">
                <a:latin typeface="Times New Roman"/>
                <a:cs typeface="Times New Roman"/>
              </a:rPr>
              <a:t>of</a:t>
            </a:r>
            <a:r>
              <a:rPr sz="1000" spc="155">
                <a:latin typeface="Times New Roman"/>
                <a:cs typeface="Times New Roman"/>
              </a:rPr>
              <a:t> </a:t>
            </a:r>
            <a:r>
              <a:rPr sz="1000" spc="-5">
                <a:latin typeface="Times New Roman"/>
                <a:cs typeface="Times New Roman"/>
              </a:rPr>
              <a:t>the</a:t>
            </a:r>
            <a:r>
              <a:rPr sz="1000" spc="155">
                <a:latin typeface="Times New Roman"/>
                <a:cs typeface="Times New Roman"/>
              </a:rPr>
              <a:t> </a:t>
            </a:r>
            <a:r>
              <a:rPr sz="1000" spc="-5">
                <a:latin typeface="Times New Roman"/>
                <a:cs typeface="Times New Roman"/>
              </a:rPr>
              <a:t>ownership</a:t>
            </a:r>
            <a:r>
              <a:rPr sz="1000" spc="145">
                <a:latin typeface="Times New Roman"/>
                <a:cs typeface="Times New Roman"/>
              </a:rPr>
              <a:t> </a:t>
            </a:r>
            <a:r>
              <a:rPr sz="1000" spc="-5">
                <a:latin typeface="Times New Roman"/>
                <a:cs typeface="Times New Roman"/>
              </a:rPr>
              <a:t>structure</a:t>
            </a:r>
            <a:r>
              <a:rPr sz="1000" spc="160">
                <a:latin typeface="Times New Roman"/>
                <a:cs typeface="Times New Roman"/>
              </a:rPr>
              <a:t> </a:t>
            </a:r>
            <a:r>
              <a:rPr sz="1000" spc="-5">
                <a:latin typeface="Times New Roman"/>
                <a:cs typeface="Times New Roman"/>
              </a:rPr>
              <a:t>–</a:t>
            </a:r>
            <a:r>
              <a:rPr sz="1000" spc="145">
                <a:latin typeface="Times New Roman"/>
                <a:cs typeface="Times New Roman"/>
              </a:rPr>
              <a:t> </a:t>
            </a:r>
            <a:r>
              <a:rPr sz="1000" spc="-5">
                <a:latin typeface="Times New Roman"/>
                <a:cs typeface="Times New Roman"/>
              </a:rPr>
              <a:t>defined</a:t>
            </a:r>
            <a:r>
              <a:rPr sz="1000" spc="155">
                <a:latin typeface="Times New Roman"/>
                <a:cs typeface="Times New Roman"/>
              </a:rPr>
              <a:t> </a:t>
            </a:r>
            <a:r>
              <a:rPr sz="1000" spc="-5">
                <a:latin typeface="Times New Roman"/>
                <a:cs typeface="Times New Roman"/>
              </a:rPr>
              <a:t>as</a:t>
            </a:r>
            <a:r>
              <a:rPr sz="1000" spc="160">
                <a:latin typeface="Times New Roman"/>
                <a:cs typeface="Times New Roman"/>
              </a:rPr>
              <a:t> </a:t>
            </a:r>
            <a:r>
              <a:rPr sz="1000" spc="-5">
                <a:latin typeface="Times New Roman"/>
                <a:cs typeface="Times New Roman"/>
              </a:rPr>
              <a:t>a</a:t>
            </a:r>
            <a:r>
              <a:rPr sz="1000" spc="155">
                <a:latin typeface="Times New Roman"/>
                <a:cs typeface="Times New Roman"/>
              </a:rPr>
              <a:t> </a:t>
            </a:r>
            <a:r>
              <a:rPr sz="1000" spc="-5">
                <a:latin typeface="Times New Roman"/>
                <a:cs typeface="Times New Roman"/>
              </a:rPr>
              <a:t>number</a:t>
            </a:r>
            <a:r>
              <a:rPr sz="1000" spc="155">
                <a:latin typeface="Times New Roman"/>
                <a:cs typeface="Times New Roman"/>
              </a:rPr>
              <a:t> </a:t>
            </a:r>
            <a:r>
              <a:rPr sz="1000" spc="-5">
                <a:latin typeface="Times New Roman"/>
                <a:cs typeface="Times New Roman"/>
              </a:rPr>
              <a:t>of</a:t>
            </a:r>
            <a:r>
              <a:rPr sz="1000" spc="155">
                <a:latin typeface="Times New Roman"/>
                <a:cs typeface="Times New Roman"/>
              </a:rPr>
              <a:t> </a:t>
            </a:r>
            <a:r>
              <a:rPr sz="1000" spc="-5">
                <a:latin typeface="Times New Roman"/>
                <a:cs typeface="Times New Roman"/>
              </a:rPr>
              <a:t>shares</a:t>
            </a:r>
            <a:r>
              <a:rPr sz="1000" spc="150">
                <a:latin typeface="Times New Roman"/>
                <a:cs typeface="Times New Roman"/>
              </a:rPr>
              <a:t> </a:t>
            </a:r>
            <a:r>
              <a:rPr sz="1000" spc="-5">
                <a:latin typeface="Times New Roman"/>
                <a:cs typeface="Times New Roman"/>
              </a:rPr>
              <a:t>which</a:t>
            </a:r>
            <a:r>
              <a:rPr sz="1000" spc="160">
                <a:latin typeface="Times New Roman"/>
                <a:cs typeface="Times New Roman"/>
              </a:rPr>
              <a:t> </a:t>
            </a:r>
            <a:r>
              <a:rPr sz="1000" spc="-5">
                <a:latin typeface="Times New Roman"/>
                <a:cs typeface="Times New Roman"/>
              </a:rPr>
              <a:t>are</a:t>
            </a:r>
            <a:r>
              <a:rPr sz="1000" spc="165">
                <a:latin typeface="Times New Roman"/>
                <a:cs typeface="Times New Roman"/>
              </a:rPr>
              <a:t> </a:t>
            </a:r>
            <a:r>
              <a:rPr sz="1000" spc="-5">
                <a:latin typeface="Times New Roman"/>
                <a:cs typeface="Times New Roman"/>
              </a:rPr>
              <a:t>held</a:t>
            </a:r>
            <a:r>
              <a:rPr sz="1000" spc="160">
                <a:latin typeface="Times New Roman"/>
                <a:cs typeface="Times New Roman"/>
              </a:rPr>
              <a:t> </a:t>
            </a:r>
            <a:r>
              <a:rPr sz="1000" spc="-5">
                <a:latin typeface="Times New Roman"/>
                <a:cs typeface="Times New Roman"/>
              </a:rPr>
              <a:t>by</a:t>
            </a:r>
            <a:endParaRPr/>
          </a:p>
          <a:p>
            <a:pPr marL="12700" algn="just">
              <a:lnSpc>
                <a:spcPts val="1140"/>
              </a:lnSpc>
            </a:pPr>
            <a:r>
              <a:rPr sz="1000" spc="-5">
                <a:latin typeface="Times New Roman"/>
                <a:cs typeface="Times New Roman"/>
              </a:rPr>
              <a:t>different groups of shareholders [24] – on the dividend payout showed diversified dependencies between the amount of dividend</a:t>
            </a:r>
            <a:endParaRPr/>
          </a:p>
          <a:p>
            <a:pPr marL="12700" algn="just">
              <a:lnSpc>
                <a:spcPts val="1155"/>
              </a:lnSpc>
            </a:pPr>
            <a:r>
              <a:rPr sz="1000">
                <a:latin typeface="Times New Roman"/>
                <a:cs typeface="Times New Roman"/>
              </a:rPr>
              <a:t>and the type of shareholder. Starting with the managerial ownership it should be noted that some studies prove that if managers</a:t>
            </a:r>
            <a:endParaRPr/>
          </a:p>
          <a:p>
            <a:pPr marL="12700" algn="just">
              <a:lnSpc>
                <a:spcPts val="1150"/>
              </a:lnSpc>
            </a:pPr>
            <a:r>
              <a:rPr sz="1000" spc="-5">
                <a:latin typeface="Times New Roman"/>
                <a:cs typeface="Times New Roman"/>
              </a:rPr>
              <a:t>hold</a:t>
            </a:r>
            <a:r>
              <a:rPr sz="1000" spc="175">
                <a:latin typeface="Times New Roman"/>
                <a:cs typeface="Times New Roman"/>
              </a:rPr>
              <a:t> </a:t>
            </a:r>
            <a:r>
              <a:rPr sz="1000" spc="-5">
                <a:latin typeface="Times New Roman"/>
                <a:cs typeface="Times New Roman"/>
              </a:rPr>
              <a:t>shares</a:t>
            </a:r>
            <a:r>
              <a:rPr sz="1000" spc="150">
                <a:latin typeface="Times New Roman"/>
                <a:cs typeface="Times New Roman"/>
              </a:rPr>
              <a:t> </a:t>
            </a:r>
            <a:r>
              <a:rPr sz="1000" spc="-5">
                <a:latin typeface="Times New Roman"/>
                <a:cs typeface="Times New Roman"/>
              </a:rPr>
              <a:t>of</a:t>
            </a:r>
            <a:r>
              <a:rPr sz="1000" spc="155">
                <a:latin typeface="Times New Roman"/>
                <a:cs typeface="Times New Roman"/>
              </a:rPr>
              <a:t> </a:t>
            </a:r>
            <a:r>
              <a:rPr sz="1000" spc="-5">
                <a:latin typeface="Times New Roman"/>
                <a:cs typeface="Times New Roman"/>
              </a:rPr>
              <a:t>the</a:t>
            </a:r>
            <a:r>
              <a:rPr sz="1000" spc="155">
                <a:latin typeface="Times New Roman"/>
                <a:cs typeface="Times New Roman"/>
              </a:rPr>
              <a:t> </a:t>
            </a:r>
            <a:r>
              <a:rPr sz="1000" spc="-5">
                <a:latin typeface="Times New Roman"/>
                <a:cs typeface="Times New Roman"/>
              </a:rPr>
              <a:t>company,</a:t>
            </a:r>
            <a:r>
              <a:rPr sz="1000" spc="165">
                <a:latin typeface="Times New Roman"/>
                <a:cs typeface="Times New Roman"/>
              </a:rPr>
              <a:t> </a:t>
            </a:r>
            <a:r>
              <a:rPr sz="1000" spc="-5">
                <a:latin typeface="Times New Roman"/>
                <a:cs typeface="Times New Roman"/>
              </a:rPr>
              <a:t>they</a:t>
            </a:r>
            <a:r>
              <a:rPr sz="1000" spc="150">
                <a:latin typeface="Times New Roman"/>
                <a:cs typeface="Times New Roman"/>
              </a:rPr>
              <a:t> </a:t>
            </a:r>
            <a:r>
              <a:rPr sz="1000" spc="-5">
                <a:latin typeface="Times New Roman"/>
                <a:cs typeface="Times New Roman"/>
              </a:rPr>
              <a:t>adopt</a:t>
            </a:r>
            <a:r>
              <a:rPr sz="1000" spc="165">
                <a:latin typeface="Times New Roman"/>
                <a:cs typeface="Times New Roman"/>
              </a:rPr>
              <a:t> </a:t>
            </a:r>
            <a:r>
              <a:rPr sz="1000" spc="-5">
                <a:latin typeface="Times New Roman"/>
                <a:cs typeface="Times New Roman"/>
              </a:rPr>
              <a:t>shareholders’</a:t>
            </a:r>
            <a:r>
              <a:rPr sz="1000" spc="155">
                <a:latin typeface="Times New Roman"/>
                <a:cs typeface="Times New Roman"/>
              </a:rPr>
              <a:t> </a:t>
            </a:r>
            <a:r>
              <a:rPr sz="1000" spc="-5">
                <a:latin typeface="Times New Roman"/>
                <a:cs typeface="Times New Roman"/>
              </a:rPr>
              <a:t>goals,</a:t>
            </a:r>
            <a:r>
              <a:rPr sz="1000" spc="165">
                <a:latin typeface="Times New Roman"/>
                <a:cs typeface="Times New Roman"/>
              </a:rPr>
              <a:t> </a:t>
            </a:r>
            <a:r>
              <a:rPr sz="1000" spc="-5">
                <a:latin typeface="Times New Roman"/>
                <a:cs typeface="Times New Roman"/>
              </a:rPr>
              <a:t>which</a:t>
            </a:r>
            <a:r>
              <a:rPr sz="1000" spc="160">
                <a:latin typeface="Times New Roman"/>
                <a:cs typeface="Times New Roman"/>
              </a:rPr>
              <a:t> </a:t>
            </a:r>
            <a:r>
              <a:rPr sz="1000" spc="-5">
                <a:latin typeface="Times New Roman"/>
                <a:cs typeface="Times New Roman"/>
              </a:rPr>
              <a:t>results</a:t>
            </a:r>
            <a:r>
              <a:rPr sz="1000" spc="180">
                <a:latin typeface="Times New Roman"/>
                <a:cs typeface="Times New Roman"/>
              </a:rPr>
              <a:t> </a:t>
            </a:r>
            <a:r>
              <a:rPr sz="1000" spc="-5">
                <a:latin typeface="Times New Roman"/>
                <a:cs typeface="Times New Roman"/>
              </a:rPr>
              <a:t>in</a:t>
            </a:r>
            <a:r>
              <a:rPr sz="1000" spc="155">
                <a:latin typeface="Times New Roman"/>
                <a:cs typeface="Times New Roman"/>
              </a:rPr>
              <a:t> </a:t>
            </a:r>
            <a:r>
              <a:rPr sz="1000" spc="-5">
                <a:latin typeface="Times New Roman"/>
                <a:cs typeface="Times New Roman"/>
              </a:rPr>
              <a:t>higher</a:t>
            </a:r>
            <a:r>
              <a:rPr sz="1000" spc="155">
                <a:latin typeface="Times New Roman"/>
                <a:cs typeface="Times New Roman"/>
              </a:rPr>
              <a:t> </a:t>
            </a:r>
            <a:r>
              <a:rPr sz="1000" spc="-5">
                <a:latin typeface="Times New Roman"/>
                <a:cs typeface="Times New Roman"/>
              </a:rPr>
              <a:t>dividend</a:t>
            </a:r>
            <a:r>
              <a:rPr sz="1000" spc="155">
                <a:latin typeface="Times New Roman"/>
                <a:cs typeface="Times New Roman"/>
              </a:rPr>
              <a:t> </a:t>
            </a:r>
            <a:r>
              <a:rPr sz="1000" spc="-5">
                <a:latin typeface="Times New Roman"/>
                <a:cs typeface="Times New Roman"/>
              </a:rPr>
              <a:t>payout</a:t>
            </a:r>
            <a:r>
              <a:rPr sz="1000" spc="150">
                <a:latin typeface="Times New Roman"/>
                <a:cs typeface="Times New Roman"/>
              </a:rPr>
              <a:t> </a:t>
            </a:r>
            <a:r>
              <a:rPr sz="1000" spc="-5">
                <a:latin typeface="Times New Roman"/>
                <a:cs typeface="Times New Roman"/>
              </a:rPr>
              <a:t>[20]</a:t>
            </a:r>
            <a:r>
              <a:rPr sz="1000" spc="-15">
                <a:latin typeface="Times New Roman"/>
                <a:cs typeface="Times New Roman"/>
              </a:rPr>
              <a:t>.</a:t>
            </a:r>
            <a:r>
              <a:rPr sz="1000" spc="175">
                <a:latin typeface="Times New Roman"/>
                <a:cs typeface="Times New Roman"/>
              </a:rPr>
              <a:t> </a:t>
            </a:r>
            <a:r>
              <a:rPr sz="1000" spc="-5">
                <a:latin typeface="Times New Roman"/>
                <a:cs typeface="Times New Roman"/>
              </a:rPr>
              <a:t>However,</a:t>
            </a:r>
            <a:r>
              <a:rPr sz="1000" spc="155">
                <a:latin typeface="Times New Roman"/>
                <a:cs typeface="Times New Roman"/>
              </a:rPr>
              <a:t> </a:t>
            </a:r>
            <a:r>
              <a:rPr sz="1000" spc="-5">
                <a:latin typeface="Times New Roman"/>
                <a:cs typeface="Times New Roman"/>
              </a:rPr>
              <a:t>other</a:t>
            </a:r>
            <a:endParaRPr/>
          </a:p>
          <a:p>
            <a:pPr marL="12700" algn="just">
              <a:lnSpc>
                <a:spcPts val="1150"/>
              </a:lnSpc>
            </a:pPr>
            <a:r>
              <a:rPr sz="1000" spc="-5">
                <a:latin typeface="Times New Roman"/>
                <a:cs typeface="Times New Roman"/>
              </a:rPr>
              <a:t>authors</a:t>
            </a:r>
            <a:r>
              <a:rPr sz="1000" spc="125">
                <a:latin typeface="Times New Roman"/>
                <a:cs typeface="Times New Roman"/>
              </a:rPr>
              <a:t> </a:t>
            </a:r>
            <a:r>
              <a:rPr sz="1000" spc="-5">
                <a:latin typeface="Times New Roman"/>
                <a:cs typeface="Times New Roman"/>
              </a:rPr>
              <a:t>claim</a:t>
            </a:r>
            <a:r>
              <a:rPr sz="1000" spc="110">
                <a:latin typeface="Times New Roman"/>
                <a:cs typeface="Times New Roman"/>
              </a:rPr>
              <a:t> </a:t>
            </a:r>
            <a:r>
              <a:rPr sz="1000" spc="-5">
                <a:latin typeface="Times New Roman"/>
                <a:cs typeface="Times New Roman"/>
              </a:rPr>
              <a:t>that</a:t>
            </a:r>
            <a:r>
              <a:rPr sz="1000" spc="130">
                <a:latin typeface="Times New Roman"/>
                <a:cs typeface="Times New Roman"/>
              </a:rPr>
              <a:t> </a:t>
            </a:r>
            <a:r>
              <a:rPr sz="1000" spc="-5">
                <a:latin typeface="Times New Roman"/>
                <a:cs typeface="Times New Roman"/>
              </a:rPr>
              <a:t>the</a:t>
            </a:r>
            <a:r>
              <a:rPr sz="1000" spc="130">
                <a:latin typeface="Times New Roman"/>
                <a:cs typeface="Times New Roman"/>
              </a:rPr>
              <a:t> </a:t>
            </a:r>
            <a:r>
              <a:rPr sz="1000" spc="-5">
                <a:latin typeface="Times New Roman"/>
                <a:cs typeface="Times New Roman"/>
              </a:rPr>
              <a:t>amount</a:t>
            </a:r>
            <a:r>
              <a:rPr sz="1000" spc="125">
                <a:latin typeface="Times New Roman"/>
                <a:cs typeface="Times New Roman"/>
              </a:rPr>
              <a:t> </a:t>
            </a:r>
            <a:r>
              <a:rPr sz="1000" spc="-5">
                <a:latin typeface="Times New Roman"/>
                <a:cs typeface="Times New Roman"/>
              </a:rPr>
              <a:t>of</a:t>
            </a:r>
            <a:r>
              <a:rPr sz="1000" spc="110">
                <a:latin typeface="Times New Roman"/>
                <a:cs typeface="Times New Roman"/>
              </a:rPr>
              <a:t> </a:t>
            </a:r>
            <a:r>
              <a:rPr sz="1000" spc="-5">
                <a:latin typeface="Times New Roman"/>
                <a:cs typeface="Times New Roman"/>
              </a:rPr>
              <a:t>dividend</a:t>
            </a:r>
            <a:r>
              <a:rPr sz="1000" spc="120">
                <a:latin typeface="Times New Roman"/>
                <a:cs typeface="Times New Roman"/>
              </a:rPr>
              <a:t> </a:t>
            </a:r>
            <a:r>
              <a:rPr sz="1000" spc="-5">
                <a:latin typeface="Times New Roman"/>
                <a:cs typeface="Times New Roman"/>
              </a:rPr>
              <a:t>depends</a:t>
            </a:r>
            <a:r>
              <a:rPr sz="1000" spc="115">
                <a:latin typeface="Times New Roman"/>
                <a:cs typeface="Times New Roman"/>
              </a:rPr>
              <a:t> </a:t>
            </a:r>
            <a:r>
              <a:rPr sz="1000" spc="-5">
                <a:latin typeface="Times New Roman"/>
                <a:cs typeface="Times New Roman"/>
              </a:rPr>
              <a:t>on</a:t>
            </a:r>
            <a:r>
              <a:rPr sz="1000" spc="120">
                <a:latin typeface="Times New Roman"/>
                <a:cs typeface="Times New Roman"/>
              </a:rPr>
              <a:t> </a:t>
            </a:r>
            <a:r>
              <a:rPr sz="1000" spc="-5">
                <a:latin typeface="Times New Roman"/>
                <a:cs typeface="Times New Roman"/>
              </a:rPr>
              <a:t>the</a:t>
            </a:r>
            <a:r>
              <a:rPr sz="1000" spc="120">
                <a:latin typeface="Times New Roman"/>
                <a:cs typeface="Times New Roman"/>
              </a:rPr>
              <a:t> </a:t>
            </a:r>
            <a:r>
              <a:rPr sz="1000" spc="-5">
                <a:latin typeface="Times New Roman"/>
                <a:cs typeface="Times New Roman"/>
              </a:rPr>
              <a:t>number</a:t>
            </a:r>
            <a:r>
              <a:rPr sz="1000" spc="120">
                <a:latin typeface="Times New Roman"/>
                <a:cs typeface="Times New Roman"/>
              </a:rPr>
              <a:t> </a:t>
            </a:r>
            <a:r>
              <a:rPr sz="1000" spc="-5">
                <a:latin typeface="Times New Roman"/>
                <a:cs typeface="Times New Roman"/>
              </a:rPr>
              <a:t>of</a:t>
            </a:r>
            <a:r>
              <a:rPr sz="1000" spc="120">
                <a:latin typeface="Times New Roman"/>
                <a:cs typeface="Times New Roman"/>
              </a:rPr>
              <a:t> </a:t>
            </a:r>
            <a:r>
              <a:rPr sz="1000" spc="-5">
                <a:latin typeface="Times New Roman"/>
                <a:cs typeface="Times New Roman"/>
              </a:rPr>
              <a:t>shares</a:t>
            </a:r>
            <a:r>
              <a:rPr sz="1000" spc="125">
                <a:latin typeface="Times New Roman"/>
                <a:cs typeface="Times New Roman"/>
              </a:rPr>
              <a:t> </a:t>
            </a:r>
            <a:r>
              <a:rPr sz="1000" spc="-5">
                <a:latin typeface="Times New Roman"/>
                <a:cs typeface="Times New Roman"/>
              </a:rPr>
              <a:t>held</a:t>
            </a:r>
            <a:r>
              <a:rPr sz="1000" spc="120">
                <a:latin typeface="Times New Roman"/>
                <a:cs typeface="Times New Roman"/>
              </a:rPr>
              <a:t> </a:t>
            </a:r>
            <a:r>
              <a:rPr sz="1000" spc="-5">
                <a:latin typeface="Times New Roman"/>
                <a:cs typeface="Times New Roman"/>
              </a:rPr>
              <a:t>by</a:t>
            </a:r>
            <a:r>
              <a:rPr sz="1000" spc="120">
                <a:latin typeface="Times New Roman"/>
                <a:cs typeface="Times New Roman"/>
              </a:rPr>
              <a:t> </a:t>
            </a:r>
            <a:r>
              <a:rPr sz="1000" spc="-5">
                <a:latin typeface="Times New Roman"/>
                <a:cs typeface="Times New Roman"/>
              </a:rPr>
              <a:t>managers</a:t>
            </a:r>
            <a:r>
              <a:rPr sz="1000" spc="155">
                <a:latin typeface="Times New Roman"/>
                <a:cs typeface="Times New Roman"/>
              </a:rPr>
              <a:t> </a:t>
            </a:r>
            <a:r>
              <a:rPr sz="1000" spc="-5">
                <a:latin typeface="Times New Roman"/>
                <a:cs typeface="Times New Roman"/>
              </a:rPr>
              <a:t>[10]</a:t>
            </a:r>
            <a:r>
              <a:rPr sz="1000">
                <a:latin typeface="Times New Roman"/>
                <a:cs typeface="Times New Roman"/>
              </a:rPr>
              <a:t>.</a:t>
            </a:r>
            <a:r>
              <a:rPr sz="1000" spc="115">
                <a:latin typeface="Times New Roman"/>
                <a:cs typeface="Times New Roman"/>
              </a:rPr>
              <a:t> </a:t>
            </a:r>
            <a:r>
              <a:rPr sz="1000" spc="-5">
                <a:latin typeface="Times New Roman"/>
                <a:cs typeface="Times New Roman"/>
              </a:rPr>
              <a:t>The</a:t>
            </a:r>
            <a:r>
              <a:rPr sz="1000" spc="130">
                <a:latin typeface="Times New Roman"/>
                <a:cs typeface="Times New Roman"/>
              </a:rPr>
              <a:t> </a:t>
            </a:r>
            <a:r>
              <a:rPr sz="1000" spc="-5">
                <a:latin typeface="Times New Roman"/>
                <a:cs typeface="Times New Roman"/>
              </a:rPr>
              <a:t>more</a:t>
            </a:r>
            <a:r>
              <a:rPr sz="1000" spc="120">
                <a:latin typeface="Times New Roman"/>
                <a:cs typeface="Times New Roman"/>
              </a:rPr>
              <a:t> </a:t>
            </a:r>
            <a:r>
              <a:rPr sz="1000" spc="-5">
                <a:latin typeface="Times New Roman"/>
                <a:cs typeface="Times New Roman"/>
              </a:rPr>
              <a:t>concentrated</a:t>
            </a:r>
            <a:endParaRPr/>
          </a:p>
          <a:p>
            <a:pPr marL="12700" algn="just">
              <a:lnSpc>
                <a:spcPts val="1155"/>
              </a:lnSpc>
            </a:pPr>
            <a:r>
              <a:rPr sz="1000">
                <a:latin typeface="Times New Roman"/>
                <a:cs typeface="Times New Roman"/>
              </a:rPr>
              <a:t>managerial ownership the lower the dividend payment because managers – like other large shareholders – stop identifying their</a:t>
            </a:r>
            <a:endParaRPr/>
          </a:p>
          <a:p>
            <a:pPr marL="12700" algn="just">
              <a:lnSpc>
                <a:spcPts val="1150"/>
              </a:lnSpc>
            </a:pPr>
            <a:r>
              <a:rPr sz="1000">
                <a:latin typeface="Times New Roman"/>
                <a:cs typeface="Times New Roman"/>
              </a:rPr>
              <a:t>goals with those of minority shareholders and pursue their own benefits at the expense of small shareholder [16].</a:t>
            </a:r>
            <a:endParaRPr/>
          </a:p>
          <a:p>
            <a:pPr marL="192405" algn="just">
              <a:lnSpc>
                <a:spcPts val="1140"/>
              </a:lnSpc>
            </a:pPr>
            <a:r>
              <a:rPr sz="1000">
                <a:latin typeface="Times New Roman"/>
                <a:cs typeface="Times New Roman"/>
              </a:rPr>
              <a:t>The</a:t>
            </a:r>
            <a:r>
              <a:rPr sz="1000" spc="145">
                <a:latin typeface="Times New Roman"/>
                <a:cs typeface="Times New Roman"/>
              </a:rPr>
              <a:t> </a:t>
            </a:r>
            <a:r>
              <a:rPr sz="1000">
                <a:latin typeface="Times New Roman"/>
                <a:cs typeface="Times New Roman"/>
              </a:rPr>
              <a:t>literature</a:t>
            </a:r>
            <a:r>
              <a:rPr sz="1000" spc="145">
                <a:latin typeface="Times New Roman"/>
                <a:cs typeface="Times New Roman"/>
              </a:rPr>
              <a:t> </a:t>
            </a:r>
            <a:r>
              <a:rPr sz="1000">
                <a:latin typeface="Times New Roman"/>
                <a:cs typeface="Times New Roman"/>
              </a:rPr>
              <a:t>indicates</a:t>
            </a:r>
            <a:r>
              <a:rPr sz="1000" spc="155">
                <a:latin typeface="Times New Roman"/>
                <a:cs typeface="Times New Roman"/>
              </a:rPr>
              <a:t> </a:t>
            </a:r>
            <a:r>
              <a:rPr sz="1000">
                <a:latin typeface="Times New Roman"/>
                <a:cs typeface="Times New Roman"/>
              </a:rPr>
              <a:t>that</a:t>
            </a:r>
            <a:r>
              <a:rPr sz="1000" spc="170">
                <a:latin typeface="Times New Roman"/>
                <a:cs typeface="Times New Roman"/>
              </a:rPr>
              <a:t> </a:t>
            </a:r>
            <a:r>
              <a:rPr sz="1000">
                <a:latin typeface="Times New Roman"/>
                <a:cs typeface="Times New Roman"/>
              </a:rPr>
              <a:t>the</a:t>
            </a:r>
            <a:r>
              <a:rPr sz="1000" spc="145">
                <a:latin typeface="Times New Roman"/>
                <a:cs typeface="Times New Roman"/>
              </a:rPr>
              <a:t> </a:t>
            </a:r>
            <a:r>
              <a:rPr sz="1000">
                <a:latin typeface="Times New Roman"/>
                <a:cs typeface="Times New Roman"/>
              </a:rPr>
              <a:t>State</a:t>
            </a:r>
            <a:r>
              <a:rPr sz="1000" spc="145">
                <a:latin typeface="Times New Roman"/>
                <a:cs typeface="Times New Roman"/>
              </a:rPr>
              <a:t> </a:t>
            </a:r>
            <a:r>
              <a:rPr sz="1000">
                <a:latin typeface="Times New Roman"/>
                <a:cs typeface="Times New Roman"/>
              </a:rPr>
              <a:t>Treasury</a:t>
            </a:r>
            <a:r>
              <a:rPr sz="1000" spc="125">
                <a:latin typeface="Times New Roman"/>
                <a:cs typeface="Times New Roman"/>
              </a:rPr>
              <a:t> </a:t>
            </a:r>
            <a:r>
              <a:rPr sz="1000">
                <a:latin typeface="Times New Roman"/>
                <a:cs typeface="Times New Roman"/>
              </a:rPr>
              <a:t>and</a:t>
            </a:r>
            <a:r>
              <a:rPr sz="1000" spc="150">
                <a:latin typeface="Times New Roman"/>
                <a:cs typeface="Times New Roman"/>
              </a:rPr>
              <a:t> </a:t>
            </a:r>
            <a:r>
              <a:rPr sz="1000">
                <a:latin typeface="Times New Roman"/>
                <a:cs typeface="Times New Roman"/>
              </a:rPr>
              <a:t>institutional</a:t>
            </a:r>
            <a:r>
              <a:rPr sz="1000" spc="145">
                <a:latin typeface="Times New Roman"/>
                <a:cs typeface="Times New Roman"/>
              </a:rPr>
              <a:t> </a:t>
            </a:r>
            <a:r>
              <a:rPr sz="1000">
                <a:latin typeface="Times New Roman"/>
                <a:cs typeface="Times New Roman"/>
              </a:rPr>
              <a:t>investors</a:t>
            </a:r>
            <a:r>
              <a:rPr sz="1000" spc="140">
                <a:latin typeface="Times New Roman"/>
                <a:cs typeface="Times New Roman"/>
              </a:rPr>
              <a:t> </a:t>
            </a:r>
            <a:r>
              <a:rPr sz="1000">
                <a:latin typeface="Times New Roman"/>
                <a:cs typeface="Times New Roman"/>
              </a:rPr>
              <a:t>are</a:t>
            </a:r>
            <a:r>
              <a:rPr sz="1000" spc="145">
                <a:latin typeface="Times New Roman"/>
                <a:cs typeface="Times New Roman"/>
              </a:rPr>
              <a:t> </a:t>
            </a:r>
            <a:r>
              <a:rPr sz="1000">
                <a:latin typeface="Times New Roman"/>
                <a:cs typeface="Times New Roman"/>
              </a:rPr>
              <a:t>those</a:t>
            </a:r>
            <a:r>
              <a:rPr sz="1000" spc="160">
                <a:latin typeface="Times New Roman"/>
                <a:cs typeface="Times New Roman"/>
              </a:rPr>
              <a:t> </a:t>
            </a:r>
            <a:r>
              <a:rPr sz="1000">
                <a:latin typeface="Times New Roman"/>
                <a:cs typeface="Times New Roman"/>
              </a:rPr>
              <a:t>shareholders</a:t>
            </a:r>
            <a:r>
              <a:rPr sz="1000" spc="140">
                <a:latin typeface="Times New Roman"/>
                <a:cs typeface="Times New Roman"/>
              </a:rPr>
              <a:t> </a:t>
            </a:r>
            <a:r>
              <a:rPr sz="1000">
                <a:latin typeface="Times New Roman"/>
                <a:cs typeface="Times New Roman"/>
              </a:rPr>
              <a:t>that</a:t>
            </a:r>
            <a:r>
              <a:rPr sz="1000" spc="145">
                <a:latin typeface="Times New Roman"/>
                <a:cs typeface="Times New Roman"/>
              </a:rPr>
              <a:t> </a:t>
            </a:r>
            <a:r>
              <a:rPr sz="1000">
                <a:latin typeface="Times New Roman"/>
                <a:cs typeface="Times New Roman"/>
              </a:rPr>
              <a:t>try</a:t>
            </a:r>
            <a:r>
              <a:rPr sz="1000" spc="140">
                <a:latin typeface="Times New Roman"/>
                <a:cs typeface="Times New Roman"/>
              </a:rPr>
              <a:t> </a:t>
            </a:r>
            <a:r>
              <a:rPr sz="1000">
                <a:latin typeface="Times New Roman"/>
                <a:cs typeface="Times New Roman"/>
              </a:rPr>
              <a:t>to</a:t>
            </a:r>
            <a:r>
              <a:rPr sz="1000" spc="150">
                <a:latin typeface="Times New Roman"/>
                <a:cs typeface="Times New Roman"/>
              </a:rPr>
              <a:t> </a:t>
            </a:r>
            <a:r>
              <a:rPr sz="1000">
                <a:latin typeface="Times New Roman"/>
                <a:cs typeface="Times New Roman"/>
              </a:rPr>
              <a:t>achieve</a:t>
            </a:r>
            <a:r>
              <a:rPr sz="1000" spc="160">
                <a:latin typeface="Times New Roman"/>
                <a:cs typeface="Times New Roman"/>
              </a:rPr>
              <a:t> </a:t>
            </a:r>
            <a:r>
              <a:rPr sz="1000">
                <a:latin typeface="Times New Roman"/>
                <a:cs typeface="Times New Roman"/>
              </a:rPr>
              <a:t>the</a:t>
            </a:r>
            <a:endParaRPr/>
          </a:p>
          <a:p>
            <a:pPr marL="12700" algn="just">
              <a:lnSpc>
                <a:spcPts val="1155"/>
              </a:lnSpc>
            </a:pPr>
            <a:r>
              <a:rPr sz="1000">
                <a:latin typeface="Times New Roman"/>
                <a:cs typeface="Times New Roman"/>
              </a:rPr>
              <a:t>highest profitability. Therefore, they push for dividend payouts [20]</a:t>
            </a:r>
            <a:r>
              <a:rPr sz="1000" spc="5">
                <a:latin typeface="Times New Roman"/>
                <a:cs typeface="Times New Roman"/>
              </a:rPr>
              <a:t>. </a:t>
            </a:r>
            <a:r>
              <a:rPr sz="1000">
                <a:latin typeface="Times New Roman"/>
                <a:cs typeface="Times New Roman"/>
              </a:rPr>
              <a:t>Having a great capital involvement in the company, these</a:t>
            </a:r>
            <a:endParaRPr/>
          </a:p>
          <a:p>
            <a:pPr marL="12700">
              <a:spcBef>
                <a:spcPts val="300"/>
              </a:spcBef>
            </a:pPr>
            <a:r>
              <a:rPr sz="1000" i="1">
                <a:latin typeface="Times New Roman"/>
                <a:cs typeface="Times New Roman"/>
              </a:rPr>
              <a:t>4</a:t>
            </a:r>
            <a:endParaR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txBox="1"/>
          <p:nvPr/>
        </p:nvSpPr>
        <p:spPr>
          <a:xfrm>
            <a:off x="528320" y="528320"/>
            <a:ext cx="862966" cy="152400"/>
          </a:xfrm>
          <a:prstGeom prst="rect"/>
          <a:noFill/>
        </p:spPr>
        <p:txBody>
          <a:bodyPr vertOverflow="overflow" horzOverflow="overflow" numCol="1" wrap="square" lIns="0" tIns="0" rIns="0" bIns="0">
            <a:spAutoFit/>
          </a:bodyPr>
          <a:p>
            <a:pPr marL="12700"/>
            <a:r>
              <a:rPr sz="1000" i="1">
                <a:latin typeface="Times New Roman"/>
                <a:cs typeface="Times New Roman"/>
              </a:rPr>
              <a:t>ISSN 2707-9325</a:t>
            </a:r>
            <a:endParaRPr/>
          </a:p>
        </p:txBody>
      </p:sp>
      <p:sp>
        <p:nvSpPr>
          <p:cNvPr id="3" name="shape 3"/>
          <p:cNvSpPr txBox="1"/>
          <p:nvPr/>
        </p:nvSpPr>
        <p:spPr>
          <a:xfrm>
            <a:off x="528320" y="893064"/>
            <a:ext cx="6508115" cy="3657092"/>
          </a:xfrm>
          <a:prstGeom prst="rect"/>
          <a:noFill/>
        </p:spPr>
        <p:txBody>
          <a:bodyPr vertOverflow="overflow" horzOverflow="overflow" numCol="1" wrap="square" lIns="0" tIns="0" rIns="0" bIns="0">
            <a:spAutoFit/>
          </a:bodyPr>
          <a:p>
            <a:pPr marL="12700" marR="15875" algn="just">
              <a:lnSpc>
                <a:spcPct val="95507"/>
              </a:lnSpc>
            </a:pPr>
            <a:r>
              <a:rPr sz="1000">
                <a:latin typeface="Times New Roman"/>
                <a:cs typeface="Times New Roman"/>
              </a:rPr>
              <a:t>investors monitor and control managers to receive the dividend. Therefore, most studies show a positive relationship between institutional ownership and dividend payout [19]</a:t>
            </a:r>
            <a:r>
              <a:rPr sz="1000" spc="5">
                <a:latin typeface="Times New Roman"/>
                <a:cs typeface="Times New Roman"/>
              </a:rPr>
              <a:t>. </a:t>
            </a:r>
            <a:r>
              <a:rPr sz="1000">
                <a:latin typeface="Times New Roman"/>
                <a:cs typeface="Times New Roman"/>
              </a:rPr>
              <a:t>Furthermore</a:t>
            </a:r>
            <a:r>
              <a:rPr sz="1000" spc="5">
                <a:latin typeface="Times New Roman"/>
                <a:cs typeface="Times New Roman"/>
              </a:rPr>
              <a:t>, </a:t>
            </a:r>
            <a:r>
              <a:rPr sz="1000">
                <a:latin typeface="Times New Roman"/>
                <a:cs typeface="Times New Roman"/>
              </a:rPr>
              <a:t>in companies with the State Treasury as a shareholder similar behavior is observed. The State Treasury tries to receive high budget inflows, so it votes for dividends [15].</a:t>
            </a:r>
            <a:endParaRPr/>
          </a:p>
          <a:p>
            <a:pPr marL="192405" algn="just">
              <a:lnSpc>
                <a:spcPts val="1190"/>
              </a:lnSpc>
            </a:pPr>
            <a:r>
              <a:rPr sz="1000">
                <a:latin typeface="Times New Roman"/>
                <a:cs typeface="Times New Roman"/>
              </a:rPr>
              <a:t>It seems that the impact of the ownership structure on the company's implementation of a specific dividend policy, and thus</a:t>
            </a:r>
            <a:endParaRPr/>
          </a:p>
          <a:p>
            <a:pPr marL="12700" algn="just">
              <a:lnSpc>
                <a:spcPts val="1140"/>
              </a:lnSpc>
            </a:pPr>
            <a:r>
              <a:rPr sz="1000">
                <a:latin typeface="Times New Roman"/>
                <a:cs typeface="Times New Roman"/>
              </a:rPr>
              <a:t>on the perception of this company by a stock market investor as more or less attractive in terms of investment, may depend not</a:t>
            </a:r>
            <a:endParaRPr/>
          </a:p>
          <a:p>
            <a:pPr marL="12700" algn="just">
              <a:lnSpc>
                <a:spcPts val="1155"/>
              </a:lnSpc>
            </a:pPr>
            <a:r>
              <a:rPr sz="1000">
                <a:latin typeface="Times New Roman"/>
                <a:cs typeface="Times New Roman"/>
              </a:rPr>
              <a:t>only</a:t>
            </a:r>
            <a:r>
              <a:rPr sz="1000" spc="65">
                <a:latin typeface="Times New Roman"/>
                <a:cs typeface="Times New Roman"/>
              </a:rPr>
              <a:t> </a:t>
            </a:r>
            <a:r>
              <a:rPr sz="1000">
                <a:latin typeface="Times New Roman"/>
                <a:cs typeface="Times New Roman"/>
              </a:rPr>
              <a:t>on</a:t>
            </a:r>
            <a:r>
              <a:rPr sz="1000" spc="8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kinds</a:t>
            </a:r>
            <a:r>
              <a:rPr sz="1000" spc="80">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shareholders</a:t>
            </a:r>
            <a:r>
              <a:rPr sz="1000" spc="80">
                <a:latin typeface="Times New Roman"/>
                <a:cs typeface="Times New Roman"/>
              </a:rPr>
              <a:t> </a:t>
            </a:r>
            <a:r>
              <a:rPr sz="1000">
                <a:latin typeface="Times New Roman"/>
                <a:cs typeface="Times New Roman"/>
              </a:rPr>
              <a:t>in</a:t>
            </a:r>
            <a:r>
              <a:rPr sz="1000" spc="8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company,</a:t>
            </a:r>
            <a:r>
              <a:rPr sz="1000" spc="85">
                <a:latin typeface="Times New Roman"/>
                <a:cs typeface="Times New Roman"/>
              </a:rPr>
              <a:t> </a:t>
            </a:r>
            <a:r>
              <a:rPr sz="1000">
                <a:latin typeface="Times New Roman"/>
                <a:cs typeface="Times New Roman"/>
              </a:rPr>
              <a:t>but</a:t>
            </a:r>
            <a:r>
              <a:rPr sz="1000" spc="85">
                <a:latin typeface="Times New Roman"/>
                <a:cs typeface="Times New Roman"/>
              </a:rPr>
              <a:t> </a:t>
            </a:r>
            <a:r>
              <a:rPr sz="1000">
                <a:latin typeface="Times New Roman"/>
                <a:cs typeface="Times New Roman"/>
              </a:rPr>
              <a:t>also</a:t>
            </a:r>
            <a:r>
              <a:rPr sz="1000" spc="100">
                <a:latin typeface="Times New Roman"/>
                <a:cs typeface="Times New Roman"/>
              </a:rPr>
              <a:t> </a:t>
            </a:r>
            <a:r>
              <a:rPr sz="1000">
                <a:latin typeface="Times New Roman"/>
                <a:cs typeface="Times New Roman"/>
              </a:rPr>
              <a:t>on</a:t>
            </a:r>
            <a:r>
              <a:rPr sz="1000" spc="8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type</a:t>
            </a:r>
            <a:r>
              <a:rPr sz="1000" spc="85">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first-largest</a:t>
            </a:r>
            <a:r>
              <a:rPr sz="1000" spc="85">
                <a:latin typeface="Times New Roman"/>
                <a:cs typeface="Times New Roman"/>
              </a:rPr>
              <a:t> </a:t>
            </a:r>
            <a:r>
              <a:rPr sz="1000">
                <a:latin typeface="Times New Roman"/>
                <a:cs typeface="Times New Roman"/>
              </a:rPr>
              <a:t>shareholder.</a:t>
            </a:r>
            <a:r>
              <a:rPr sz="1000" spc="75">
                <a:latin typeface="Times New Roman"/>
                <a:cs typeface="Times New Roman"/>
              </a:rPr>
              <a:t> </a:t>
            </a:r>
            <a:r>
              <a:rPr sz="1000">
                <a:latin typeface="Times New Roman"/>
                <a:cs typeface="Times New Roman"/>
              </a:rPr>
              <a:t>There</a:t>
            </a:r>
            <a:r>
              <a:rPr sz="1000" spc="85">
                <a:latin typeface="Times New Roman"/>
                <a:cs typeface="Times New Roman"/>
              </a:rPr>
              <a:t> </a:t>
            </a:r>
            <a:r>
              <a:rPr sz="1000">
                <a:latin typeface="Times New Roman"/>
                <a:cs typeface="Times New Roman"/>
              </a:rPr>
              <a:t>are</a:t>
            </a:r>
            <a:r>
              <a:rPr sz="1000" spc="85">
                <a:latin typeface="Times New Roman"/>
                <a:cs typeface="Times New Roman"/>
              </a:rPr>
              <a:t> </a:t>
            </a:r>
            <a:r>
              <a:rPr sz="1000">
                <a:latin typeface="Times New Roman"/>
                <a:cs typeface="Times New Roman"/>
              </a:rPr>
              <a:t>many</a:t>
            </a:r>
            <a:r>
              <a:rPr sz="1000" spc="65">
                <a:latin typeface="Times New Roman"/>
                <a:cs typeface="Times New Roman"/>
              </a:rPr>
              <a:t> </a:t>
            </a:r>
            <a:r>
              <a:rPr sz="1000">
                <a:latin typeface="Times New Roman"/>
                <a:cs typeface="Times New Roman"/>
              </a:rPr>
              <a:t>different</a:t>
            </a:r>
            <a:endParaRPr/>
          </a:p>
          <a:p>
            <a:pPr marL="12700" algn="just">
              <a:lnSpc>
                <a:spcPts val="1150"/>
              </a:lnSpc>
            </a:pPr>
            <a:r>
              <a:rPr sz="1000">
                <a:latin typeface="Times New Roman"/>
                <a:cs typeface="Times New Roman"/>
              </a:rPr>
              <a:t>criteria for the classification of a shareholder in a joint-stock company which are used depending on the purpose of the study.</a:t>
            </a:r>
            <a:endParaRPr/>
          </a:p>
          <a:p>
            <a:pPr marL="192405" algn="just">
              <a:lnSpc>
                <a:spcPts val="1155"/>
              </a:lnSpc>
            </a:pPr>
            <a:r>
              <a:rPr sz="1000">
                <a:latin typeface="Times New Roman"/>
                <a:cs typeface="Times New Roman"/>
              </a:rPr>
              <a:t>Among the most common criteria for classifying shareholders in the literature, the following are distinguished:</a:t>
            </a:r>
            <a:endParaRPr/>
          </a:p>
          <a:p>
            <a:pPr marL="462280" indent="-269875" algn="just">
              <a:lnSpc>
                <a:spcPts val="1135"/>
              </a:lnSpc>
              <a:buSzPts val="1000"/>
              <a:buFont typeface="Times New Roman"/>
              <a:buAutoNum type="alphaLcParenR"/>
            </a:pPr>
            <a:r>
              <a:rPr sz="1000">
                <a:latin typeface="Times New Roman"/>
                <a:cs typeface="Times New Roman"/>
              </a:rPr>
              <a:t>type</a:t>
            </a:r>
            <a:r>
              <a:rPr sz="1000" spc="220">
                <a:latin typeface="Times New Roman"/>
                <a:cs typeface="Times New Roman"/>
              </a:rPr>
              <a:t> </a:t>
            </a:r>
            <a:r>
              <a:rPr sz="1000">
                <a:latin typeface="Times New Roman"/>
                <a:cs typeface="Times New Roman"/>
              </a:rPr>
              <a:t>of</a:t>
            </a:r>
            <a:r>
              <a:rPr sz="1000" spc="209">
                <a:latin typeface="Times New Roman"/>
                <a:cs typeface="Times New Roman"/>
              </a:rPr>
              <a:t> </a:t>
            </a:r>
            <a:r>
              <a:rPr sz="1000">
                <a:latin typeface="Times New Roman"/>
                <a:cs typeface="Times New Roman"/>
              </a:rPr>
              <a:t>shareholder</a:t>
            </a:r>
            <a:r>
              <a:rPr sz="1000" spc="234">
                <a:latin typeface="Times New Roman"/>
                <a:cs typeface="Times New Roman"/>
              </a:rPr>
              <a:t> </a:t>
            </a:r>
            <a:r>
              <a:rPr sz="1000">
                <a:latin typeface="Times New Roman"/>
                <a:cs typeface="Times New Roman"/>
              </a:rPr>
              <a:t>–</a:t>
            </a:r>
            <a:r>
              <a:rPr sz="1000" spc="225">
                <a:latin typeface="Times New Roman"/>
                <a:cs typeface="Times New Roman"/>
              </a:rPr>
              <a:t> </a:t>
            </a:r>
            <a:r>
              <a:rPr sz="1000">
                <a:latin typeface="Times New Roman"/>
                <a:cs typeface="Times New Roman"/>
              </a:rPr>
              <a:t>in</a:t>
            </a:r>
            <a:r>
              <a:rPr sz="1000" spc="209">
                <a:latin typeface="Times New Roman"/>
                <a:cs typeface="Times New Roman"/>
              </a:rPr>
              <a:t> </a:t>
            </a:r>
            <a:r>
              <a:rPr sz="1000">
                <a:latin typeface="Times New Roman"/>
                <a:cs typeface="Times New Roman"/>
              </a:rPr>
              <a:t>this</a:t>
            </a:r>
            <a:r>
              <a:rPr sz="1000" spc="225">
                <a:latin typeface="Times New Roman"/>
                <a:cs typeface="Times New Roman"/>
              </a:rPr>
              <a:t> </a:t>
            </a:r>
            <a:r>
              <a:rPr sz="1000">
                <a:latin typeface="Times New Roman"/>
                <a:cs typeface="Times New Roman"/>
              </a:rPr>
              <a:t>case</a:t>
            </a:r>
            <a:r>
              <a:rPr sz="1000" spc="220">
                <a:latin typeface="Times New Roman"/>
                <a:cs typeface="Times New Roman"/>
              </a:rPr>
              <a:t> </a:t>
            </a:r>
            <a:r>
              <a:rPr sz="1000">
                <a:latin typeface="Times New Roman"/>
                <a:cs typeface="Times New Roman"/>
              </a:rPr>
              <a:t>the</a:t>
            </a:r>
            <a:r>
              <a:rPr sz="1000" spc="220">
                <a:latin typeface="Times New Roman"/>
                <a:cs typeface="Times New Roman"/>
              </a:rPr>
              <a:t> </a:t>
            </a:r>
            <a:r>
              <a:rPr sz="1000">
                <a:latin typeface="Times New Roman"/>
                <a:cs typeface="Times New Roman"/>
              </a:rPr>
              <a:t>division</a:t>
            </a:r>
            <a:r>
              <a:rPr sz="1000" spc="209">
                <a:latin typeface="Times New Roman"/>
                <a:cs typeface="Times New Roman"/>
              </a:rPr>
              <a:t> </a:t>
            </a:r>
            <a:r>
              <a:rPr sz="1000">
                <a:latin typeface="Times New Roman"/>
                <a:cs typeface="Times New Roman"/>
              </a:rPr>
              <a:t>is</a:t>
            </a:r>
            <a:r>
              <a:rPr sz="1000" spc="215">
                <a:latin typeface="Times New Roman"/>
                <a:cs typeface="Times New Roman"/>
              </a:rPr>
              <a:t> </a:t>
            </a:r>
            <a:r>
              <a:rPr sz="1000">
                <a:latin typeface="Times New Roman"/>
                <a:cs typeface="Times New Roman"/>
              </a:rPr>
              <a:t>carried</a:t>
            </a:r>
            <a:r>
              <a:rPr sz="1000" spc="225">
                <a:latin typeface="Times New Roman"/>
                <a:cs typeface="Times New Roman"/>
              </a:rPr>
              <a:t> </a:t>
            </a:r>
            <a:r>
              <a:rPr sz="1000">
                <a:latin typeface="Times New Roman"/>
                <a:cs typeface="Times New Roman"/>
              </a:rPr>
              <a:t>out</a:t>
            </a:r>
            <a:r>
              <a:rPr sz="1000" spc="215">
                <a:latin typeface="Times New Roman"/>
                <a:cs typeface="Times New Roman"/>
              </a:rPr>
              <a:t> </a:t>
            </a:r>
            <a:r>
              <a:rPr sz="1000">
                <a:latin typeface="Times New Roman"/>
                <a:cs typeface="Times New Roman"/>
              </a:rPr>
              <a:t>according</a:t>
            </a:r>
            <a:r>
              <a:rPr sz="1000" spc="209">
                <a:latin typeface="Times New Roman"/>
                <a:cs typeface="Times New Roman"/>
              </a:rPr>
              <a:t> </a:t>
            </a:r>
            <a:r>
              <a:rPr sz="1000">
                <a:latin typeface="Times New Roman"/>
                <a:cs typeface="Times New Roman"/>
              </a:rPr>
              <a:t>to</a:t>
            </a:r>
            <a:r>
              <a:rPr sz="1000" spc="220">
                <a:latin typeface="Times New Roman"/>
                <a:cs typeface="Times New Roman"/>
              </a:rPr>
              <a:t> </a:t>
            </a:r>
            <a:r>
              <a:rPr sz="1000">
                <a:latin typeface="Times New Roman"/>
                <a:cs typeface="Times New Roman"/>
              </a:rPr>
              <a:t>the</a:t>
            </a:r>
            <a:r>
              <a:rPr sz="1000" spc="220">
                <a:latin typeface="Times New Roman"/>
                <a:cs typeface="Times New Roman"/>
              </a:rPr>
              <a:t> </a:t>
            </a:r>
            <a:r>
              <a:rPr sz="1000">
                <a:latin typeface="Times New Roman"/>
                <a:cs typeface="Times New Roman"/>
              </a:rPr>
              <a:t>investor's</a:t>
            </a:r>
            <a:r>
              <a:rPr sz="1000" spc="215">
                <a:latin typeface="Times New Roman"/>
                <a:cs typeface="Times New Roman"/>
              </a:rPr>
              <a:t> </a:t>
            </a:r>
            <a:r>
              <a:rPr sz="1000">
                <a:latin typeface="Times New Roman"/>
                <a:cs typeface="Times New Roman"/>
              </a:rPr>
              <a:t>identity.</a:t>
            </a:r>
            <a:r>
              <a:rPr sz="1000" spc="220">
                <a:latin typeface="Times New Roman"/>
                <a:cs typeface="Times New Roman"/>
              </a:rPr>
              <a:t> </a:t>
            </a:r>
            <a:r>
              <a:rPr sz="1000">
                <a:latin typeface="Times New Roman"/>
                <a:cs typeface="Times New Roman"/>
              </a:rPr>
              <a:t>There</a:t>
            </a:r>
            <a:r>
              <a:rPr sz="1000" spc="220">
                <a:latin typeface="Times New Roman"/>
                <a:cs typeface="Times New Roman"/>
              </a:rPr>
              <a:t> </a:t>
            </a:r>
            <a:r>
              <a:rPr sz="1000">
                <a:latin typeface="Times New Roman"/>
                <a:cs typeface="Times New Roman"/>
              </a:rPr>
              <a:t>are</a:t>
            </a:r>
            <a:r>
              <a:rPr sz="1000" spc="220">
                <a:latin typeface="Times New Roman"/>
                <a:cs typeface="Times New Roman"/>
              </a:rPr>
              <a:t> </a:t>
            </a:r>
            <a:r>
              <a:rPr sz="1000">
                <a:latin typeface="Times New Roman"/>
                <a:cs typeface="Times New Roman"/>
              </a:rPr>
              <a:t>the</a:t>
            </a:r>
            <a:endParaRPr/>
          </a:p>
          <a:p>
            <a:pPr marL="12700" algn="just">
              <a:lnSpc>
                <a:spcPts val="1155"/>
              </a:lnSpc>
            </a:pPr>
            <a:r>
              <a:rPr sz="1000">
                <a:latin typeface="Times New Roman"/>
                <a:cs typeface="Times New Roman"/>
              </a:rPr>
              <a:t>following types of investors:</a:t>
            </a:r>
            <a:r>
              <a:rPr sz="1000" spc="80">
                <a:latin typeface="Times New Roman"/>
                <a:cs typeface="Times New Roman"/>
              </a:rPr>
              <a:t> </a:t>
            </a:r>
            <a:r>
              <a:rPr sz="1000">
                <a:latin typeface="Times New Roman"/>
                <a:cs typeface="Times New Roman"/>
              </a:rPr>
              <a:t>institutional investor,</a:t>
            </a:r>
            <a:r>
              <a:rPr sz="1000" spc="65">
                <a:latin typeface="Times New Roman"/>
                <a:cs typeface="Times New Roman"/>
              </a:rPr>
              <a:t> </a:t>
            </a:r>
            <a:r>
              <a:rPr sz="1000">
                <a:latin typeface="Times New Roman"/>
                <a:cs typeface="Times New Roman"/>
              </a:rPr>
              <a:t>individual investor</a:t>
            </a:r>
            <a:r>
              <a:rPr sz="1000" spc="65">
                <a:latin typeface="Times New Roman"/>
                <a:cs typeface="Times New Roman"/>
              </a:rPr>
              <a:t> </a:t>
            </a:r>
            <a:r>
              <a:rPr sz="1000">
                <a:latin typeface="Times New Roman"/>
                <a:cs typeface="Times New Roman"/>
              </a:rPr>
              <a:t>(natural person),</a:t>
            </a:r>
            <a:r>
              <a:rPr sz="1000" spc="65">
                <a:latin typeface="Times New Roman"/>
                <a:cs typeface="Times New Roman"/>
              </a:rPr>
              <a:t> </a:t>
            </a:r>
            <a:r>
              <a:rPr sz="1000">
                <a:latin typeface="Times New Roman"/>
                <a:cs typeface="Times New Roman"/>
              </a:rPr>
              <a:t>company (legal person),</a:t>
            </a:r>
            <a:r>
              <a:rPr sz="1000" spc="75">
                <a:latin typeface="Times New Roman"/>
                <a:cs typeface="Times New Roman"/>
              </a:rPr>
              <a:t> </a:t>
            </a:r>
            <a:r>
              <a:rPr sz="1000">
                <a:latin typeface="Times New Roman"/>
                <a:cs typeface="Times New Roman"/>
              </a:rPr>
              <a:t>manager</a:t>
            </a:r>
            <a:r>
              <a:rPr sz="1000" spc="65">
                <a:latin typeface="Times New Roman"/>
                <a:cs typeface="Times New Roman"/>
              </a:rPr>
              <a:t> </a:t>
            </a:r>
            <a:r>
              <a:rPr sz="1000">
                <a:latin typeface="Times New Roman"/>
                <a:cs typeface="Times New Roman"/>
              </a:rPr>
              <a:t>and</a:t>
            </a:r>
            <a:endParaRPr/>
          </a:p>
          <a:p>
            <a:pPr marL="12700" algn="just">
              <a:lnSpc>
                <a:spcPts val="1150"/>
              </a:lnSpc>
            </a:pPr>
            <a:r>
              <a:rPr sz="1000">
                <a:latin typeface="Times New Roman"/>
                <a:cs typeface="Times New Roman"/>
              </a:rPr>
              <a:t>the State Treasury.</a:t>
            </a:r>
            <a:r>
              <a:rPr sz="1000" spc="65">
                <a:latin typeface="Times New Roman"/>
                <a:cs typeface="Times New Roman"/>
              </a:rPr>
              <a:t> </a:t>
            </a:r>
            <a:r>
              <a:rPr sz="1000">
                <a:latin typeface="Times New Roman"/>
                <a:cs typeface="Times New Roman"/>
              </a:rPr>
              <a:t>Such a classification of investors is usually found in the academic literature (compare:</a:t>
            </a:r>
            <a:r>
              <a:rPr sz="1000" spc="95">
                <a:latin typeface="Times New Roman"/>
                <a:cs typeface="Times New Roman"/>
              </a:rPr>
              <a:t> </a:t>
            </a:r>
            <a:r>
              <a:rPr sz="1000">
                <a:latin typeface="Times New Roman"/>
                <a:cs typeface="Times New Roman"/>
              </a:rPr>
              <a:t>[2], [24]). Detailed</a:t>
            </a:r>
            <a:endParaRPr/>
          </a:p>
          <a:p>
            <a:pPr marL="12700" algn="just">
              <a:lnSpc>
                <a:spcPts val="1155"/>
              </a:lnSpc>
            </a:pPr>
            <a:r>
              <a:rPr sz="1000">
                <a:latin typeface="Times New Roman"/>
                <a:cs typeface="Times New Roman"/>
              </a:rPr>
              <a:t>information is given in figure 1;</a:t>
            </a:r>
            <a:endParaRPr/>
          </a:p>
          <a:p>
            <a:pPr marL="462280" indent="-269875">
              <a:lnSpc>
                <a:spcPts val="1150"/>
              </a:lnSpc>
              <a:buSzPts val="1000"/>
              <a:buFont typeface="Times New Roman"/>
              <a:buAutoNum startAt="2" type="alphaLcParenR"/>
            </a:pPr>
            <a:r>
              <a:rPr sz="1000">
                <a:latin typeface="Times New Roman"/>
                <a:cs typeface="Times New Roman"/>
              </a:rPr>
              <a:t>number</a:t>
            </a:r>
            <a:r>
              <a:rPr sz="1000" spc="90">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shares</a:t>
            </a:r>
            <a:r>
              <a:rPr sz="1000" spc="85">
                <a:latin typeface="Times New Roman"/>
                <a:cs typeface="Times New Roman"/>
              </a:rPr>
              <a:t> </a:t>
            </a:r>
            <a:r>
              <a:rPr sz="1000">
                <a:latin typeface="Times New Roman"/>
                <a:cs typeface="Times New Roman"/>
              </a:rPr>
              <a:t>enabling</a:t>
            </a:r>
            <a:r>
              <a:rPr sz="1000" spc="80">
                <a:latin typeface="Times New Roman"/>
                <a:cs typeface="Times New Roman"/>
              </a:rPr>
              <a:t> </a:t>
            </a:r>
            <a:r>
              <a:rPr sz="1000">
                <a:latin typeface="Times New Roman"/>
                <a:cs typeface="Times New Roman"/>
              </a:rPr>
              <a:t>real</a:t>
            </a:r>
            <a:r>
              <a:rPr sz="1000" spc="100">
                <a:latin typeface="Times New Roman"/>
                <a:cs typeface="Times New Roman"/>
              </a:rPr>
              <a:t> </a:t>
            </a:r>
            <a:r>
              <a:rPr sz="1000">
                <a:latin typeface="Times New Roman"/>
                <a:cs typeface="Times New Roman"/>
              </a:rPr>
              <a:t>monitoring</a:t>
            </a:r>
            <a:r>
              <a:rPr sz="1000" spc="80">
                <a:latin typeface="Times New Roman"/>
                <a:cs typeface="Times New Roman"/>
              </a:rPr>
              <a:t> </a:t>
            </a:r>
            <a:r>
              <a:rPr sz="1000">
                <a:latin typeface="Times New Roman"/>
                <a:cs typeface="Times New Roman"/>
              </a:rPr>
              <a:t>and</a:t>
            </a:r>
            <a:r>
              <a:rPr sz="1000" spc="90">
                <a:latin typeface="Times New Roman"/>
                <a:cs typeface="Times New Roman"/>
              </a:rPr>
              <a:t> </a:t>
            </a:r>
            <a:r>
              <a:rPr sz="1000">
                <a:latin typeface="Times New Roman"/>
                <a:cs typeface="Times New Roman"/>
              </a:rPr>
              <a:t>control</a:t>
            </a:r>
            <a:r>
              <a:rPr sz="1000" spc="85">
                <a:latin typeface="Times New Roman"/>
                <a:cs typeface="Times New Roman"/>
              </a:rPr>
              <a:t> </a:t>
            </a:r>
            <a:r>
              <a:rPr sz="1000">
                <a:latin typeface="Times New Roman"/>
                <a:cs typeface="Times New Roman"/>
              </a:rPr>
              <a:t>of</a:t>
            </a:r>
            <a:r>
              <a:rPr sz="1000" spc="90">
                <a:latin typeface="Times New Roman"/>
                <a:cs typeface="Times New Roman"/>
              </a:rPr>
              <a:t> </a:t>
            </a:r>
            <a:r>
              <a:rPr sz="1000">
                <a:latin typeface="Times New Roman"/>
                <a:cs typeface="Times New Roman"/>
              </a:rPr>
              <a:t>the</a:t>
            </a:r>
            <a:r>
              <a:rPr sz="1000" spc="100">
                <a:latin typeface="Times New Roman"/>
                <a:cs typeface="Times New Roman"/>
              </a:rPr>
              <a:t> </a:t>
            </a:r>
            <a:r>
              <a:rPr sz="1000">
                <a:latin typeface="Times New Roman"/>
                <a:cs typeface="Times New Roman"/>
              </a:rPr>
              <a:t>management</a:t>
            </a:r>
            <a:r>
              <a:rPr sz="1000" spc="85">
                <a:latin typeface="Times New Roman"/>
                <a:cs typeface="Times New Roman"/>
              </a:rPr>
              <a:t> </a:t>
            </a:r>
            <a:r>
              <a:rPr sz="1000">
                <a:latin typeface="Times New Roman"/>
                <a:cs typeface="Times New Roman"/>
              </a:rPr>
              <a:t>board</a:t>
            </a:r>
            <a:r>
              <a:rPr sz="1000" spc="90">
                <a:latin typeface="Times New Roman"/>
                <a:cs typeface="Times New Roman"/>
              </a:rPr>
              <a:t> </a:t>
            </a:r>
            <a:r>
              <a:rPr sz="1000">
                <a:latin typeface="Times New Roman"/>
                <a:cs typeface="Times New Roman"/>
              </a:rPr>
              <a:t>and</a:t>
            </a:r>
            <a:r>
              <a:rPr sz="1000" spc="90">
                <a:latin typeface="Times New Roman"/>
                <a:cs typeface="Times New Roman"/>
              </a:rPr>
              <a:t> </a:t>
            </a:r>
            <a:r>
              <a:rPr sz="1000">
                <a:latin typeface="Times New Roman"/>
                <a:cs typeface="Times New Roman"/>
              </a:rPr>
              <a:t>influencing</a:t>
            </a:r>
            <a:r>
              <a:rPr sz="1000" spc="80">
                <a:latin typeface="Times New Roman"/>
                <a:cs typeface="Times New Roman"/>
              </a:rPr>
              <a:t> </a:t>
            </a:r>
            <a:r>
              <a:rPr sz="1000">
                <a:latin typeface="Times New Roman"/>
                <a:cs typeface="Times New Roman"/>
              </a:rPr>
              <a:t>decisions</a:t>
            </a:r>
            <a:r>
              <a:rPr sz="1000" spc="80">
                <a:latin typeface="Times New Roman"/>
                <a:cs typeface="Times New Roman"/>
              </a:rPr>
              <a:t> </a:t>
            </a:r>
            <a:r>
              <a:rPr sz="1000">
                <a:latin typeface="Times New Roman"/>
                <a:cs typeface="Times New Roman"/>
              </a:rPr>
              <a:t>taken</a:t>
            </a:r>
            <a:r>
              <a:rPr sz="1000" spc="80">
                <a:latin typeface="Times New Roman"/>
                <a:cs typeface="Times New Roman"/>
              </a:rPr>
              <a:t> </a:t>
            </a:r>
            <a:r>
              <a:rPr sz="1000">
                <a:latin typeface="Times New Roman"/>
                <a:cs typeface="Times New Roman"/>
              </a:rPr>
              <a:t>at</a:t>
            </a:r>
            <a:endParaRPr/>
          </a:p>
          <a:p>
            <a:pPr marL="12700" algn="just">
              <a:lnSpc>
                <a:spcPts val="1155"/>
              </a:lnSpc>
            </a:pPr>
            <a:r>
              <a:rPr sz="1000">
                <a:latin typeface="Times New Roman"/>
                <a:cs typeface="Times New Roman"/>
              </a:rPr>
              <a:t>the general meeting of shareholders. In this case, the shareholders are divided into: strategic investor (holding more than 50 </a:t>
            </a:r>
            <a:r>
              <a:rPr sz="1000" spc="10">
                <a:latin typeface="Times New Roman"/>
                <a:cs typeface="Times New Roman"/>
              </a:rPr>
              <a:t>%</a:t>
            </a:r>
            <a:endParaRPr/>
          </a:p>
          <a:p>
            <a:pPr marL="12700" algn="just">
              <a:lnSpc>
                <a:spcPts val="1135"/>
              </a:lnSpc>
            </a:pPr>
            <a:r>
              <a:rPr sz="1000">
                <a:latin typeface="Times New Roman"/>
                <a:cs typeface="Times New Roman"/>
              </a:rPr>
              <a:t>of votes on the</a:t>
            </a:r>
            <a:r>
              <a:rPr sz="1000" spc="65">
                <a:latin typeface="Times New Roman"/>
                <a:cs typeface="Times New Roman"/>
              </a:rPr>
              <a:t> </a:t>
            </a:r>
            <a:r>
              <a:rPr sz="1000">
                <a:latin typeface="Times New Roman"/>
                <a:cs typeface="Times New Roman"/>
              </a:rPr>
              <a:t>general</a:t>
            </a:r>
            <a:r>
              <a:rPr sz="1000" spc="75">
                <a:latin typeface="Times New Roman"/>
                <a:cs typeface="Times New Roman"/>
              </a:rPr>
              <a:t> </a:t>
            </a:r>
            <a:r>
              <a:rPr sz="1000">
                <a:latin typeface="Times New Roman"/>
                <a:cs typeface="Times New Roman"/>
              </a:rPr>
              <a:t>meeting of</a:t>
            </a:r>
            <a:r>
              <a:rPr sz="1000" spc="65">
                <a:latin typeface="Times New Roman"/>
                <a:cs typeface="Times New Roman"/>
              </a:rPr>
              <a:t> </a:t>
            </a:r>
            <a:r>
              <a:rPr sz="1000">
                <a:latin typeface="Times New Roman"/>
                <a:cs typeface="Times New Roman"/>
              </a:rPr>
              <a:t>shareholders),</a:t>
            </a:r>
            <a:r>
              <a:rPr sz="1000" spc="65">
                <a:latin typeface="Times New Roman"/>
                <a:cs typeface="Times New Roman"/>
              </a:rPr>
              <a:t> </a:t>
            </a:r>
            <a:r>
              <a:rPr sz="1000">
                <a:latin typeface="Times New Roman"/>
                <a:cs typeface="Times New Roman"/>
              </a:rPr>
              <a:t>significant investor</a:t>
            </a:r>
            <a:r>
              <a:rPr sz="1000" spc="65">
                <a:latin typeface="Times New Roman"/>
                <a:cs typeface="Times New Roman"/>
              </a:rPr>
              <a:t> </a:t>
            </a:r>
            <a:r>
              <a:rPr sz="1000">
                <a:latin typeface="Times New Roman"/>
                <a:cs typeface="Times New Roman"/>
              </a:rPr>
              <a:t>(holding</a:t>
            </a:r>
            <a:r>
              <a:rPr sz="1000" spc="70">
                <a:latin typeface="Times New Roman"/>
                <a:cs typeface="Times New Roman"/>
              </a:rPr>
              <a:t> </a:t>
            </a:r>
            <a:r>
              <a:rPr sz="1000">
                <a:latin typeface="Times New Roman"/>
                <a:cs typeface="Times New Roman"/>
              </a:rPr>
              <a:t>not less than 20</a:t>
            </a:r>
            <a:r>
              <a:rPr sz="1000" spc="80">
                <a:latin typeface="Times New Roman"/>
                <a:cs typeface="Times New Roman"/>
              </a:rPr>
              <a:t> </a:t>
            </a:r>
            <a:r>
              <a:rPr sz="1000">
                <a:latin typeface="Times New Roman"/>
                <a:cs typeface="Times New Roman"/>
              </a:rPr>
              <a:t>% of votes),</a:t>
            </a:r>
            <a:r>
              <a:rPr sz="1000" spc="80">
                <a:latin typeface="Times New Roman"/>
                <a:cs typeface="Times New Roman"/>
              </a:rPr>
              <a:t> </a:t>
            </a:r>
            <a:r>
              <a:rPr sz="1000">
                <a:latin typeface="Times New Roman"/>
                <a:cs typeface="Times New Roman"/>
              </a:rPr>
              <a:t>minority investor</a:t>
            </a:r>
            <a:endParaRPr/>
          </a:p>
          <a:p>
            <a:pPr marL="12700" algn="just">
              <a:lnSpc>
                <a:spcPts val="1155"/>
              </a:lnSpc>
            </a:pPr>
            <a:r>
              <a:rPr sz="1000" spc="5">
                <a:latin typeface="Times New Roman"/>
                <a:cs typeface="Times New Roman"/>
              </a:rPr>
              <a:t>(h</a:t>
            </a:r>
            <a:r>
              <a:rPr sz="1000">
                <a:latin typeface="Times New Roman"/>
                <a:cs typeface="Times New Roman"/>
              </a:rPr>
              <a:t>olding less than 50 % of votes on the general meeting of shareholders) [1];</a:t>
            </a:r>
            <a:endParaRPr/>
          </a:p>
          <a:p>
            <a:pPr marL="462280" indent="-269875">
              <a:lnSpc>
                <a:spcPts val="1155"/>
              </a:lnSpc>
              <a:buSzPts val="1000"/>
              <a:buFont typeface="Times New Roman"/>
              <a:buAutoNum startAt="3" type="alphaLcParenR"/>
            </a:pPr>
            <a:r>
              <a:rPr sz="1000">
                <a:latin typeface="Times New Roman"/>
                <a:cs typeface="Times New Roman"/>
              </a:rPr>
              <a:t>investment activity – in this case shareholders are divided according to</a:t>
            </a:r>
            <a:r>
              <a:rPr sz="1000" spc="80">
                <a:latin typeface="Times New Roman"/>
                <a:cs typeface="Times New Roman"/>
              </a:rPr>
              <a:t> </a:t>
            </a:r>
            <a:r>
              <a:rPr sz="1000">
                <a:latin typeface="Times New Roman"/>
                <a:cs typeface="Times New Roman"/>
              </a:rPr>
              <a:t>their involvement in the company’s activities</a:t>
            </a:r>
            <a:endParaRPr/>
          </a:p>
          <a:p>
            <a:pPr marL="12700" algn="just">
              <a:lnSpc>
                <a:spcPts val="1155"/>
              </a:lnSpc>
            </a:pPr>
            <a:r>
              <a:rPr sz="1000">
                <a:latin typeface="Times New Roman"/>
                <a:cs typeface="Times New Roman"/>
              </a:rPr>
              <a:t>or investment strategy chosen by stock market investor. Taking under consideration the first of given criteria, active investors</a:t>
            </a:r>
            <a:endParaRPr/>
          </a:p>
          <a:p>
            <a:pPr marL="12700" algn="just">
              <a:lnSpc>
                <a:spcPts val="1150"/>
              </a:lnSpc>
            </a:pPr>
            <a:r>
              <a:rPr sz="1000">
                <a:latin typeface="Times New Roman"/>
                <a:cs typeface="Times New Roman"/>
              </a:rPr>
              <a:t>are involved in business activities by participating in general meetings, taking part in the voting process and electing the</a:t>
            </a:r>
            <a:r>
              <a:rPr sz="1000" spc="104">
                <a:latin typeface="Times New Roman"/>
                <a:cs typeface="Times New Roman"/>
              </a:rPr>
              <a:t> </a:t>
            </a:r>
            <a:r>
              <a:rPr sz="1000">
                <a:latin typeface="Times New Roman"/>
                <a:cs typeface="Times New Roman"/>
              </a:rPr>
              <a:t>board</a:t>
            </a:r>
            <a:endParaRPr/>
          </a:p>
          <a:p>
            <a:pPr marL="12700" algn="just">
              <a:lnSpc>
                <a:spcPts val="1150"/>
              </a:lnSpc>
            </a:pPr>
            <a:r>
              <a:rPr sz="1000">
                <a:latin typeface="Times New Roman"/>
                <a:cs typeface="Times New Roman"/>
              </a:rPr>
              <a:t>as</a:t>
            </a:r>
            <a:r>
              <a:rPr sz="1000" spc="130">
                <a:latin typeface="Times New Roman"/>
                <a:cs typeface="Times New Roman"/>
              </a:rPr>
              <a:t> </a:t>
            </a:r>
            <a:r>
              <a:rPr sz="1000">
                <a:latin typeface="Times New Roman"/>
                <a:cs typeface="Times New Roman"/>
              </a:rPr>
              <a:t>well</a:t>
            </a:r>
            <a:r>
              <a:rPr sz="1000" spc="120">
                <a:latin typeface="Times New Roman"/>
                <a:cs typeface="Times New Roman"/>
              </a:rPr>
              <a:t> </a:t>
            </a:r>
            <a:r>
              <a:rPr sz="1000">
                <a:latin typeface="Times New Roman"/>
                <a:cs typeface="Times New Roman"/>
              </a:rPr>
              <a:t>as</a:t>
            </a:r>
            <a:r>
              <a:rPr sz="1000" spc="125">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supervisory</a:t>
            </a:r>
            <a:r>
              <a:rPr sz="1000" spc="104">
                <a:latin typeface="Times New Roman"/>
                <a:cs typeface="Times New Roman"/>
              </a:rPr>
              <a:t> </a:t>
            </a:r>
            <a:r>
              <a:rPr sz="1000">
                <a:latin typeface="Times New Roman"/>
                <a:cs typeface="Times New Roman"/>
              </a:rPr>
              <a:t>council,</a:t>
            </a:r>
            <a:r>
              <a:rPr sz="1000" spc="135">
                <a:latin typeface="Times New Roman"/>
                <a:cs typeface="Times New Roman"/>
              </a:rPr>
              <a:t> </a:t>
            </a:r>
            <a:r>
              <a:rPr sz="1000">
                <a:latin typeface="Times New Roman"/>
                <a:cs typeface="Times New Roman"/>
              </a:rPr>
              <a:t>while</a:t>
            </a:r>
            <a:r>
              <a:rPr sz="1000" spc="120">
                <a:latin typeface="Times New Roman"/>
                <a:cs typeface="Times New Roman"/>
              </a:rPr>
              <a:t> </a:t>
            </a:r>
            <a:r>
              <a:rPr sz="1000">
                <a:latin typeface="Times New Roman"/>
                <a:cs typeface="Times New Roman"/>
              </a:rPr>
              <a:t>passive</a:t>
            </a:r>
            <a:r>
              <a:rPr sz="1000" spc="125">
                <a:latin typeface="Times New Roman"/>
                <a:cs typeface="Times New Roman"/>
              </a:rPr>
              <a:t> </a:t>
            </a:r>
            <a:r>
              <a:rPr sz="1000">
                <a:latin typeface="Times New Roman"/>
                <a:cs typeface="Times New Roman"/>
              </a:rPr>
              <a:t>investors</a:t>
            </a:r>
            <a:r>
              <a:rPr sz="1000" spc="130">
                <a:latin typeface="Times New Roman"/>
                <a:cs typeface="Times New Roman"/>
              </a:rPr>
              <a:t> </a:t>
            </a:r>
            <a:r>
              <a:rPr sz="1000">
                <a:latin typeface="Times New Roman"/>
                <a:cs typeface="Times New Roman"/>
              </a:rPr>
              <a:t>do</a:t>
            </a:r>
            <a:r>
              <a:rPr sz="1000" spc="145">
                <a:latin typeface="Times New Roman"/>
                <a:cs typeface="Times New Roman"/>
              </a:rPr>
              <a:t> </a:t>
            </a:r>
            <a:r>
              <a:rPr sz="1000">
                <a:latin typeface="Times New Roman"/>
                <a:cs typeface="Times New Roman"/>
              </a:rPr>
              <a:t>not</a:t>
            </a:r>
            <a:r>
              <a:rPr sz="1000" spc="120">
                <a:latin typeface="Times New Roman"/>
                <a:cs typeface="Times New Roman"/>
              </a:rPr>
              <a:t> </a:t>
            </a:r>
            <a:r>
              <a:rPr sz="1000">
                <a:latin typeface="Times New Roman"/>
                <a:cs typeface="Times New Roman"/>
              </a:rPr>
              <a:t>do</a:t>
            </a:r>
            <a:r>
              <a:rPr sz="1000" spc="125">
                <a:latin typeface="Times New Roman"/>
                <a:cs typeface="Times New Roman"/>
              </a:rPr>
              <a:t> </a:t>
            </a:r>
            <a:r>
              <a:rPr sz="1000">
                <a:latin typeface="Times New Roman"/>
                <a:cs typeface="Times New Roman"/>
              </a:rPr>
              <a:t>this.</a:t>
            </a:r>
            <a:r>
              <a:rPr sz="1000" spc="130">
                <a:latin typeface="Times New Roman"/>
                <a:cs typeface="Times New Roman"/>
              </a:rPr>
              <a:t> </a:t>
            </a:r>
            <a:r>
              <a:rPr sz="1000">
                <a:latin typeface="Times New Roman"/>
                <a:cs typeface="Times New Roman"/>
              </a:rPr>
              <a:t>Considering</a:t>
            </a:r>
            <a:r>
              <a:rPr sz="1000" spc="125">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second</a:t>
            </a:r>
            <a:r>
              <a:rPr sz="1000" spc="125">
                <a:latin typeface="Times New Roman"/>
                <a:cs typeface="Times New Roman"/>
              </a:rPr>
              <a:t> </a:t>
            </a:r>
            <a:r>
              <a:rPr sz="1000">
                <a:latin typeface="Times New Roman"/>
                <a:cs typeface="Times New Roman"/>
              </a:rPr>
              <a:t>criterion,</a:t>
            </a:r>
            <a:r>
              <a:rPr sz="1000" spc="125">
                <a:latin typeface="Times New Roman"/>
                <a:cs typeface="Times New Roman"/>
              </a:rPr>
              <a:t> </a:t>
            </a:r>
            <a:r>
              <a:rPr sz="1000">
                <a:latin typeface="Times New Roman"/>
                <a:cs typeface="Times New Roman"/>
              </a:rPr>
              <a:t>active</a:t>
            </a:r>
            <a:r>
              <a:rPr sz="1000" spc="125">
                <a:latin typeface="Times New Roman"/>
                <a:cs typeface="Times New Roman"/>
              </a:rPr>
              <a:t> </a:t>
            </a:r>
            <a:r>
              <a:rPr sz="1000">
                <a:latin typeface="Times New Roman"/>
                <a:cs typeface="Times New Roman"/>
              </a:rPr>
              <a:t>investor</a:t>
            </a:r>
            <a:endParaRPr/>
          </a:p>
          <a:p>
            <a:pPr marL="12700" algn="just">
              <a:lnSpc>
                <a:spcPts val="1140"/>
              </a:lnSpc>
            </a:pPr>
            <a:r>
              <a:rPr sz="1000">
                <a:latin typeface="Times New Roman"/>
                <a:cs typeface="Times New Roman"/>
              </a:rPr>
              <a:t>actively</a:t>
            </a:r>
            <a:r>
              <a:rPr sz="1000" spc="165">
                <a:latin typeface="Times New Roman"/>
                <a:cs typeface="Times New Roman"/>
              </a:rPr>
              <a:t> </a:t>
            </a:r>
            <a:r>
              <a:rPr sz="1000">
                <a:latin typeface="Times New Roman"/>
                <a:cs typeface="Times New Roman"/>
              </a:rPr>
              <a:t>invests</a:t>
            </a:r>
            <a:r>
              <a:rPr sz="1000" spc="175">
                <a:latin typeface="Times New Roman"/>
                <a:cs typeface="Times New Roman"/>
              </a:rPr>
              <a:t> </a:t>
            </a:r>
            <a:r>
              <a:rPr sz="1000">
                <a:latin typeface="Times New Roman"/>
                <a:cs typeface="Times New Roman"/>
              </a:rPr>
              <a:t>in</a:t>
            </a:r>
            <a:r>
              <a:rPr sz="1000" spc="175">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capital</a:t>
            </a:r>
            <a:r>
              <a:rPr sz="1000" spc="180">
                <a:latin typeface="Times New Roman"/>
                <a:cs typeface="Times New Roman"/>
              </a:rPr>
              <a:t> </a:t>
            </a:r>
            <a:r>
              <a:rPr sz="1000">
                <a:latin typeface="Times New Roman"/>
                <a:cs typeface="Times New Roman"/>
              </a:rPr>
              <a:t>market</a:t>
            </a:r>
            <a:r>
              <a:rPr sz="1000" spc="170">
                <a:latin typeface="Times New Roman"/>
                <a:cs typeface="Times New Roman"/>
              </a:rPr>
              <a:t> </a:t>
            </a:r>
            <a:r>
              <a:rPr sz="1000">
                <a:latin typeface="Times New Roman"/>
                <a:cs typeface="Times New Roman"/>
              </a:rPr>
              <a:t>buying</a:t>
            </a:r>
            <a:r>
              <a:rPr sz="1000" spc="165">
                <a:latin typeface="Times New Roman"/>
                <a:cs typeface="Times New Roman"/>
              </a:rPr>
              <a:t> </a:t>
            </a:r>
            <a:r>
              <a:rPr sz="1000">
                <a:latin typeface="Times New Roman"/>
                <a:cs typeface="Times New Roman"/>
              </a:rPr>
              <a:t>and</a:t>
            </a:r>
            <a:r>
              <a:rPr sz="1000" spc="175">
                <a:latin typeface="Times New Roman"/>
                <a:cs typeface="Times New Roman"/>
              </a:rPr>
              <a:t> </a:t>
            </a:r>
            <a:r>
              <a:rPr sz="1000">
                <a:latin typeface="Times New Roman"/>
                <a:cs typeface="Times New Roman"/>
              </a:rPr>
              <a:t>selling</a:t>
            </a:r>
            <a:r>
              <a:rPr sz="1000" spc="175">
                <a:latin typeface="Times New Roman"/>
                <a:cs typeface="Times New Roman"/>
              </a:rPr>
              <a:t> </a:t>
            </a:r>
            <a:r>
              <a:rPr sz="1000">
                <a:latin typeface="Times New Roman"/>
                <a:cs typeface="Times New Roman"/>
              </a:rPr>
              <a:t>shares,</a:t>
            </a:r>
            <a:r>
              <a:rPr sz="1000" spc="180">
                <a:latin typeface="Times New Roman"/>
                <a:cs typeface="Times New Roman"/>
              </a:rPr>
              <a:t> </a:t>
            </a:r>
            <a:r>
              <a:rPr sz="1000">
                <a:latin typeface="Times New Roman"/>
                <a:cs typeface="Times New Roman"/>
              </a:rPr>
              <a:t>while</a:t>
            </a:r>
            <a:r>
              <a:rPr sz="1000" spc="180">
                <a:latin typeface="Times New Roman"/>
                <a:cs typeface="Times New Roman"/>
              </a:rPr>
              <a:t> </a:t>
            </a:r>
            <a:r>
              <a:rPr sz="1000">
                <a:latin typeface="Times New Roman"/>
                <a:cs typeface="Times New Roman"/>
              </a:rPr>
              <a:t>passive</a:t>
            </a:r>
            <a:r>
              <a:rPr sz="1000" spc="170">
                <a:latin typeface="Times New Roman"/>
                <a:cs typeface="Times New Roman"/>
              </a:rPr>
              <a:t> </a:t>
            </a:r>
            <a:r>
              <a:rPr sz="1000">
                <a:latin typeface="Times New Roman"/>
                <a:cs typeface="Times New Roman"/>
              </a:rPr>
              <a:t>investor</a:t>
            </a:r>
            <a:r>
              <a:rPr sz="1000" spc="170">
                <a:latin typeface="Times New Roman"/>
                <a:cs typeface="Times New Roman"/>
              </a:rPr>
              <a:t> </a:t>
            </a:r>
            <a:r>
              <a:rPr sz="1000">
                <a:latin typeface="Times New Roman"/>
                <a:cs typeface="Times New Roman"/>
              </a:rPr>
              <a:t>is</a:t>
            </a:r>
            <a:r>
              <a:rPr sz="1000" spc="165">
                <a:latin typeface="Times New Roman"/>
                <a:cs typeface="Times New Roman"/>
              </a:rPr>
              <a:t> </a:t>
            </a:r>
            <a:r>
              <a:rPr sz="1000">
                <a:latin typeface="Times New Roman"/>
                <a:cs typeface="Times New Roman"/>
              </a:rPr>
              <a:t>usually</a:t>
            </a:r>
            <a:r>
              <a:rPr sz="1000" spc="165">
                <a:latin typeface="Times New Roman"/>
                <a:cs typeface="Times New Roman"/>
              </a:rPr>
              <a:t> </a:t>
            </a:r>
            <a:r>
              <a:rPr sz="1000">
                <a:latin typeface="Times New Roman"/>
                <a:cs typeface="Times New Roman"/>
              </a:rPr>
              <a:t>long-term</a:t>
            </a:r>
            <a:r>
              <a:rPr sz="1000" spc="150">
                <a:latin typeface="Times New Roman"/>
                <a:cs typeface="Times New Roman"/>
              </a:rPr>
              <a:t> </a:t>
            </a:r>
            <a:r>
              <a:rPr sz="1000">
                <a:latin typeface="Times New Roman"/>
                <a:cs typeface="Times New Roman"/>
              </a:rPr>
              <a:t>investor</a:t>
            </a:r>
            <a:r>
              <a:rPr sz="1000" spc="185">
                <a:latin typeface="Times New Roman"/>
                <a:cs typeface="Times New Roman"/>
              </a:rPr>
              <a:t> </a:t>
            </a:r>
            <a:r>
              <a:rPr sz="1000">
                <a:latin typeface="Times New Roman"/>
                <a:cs typeface="Times New Roman"/>
              </a:rPr>
              <a:t>who</a:t>
            </a:r>
            <a:endParaRPr/>
          </a:p>
          <a:p>
            <a:pPr marL="12700" algn="just">
              <a:lnSpc>
                <a:spcPts val="1155"/>
              </a:lnSpc>
            </a:pPr>
            <a:r>
              <a:rPr sz="1000">
                <a:latin typeface="Times New Roman"/>
                <a:cs typeface="Times New Roman"/>
              </a:rPr>
              <a:t>implemented buy-and-hold strategy [1];</a:t>
            </a:r>
            <a:endParaRPr/>
          </a:p>
          <a:p>
            <a:pPr marL="462280" indent="-269875">
              <a:lnSpc>
                <a:spcPts val="1150"/>
              </a:lnSpc>
              <a:buSzPts val="1000"/>
              <a:buFont typeface="Times New Roman"/>
              <a:buAutoNum startAt="4" type="alphaLcParenR"/>
            </a:pPr>
            <a:r>
              <a:rPr sz="1000" spc="-5">
                <a:latin typeface="Times New Roman"/>
                <a:cs typeface="Times New Roman"/>
              </a:rPr>
              <a:t>obligation</a:t>
            </a:r>
            <a:r>
              <a:rPr sz="1000" spc="75">
                <a:latin typeface="Times New Roman"/>
                <a:cs typeface="Times New Roman"/>
              </a:rPr>
              <a:t> </a:t>
            </a:r>
            <a:r>
              <a:rPr sz="1000" spc="-5">
                <a:latin typeface="Times New Roman"/>
                <a:cs typeface="Times New Roman"/>
              </a:rPr>
              <a:t>to</a:t>
            </a:r>
            <a:r>
              <a:rPr sz="1000" spc="85">
                <a:latin typeface="Times New Roman"/>
                <a:cs typeface="Times New Roman"/>
              </a:rPr>
              <a:t> </a:t>
            </a:r>
            <a:r>
              <a:rPr sz="1000" spc="-5">
                <a:latin typeface="Times New Roman"/>
                <a:cs typeface="Times New Roman"/>
              </a:rPr>
              <a:t>provide</a:t>
            </a:r>
            <a:r>
              <a:rPr sz="1000" spc="95">
                <a:latin typeface="Times New Roman"/>
                <a:cs typeface="Times New Roman"/>
              </a:rPr>
              <a:t> </a:t>
            </a:r>
            <a:r>
              <a:rPr sz="1000" spc="-5">
                <a:latin typeface="Times New Roman"/>
                <a:cs typeface="Times New Roman"/>
              </a:rPr>
              <a:t>information</a:t>
            </a:r>
            <a:r>
              <a:rPr sz="1000" spc="100">
                <a:latin typeface="Times New Roman"/>
                <a:cs typeface="Times New Roman"/>
              </a:rPr>
              <a:t> </a:t>
            </a:r>
            <a:r>
              <a:rPr sz="1000" spc="-5">
                <a:latin typeface="Times New Roman"/>
                <a:cs typeface="Times New Roman"/>
              </a:rPr>
              <a:t>to</a:t>
            </a:r>
            <a:r>
              <a:rPr sz="1000" spc="95">
                <a:latin typeface="Times New Roman"/>
                <a:cs typeface="Times New Roman"/>
              </a:rPr>
              <a:t> </a:t>
            </a:r>
            <a:r>
              <a:rPr sz="1000" spc="-5">
                <a:latin typeface="Times New Roman"/>
                <a:cs typeface="Times New Roman"/>
              </a:rPr>
              <a:t>the</a:t>
            </a:r>
            <a:r>
              <a:rPr sz="1000" spc="95">
                <a:latin typeface="Times New Roman"/>
                <a:cs typeface="Times New Roman"/>
              </a:rPr>
              <a:t> </a:t>
            </a:r>
            <a:r>
              <a:rPr sz="1000" spc="-5">
                <a:latin typeface="Times New Roman"/>
                <a:cs typeface="Times New Roman"/>
              </a:rPr>
              <a:t>market</a:t>
            </a:r>
            <a:r>
              <a:rPr sz="1000" spc="90">
                <a:latin typeface="Times New Roman"/>
                <a:cs typeface="Times New Roman"/>
              </a:rPr>
              <a:t> </a:t>
            </a:r>
            <a:r>
              <a:rPr sz="1000" spc="-5">
                <a:latin typeface="Times New Roman"/>
                <a:cs typeface="Times New Roman"/>
              </a:rPr>
              <a:t>–</a:t>
            </a:r>
            <a:r>
              <a:rPr sz="1000" spc="100">
                <a:latin typeface="Times New Roman"/>
                <a:cs typeface="Times New Roman"/>
              </a:rPr>
              <a:t> </a:t>
            </a:r>
            <a:r>
              <a:rPr sz="1000" spc="-5">
                <a:latin typeface="Times New Roman"/>
                <a:cs typeface="Times New Roman"/>
              </a:rPr>
              <a:t>this</a:t>
            </a:r>
            <a:r>
              <a:rPr sz="1000" spc="75">
                <a:latin typeface="Times New Roman"/>
                <a:cs typeface="Times New Roman"/>
              </a:rPr>
              <a:t> </a:t>
            </a:r>
            <a:r>
              <a:rPr sz="1000" spc="-5">
                <a:latin typeface="Times New Roman"/>
                <a:cs typeface="Times New Roman"/>
              </a:rPr>
              <a:t>division</a:t>
            </a:r>
            <a:r>
              <a:rPr sz="1000" spc="85">
                <a:latin typeface="Times New Roman"/>
                <a:cs typeface="Times New Roman"/>
              </a:rPr>
              <a:t> </a:t>
            </a:r>
            <a:r>
              <a:rPr sz="1000" spc="-5">
                <a:latin typeface="Times New Roman"/>
                <a:cs typeface="Times New Roman"/>
              </a:rPr>
              <a:t>results</a:t>
            </a:r>
            <a:r>
              <a:rPr sz="1000" spc="85">
                <a:latin typeface="Times New Roman"/>
                <a:cs typeface="Times New Roman"/>
              </a:rPr>
              <a:t> </a:t>
            </a:r>
            <a:r>
              <a:rPr sz="1000" spc="-5">
                <a:latin typeface="Times New Roman"/>
                <a:cs typeface="Times New Roman"/>
              </a:rPr>
              <a:t>from</a:t>
            </a:r>
            <a:r>
              <a:rPr sz="1000" spc="75">
                <a:latin typeface="Times New Roman"/>
                <a:cs typeface="Times New Roman"/>
              </a:rPr>
              <a:t> </a:t>
            </a:r>
            <a:r>
              <a:rPr sz="1000" spc="-5">
                <a:latin typeface="Times New Roman"/>
                <a:cs typeface="Times New Roman"/>
              </a:rPr>
              <a:t>the</a:t>
            </a:r>
            <a:r>
              <a:rPr sz="1000" spc="95">
                <a:latin typeface="Times New Roman"/>
                <a:cs typeface="Times New Roman"/>
              </a:rPr>
              <a:t> </a:t>
            </a:r>
            <a:r>
              <a:rPr sz="1000" spc="-5">
                <a:latin typeface="Times New Roman"/>
                <a:cs typeface="Times New Roman"/>
              </a:rPr>
              <a:t>necessity</a:t>
            </a:r>
            <a:r>
              <a:rPr sz="1000" spc="85">
                <a:latin typeface="Times New Roman"/>
                <a:cs typeface="Times New Roman"/>
              </a:rPr>
              <a:t> </a:t>
            </a:r>
            <a:r>
              <a:rPr sz="1000" spc="-5">
                <a:latin typeface="Times New Roman"/>
                <a:cs typeface="Times New Roman"/>
              </a:rPr>
              <a:t>to</a:t>
            </a:r>
            <a:r>
              <a:rPr sz="1000" spc="95">
                <a:latin typeface="Times New Roman"/>
                <a:cs typeface="Times New Roman"/>
              </a:rPr>
              <a:t> </a:t>
            </a:r>
            <a:r>
              <a:rPr sz="1000" spc="-5">
                <a:latin typeface="Times New Roman"/>
                <a:cs typeface="Times New Roman"/>
              </a:rPr>
              <a:t>inform</a:t>
            </a:r>
            <a:r>
              <a:rPr sz="1000" spc="75">
                <a:latin typeface="Times New Roman"/>
                <a:cs typeface="Times New Roman"/>
              </a:rPr>
              <a:t> </a:t>
            </a:r>
            <a:r>
              <a:rPr sz="1000" spc="-5">
                <a:latin typeface="Times New Roman"/>
                <a:cs typeface="Times New Roman"/>
              </a:rPr>
              <a:t>the</a:t>
            </a:r>
            <a:r>
              <a:rPr sz="1000" spc="95">
                <a:latin typeface="Times New Roman"/>
                <a:cs typeface="Times New Roman"/>
              </a:rPr>
              <a:t> </a:t>
            </a:r>
            <a:r>
              <a:rPr sz="1000" spc="-5">
                <a:latin typeface="Times New Roman"/>
                <a:cs typeface="Times New Roman"/>
              </a:rPr>
              <a:t>market</a:t>
            </a:r>
            <a:r>
              <a:rPr sz="1000" spc="95">
                <a:latin typeface="Times New Roman"/>
                <a:cs typeface="Times New Roman"/>
              </a:rPr>
              <a:t> </a:t>
            </a:r>
            <a:r>
              <a:rPr sz="1000" spc="-5">
                <a:latin typeface="Times New Roman"/>
                <a:cs typeface="Times New Roman"/>
              </a:rPr>
              <a:t>about</a:t>
            </a:r>
            <a:endParaRPr/>
          </a:p>
          <a:p>
            <a:pPr marL="12700" algn="just">
              <a:lnSpc>
                <a:spcPts val="1155"/>
              </a:lnSpc>
            </a:pPr>
            <a:r>
              <a:rPr sz="1000" spc="-5">
                <a:latin typeface="Times New Roman"/>
                <a:cs typeface="Times New Roman"/>
              </a:rPr>
              <a:t>holding certain blocks of shares. In this case, it is referred to as notified shareholders (holding at least 5 % of votes at the general</a:t>
            </a:r>
            <a:endParaRPr/>
          </a:p>
          <a:p>
            <a:pPr marL="12700" algn="just">
              <a:lnSpc>
                <a:spcPts val="1150"/>
              </a:lnSpc>
            </a:pPr>
            <a:r>
              <a:rPr sz="1000">
                <a:latin typeface="Times New Roman"/>
                <a:cs typeface="Times New Roman"/>
              </a:rPr>
              <a:t>meeting) and free float (i.e., small shareholders holding less than 5 % of votes that do not have to be known to the market) [24].</a:t>
            </a:r>
            <a:endParaRPr/>
          </a:p>
        </p:txBody>
      </p:sp>
      <p:sp>
        <p:nvSpPr>
          <p:cNvPr id="4" name="shape 4"/>
          <p:cNvSpPr txBox="1"/>
          <p:nvPr/>
        </p:nvSpPr>
        <p:spPr>
          <a:xfrm>
            <a:off x="528320" y="8200898"/>
            <a:ext cx="1046480" cy="121920"/>
          </a:xfrm>
          <a:prstGeom prst="rect"/>
          <a:noFill/>
        </p:spPr>
        <p:txBody>
          <a:bodyPr vertOverflow="overflow" horzOverflow="overflow" numCol="1" wrap="square" lIns="0" tIns="0" rIns="0" bIns="0">
            <a:spAutoFit/>
          </a:bodyPr>
          <a:p>
            <a:pPr marL="12700"/>
            <a:r>
              <a:rPr sz="800">
                <a:latin typeface="Times New Roman"/>
                <a:cs typeface="Times New Roman"/>
              </a:rPr>
              <a:t>Source: Own preparation</a:t>
            </a:r>
            <a:endParaRPr/>
          </a:p>
        </p:txBody>
      </p:sp>
      <p:sp>
        <p:nvSpPr>
          <p:cNvPr id="5" name="shape 5"/>
          <p:cNvSpPr txBox="1"/>
          <p:nvPr/>
        </p:nvSpPr>
        <p:spPr>
          <a:xfrm>
            <a:off x="1884680" y="8433054"/>
            <a:ext cx="3788411" cy="152400"/>
          </a:xfrm>
          <a:prstGeom prst="rect"/>
          <a:noFill/>
        </p:spPr>
        <p:txBody>
          <a:bodyPr vertOverflow="overflow" horzOverflow="overflow" numCol="1" wrap="square" lIns="0" tIns="0" rIns="0" bIns="0">
            <a:spAutoFit/>
          </a:bodyPr>
          <a:p>
            <a:pPr marL="12700"/>
            <a:r>
              <a:rPr sz="1000">
                <a:latin typeface="Times New Roman"/>
                <a:cs typeface="Times New Roman"/>
              </a:rPr>
              <a:t>Fig. 1</a:t>
            </a:r>
            <a:r>
              <a:rPr sz="1000" spc="5">
                <a:latin typeface="Times New Roman"/>
                <a:cs typeface="Times New Roman"/>
              </a:rPr>
              <a:t>. </a:t>
            </a:r>
            <a:r>
              <a:rPr sz="1000">
                <a:latin typeface="Times New Roman"/>
                <a:cs typeface="Times New Roman"/>
              </a:rPr>
              <a:t>Type of investor as a criterion for classification of the shareholders</a:t>
            </a:r>
            <a:endParaRPr/>
          </a:p>
        </p:txBody>
      </p:sp>
      <p:sp>
        <p:nvSpPr>
          <p:cNvPr id="6" name="shape 6"/>
          <p:cNvSpPr txBox="1"/>
          <p:nvPr/>
        </p:nvSpPr>
        <p:spPr>
          <a:xfrm>
            <a:off x="528320" y="8727186"/>
            <a:ext cx="6507481" cy="1423924"/>
          </a:xfrm>
          <a:prstGeom prst="rect"/>
          <a:noFill/>
        </p:spPr>
        <p:txBody>
          <a:bodyPr vertOverflow="overflow" horzOverflow="overflow" numCol="1" wrap="square" lIns="0" tIns="0" rIns="0" bIns="0">
            <a:spAutoFit/>
          </a:bodyPr>
          <a:p>
            <a:pPr marL="140335" indent="-127635">
              <a:tabLst>
                <a:tab pos="140335" algn="l"/>
              </a:tabLst>
            </a:pPr>
            <a:r>
              <a:rPr sz="1000" b="1">
                <a:latin typeface="Times New Roman"/>
                <a:cs typeface="Times New Roman"/>
              </a:rPr>
              <a:t>3.</a:t>
            </a:r>
            <a:r>
              <a:rPr sz="1000" b="1">
                <a:latin typeface="Times New Roman"/>
                <a:cs typeface="Times New Roman"/>
              </a:rPr>
              <a:t>	</a:t>
            </a:r>
            <a:r>
              <a:rPr sz="1000" b="1">
                <a:latin typeface="Times New Roman"/>
                <a:cs typeface="Times New Roman"/>
              </a:rPr>
              <a:t>The identification of previously unresolved issues and the formulation of research hypotheses</a:t>
            </a:r>
            <a:endParaRPr/>
          </a:p>
          <a:p>
            <a:pPr marL="12700" marR="12700" indent="179705" algn="just">
              <a:lnSpc>
                <a:spcPct val="96268"/>
              </a:lnSpc>
              <a:spcBef>
                <a:spcPts val="1100"/>
              </a:spcBef>
            </a:pPr>
            <a:r>
              <a:rPr sz="1000">
                <a:latin typeface="Times New Roman"/>
                <a:cs typeface="Times New Roman"/>
              </a:rPr>
              <a:t>Although the dividend policy has been the subject of scientific research since the mid-twentieth century, many issues related to dividend payout are still a research area that has not yet been investigated. One such research field is the attractiveness of investing in shares of dividend companies. Particular attention should be paid here to research on the profitability of such an investment in the context of diversification of the ownership structure. The research carried out in this area so far focuses primarily on two aspects, i.e., the correlation of ownership concentration and the amount of dividend payment, as well as the impact of the ownership structure on payout and propensity to pay dividend.</a:t>
            </a:r>
            <a:endParaRPr/>
          </a:p>
          <a:p>
            <a:pPr marL="6430010">
              <a:spcBef>
                <a:spcPts val="800"/>
              </a:spcBef>
            </a:pPr>
            <a:r>
              <a:rPr sz="1000" i="1">
                <a:latin typeface="Times New Roman"/>
                <a:cs typeface="Times New Roman"/>
              </a:rPr>
              <a:t>5</a:t>
            </a:r>
            <a:endParaRPr/>
          </a:p>
        </p:txBody>
      </p:sp>
      <p:graphicFrame>
        <p:nvGraphicFramePr>
          <p:cNvPr id="7" name="shape 7"/>
          <p:cNvGraphicFramePr>
            <a:graphicFrameLocks noGrp="1"/>
          </p:cNvGraphicFramePr>
          <p:nvPr/>
        </p:nvGraphicFramePr>
        <p:xfrm>
          <a:off x="556260" y="4700651"/>
          <a:ext cx="6451093" cy="3507359"/>
        </p:xfrm>
        <a:graphic>
          <a:graphicData uri="http://schemas.openxmlformats.org/drawingml/2006/table">
            <a:tbl>
              <a:tblPr>
                <a:tableStyleId>{2D5ABB26-0587-4C30-8999-92F81FD0307C}</a:tableStyleId>
              </a:tblPr>
              <a:tblGrid>
                <a:gridCol w="1155700"/>
                <a:gridCol w="5295900"/>
              </a:tblGrid>
              <a:tr h="144780">
                <a:tc>
                  <a:txBody>
                    <a:bodyPr/>
                    <a:p>
                      <a:pPr marL="156845" marR="160655" algn="ctr">
                        <a:lnSpc>
                          <a:spcPct val="96045"/>
                        </a:lnSpc>
                      </a:pPr>
                      <a:r>
                        <a:rPr sz="950" b="1" spc="-5">
                          <a:latin typeface="Times New Roman"/>
                          <a:cs typeface="Times New Roman"/>
                        </a:rPr>
                        <a:t>Type of investor</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c>
                  <a:txBody>
                    <a:bodyPr/>
                    <a:p>
                      <a:pPr marL="1402080" marR="1406525">
                        <a:lnSpc>
                          <a:spcPct val="96045"/>
                        </a:lnSpc>
                      </a:pPr>
                      <a:r>
                        <a:rPr sz="950" b="1" spc="-5">
                          <a:latin typeface="Times New Roman"/>
                          <a:cs typeface="Times New Roman"/>
                        </a:rPr>
                        <a:t>Fundamental characteristics of the shareholders</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r>
              <a:tr h="562610">
                <a:tc>
                  <a:txBody>
                    <a:bodyPr/>
                    <a:p>
                      <a:pPr marL="74295" marR="78740" algn="ctr"/>
                      <a:r>
                        <a:rPr sz="950" spc="-5">
                          <a:latin typeface="Times New Roman"/>
                          <a:cs typeface="Times New Roman"/>
                        </a:rPr>
                        <a:t>Institutional investor</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c>
                  <a:txBody>
                    <a:bodyPr/>
                    <a:p>
                      <a:pPr marL="66675" marR="76200" algn="just">
                        <a:lnSpc>
                          <a:spcPct val="96016"/>
                        </a:lnSpc>
                      </a:pPr>
                      <a:r>
                        <a:rPr sz="950">
                          <a:latin typeface="Times New Roman"/>
                          <a:cs typeface="Times New Roman"/>
                        </a:rPr>
                        <a:t>It is an entity professionally involved in investing capital entrusted to it by third parties. It places the capital of others, for example in the form of a deposit or insurance premiums, in order to achieve a higher profit on investment than this from deposits or bonds. Institutional investor can be, among others, a bank, an insurance company, a pension or investment fund</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r>
              <a:tr h="561340">
                <a:tc>
                  <a:txBody>
                    <a:bodyPr/>
                    <a:p>
                      <a:pPr marL="242570" marR="247015" algn="ctr">
                        <a:lnSpc>
                          <a:spcPct val="96031"/>
                        </a:lnSpc>
                      </a:pPr>
                      <a:r>
                        <a:rPr sz="950">
                          <a:latin typeface="Times New Roman"/>
                          <a:cs typeface="Times New Roman"/>
                        </a:rPr>
                        <a:t>Company </a:t>
                      </a:r>
                      <a:r>
                        <a:rPr sz="950" spc="-5">
                          <a:latin typeface="Times New Roman"/>
                          <a:cs typeface="Times New Roman"/>
                        </a:rPr>
                        <a:t>(legal person)</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c>
                  <a:txBody>
                    <a:bodyPr/>
                    <a:p>
                      <a:pPr marL="66675" marR="71120" algn="just">
                        <a:lnSpc>
                          <a:spcPct val="95906"/>
                        </a:lnSpc>
                      </a:pPr>
                      <a:r>
                        <a:rPr sz="950" spc="-10">
                          <a:latin typeface="Times New Roman"/>
                          <a:cs typeface="Times New Roman"/>
                        </a:rPr>
                        <a:t>A company is a legal entity that is understood as a shareholder that is not an institutional investor. The legal </a:t>
                      </a:r>
                      <a:r>
                        <a:rPr sz="950">
                          <a:latin typeface="Times New Roman"/>
                          <a:cs typeface="Times New Roman"/>
                        </a:rPr>
                        <a:t>forms, in which the business can be run in Poland, include: sole proprietorship, civil partnership, general </a:t>
                      </a:r>
                      <a:r>
                        <a:rPr sz="950" spc="-5">
                          <a:latin typeface="Times New Roman"/>
                          <a:cs typeface="Times New Roman"/>
                        </a:rPr>
                        <a:t>partnership, partnership, limited partnership, limited joint-stock partnership, limited liability company and </a:t>
                      </a:r>
                      <a:r>
                        <a:rPr sz="950">
                          <a:latin typeface="Times New Roman"/>
                          <a:cs typeface="Times New Roman"/>
                        </a:rPr>
                        <a:t>joint-stock company. Additionally, companies can be divided into domestic and foreign entities</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r>
              <a:tr h="699770">
                <a:tc>
                  <a:txBody>
                    <a:bodyPr/>
                    <a:p>
                      <a:pPr marL="361315" marR="367030" algn="ctr"/>
                      <a:r>
                        <a:rPr sz="950" spc="-10">
                          <a:latin typeface="Times New Roman"/>
                          <a:cs typeface="Times New Roman"/>
                        </a:rPr>
                        <a:t>Manager</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c>
                  <a:txBody>
                    <a:bodyPr/>
                    <a:p>
                      <a:pPr marL="66675" marR="71120" algn="just">
                        <a:lnSpc>
                          <a:spcPct val="95871"/>
                        </a:lnSpc>
                      </a:pPr>
                      <a:r>
                        <a:rPr sz="950">
                          <a:latin typeface="Times New Roman"/>
                          <a:cs typeface="Times New Roman"/>
                        </a:rPr>
                        <a:t>This is a natural person whose primary task is an implementation of the management process. In the case of research on managerial ownership, this person is understood both as somebody who is employed in an enterprise and who holds a certain number of shares (which could be acquired in various ways), and thus also a shareholder. The double role of this person in the company is particularly difficult, as it requires finding a compromise between management goals and investor goals</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r>
              <a:tr h="840105">
                <a:tc>
                  <a:txBody>
                    <a:bodyPr/>
                    <a:p>
                      <a:pPr marL="118745" marR="122555" algn="ctr">
                        <a:lnSpc>
                          <a:spcPct val="96030"/>
                        </a:lnSpc>
                      </a:pPr>
                      <a:r>
                        <a:rPr sz="950" spc="-15">
                          <a:latin typeface="Times New Roman"/>
                          <a:cs typeface="Times New Roman"/>
                        </a:rPr>
                        <a:t>Individual investor </a:t>
                      </a:r>
                      <a:r>
                        <a:rPr sz="950">
                          <a:latin typeface="Times New Roman"/>
                          <a:cs typeface="Times New Roman"/>
                        </a:rPr>
                        <a:t>(natural person)</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c>
                  <a:txBody>
                    <a:bodyPr/>
                    <a:p>
                      <a:pPr marL="66675" marR="69215" algn="just">
                        <a:lnSpc>
                          <a:spcPct val="95951"/>
                        </a:lnSpc>
                      </a:pPr>
                      <a:r>
                        <a:rPr sz="950">
                          <a:latin typeface="Times New Roman"/>
                          <a:cs typeface="Times New Roman"/>
                        </a:rPr>
                        <a:t>It is a natural person (that is not the company’s manager) making an investment of their own capital. In our research they are usually notified shareholders, but in market practice the individual investors are </a:t>
                      </a:r>
                      <a:r>
                        <a:rPr sz="950" spc="-5">
                          <a:latin typeface="Times New Roman"/>
                          <a:cs typeface="Times New Roman"/>
                        </a:rPr>
                        <a:t>usually minority shareholders and free float, so they make smaller investments, they are often not engaged </a:t>
                      </a:r>
                      <a:r>
                        <a:rPr sz="950">
                          <a:latin typeface="Times New Roman"/>
                          <a:cs typeface="Times New Roman"/>
                        </a:rPr>
                        <a:t>in investment activities professionally, may have less knowledge and experience than other market participants, and a small scale of activity prevents them from exerting a significant influence on the subject of investment</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r>
              <a:tr h="700405">
                <a:tc>
                  <a:txBody>
                    <a:bodyPr/>
                    <a:p>
                      <a:pPr marL="117475" marR="120015" algn="ctr"/>
                      <a:r>
                        <a:rPr sz="950" spc="-5">
                          <a:latin typeface="Times New Roman"/>
                          <a:cs typeface="Times New Roman"/>
                        </a:rPr>
                        <a:t>The State Treasury</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c>
                  <a:txBody>
                    <a:bodyPr/>
                    <a:p>
                      <a:pPr marL="66675" marR="69850" algn="just">
                        <a:lnSpc>
                          <a:spcPct val="96006"/>
                        </a:lnSpc>
                      </a:pPr>
                      <a:r>
                        <a:rPr sz="950">
                          <a:latin typeface="Times New Roman"/>
                          <a:cs typeface="Times New Roman"/>
                        </a:rPr>
                        <a:t>It is an institution representing the state as the owner of state property in civil‑legal relations. Examples of </a:t>
                      </a:r>
                      <a:r>
                        <a:rPr sz="950" spc="-5">
                          <a:latin typeface="Times New Roman"/>
                          <a:cs typeface="Times New Roman"/>
                        </a:rPr>
                        <a:t>entities that may represent the State Treasury in various countries are: Ministry of State Assets, Ministry of the State Treasury, Ministry of Development, etc. The tasks of the competent minister include initiating the </a:t>
                      </a:r>
                      <a:r>
                        <a:rPr sz="950">
                          <a:latin typeface="Times New Roman"/>
                          <a:cs typeface="Times New Roman"/>
                        </a:rPr>
                        <a:t>state policy in the field of management of the property of the State Treasury and protection of its interests as well as management of the state property of legal persons, including the privatization of such property</a:t>
                      </a:r>
                      <a:endParaRPr/>
                    </a:p>
                  </a:txBody>
                  <a:tcPr anchor="ctr" marL="0" marR="0" marT="0" marB="0">
                    <a:lnL w="6350" cmpd="sng">
                      <a:solidFill>
                        <a:srgbClr val="000000"/>
                      </a:solidFill>
                    </a:lnL>
                    <a:lnR w="6350" cmpd="sng">
                      <a:solidFill>
                        <a:srgbClr val="000000"/>
                      </a:solidFill>
                    </a:lnR>
                    <a:lnT w="6350" cmpd="sng">
                      <a:solidFill>
                        <a:srgbClr val="000000"/>
                      </a:solidFill>
                    </a:lnT>
                    <a:lnB w="6350" cmpd="sng">
                      <a:solidFill>
                        <a:srgbClr val="000000"/>
                      </a:solidFill>
                    </a:lnB>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p:nvPr/>
        </p:nvSpPr>
        <p:spPr>
          <a:xfrm>
            <a:off x="560832" y="7370953"/>
            <a:ext cx="1131113" cy="6096"/>
          </a:xfrm>
          <a:prstGeom prst="rect">
            <a:avLst/>
          </a:prstGeom>
          <a:solidFill>
            <a:srgbClr val="000000"/>
          </a:solidFill>
        </p:spPr>
      </p:sp>
      <p:sp>
        <p:nvSpPr>
          <p:cNvPr id="3" name="shape 3"/>
          <p:cNvSpPr/>
          <p:nvPr/>
        </p:nvSpPr>
        <p:spPr>
          <a:xfrm>
            <a:off x="4758817" y="7370953"/>
            <a:ext cx="2243964" cy="6096"/>
          </a:xfrm>
          <a:prstGeom prst="rect">
            <a:avLst/>
          </a:prstGeom>
          <a:solidFill>
            <a:srgbClr val="000000"/>
          </a:solidFill>
        </p:spPr>
      </p:sp>
      <p:sp>
        <p:nvSpPr>
          <p:cNvPr id="4" name="shape 4"/>
          <p:cNvSpPr/>
          <p:nvPr/>
        </p:nvSpPr>
        <p:spPr>
          <a:xfrm>
            <a:off x="560832" y="7521829"/>
            <a:ext cx="1131113" cy="6096"/>
          </a:xfrm>
          <a:prstGeom prst="rect">
            <a:avLst/>
          </a:prstGeom>
          <a:solidFill>
            <a:srgbClr val="000000"/>
          </a:solidFill>
        </p:spPr>
      </p:sp>
      <p:sp>
        <p:nvSpPr>
          <p:cNvPr id="5" name="shape 5"/>
          <p:cNvSpPr/>
          <p:nvPr/>
        </p:nvSpPr>
        <p:spPr>
          <a:xfrm>
            <a:off x="4758817" y="7521829"/>
            <a:ext cx="2243964" cy="6096"/>
          </a:xfrm>
          <a:prstGeom prst="rect">
            <a:avLst/>
          </a:prstGeom>
          <a:solidFill>
            <a:srgbClr val="000000"/>
          </a:solidFill>
        </p:spPr>
      </p:sp>
      <p:sp>
        <p:nvSpPr>
          <p:cNvPr id="6" name="shape 6"/>
          <p:cNvSpPr/>
          <p:nvPr/>
        </p:nvSpPr>
        <p:spPr>
          <a:xfrm>
            <a:off x="560832" y="7805674"/>
            <a:ext cx="1131113" cy="6096"/>
          </a:xfrm>
          <a:prstGeom prst="rect">
            <a:avLst/>
          </a:prstGeom>
          <a:solidFill>
            <a:srgbClr val="000000"/>
          </a:solidFill>
        </p:spPr>
      </p:sp>
      <p:sp>
        <p:nvSpPr>
          <p:cNvPr id="7" name="shape 7"/>
          <p:cNvSpPr/>
          <p:nvPr/>
        </p:nvSpPr>
        <p:spPr>
          <a:xfrm>
            <a:off x="4758817" y="7805674"/>
            <a:ext cx="2243964" cy="6096"/>
          </a:xfrm>
          <a:prstGeom prst="rect">
            <a:avLst/>
          </a:prstGeom>
          <a:solidFill>
            <a:srgbClr val="000000"/>
          </a:solidFill>
        </p:spPr>
      </p:sp>
      <p:sp>
        <p:nvSpPr>
          <p:cNvPr id="8" name="shape 8"/>
          <p:cNvSpPr/>
          <p:nvPr/>
        </p:nvSpPr>
        <p:spPr>
          <a:xfrm>
            <a:off x="560832" y="8090662"/>
            <a:ext cx="1131113" cy="6096"/>
          </a:xfrm>
          <a:prstGeom prst="rect">
            <a:avLst/>
          </a:prstGeom>
          <a:solidFill>
            <a:srgbClr val="000000"/>
          </a:solidFill>
        </p:spPr>
      </p:sp>
      <p:sp>
        <p:nvSpPr>
          <p:cNvPr id="9" name="shape 9"/>
          <p:cNvSpPr/>
          <p:nvPr/>
        </p:nvSpPr>
        <p:spPr>
          <a:xfrm>
            <a:off x="4758817" y="8090662"/>
            <a:ext cx="2243964" cy="6096"/>
          </a:xfrm>
          <a:prstGeom prst="rect">
            <a:avLst/>
          </a:prstGeom>
          <a:solidFill>
            <a:srgbClr val="000000"/>
          </a:solidFill>
        </p:spPr>
      </p:sp>
      <p:sp>
        <p:nvSpPr>
          <p:cNvPr id="10" name="shape 10"/>
          <p:cNvSpPr/>
          <p:nvPr/>
        </p:nvSpPr>
        <p:spPr>
          <a:xfrm>
            <a:off x="560832" y="8374126"/>
            <a:ext cx="1131113" cy="6097"/>
          </a:xfrm>
          <a:prstGeom prst="rect">
            <a:avLst/>
          </a:prstGeom>
          <a:solidFill>
            <a:srgbClr val="000000"/>
          </a:solidFill>
        </p:spPr>
      </p:sp>
      <p:sp>
        <p:nvSpPr>
          <p:cNvPr id="11" name="shape 11"/>
          <p:cNvSpPr/>
          <p:nvPr/>
        </p:nvSpPr>
        <p:spPr>
          <a:xfrm>
            <a:off x="4758817" y="8374126"/>
            <a:ext cx="2243964" cy="6097"/>
          </a:xfrm>
          <a:prstGeom prst="rect">
            <a:avLst/>
          </a:prstGeom>
          <a:solidFill>
            <a:srgbClr val="000000"/>
          </a:solidFill>
        </p:spPr>
      </p:sp>
      <p:sp>
        <p:nvSpPr>
          <p:cNvPr id="12" name="shape 12"/>
          <p:cNvSpPr/>
          <p:nvPr/>
        </p:nvSpPr>
        <p:spPr>
          <a:xfrm>
            <a:off x="560832" y="8657589"/>
            <a:ext cx="1131113" cy="6097"/>
          </a:xfrm>
          <a:prstGeom prst="rect">
            <a:avLst/>
          </a:prstGeom>
          <a:solidFill>
            <a:srgbClr val="000000"/>
          </a:solidFill>
        </p:spPr>
      </p:sp>
      <p:sp>
        <p:nvSpPr>
          <p:cNvPr id="13" name="shape 13"/>
          <p:cNvSpPr/>
          <p:nvPr/>
        </p:nvSpPr>
        <p:spPr>
          <a:xfrm>
            <a:off x="4758817" y="8657589"/>
            <a:ext cx="2243964" cy="6097"/>
          </a:xfrm>
          <a:prstGeom prst="rect">
            <a:avLst/>
          </a:prstGeom>
          <a:solidFill>
            <a:srgbClr val="000000"/>
          </a:solidFill>
        </p:spPr>
      </p:sp>
      <p:sp>
        <p:nvSpPr>
          <p:cNvPr id="14" name="shape 14"/>
          <p:cNvSpPr/>
          <p:nvPr/>
        </p:nvSpPr>
        <p:spPr>
          <a:xfrm>
            <a:off x="560832" y="8941053"/>
            <a:ext cx="1131113" cy="6097"/>
          </a:xfrm>
          <a:prstGeom prst="rect">
            <a:avLst/>
          </a:prstGeom>
          <a:solidFill>
            <a:srgbClr val="000000"/>
          </a:solidFill>
        </p:spPr>
      </p:sp>
      <p:sp>
        <p:nvSpPr>
          <p:cNvPr id="15" name="shape 15"/>
          <p:cNvSpPr/>
          <p:nvPr/>
        </p:nvSpPr>
        <p:spPr>
          <a:xfrm>
            <a:off x="4758817" y="8941053"/>
            <a:ext cx="2243964" cy="6097"/>
          </a:xfrm>
          <a:prstGeom prst="rect">
            <a:avLst/>
          </a:prstGeom>
          <a:solidFill>
            <a:srgbClr val="000000"/>
          </a:solidFill>
        </p:spPr>
      </p:sp>
      <p:sp>
        <p:nvSpPr>
          <p:cNvPr id="16" name="shape 16"/>
          <p:cNvSpPr/>
          <p:nvPr/>
        </p:nvSpPr>
        <p:spPr>
          <a:xfrm>
            <a:off x="560832" y="9226042"/>
            <a:ext cx="1131113" cy="6097"/>
          </a:xfrm>
          <a:prstGeom prst="rect">
            <a:avLst/>
          </a:prstGeom>
          <a:solidFill>
            <a:srgbClr val="000000"/>
          </a:solidFill>
        </p:spPr>
      </p:sp>
      <p:sp>
        <p:nvSpPr>
          <p:cNvPr id="17" name="shape 17"/>
          <p:cNvSpPr/>
          <p:nvPr/>
        </p:nvSpPr>
        <p:spPr>
          <a:xfrm>
            <a:off x="4758817" y="9226042"/>
            <a:ext cx="2243964" cy="6097"/>
          </a:xfrm>
          <a:prstGeom prst="rect">
            <a:avLst/>
          </a:prstGeom>
          <a:solidFill>
            <a:srgbClr val="000000"/>
          </a:solidFill>
        </p:spPr>
      </p:sp>
      <p:sp>
        <p:nvSpPr>
          <p:cNvPr id="18" name="shape 18"/>
          <p:cNvSpPr/>
          <p:nvPr/>
        </p:nvSpPr>
        <p:spPr>
          <a:xfrm>
            <a:off x="560832" y="9509455"/>
            <a:ext cx="1131113" cy="6096"/>
          </a:xfrm>
          <a:prstGeom prst="rect">
            <a:avLst/>
          </a:prstGeom>
          <a:solidFill>
            <a:srgbClr val="000000"/>
          </a:solidFill>
        </p:spPr>
      </p:sp>
      <p:sp>
        <p:nvSpPr>
          <p:cNvPr id="19" name="shape 19"/>
          <p:cNvSpPr/>
          <p:nvPr/>
        </p:nvSpPr>
        <p:spPr>
          <a:xfrm>
            <a:off x="4758817" y="9509455"/>
            <a:ext cx="2243964" cy="6096"/>
          </a:xfrm>
          <a:prstGeom prst="rect">
            <a:avLst/>
          </a:prstGeom>
          <a:solidFill>
            <a:srgbClr val="000000"/>
          </a:solidFill>
        </p:spPr>
      </p:sp>
      <p:sp>
        <p:nvSpPr>
          <p:cNvPr id="20" name="shape 20"/>
          <p:cNvSpPr/>
          <p:nvPr/>
        </p:nvSpPr>
        <p:spPr>
          <a:xfrm>
            <a:off x="551688" y="9792919"/>
            <a:ext cx="1140257" cy="6096"/>
          </a:xfrm>
          <a:prstGeom prst="rect">
            <a:avLst/>
          </a:prstGeom>
          <a:solidFill>
            <a:srgbClr val="000000"/>
          </a:solidFill>
        </p:spPr>
      </p:sp>
      <p:sp>
        <p:nvSpPr>
          <p:cNvPr id="21" name="shape 21"/>
          <p:cNvSpPr/>
          <p:nvPr/>
        </p:nvSpPr>
        <p:spPr>
          <a:xfrm>
            <a:off x="4749673" y="9792919"/>
            <a:ext cx="2253108" cy="6096"/>
          </a:xfrm>
          <a:prstGeom prst="rect">
            <a:avLst/>
          </a:prstGeom>
          <a:solidFill>
            <a:srgbClr val="000000"/>
          </a:solidFill>
        </p:spPr>
      </p:sp>
      <p:graphicFrame>
        <p:nvGraphicFramePr>
          <p:cNvPr id="22" name="shape 22"/>
          <p:cNvGraphicFramePr>
            <a:graphicFrameLocks noGrp="1"/>
          </p:cNvGraphicFramePr>
          <p:nvPr/>
        </p:nvGraphicFramePr>
        <p:xfrm>
          <a:off x="874880" y="7357954"/>
          <a:ext cx="6068262" cy="2458160"/>
        </p:xfrm>
        <a:graphic>
          <a:graphicData uri="http://schemas.openxmlformats.org/drawingml/2006/table">
            <a:tbl>
              <a:tblPr>
                <a:tableStyleId>{2D5ABB26-0587-4C30-8999-92F81FD0307C}</a:tableStyleId>
              </a:tblPr>
              <a:tblGrid>
                <a:gridCol w="688975"/>
                <a:gridCol w="928370"/>
                <a:gridCol w="1717675"/>
                <a:gridCol w="523240"/>
                <a:gridCol w="2209800"/>
              </a:tblGrid>
              <a:tr h="165735">
                <a:tc>
                  <a:txBody>
                    <a:bodyPr/>
                    <a:p>
                      <a:pPr marL="25400" marR="213360">
                        <a:lnSpc>
                          <a:spcPct val="92090"/>
                        </a:lnSpc>
                      </a:pPr>
                      <a:r>
                        <a:rPr sz="950" b="1" spc="-5">
                          <a:latin typeface="Times New Roman"/>
                          <a:cs typeface="Times New Roman"/>
                        </a:rPr>
                        <a:t>Variable</a:t>
                      </a:r>
                      <a:endParaRPr/>
                    </a:p>
                  </a:txBody>
                  <a:tcPr anchor="b" marL="0" marR="0" marT="0" marB="0">
                    <a:lnL/>
                    <a:lnR/>
                    <a:lnT/>
                    <a:lnB/>
                  </a:tcPr>
                </a:tc>
                <a:tc>
                  <a:txBody>
                    <a:bodyPr/>
                    <a:p>
                      <a:pPr marL="380365" marR="247015">
                        <a:lnSpc>
                          <a:spcPct val="92090"/>
                        </a:lnSpc>
                      </a:pPr>
                      <a:r>
                        <a:rPr sz="950" b="1" spc="-10">
                          <a:latin typeface="Times New Roman"/>
                          <a:cs typeface="Times New Roman"/>
                        </a:rPr>
                        <a:t>Name</a:t>
                      </a:r>
                      <a:endParaRPr/>
                    </a:p>
                  </a:txBody>
                  <a:tcPr anchor="b" marL="0" marR="0" marT="0" marB="0">
                    <a:lnL/>
                    <a:lnR/>
                    <a:lnT/>
                    <a:lnB/>
                  </a:tcPr>
                </a:tc>
                <a:tc>
                  <a:txBody>
                    <a:bodyPr/>
                    <a:p>
                      <a:pPr marL="381000" marR="370840">
                        <a:lnSpc>
                          <a:spcPct val="92090"/>
                        </a:lnSpc>
                      </a:pPr>
                      <a:r>
                        <a:rPr sz="950" b="1" spc="-5">
                          <a:latin typeface="Times New Roman"/>
                          <a:cs typeface="Times New Roman"/>
                        </a:rPr>
                        <a:t>Way of calculation</a:t>
                      </a:r>
                      <a:endParaRPr/>
                    </a:p>
                  </a:txBody>
                  <a:tcPr anchor="b" marL="0" marR="0" marT="0" marB="0">
                    <a:lnL/>
                    <a:lnR/>
                    <a:lnT/>
                    <a:lnB/>
                  </a:tcPr>
                </a:tc>
                <a:tc>
                  <a:txBody>
                    <a:bodyPr/>
                    <a:p>
                      <a:pPr marL="106680" marR="87630" algn="ctr">
                        <a:lnSpc>
                          <a:spcPct val="92090"/>
                        </a:lnSpc>
                      </a:pPr>
                      <a:r>
                        <a:rPr sz="950" b="1" spc="-5">
                          <a:latin typeface="Times New Roman"/>
                          <a:cs typeface="Times New Roman"/>
                        </a:rPr>
                        <a:t>S or D</a:t>
                      </a:r>
                      <a:endParaRPr/>
                    </a:p>
                  </a:txBody>
                  <a:tcPr anchor="b" marL="0" marR="0" marT="0" marB="0">
                    <a:lnL/>
                    <a:lnR/>
                    <a:lnT/>
                    <a:lnB/>
                  </a:tcPr>
                </a:tc>
                <a:tc>
                  <a:txBody>
                    <a:bodyPr/>
                    <a:p>
                      <a:pPr marL="767715" marR="690880">
                        <a:lnSpc>
                          <a:spcPct val="92090"/>
                        </a:lnSpc>
                      </a:pPr>
                      <a:r>
                        <a:rPr sz="950" b="1">
                          <a:latin typeface="Times New Roman"/>
                          <a:cs typeface="Times New Roman"/>
                        </a:rPr>
                        <a:t>Substantiation</a:t>
                      </a:r>
                      <a:endParaRPr/>
                    </a:p>
                  </a:txBody>
                  <a:tcPr anchor="b" marL="0" marR="0" marT="0" marB="0">
                    <a:lnL/>
                    <a:lnR/>
                    <a:lnT/>
                    <a:lnB/>
                  </a:tcPr>
                </a:tc>
              </a:tr>
              <a:tr h="284480">
                <a:tc>
                  <a:txBody>
                    <a:bodyPr/>
                    <a:p>
                      <a:pPr marL="69850" marR="257175"/>
                      <a:r>
                        <a:rPr sz="950" i="1" spc="-5">
                          <a:latin typeface="Times New Roman"/>
                          <a:cs typeface="Times New Roman"/>
                        </a:rPr>
                        <a:t>DivPay</a:t>
                      </a:r>
                      <a:endParaRPr/>
                    </a:p>
                  </a:txBody>
                  <a:tcPr anchor="ctr" marL="0" marR="0" marT="0" marB="0">
                    <a:lnL/>
                    <a:lnR/>
                    <a:lnT/>
                    <a:lnB/>
                  </a:tcPr>
                </a:tc>
                <a:tc>
                  <a:txBody>
                    <a:bodyPr/>
                    <a:p>
                      <a:pPr marL="241935" marR="107950" algn="ctr">
                        <a:lnSpc>
                          <a:spcPct val="95602"/>
                        </a:lnSpc>
                      </a:pPr>
                      <a:r>
                        <a:rPr sz="950">
                          <a:latin typeface="Times New Roman"/>
                          <a:cs typeface="Times New Roman"/>
                        </a:rPr>
                        <a:t>Dividend </a:t>
                      </a:r>
                      <a:r>
                        <a:rPr sz="950" spc="-5">
                          <a:latin typeface="Times New Roman"/>
                          <a:cs typeface="Times New Roman"/>
                        </a:rPr>
                        <a:t>payout ratio</a:t>
                      </a:r>
                      <a:endParaRPr/>
                    </a:p>
                  </a:txBody>
                  <a:tcPr anchor="ctr" marL="0" marR="0" marT="0" marB="0">
                    <a:lnL/>
                    <a:lnR/>
                    <a:lnT/>
                    <a:lnB/>
                  </a:tcPr>
                </a:tc>
                <a:tc>
                  <a:txBody>
                    <a:bodyPr/>
                    <a:p>
                      <a:pPr marL="77470" marR="189865">
                        <a:lnSpc>
                          <a:spcPct val="95602"/>
                        </a:lnSpc>
                      </a:pPr>
                      <a:r>
                        <a:rPr sz="950">
                          <a:latin typeface="Times New Roman"/>
                          <a:cs typeface="Times New Roman"/>
                        </a:rPr>
                        <a:t>Dividend per share over earnings per share (</a:t>
                      </a:r>
                      <a:r>
                        <a:rPr sz="950" i="1">
                          <a:latin typeface="Times New Roman"/>
                          <a:cs typeface="Times New Roman"/>
                        </a:rPr>
                        <a:t>DPS</a:t>
                      </a:r>
                      <a:r>
                        <a:rPr sz="950">
                          <a:latin typeface="Times New Roman"/>
                          <a:cs typeface="Times New Roman"/>
                        </a:rPr>
                        <a:t>/</a:t>
                      </a:r>
                      <a:r>
                        <a:rPr sz="950" i="1" spc="-5">
                          <a:latin typeface="Times New Roman"/>
                          <a:cs typeface="Times New Roman"/>
                        </a:rPr>
                        <a:t>EPS</a:t>
                      </a:r>
                      <a:r>
                        <a:rPr sz="950">
                          <a:latin typeface="Times New Roman"/>
                          <a:cs typeface="Times New Roman"/>
                        </a:rPr>
                        <a:t>)</a:t>
                      </a:r>
                      <a:endParaRPr/>
                    </a:p>
                  </a:txBody>
                  <a:tcPr anchor="ctr" marL="0" marR="0" marT="0" marB="0">
                    <a:lnL/>
                    <a:lnR/>
                    <a:lnT/>
                    <a:lnB/>
                  </a:tcPr>
                </a:tc>
                <a:tc>
                  <a:txBody>
                    <a:bodyPr/>
                    <a:p>
                      <a:pPr marL="237490" marR="217805" algn="ctr"/>
                      <a:r>
                        <a:rPr sz="950" spc="-5">
                          <a:latin typeface="Times New Roman"/>
                          <a:cs typeface="Times New Roman"/>
                        </a:rPr>
                        <a:t>S</a:t>
                      </a:r>
                      <a:endParaRPr/>
                    </a:p>
                  </a:txBody>
                  <a:tcPr anchor="ctr" marL="0" marR="0" marT="0" marB="0">
                    <a:lnL/>
                    <a:lnR/>
                    <a:lnT/>
                    <a:lnB/>
                  </a:tcPr>
                </a:tc>
                <a:tc>
                  <a:txBody>
                    <a:bodyPr/>
                    <a:p>
                      <a:pPr marL="87630" marR="26035" algn="just">
                        <a:lnSpc>
                          <a:spcPct val="95602"/>
                        </a:lnSpc>
                      </a:pPr>
                      <a:r>
                        <a:rPr sz="950" spc="-10">
                          <a:latin typeface="Times New Roman"/>
                          <a:cs typeface="Times New Roman"/>
                        </a:rPr>
                        <a:t>It is assumed that an increase in dividend is </a:t>
                      </a:r>
                      <a:r>
                        <a:rPr sz="950">
                          <a:latin typeface="Times New Roman"/>
                          <a:cs typeface="Times New Roman"/>
                        </a:rPr>
                        <a:t>positive for stock investor.</a:t>
                      </a:r>
                      <a:endParaRPr/>
                    </a:p>
                  </a:txBody>
                  <a:tcPr anchor="ctr" marL="0" marR="0" marT="0" marB="0">
                    <a:lnL/>
                    <a:lnR/>
                    <a:lnT/>
                    <a:lnB/>
                  </a:tcPr>
                </a:tc>
              </a:tr>
              <a:tr h="285115">
                <a:tc>
                  <a:txBody>
                    <a:bodyPr/>
                    <a:p>
                      <a:pPr marL="39370" marR="227330"/>
                      <a:r>
                        <a:rPr sz="950" i="1" spc="-5">
                          <a:latin typeface="Times New Roman"/>
                          <a:cs typeface="Times New Roman"/>
                        </a:rPr>
                        <a:t>DivYield</a:t>
                      </a:r>
                      <a:endParaRPr/>
                    </a:p>
                  </a:txBody>
                  <a:tcPr anchor="ctr" marL="0" marR="0" marT="0" marB="0">
                    <a:lnL/>
                    <a:lnR/>
                    <a:lnT/>
                    <a:lnB/>
                  </a:tcPr>
                </a:tc>
                <a:tc>
                  <a:txBody>
                    <a:bodyPr/>
                    <a:p>
                      <a:pPr marL="307340" marR="171450"/>
                      <a:r>
                        <a:rPr sz="950" spc="-5">
                          <a:latin typeface="Times New Roman"/>
                          <a:cs typeface="Times New Roman"/>
                        </a:rPr>
                        <a:t>Dividend</a:t>
                      </a:r>
                      <a:endParaRPr/>
                    </a:p>
                    <a:p>
                      <a:pPr marL="410845" marR="276860">
                        <a:lnSpc>
                          <a:spcPts val="1010"/>
                        </a:lnSpc>
                      </a:pPr>
                      <a:r>
                        <a:rPr sz="950" spc="-5">
                          <a:latin typeface="Times New Roman"/>
                          <a:cs typeface="Times New Roman"/>
                        </a:rPr>
                        <a:t>yield</a:t>
                      </a:r>
                      <a:endParaRPr/>
                    </a:p>
                  </a:txBody>
                  <a:tcPr anchor="ctr" marL="0" marR="0" marT="0" marB="0">
                    <a:lnL/>
                    <a:lnR/>
                    <a:lnT/>
                    <a:lnB/>
                  </a:tcPr>
                </a:tc>
                <a:tc>
                  <a:txBody>
                    <a:bodyPr/>
                    <a:p>
                      <a:pPr marL="77470" marR="115570" algn="just">
                        <a:lnSpc>
                          <a:spcPct val="96623"/>
                        </a:lnSpc>
                      </a:pPr>
                      <a:r>
                        <a:rPr sz="950" spc="-10">
                          <a:latin typeface="Times New Roman"/>
                          <a:cs typeface="Times New Roman"/>
                        </a:rPr>
                        <a:t>Dividend per share over market </a:t>
                      </a:r>
                      <a:r>
                        <a:rPr sz="950">
                          <a:latin typeface="Times New Roman"/>
                          <a:cs typeface="Times New Roman"/>
                        </a:rPr>
                        <a:t>share price (</a:t>
                      </a:r>
                      <a:r>
                        <a:rPr sz="950" i="1">
                          <a:latin typeface="Times New Roman"/>
                          <a:cs typeface="Times New Roman"/>
                        </a:rPr>
                        <a:t>DPS</a:t>
                      </a:r>
                      <a:r>
                        <a:rPr sz="950">
                          <a:latin typeface="Times New Roman"/>
                          <a:cs typeface="Times New Roman"/>
                        </a:rPr>
                        <a:t>/</a:t>
                      </a:r>
                      <a:r>
                        <a:rPr sz="950" i="1">
                          <a:latin typeface="Times New Roman"/>
                          <a:cs typeface="Times New Roman"/>
                        </a:rPr>
                        <a:t>P</a:t>
                      </a:r>
                      <a:r>
                        <a:rPr sz="950">
                          <a:latin typeface="Times New Roman"/>
                          <a:cs typeface="Times New Roman"/>
                        </a:rPr>
                        <a:t>)</a:t>
                      </a:r>
                      <a:endParaRPr/>
                    </a:p>
                  </a:txBody>
                  <a:tcPr anchor="ctr" marL="0" marR="0" marT="0" marB="0">
                    <a:lnL/>
                    <a:lnR/>
                    <a:lnT/>
                    <a:lnB/>
                  </a:tcPr>
                </a:tc>
                <a:tc>
                  <a:txBody>
                    <a:bodyPr/>
                    <a:p>
                      <a:pPr marL="237490" marR="217805" algn="ctr"/>
                      <a:r>
                        <a:rPr sz="950" spc="-5">
                          <a:latin typeface="Times New Roman"/>
                          <a:cs typeface="Times New Roman"/>
                        </a:rPr>
                        <a:t>S</a:t>
                      </a:r>
                      <a:endParaRPr/>
                    </a:p>
                  </a:txBody>
                  <a:tcPr anchor="ctr" marL="0" marR="0" marT="0" marB="0">
                    <a:lnL/>
                    <a:lnR/>
                    <a:lnT/>
                    <a:lnB/>
                  </a:tcPr>
                </a:tc>
                <a:tc>
                  <a:txBody>
                    <a:bodyPr/>
                    <a:p>
                      <a:pPr marL="87630" marR="219075" algn="just">
                        <a:lnSpc>
                          <a:spcPct val="96623"/>
                        </a:lnSpc>
                      </a:pPr>
                      <a:r>
                        <a:rPr sz="950" spc="-10">
                          <a:latin typeface="Times New Roman"/>
                          <a:cs typeface="Times New Roman"/>
                        </a:rPr>
                        <a:t>An increase in dividend yield means an </a:t>
                      </a:r>
                      <a:r>
                        <a:rPr sz="950">
                          <a:latin typeface="Times New Roman"/>
                          <a:cs typeface="Times New Roman"/>
                        </a:rPr>
                        <a:t>increase in return on investment.</a:t>
                      </a:r>
                      <a:endParaRPr/>
                    </a:p>
                  </a:txBody>
                  <a:tcPr anchor="ctr" marL="0" marR="0" marT="0" marB="0">
                    <a:lnL/>
                    <a:lnR/>
                    <a:lnT/>
                    <a:lnB/>
                  </a:tcPr>
                </a:tc>
              </a:tr>
              <a:tr h="283845">
                <a:tc>
                  <a:txBody>
                    <a:bodyPr/>
                    <a:p>
                      <a:pPr marL="50165" marR="236220"/>
                      <a:r>
                        <a:rPr sz="950" i="1" spc="-5">
                          <a:latin typeface="Times New Roman"/>
                          <a:cs typeface="Times New Roman"/>
                        </a:rPr>
                        <a:t>ReturnE</a:t>
                      </a:r>
                      <a:endParaRPr/>
                    </a:p>
                  </a:txBody>
                  <a:tcPr anchor="ctr" marL="0" marR="0" marT="0" marB="0">
                    <a:lnL/>
                    <a:lnR/>
                    <a:lnT/>
                    <a:lnB/>
                  </a:tcPr>
                </a:tc>
                <a:tc>
                  <a:txBody>
                    <a:bodyPr/>
                    <a:p>
                      <a:pPr marL="292100" marR="156845"/>
                      <a:r>
                        <a:rPr sz="950" spc="-5">
                          <a:latin typeface="Times New Roman"/>
                          <a:cs typeface="Times New Roman"/>
                        </a:rPr>
                        <a:t>Return on</a:t>
                      </a:r>
                      <a:endParaRPr/>
                    </a:p>
                    <a:p>
                      <a:pPr marL="380365" marR="243840">
                        <a:lnSpc>
                          <a:spcPts val="995"/>
                        </a:lnSpc>
                      </a:pPr>
                      <a:r>
                        <a:rPr sz="950">
                          <a:latin typeface="Times New Roman"/>
                          <a:cs typeface="Times New Roman"/>
                        </a:rPr>
                        <a:t>equity</a:t>
                      </a:r>
                      <a:endParaRPr/>
                    </a:p>
                  </a:txBody>
                  <a:tcPr anchor="ctr" marL="0" marR="0" marT="0" marB="0">
                    <a:lnL/>
                    <a:lnR/>
                    <a:lnT/>
                    <a:lnB/>
                  </a:tcPr>
                </a:tc>
                <a:tc>
                  <a:txBody>
                    <a:bodyPr/>
                    <a:p>
                      <a:pPr marL="77470" marR="267335">
                        <a:lnSpc>
                          <a:spcPct val="95948"/>
                        </a:lnSpc>
                      </a:pPr>
                      <a:r>
                        <a:rPr sz="950">
                          <a:latin typeface="Times New Roman"/>
                          <a:cs typeface="Times New Roman"/>
                        </a:rPr>
                        <a:t>Earnings after tax over </a:t>
                      </a:r>
                      <a:r>
                        <a:rPr sz="950" spc="-5">
                          <a:latin typeface="Times New Roman"/>
                          <a:cs typeface="Times New Roman"/>
                        </a:rPr>
                        <a:t>shareholders equity (</a:t>
                      </a:r>
                      <a:r>
                        <a:rPr sz="950" i="1" spc="-5">
                          <a:latin typeface="Times New Roman"/>
                          <a:cs typeface="Times New Roman"/>
                        </a:rPr>
                        <a:t>EAT</a:t>
                      </a:r>
                      <a:r>
                        <a:rPr sz="950" spc="-5">
                          <a:latin typeface="Times New Roman"/>
                          <a:cs typeface="Times New Roman"/>
                        </a:rPr>
                        <a:t>/</a:t>
                      </a:r>
                      <a:r>
                        <a:rPr sz="950" i="1" spc="-5">
                          <a:latin typeface="Times New Roman"/>
                          <a:cs typeface="Times New Roman"/>
                        </a:rPr>
                        <a:t>E</a:t>
                      </a:r>
                      <a:r>
                        <a:rPr sz="950" spc="-5">
                          <a:latin typeface="Times New Roman"/>
                          <a:cs typeface="Times New Roman"/>
                        </a:rPr>
                        <a:t>)</a:t>
                      </a:r>
                      <a:endParaRPr/>
                    </a:p>
                  </a:txBody>
                  <a:tcPr anchor="ctr" marL="0" marR="0" marT="0" marB="0">
                    <a:lnL/>
                    <a:lnR/>
                    <a:lnT/>
                    <a:lnB/>
                  </a:tcPr>
                </a:tc>
                <a:tc>
                  <a:txBody>
                    <a:bodyPr/>
                    <a:p>
                      <a:pPr marL="237490" marR="217805" algn="ctr"/>
                      <a:r>
                        <a:rPr sz="950" spc="-5">
                          <a:latin typeface="Times New Roman"/>
                          <a:cs typeface="Times New Roman"/>
                        </a:rPr>
                        <a:t>S</a:t>
                      </a:r>
                      <a:endParaRPr/>
                    </a:p>
                  </a:txBody>
                  <a:tcPr anchor="ctr" marL="0" marR="0" marT="0" marB="0">
                    <a:lnL/>
                    <a:lnR/>
                    <a:lnT/>
                    <a:lnB/>
                  </a:tcPr>
                </a:tc>
                <a:tc>
                  <a:txBody>
                    <a:bodyPr/>
                    <a:p>
                      <a:pPr marL="87630" marR="162560" algn="just">
                        <a:lnSpc>
                          <a:spcPct val="95948"/>
                        </a:lnSpc>
                      </a:pPr>
                      <a:r>
                        <a:rPr sz="950" spc="-10">
                          <a:latin typeface="Times New Roman"/>
                          <a:cs typeface="Times New Roman"/>
                        </a:rPr>
                        <a:t>Higher company’s profitability indicates </a:t>
                      </a:r>
                      <a:r>
                        <a:rPr sz="950">
                          <a:latin typeface="Times New Roman"/>
                          <a:cs typeface="Times New Roman"/>
                        </a:rPr>
                        <a:t>higher investor’s return.</a:t>
                      </a:r>
                      <a:endParaRPr/>
                    </a:p>
                  </a:txBody>
                  <a:tcPr anchor="ctr" marL="0" marR="0" marT="0" marB="0">
                    <a:lnL/>
                    <a:lnR/>
                    <a:lnT/>
                    <a:lnB/>
                  </a:tcPr>
                </a:tc>
              </a:tr>
              <a:tr h="283845">
                <a:tc>
                  <a:txBody>
                    <a:bodyPr/>
                    <a:p>
                      <a:pPr marL="38100" marR="224155"/>
                      <a:r>
                        <a:rPr sz="950" i="1" spc="-5">
                          <a:latin typeface="Times New Roman"/>
                          <a:cs typeface="Times New Roman"/>
                        </a:rPr>
                        <a:t>Liquid.C</a:t>
                      </a:r>
                      <a:endParaRPr/>
                    </a:p>
                  </a:txBody>
                  <a:tcPr anchor="ctr" marL="0" marR="0" marT="0" marB="0">
                    <a:lnL/>
                    <a:lnR/>
                    <a:lnT/>
                    <a:lnB/>
                  </a:tcPr>
                </a:tc>
                <a:tc>
                  <a:txBody>
                    <a:bodyPr/>
                    <a:p>
                      <a:pPr marL="222250" marR="86995"/>
                      <a:r>
                        <a:rPr sz="950" spc="-5">
                          <a:latin typeface="Times New Roman"/>
                          <a:cs typeface="Times New Roman"/>
                        </a:rPr>
                        <a:t>Current ratio</a:t>
                      </a:r>
                      <a:endParaRPr/>
                    </a:p>
                  </a:txBody>
                  <a:tcPr anchor="ctr" marL="0" marR="0" marT="0" marB="0">
                    <a:lnL/>
                    <a:lnR/>
                    <a:lnT/>
                    <a:lnB/>
                  </a:tcPr>
                </a:tc>
                <a:tc>
                  <a:txBody>
                    <a:bodyPr/>
                    <a:p>
                      <a:pPr marL="77470" marR="344170" algn="just">
                        <a:lnSpc>
                          <a:spcPct val="95947"/>
                        </a:lnSpc>
                      </a:pPr>
                      <a:r>
                        <a:rPr sz="950" spc="-10">
                          <a:latin typeface="Times New Roman"/>
                          <a:cs typeface="Times New Roman"/>
                        </a:rPr>
                        <a:t>Current assets over current </a:t>
                      </a:r>
                      <a:r>
                        <a:rPr sz="950">
                          <a:latin typeface="Times New Roman"/>
                          <a:cs typeface="Times New Roman"/>
                        </a:rPr>
                        <a:t>liabilities (</a:t>
                      </a:r>
                      <a:r>
                        <a:rPr sz="950" i="1" spc="5">
                          <a:latin typeface="Times New Roman"/>
                          <a:cs typeface="Times New Roman"/>
                        </a:rPr>
                        <a:t>CA</a:t>
                      </a:r>
                      <a:r>
                        <a:rPr sz="950">
                          <a:latin typeface="Times New Roman"/>
                          <a:cs typeface="Times New Roman"/>
                        </a:rPr>
                        <a:t>/</a:t>
                      </a:r>
                      <a:r>
                        <a:rPr sz="950" i="1" spc="5">
                          <a:latin typeface="Times New Roman"/>
                          <a:cs typeface="Times New Roman"/>
                        </a:rPr>
                        <a:t>CL</a:t>
                      </a:r>
                      <a:r>
                        <a:rPr sz="950">
                          <a:latin typeface="Times New Roman"/>
                          <a:cs typeface="Times New Roman"/>
                        </a:rPr>
                        <a:t>)</a:t>
                      </a:r>
                      <a:endParaRPr/>
                    </a:p>
                  </a:txBody>
                  <a:tcPr anchor="ctr" marL="0" marR="0" marT="0" marB="0">
                    <a:lnL/>
                    <a:lnR/>
                    <a:lnT/>
                    <a:lnB/>
                  </a:tcPr>
                </a:tc>
                <a:tc>
                  <a:txBody>
                    <a:bodyPr/>
                    <a:p>
                      <a:pPr marL="237490" marR="217805" algn="ctr"/>
                      <a:r>
                        <a:rPr sz="950" spc="-5">
                          <a:latin typeface="Times New Roman"/>
                          <a:cs typeface="Times New Roman"/>
                        </a:rPr>
                        <a:t>S</a:t>
                      </a:r>
                      <a:endParaRPr/>
                    </a:p>
                  </a:txBody>
                  <a:tcPr anchor="ctr" marL="0" marR="0" marT="0" marB="0">
                    <a:lnL/>
                    <a:lnR/>
                    <a:lnT/>
                    <a:lnB/>
                  </a:tcPr>
                </a:tc>
                <a:tc>
                  <a:txBody>
                    <a:bodyPr/>
                    <a:p>
                      <a:pPr marL="87630" marR="200025" algn="just">
                        <a:lnSpc>
                          <a:spcPct val="95947"/>
                        </a:lnSpc>
                      </a:pPr>
                      <a:r>
                        <a:rPr sz="950" spc="-10">
                          <a:latin typeface="Times New Roman"/>
                          <a:cs typeface="Times New Roman"/>
                        </a:rPr>
                        <a:t>It is proven than more liquid companies </a:t>
                      </a:r>
                      <a:r>
                        <a:rPr sz="950">
                          <a:latin typeface="Times New Roman"/>
                          <a:cs typeface="Times New Roman"/>
                        </a:rPr>
                        <a:t>pay out more dividend.</a:t>
                      </a:r>
                      <a:endParaRPr/>
                    </a:p>
                  </a:txBody>
                  <a:tcPr anchor="ctr" marL="0" marR="0" marT="0" marB="0">
                    <a:lnL/>
                    <a:lnR/>
                    <a:lnT/>
                    <a:lnB/>
                  </a:tcPr>
                </a:tc>
              </a:tr>
              <a:tr h="283845">
                <a:tc>
                  <a:txBody>
                    <a:bodyPr/>
                    <a:p>
                      <a:pPr marL="133985" marR="320040"/>
                      <a:r>
                        <a:rPr sz="950" i="1" spc="-5">
                          <a:latin typeface="Times New Roman"/>
                          <a:cs typeface="Times New Roman"/>
                        </a:rPr>
                        <a:t>Debt</a:t>
                      </a:r>
                      <a:endParaRPr/>
                    </a:p>
                  </a:txBody>
                  <a:tcPr anchor="ctr" marL="0" marR="0" marT="0" marB="0">
                    <a:lnL/>
                    <a:lnR/>
                    <a:lnT/>
                    <a:lnB/>
                  </a:tcPr>
                </a:tc>
                <a:tc>
                  <a:txBody>
                    <a:bodyPr/>
                    <a:p>
                      <a:pPr marL="288925" marR="153670"/>
                      <a:r>
                        <a:rPr sz="950" spc="-5">
                          <a:latin typeface="Times New Roman"/>
                          <a:cs typeface="Times New Roman"/>
                        </a:rPr>
                        <a:t>Debt ratio</a:t>
                      </a:r>
                      <a:endParaRPr/>
                    </a:p>
                  </a:txBody>
                  <a:tcPr anchor="ctr" marL="0" marR="0" marT="0" marB="0">
                    <a:lnL/>
                    <a:lnR/>
                    <a:lnT/>
                    <a:lnB/>
                  </a:tcPr>
                </a:tc>
                <a:tc>
                  <a:txBody>
                    <a:bodyPr/>
                    <a:p>
                      <a:pPr marL="77470" marR="106680" algn="just">
                        <a:lnSpc>
                          <a:spcPct val="95949"/>
                        </a:lnSpc>
                      </a:pPr>
                      <a:r>
                        <a:rPr sz="950" spc="-10">
                          <a:latin typeface="Times New Roman"/>
                          <a:cs typeface="Times New Roman"/>
                        </a:rPr>
                        <a:t>Total liabilities over total assets </a:t>
                      </a:r>
                      <a:r>
                        <a:rPr sz="950">
                          <a:latin typeface="Times New Roman"/>
                          <a:cs typeface="Times New Roman"/>
                        </a:rPr>
                        <a:t>(</a:t>
                      </a:r>
                      <a:r>
                        <a:rPr sz="950" i="1">
                          <a:latin typeface="Times New Roman"/>
                          <a:cs typeface="Times New Roman"/>
                        </a:rPr>
                        <a:t>TL</a:t>
                      </a:r>
                      <a:r>
                        <a:rPr sz="950">
                          <a:latin typeface="Times New Roman"/>
                          <a:cs typeface="Times New Roman"/>
                        </a:rPr>
                        <a:t>/</a:t>
                      </a:r>
                      <a:r>
                        <a:rPr sz="950" i="1">
                          <a:latin typeface="Times New Roman"/>
                          <a:cs typeface="Times New Roman"/>
                        </a:rPr>
                        <a:t>TA</a:t>
                      </a:r>
                      <a:r>
                        <a:rPr sz="950">
                          <a:latin typeface="Times New Roman"/>
                          <a:cs typeface="Times New Roman"/>
                        </a:rPr>
                        <a:t>)</a:t>
                      </a:r>
                      <a:endParaRPr/>
                    </a:p>
                  </a:txBody>
                  <a:tcPr anchor="ctr" marL="0" marR="0" marT="0" marB="0">
                    <a:lnL/>
                    <a:lnR/>
                    <a:lnT/>
                    <a:lnB/>
                  </a:tcPr>
                </a:tc>
                <a:tc>
                  <a:txBody>
                    <a:bodyPr/>
                    <a:p>
                      <a:pPr marL="226695" marR="208915" algn="ctr"/>
                      <a:r>
                        <a:rPr sz="950" spc="-15">
                          <a:latin typeface="Times New Roman"/>
                          <a:cs typeface="Times New Roman"/>
                        </a:rPr>
                        <a:t>D</a:t>
                      </a:r>
                      <a:endParaRPr/>
                    </a:p>
                  </a:txBody>
                  <a:tcPr anchor="ctr" marL="0" marR="0" marT="0" marB="0">
                    <a:lnL/>
                    <a:lnR/>
                    <a:lnT/>
                    <a:lnB/>
                  </a:tcPr>
                </a:tc>
                <a:tc>
                  <a:txBody>
                    <a:bodyPr/>
                    <a:p>
                      <a:pPr marL="87630" marR="59055" algn="just">
                        <a:lnSpc>
                          <a:spcPct val="95949"/>
                        </a:lnSpc>
                      </a:pPr>
                      <a:r>
                        <a:rPr sz="950" spc="-10">
                          <a:latin typeface="Times New Roman"/>
                          <a:cs typeface="Times New Roman"/>
                        </a:rPr>
                        <a:t>Interest payment makes it more difficult to </a:t>
                      </a:r>
                      <a:r>
                        <a:rPr sz="950">
                          <a:latin typeface="Times New Roman"/>
                          <a:cs typeface="Times New Roman"/>
                        </a:rPr>
                        <a:t>pay out dividends.</a:t>
                      </a:r>
                      <a:endParaRPr/>
                    </a:p>
                  </a:txBody>
                  <a:tcPr anchor="ctr" marL="0" marR="0" marT="0" marB="0">
                    <a:lnL/>
                    <a:lnR/>
                    <a:lnT/>
                    <a:lnB/>
                  </a:tcPr>
                </a:tc>
              </a:tr>
              <a:tr h="285115">
                <a:tc>
                  <a:txBody>
                    <a:bodyPr/>
                    <a:p>
                      <a:pPr marL="25400" marR="213360"/>
                      <a:r>
                        <a:rPr sz="950" i="1" spc="-5">
                          <a:latin typeface="Times New Roman"/>
                          <a:cs typeface="Times New Roman"/>
                        </a:rPr>
                        <a:t>Leverage</a:t>
                      </a:r>
                      <a:endParaRPr/>
                    </a:p>
                  </a:txBody>
                  <a:tcPr anchor="ctr" marL="0" marR="0" marT="0" marB="0">
                    <a:lnL/>
                    <a:lnR/>
                    <a:lnT/>
                    <a:lnB/>
                  </a:tcPr>
                </a:tc>
                <a:tc>
                  <a:txBody>
                    <a:bodyPr/>
                    <a:p>
                      <a:pPr marL="351790" marR="217170"/>
                      <a:r>
                        <a:rPr sz="950" spc="-5">
                          <a:latin typeface="Times New Roman"/>
                          <a:cs typeface="Times New Roman"/>
                        </a:rPr>
                        <a:t>Debt to</a:t>
                      </a:r>
                      <a:endParaRPr/>
                    </a:p>
                    <a:p>
                      <a:pPr marL="255905" marR="121920">
                        <a:lnSpc>
                          <a:spcPts val="1010"/>
                        </a:lnSpc>
                      </a:pPr>
                      <a:r>
                        <a:rPr sz="950" spc="-5">
                          <a:latin typeface="Times New Roman"/>
                          <a:cs typeface="Times New Roman"/>
                        </a:rPr>
                        <a:t>equity ratio</a:t>
                      </a:r>
                      <a:endParaRPr/>
                    </a:p>
                  </a:txBody>
                  <a:tcPr anchor="ctr" marL="0" marR="0" marT="0" marB="0">
                    <a:lnL/>
                    <a:lnR/>
                    <a:lnT/>
                    <a:lnB/>
                  </a:tcPr>
                </a:tc>
                <a:tc>
                  <a:txBody>
                    <a:bodyPr/>
                    <a:p>
                      <a:pPr marL="77470" marR="346710">
                        <a:lnSpc>
                          <a:spcPct val="96623"/>
                        </a:lnSpc>
                      </a:pPr>
                      <a:r>
                        <a:rPr sz="950">
                          <a:latin typeface="Times New Roman"/>
                          <a:cs typeface="Times New Roman"/>
                        </a:rPr>
                        <a:t>Total liabilities over </a:t>
                      </a:r>
                      <a:r>
                        <a:rPr sz="950" spc="-5">
                          <a:latin typeface="Times New Roman"/>
                          <a:cs typeface="Times New Roman"/>
                        </a:rPr>
                        <a:t>shareholders equity (</a:t>
                      </a:r>
                      <a:r>
                        <a:rPr sz="950" i="1" spc="-5">
                          <a:latin typeface="Times New Roman"/>
                          <a:cs typeface="Times New Roman"/>
                        </a:rPr>
                        <a:t>TL</a:t>
                      </a:r>
                      <a:r>
                        <a:rPr sz="950" spc="-5">
                          <a:latin typeface="Times New Roman"/>
                          <a:cs typeface="Times New Roman"/>
                        </a:rPr>
                        <a:t>/</a:t>
                      </a:r>
                      <a:r>
                        <a:rPr sz="950" i="1" spc="-5">
                          <a:latin typeface="Times New Roman"/>
                          <a:cs typeface="Times New Roman"/>
                        </a:rPr>
                        <a:t>E</a:t>
                      </a:r>
                      <a:r>
                        <a:rPr sz="950" spc="-5">
                          <a:latin typeface="Times New Roman"/>
                          <a:cs typeface="Times New Roman"/>
                        </a:rPr>
                        <a:t>)</a:t>
                      </a:r>
                      <a:endParaRPr/>
                    </a:p>
                  </a:txBody>
                  <a:tcPr anchor="ctr" marL="0" marR="0" marT="0" marB="0">
                    <a:lnL/>
                    <a:lnR/>
                    <a:lnT/>
                    <a:lnB/>
                  </a:tcPr>
                </a:tc>
                <a:tc>
                  <a:txBody>
                    <a:bodyPr/>
                    <a:p>
                      <a:pPr marL="226695" marR="208915" algn="ctr"/>
                      <a:r>
                        <a:rPr sz="950" spc="-15">
                          <a:latin typeface="Times New Roman"/>
                          <a:cs typeface="Times New Roman"/>
                        </a:rPr>
                        <a:t>D</a:t>
                      </a:r>
                      <a:endParaRPr/>
                    </a:p>
                  </a:txBody>
                  <a:tcPr anchor="ctr" marL="0" marR="0" marT="0" marB="0">
                    <a:lnL/>
                    <a:lnR/>
                    <a:lnT/>
                    <a:lnB/>
                  </a:tcPr>
                </a:tc>
                <a:tc>
                  <a:txBody>
                    <a:bodyPr/>
                    <a:p>
                      <a:pPr marL="87630" marR="388620" algn="just">
                        <a:lnSpc>
                          <a:spcPct val="96623"/>
                        </a:lnSpc>
                      </a:pPr>
                      <a:r>
                        <a:rPr sz="950" spc="-10">
                          <a:latin typeface="Times New Roman"/>
                          <a:cs typeface="Times New Roman"/>
                        </a:rPr>
                        <a:t>Indebted companies are usually less </a:t>
                      </a:r>
                      <a:r>
                        <a:rPr sz="950">
                          <a:latin typeface="Times New Roman"/>
                          <a:cs typeface="Times New Roman"/>
                        </a:rPr>
                        <a:t>attractive for investments.</a:t>
                      </a:r>
                      <a:endParaRPr/>
                    </a:p>
                  </a:txBody>
                  <a:tcPr anchor="ctr" marL="0" marR="0" marT="0" marB="0">
                    <a:lnL/>
                    <a:lnR/>
                    <a:lnT/>
                    <a:lnB/>
                  </a:tcPr>
                </a:tc>
              </a:tr>
              <a:tr h="283845">
                <a:tc>
                  <a:txBody>
                    <a:bodyPr/>
                    <a:p>
                      <a:pPr marL="153670" marR="339725"/>
                      <a:r>
                        <a:rPr sz="950" i="1" spc="-5">
                          <a:latin typeface="Times New Roman"/>
                          <a:cs typeface="Times New Roman"/>
                        </a:rPr>
                        <a:t>Size</a:t>
                      </a:r>
                      <a:endParaRPr/>
                    </a:p>
                  </a:txBody>
                  <a:tcPr anchor="ctr" marL="0" marR="0" marT="0" marB="0">
                    <a:lnL/>
                    <a:lnR/>
                    <a:lnT/>
                    <a:lnB/>
                  </a:tcPr>
                </a:tc>
                <a:tc>
                  <a:txBody>
                    <a:bodyPr/>
                    <a:p>
                      <a:pPr marL="273685" marR="137795"/>
                      <a:r>
                        <a:rPr sz="950" spc="-5">
                          <a:latin typeface="Times New Roman"/>
                          <a:cs typeface="Times New Roman"/>
                        </a:rPr>
                        <a:t>Size of the</a:t>
                      </a:r>
                      <a:endParaRPr/>
                    </a:p>
                    <a:p>
                      <a:pPr marL="310515" marR="173355">
                        <a:lnSpc>
                          <a:spcPts val="995"/>
                        </a:lnSpc>
                      </a:pPr>
                      <a:r>
                        <a:rPr sz="950" spc="-5">
                          <a:latin typeface="Times New Roman"/>
                          <a:cs typeface="Times New Roman"/>
                        </a:rPr>
                        <a:t>company</a:t>
                      </a:r>
                      <a:endParaRPr/>
                    </a:p>
                  </a:txBody>
                  <a:tcPr anchor="ctr" marL="0" marR="0" marT="0" marB="0">
                    <a:lnL/>
                    <a:lnR/>
                    <a:lnT/>
                    <a:lnB/>
                  </a:tcPr>
                </a:tc>
                <a:tc>
                  <a:txBody>
                    <a:bodyPr/>
                    <a:p>
                      <a:pPr marL="77470" marR="225425" algn="just">
                        <a:lnSpc>
                          <a:spcPct val="95861"/>
                        </a:lnSpc>
                      </a:pPr>
                      <a:r>
                        <a:rPr sz="950" spc="-10">
                          <a:latin typeface="Times New Roman"/>
                          <a:cs typeface="Times New Roman"/>
                        </a:rPr>
                        <a:t>Natural logarithm of the total </a:t>
                      </a:r>
                      <a:r>
                        <a:rPr sz="950">
                          <a:latin typeface="Times New Roman"/>
                          <a:cs typeface="Times New Roman"/>
                        </a:rPr>
                        <a:t>capital (ln</a:t>
                      </a:r>
                      <a:r>
                        <a:rPr sz="950" i="1">
                          <a:latin typeface="Times New Roman"/>
                          <a:cs typeface="Times New Roman"/>
                        </a:rPr>
                        <a:t>TC</a:t>
                      </a:r>
                      <a:r>
                        <a:rPr sz="950">
                          <a:latin typeface="Times New Roman"/>
                          <a:cs typeface="Times New Roman"/>
                        </a:rPr>
                        <a:t>)</a:t>
                      </a:r>
                      <a:endParaRPr/>
                    </a:p>
                  </a:txBody>
                  <a:tcPr anchor="ctr" marL="0" marR="0" marT="0" marB="0">
                    <a:lnL/>
                    <a:lnR/>
                    <a:lnT/>
                    <a:lnB/>
                  </a:tcPr>
                </a:tc>
                <a:tc>
                  <a:txBody>
                    <a:bodyPr/>
                    <a:p>
                      <a:pPr marL="237490" marR="217805" algn="ctr"/>
                      <a:r>
                        <a:rPr sz="950" spc="-5">
                          <a:latin typeface="Times New Roman"/>
                          <a:cs typeface="Times New Roman"/>
                        </a:rPr>
                        <a:t>S</a:t>
                      </a:r>
                      <a:endParaRPr/>
                    </a:p>
                  </a:txBody>
                  <a:tcPr anchor="ctr" marL="0" marR="0" marT="0" marB="0">
                    <a:lnL/>
                    <a:lnR/>
                    <a:lnT/>
                    <a:lnB/>
                  </a:tcPr>
                </a:tc>
                <a:tc>
                  <a:txBody>
                    <a:bodyPr/>
                    <a:p>
                      <a:pPr marL="87630" marR="50800" algn="just">
                        <a:lnSpc>
                          <a:spcPct val="95861"/>
                        </a:lnSpc>
                      </a:pPr>
                      <a:r>
                        <a:rPr sz="950" spc="-10">
                          <a:latin typeface="Times New Roman"/>
                          <a:cs typeface="Times New Roman"/>
                        </a:rPr>
                        <a:t>It is proven that larger companies are more </a:t>
                      </a:r>
                      <a:r>
                        <a:rPr sz="950">
                          <a:latin typeface="Times New Roman"/>
                          <a:cs typeface="Times New Roman"/>
                        </a:rPr>
                        <a:t>eager to pay out dividend.</a:t>
                      </a:r>
                      <a:endParaRPr/>
                    </a:p>
                  </a:txBody>
                  <a:tcPr anchor="ctr" marL="0" marR="0" marT="0" marB="0">
                    <a:lnL/>
                    <a:lnR/>
                    <a:lnT/>
                    <a:lnB/>
                  </a:tcPr>
                </a:tc>
              </a:tr>
              <a:tr h="304165">
                <a:tc>
                  <a:txBody>
                    <a:bodyPr/>
                    <a:p>
                      <a:pPr marL="66675" marR="252095"/>
                      <a:r>
                        <a:rPr sz="950" i="1" spc="-5">
                          <a:latin typeface="Times New Roman"/>
                          <a:cs typeface="Times New Roman"/>
                        </a:rPr>
                        <a:t>Growth</a:t>
                      </a:r>
                      <a:endParaRPr/>
                    </a:p>
                  </a:txBody>
                  <a:tcPr anchor="ctr" marL="0" marR="0" marT="0" marB="0">
                    <a:lnL/>
                    <a:lnR/>
                    <a:lnT/>
                    <a:lnB/>
                  </a:tcPr>
                </a:tc>
                <a:tc>
                  <a:txBody>
                    <a:bodyPr/>
                    <a:p>
                      <a:pPr marL="347345" marR="212725" algn="ctr">
                        <a:lnSpc>
                          <a:spcPts val="1110"/>
                        </a:lnSpc>
                      </a:pPr>
                      <a:r>
                        <a:rPr sz="950" spc="-5">
                          <a:latin typeface="Times New Roman"/>
                          <a:cs typeface="Times New Roman"/>
                        </a:rPr>
                        <a:t>Growth</a:t>
                      </a:r>
                      <a:endParaRPr/>
                    </a:p>
                    <a:p>
                      <a:pPr marL="212725" marR="77470" algn="ctr">
                        <a:lnSpc>
                          <a:spcPts val="1090"/>
                        </a:lnSpc>
                      </a:pPr>
                      <a:r>
                        <a:rPr sz="950" spc="-5">
                          <a:latin typeface="Times New Roman"/>
                          <a:cs typeface="Times New Roman"/>
                        </a:rPr>
                        <a:t>opportunities</a:t>
                      </a:r>
                      <a:endParaRPr/>
                    </a:p>
                  </a:txBody>
                  <a:tcPr marL="0" marR="0" marT="0" marB="0">
                    <a:lnL/>
                    <a:lnR/>
                    <a:lnT/>
                    <a:lnB/>
                  </a:tcPr>
                </a:tc>
                <a:tc>
                  <a:txBody>
                    <a:bodyPr/>
                    <a:p>
                      <a:pPr marL="77470" marR="165735" algn="just">
                        <a:lnSpc>
                          <a:spcPts val="1110"/>
                        </a:lnSpc>
                      </a:pPr>
                      <a:r>
                        <a:rPr sz="950" spc="-5">
                          <a:latin typeface="Times New Roman"/>
                          <a:cs typeface="Times New Roman"/>
                        </a:rPr>
                        <a:t>Sum of capitalization and debt</a:t>
                      </a:r>
                      <a:endParaRPr/>
                    </a:p>
                    <a:p>
                      <a:pPr marL="77470" marR="300990" algn="just">
                        <a:lnSpc>
                          <a:spcPts val="1090"/>
                        </a:lnSpc>
                      </a:pPr>
                      <a:r>
                        <a:rPr sz="950" spc="-5">
                          <a:latin typeface="Times New Roman"/>
                          <a:cs typeface="Times New Roman"/>
                        </a:rPr>
                        <a:t>over total assets (</a:t>
                      </a:r>
                      <a:r>
                        <a:rPr sz="950" i="1" spc="-5">
                          <a:latin typeface="Times New Roman"/>
                          <a:cs typeface="Times New Roman"/>
                        </a:rPr>
                        <a:t>C</a:t>
                      </a:r>
                      <a:r>
                        <a:rPr sz="950" spc="-5">
                          <a:latin typeface="Times New Roman"/>
                          <a:cs typeface="Times New Roman"/>
                        </a:rPr>
                        <a:t>+</a:t>
                      </a:r>
                      <a:r>
                        <a:rPr sz="950" i="1" spc="-5">
                          <a:latin typeface="Times New Roman"/>
                          <a:cs typeface="Times New Roman"/>
                        </a:rPr>
                        <a:t>TL</a:t>
                      </a:r>
                      <a:r>
                        <a:rPr sz="950" spc="-10">
                          <a:latin typeface="Times New Roman"/>
                          <a:cs typeface="Times New Roman"/>
                        </a:rPr>
                        <a:t>)/</a:t>
                      </a:r>
                      <a:r>
                        <a:rPr sz="950" i="1" spc="-5">
                          <a:latin typeface="Times New Roman"/>
                          <a:cs typeface="Times New Roman"/>
                        </a:rPr>
                        <a:t>TA</a:t>
                      </a:r>
                      <a:endParaRPr/>
                    </a:p>
                  </a:txBody>
                  <a:tcPr marL="0" marR="0" marT="0" marB="0">
                    <a:lnL/>
                    <a:lnR/>
                    <a:lnT/>
                    <a:lnB/>
                  </a:tcPr>
                </a:tc>
                <a:tc>
                  <a:txBody>
                    <a:bodyPr/>
                    <a:p>
                      <a:pPr marL="226695" marR="208915" algn="ctr"/>
                      <a:r>
                        <a:rPr sz="950" spc="-15">
                          <a:latin typeface="Times New Roman"/>
                          <a:cs typeface="Times New Roman"/>
                        </a:rPr>
                        <a:t>D</a:t>
                      </a:r>
                      <a:endParaRPr/>
                    </a:p>
                  </a:txBody>
                  <a:tcPr anchor="ctr" marL="0" marR="0" marT="0" marB="0">
                    <a:lnL/>
                    <a:lnR/>
                    <a:lnT/>
                    <a:lnB/>
                  </a:tcPr>
                </a:tc>
                <a:tc>
                  <a:txBody>
                    <a:bodyPr/>
                    <a:p>
                      <a:pPr marL="87630" marR="299085" algn="just">
                        <a:lnSpc>
                          <a:spcPts val="1110"/>
                        </a:lnSpc>
                      </a:pPr>
                      <a:r>
                        <a:rPr sz="950" spc="-5">
                          <a:latin typeface="Times New Roman"/>
                          <a:cs typeface="Times New Roman"/>
                        </a:rPr>
                        <a:t>Companies that spend more money to</a:t>
                      </a:r>
                      <a:endParaRPr/>
                    </a:p>
                    <a:p>
                      <a:pPr marL="87630" marR="558800" algn="just">
                        <a:lnSpc>
                          <a:spcPts val="1090"/>
                        </a:lnSpc>
                      </a:pPr>
                      <a:r>
                        <a:rPr sz="950" spc="-5">
                          <a:latin typeface="Times New Roman"/>
                          <a:cs typeface="Times New Roman"/>
                        </a:rPr>
                        <a:t>growth pay out lower dividends.</a:t>
                      </a:r>
                      <a:endParaRPr/>
                    </a:p>
                  </a:txBody>
                  <a:tcPr marL="0" marR="0" marT="0" marB="0">
                    <a:lnL/>
                    <a:lnR/>
                    <a:lnT/>
                    <a:lnB/>
                  </a:tcPr>
                </a:tc>
              </a:tr>
            </a:tbl>
          </a:graphicData>
        </a:graphic>
      </p:graphicFrame>
      <p:sp>
        <p:nvSpPr>
          <p:cNvPr id="23" name="shape 23"/>
          <p:cNvSpPr txBox="1"/>
          <p:nvPr/>
        </p:nvSpPr>
        <p:spPr>
          <a:xfrm>
            <a:off x="3265805" y="528320"/>
            <a:ext cx="3769995" cy="152400"/>
          </a:xfrm>
          <a:prstGeom prst="rect"/>
          <a:noFill/>
        </p:spPr>
        <p:txBody>
          <a:bodyPr vertOverflow="overflow" horzOverflow="overflow" numCol="1" wrap="square" lIns="0" tIns="0" rIns="0" bIns="0">
            <a:spAutoFit/>
          </a:bodyPr>
          <a:p>
            <a:pPr marL="12700"/>
            <a:r>
              <a:rPr sz="1000" i="1">
                <a:latin typeface="Times New Roman"/>
                <a:cs typeface="Times New Roman"/>
              </a:rPr>
              <a:t>A.Pieloch-Babiarz / Public Policy and Accounting, Vol. 1 (3), 20</a:t>
            </a:r>
            <a:r>
              <a:rPr sz="1000" i="1" spc="5">
                <a:latin typeface="Times New Roman"/>
                <a:cs typeface="Times New Roman"/>
              </a:rPr>
              <a:t>21</a:t>
            </a:r>
            <a:r>
              <a:rPr sz="1000" i="1">
                <a:latin typeface="Times New Roman"/>
                <a:cs typeface="Times New Roman"/>
              </a:rPr>
              <a:t>, 3–</a:t>
            </a:r>
            <a:r>
              <a:rPr sz="1000" i="1" spc="-5">
                <a:latin typeface="Times New Roman"/>
                <a:cs typeface="Times New Roman"/>
              </a:rPr>
              <a:t>11</a:t>
            </a:r>
            <a:endParaRPr/>
          </a:p>
        </p:txBody>
      </p:sp>
      <p:sp>
        <p:nvSpPr>
          <p:cNvPr id="24" name="shape 24"/>
          <p:cNvSpPr txBox="1"/>
          <p:nvPr/>
        </p:nvSpPr>
        <p:spPr>
          <a:xfrm>
            <a:off x="528320" y="893064"/>
            <a:ext cx="6508115" cy="5554345"/>
          </a:xfrm>
          <a:prstGeom prst="rect"/>
          <a:noFill/>
        </p:spPr>
        <p:txBody>
          <a:bodyPr vertOverflow="overflow" horzOverflow="overflow" numCol="1" wrap="square" lIns="0" tIns="0" rIns="0" bIns="0">
            <a:spAutoFit/>
          </a:bodyPr>
          <a:p>
            <a:pPr marL="12700" marR="12700" indent="179705" algn="just">
              <a:lnSpc>
                <a:spcPct val="96291"/>
              </a:lnSpc>
            </a:pPr>
            <a:r>
              <a:rPr sz="1000">
                <a:latin typeface="Times New Roman"/>
                <a:cs typeface="Times New Roman"/>
              </a:rPr>
              <a:t>According to the author's knowledge, there are no studies yet that would allow to determine the attractiveness of investing in shares of dividend companies in relation to the main shareholder, and as a result, to create a certain ranking list indicating the profitability of investing in dividend companies as a result of taking into account certain specific determinants of the dividend policy. Therefore, there is a justified necessity to conduct appropriate research in order to fill the observed research gap. In order to do this, the aim of the article was formulated and research questions were posed.</a:t>
            </a:r>
            <a:endParaRPr/>
          </a:p>
          <a:p>
            <a:pPr marL="192405" algn="just">
              <a:lnSpc>
                <a:spcPts val="1190"/>
              </a:lnSpc>
            </a:pPr>
            <a:r>
              <a:rPr sz="1000">
                <a:latin typeface="Times New Roman"/>
                <a:cs typeface="Times New Roman"/>
              </a:rPr>
              <a:t>The purpose of this article is to examine the attractiveness of investing in shares of listed companies that regularly pay ou</a:t>
            </a:r>
            <a:r>
              <a:rPr sz="1000" spc="10">
                <a:latin typeface="Times New Roman"/>
                <a:cs typeface="Times New Roman"/>
              </a:rPr>
              <a:t>t</a:t>
            </a:r>
            <a:endParaRPr/>
          </a:p>
          <a:p>
            <a:pPr marL="12700" algn="just">
              <a:lnSpc>
                <a:spcPts val="1140"/>
              </a:lnSpc>
            </a:pPr>
            <a:r>
              <a:rPr sz="1000">
                <a:latin typeface="Times New Roman"/>
                <a:cs typeface="Times New Roman"/>
              </a:rPr>
              <a:t>dividends</a:t>
            </a:r>
            <a:r>
              <a:rPr sz="1000" spc="165">
                <a:latin typeface="Times New Roman"/>
                <a:cs typeface="Times New Roman"/>
              </a:rPr>
              <a:t> </a:t>
            </a:r>
            <a:r>
              <a:rPr sz="1000">
                <a:latin typeface="Times New Roman"/>
                <a:cs typeface="Times New Roman"/>
              </a:rPr>
              <a:t>depending</a:t>
            </a:r>
            <a:r>
              <a:rPr sz="1000" spc="175">
                <a:latin typeface="Times New Roman"/>
                <a:cs typeface="Times New Roman"/>
              </a:rPr>
              <a:t> </a:t>
            </a:r>
            <a:r>
              <a:rPr sz="1000">
                <a:latin typeface="Times New Roman"/>
                <a:cs typeface="Times New Roman"/>
              </a:rPr>
              <a:t>on</a:t>
            </a:r>
            <a:r>
              <a:rPr sz="1000" spc="16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type</a:t>
            </a:r>
            <a:r>
              <a:rPr sz="1000" spc="180">
                <a:latin typeface="Times New Roman"/>
                <a:cs typeface="Times New Roman"/>
              </a:rPr>
              <a:t> </a:t>
            </a:r>
            <a:r>
              <a:rPr sz="1000">
                <a:latin typeface="Times New Roman"/>
                <a:cs typeface="Times New Roman"/>
              </a:rPr>
              <a:t>of</a:t>
            </a:r>
            <a:r>
              <a:rPr sz="1000" spc="160">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first-largest</a:t>
            </a:r>
            <a:r>
              <a:rPr sz="1000" spc="175">
                <a:latin typeface="Times New Roman"/>
                <a:cs typeface="Times New Roman"/>
              </a:rPr>
              <a:t> </a:t>
            </a:r>
            <a:r>
              <a:rPr sz="1000">
                <a:latin typeface="Times New Roman"/>
                <a:cs typeface="Times New Roman"/>
              </a:rPr>
              <a:t>shareholder.</a:t>
            </a:r>
            <a:r>
              <a:rPr sz="1000" spc="170">
                <a:latin typeface="Times New Roman"/>
                <a:cs typeface="Times New Roman"/>
              </a:rPr>
              <a:t> </a:t>
            </a:r>
            <a:r>
              <a:rPr sz="1000">
                <a:latin typeface="Times New Roman"/>
                <a:cs typeface="Times New Roman"/>
              </a:rPr>
              <a:t>In</a:t>
            </a:r>
            <a:r>
              <a:rPr sz="1000" spc="165">
                <a:latin typeface="Times New Roman"/>
                <a:cs typeface="Times New Roman"/>
              </a:rPr>
              <a:t> </a:t>
            </a:r>
            <a:r>
              <a:rPr sz="1000">
                <a:latin typeface="Times New Roman"/>
                <a:cs typeface="Times New Roman"/>
              </a:rPr>
              <a:t>order</a:t>
            </a:r>
            <a:r>
              <a:rPr sz="1000" spc="175">
                <a:latin typeface="Times New Roman"/>
                <a:cs typeface="Times New Roman"/>
              </a:rPr>
              <a:t> </a:t>
            </a:r>
            <a:r>
              <a:rPr sz="1000">
                <a:latin typeface="Times New Roman"/>
                <a:cs typeface="Times New Roman"/>
              </a:rPr>
              <a:t>to</a:t>
            </a:r>
            <a:r>
              <a:rPr sz="1000" spc="175">
                <a:latin typeface="Times New Roman"/>
                <a:cs typeface="Times New Roman"/>
              </a:rPr>
              <a:t> </a:t>
            </a:r>
            <a:r>
              <a:rPr sz="1000">
                <a:latin typeface="Times New Roman"/>
                <a:cs typeface="Times New Roman"/>
              </a:rPr>
              <a:t>achieve</a:t>
            </a:r>
            <a:r>
              <a:rPr sz="1000" spc="185">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aim</a:t>
            </a:r>
            <a:r>
              <a:rPr sz="1000" spc="160">
                <a:latin typeface="Times New Roman"/>
                <a:cs typeface="Times New Roman"/>
              </a:rPr>
              <a:t> </a:t>
            </a:r>
            <a:r>
              <a:rPr sz="1000">
                <a:latin typeface="Times New Roman"/>
                <a:cs typeface="Times New Roman"/>
              </a:rPr>
              <a:t>of</a:t>
            </a:r>
            <a:r>
              <a:rPr sz="1000" spc="160">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paper,</a:t>
            </a:r>
            <a:r>
              <a:rPr sz="1000" spc="170">
                <a:latin typeface="Times New Roman"/>
                <a:cs typeface="Times New Roman"/>
              </a:rPr>
              <a:t> </a:t>
            </a:r>
            <a:r>
              <a:rPr sz="1000">
                <a:latin typeface="Times New Roman"/>
                <a:cs typeface="Times New Roman"/>
              </a:rPr>
              <a:t>two</a:t>
            </a:r>
            <a:r>
              <a:rPr sz="1000" spc="185">
                <a:latin typeface="Times New Roman"/>
                <a:cs typeface="Times New Roman"/>
              </a:rPr>
              <a:t> </a:t>
            </a:r>
            <a:r>
              <a:rPr sz="1000">
                <a:latin typeface="Times New Roman"/>
                <a:cs typeface="Times New Roman"/>
              </a:rPr>
              <a:t>following</a:t>
            </a:r>
            <a:endParaRPr/>
          </a:p>
          <a:p>
            <a:pPr marL="12700" algn="just">
              <a:lnSpc>
                <a:spcPts val="1155"/>
              </a:lnSpc>
            </a:pPr>
            <a:r>
              <a:rPr sz="1000">
                <a:latin typeface="Times New Roman"/>
                <a:cs typeface="Times New Roman"/>
              </a:rPr>
              <a:t>research questions we</a:t>
            </a:r>
            <a:r>
              <a:rPr sz="1000" spc="5">
                <a:latin typeface="Times New Roman"/>
                <a:cs typeface="Times New Roman"/>
              </a:rPr>
              <a:t>re </a:t>
            </a:r>
            <a:r>
              <a:rPr sz="1000">
                <a:latin typeface="Times New Roman"/>
                <a:cs typeface="Times New Roman"/>
              </a:rPr>
              <a:t>formulated:</a:t>
            </a:r>
            <a:endParaRPr/>
          </a:p>
          <a:p>
            <a:pPr marL="462280" indent="-269875" algn="just">
              <a:lnSpc>
                <a:spcPts val="1135"/>
              </a:lnSpc>
              <a:buSzPts val="1000"/>
              <a:buFont typeface="Times New Roman"/>
              <a:buAutoNum type="arabicParenR"/>
            </a:pPr>
            <a:r>
              <a:rPr sz="1000">
                <a:latin typeface="Times New Roman"/>
                <a:cs typeface="Times New Roman"/>
              </a:rPr>
              <a:t>in which companies, broken down by type of the first-largest shareholder, is the highest dividend payment observed?</a:t>
            </a:r>
            <a:endParaRPr/>
          </a:p>
          <a:p>
            <a:pPr marL="462280" indent="-269875" algn="just">
              <a:lnSpc>
                <a:spcPts val="1160"/>
              </a:lnSpc>
              <a:buSzPts val="1000"/>
              <a:buFont typeface="Times New Roman"/>
              <a:buAutoNum type="arabicParenR"/>
            </a:pPr>
            <a:r>
              <a:rPr sz="1000">
                <a:latin typeface="Times New Roman"/>
                <a:cs typeface="Times New Roman"/>
              </a:rPr>
              <a:t>considering the</a:t>
            </a:r>
            <a:r>
              <a:rPr sz="1000" spc="75">
                <a:latin typeface="Times New Roman"/>
                <a:cs typeface="Times New Roman"/>
              </a:rPr>
              <a:t> </a:t>
            </a:r>
            <a:r>
              <a:rPr sz="1000">
                <a:latin typeface="Times New Roman"/>
                <a:cs typeface="Times New Roman"/>
              </a:rPr>
              <a:t>main</a:t>
            </a:r>
            <a:r>
              <a:rPr sz="1000" spc="65">
                <a:latin typeface="Times New Roman"/>
                <a:cs typeface="Times New Roman"/>
              </a:rPr>
              <a:t> </a:t>
            </a:r>
            <a:r>
              <a:rPr sz="1000">
                <a:latin typeface="Times New Roman"/>
                <a:cs typeface="Times New Roman"/>
              </a:rPr>
              <a:t>shareholder,</a:t>
            </a:r>
            <a:r>
              <a:rPr sz="1000" spc="65">
                <a:latin typeface="Times New Roman"/>
                <a:cs typeface="Times New Roman"/>
              </a:rPr>
              <a:t> </a:t>
            </a:r>
            <a:r>
              <a:rPr sz="1000">
                <a:latin typeface="Times New Roman"/>
                <a:cs typeface="Times New Roman"/>
              </a:rPr>
              <a:t>owning</a:t>
            </a:r>
            <a:r>
              <a:rPr sz="1000" spc="65">
                <a:latin typeface="Times New Roman"/>
                <a:cs typeface="Times New Roman"/>
              </a:rPr>
              <a:t> </a:t>
            </a:r>
            <a:r>
              <a:rPr sz="1000">
                <a:latin typeface="Times New Roman"/>
                <a:cs typeface="Times New Roman"/>
              </a:rPr>
              <a:t>shares</a:t>
            </a:r>
            <a:r>
              <a:rPr sz="1000" spc="70">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which</a:t>
            </a:r>
            <a:r>
              <a:rPr sz="1000" spc="80">
                <a:latin typeface="Times New Roman"/>
                <a:cs typeface="Times New Roman"/>
              </a:rPr>
              <a:t> </a:t>
            </a:r>
            <a:r>
              <a:rPr sz="1000">
                <a:latin typeface="Times New Roman"/>
                <a:cs typeface="Times New Roman"/>
              </a:rPr>
              <a:t>dividend</a:t>
            </a:r>
            <a:r>
              <a:rPr sz="1000" spc="65">
                <a:latin typeface="Times New Roman"/>
                <a:cs typeface="Times New Roman"/>
              </a:rPr>
              <a:t> </a:t>
            </a:r>
            <a:r>
              <a:rPr sz="1000">
                <a:latin typeface="Times New Roman"/>
                <a:cs typeface="Times New Roman"/>
              </a:rPr>
              <a:t>companies</a:t>
            </a:r>
            <a:r>
              <a:rPr sz="1000" spc="70">
                <a:latin typeface="Times New Roman"/>
                <a:cs typeface="Times New Roman"/>
              </a:rPr>
              <a:t> </a:t>
            </a:r>
            <a:r>
              <a:rPr sz="1000">
                <a:latin typeface="Times New Roman"/>
                <a:cs typeface="Times New Roman"/>
              </a:rPr>
              <a:t>is</a:t>
            </a:r>
            <a:r>
              <a:rPr sz="1000" spc="80">
                <a:latin typeface="Times New Roman"/>
                <a:cs typeface="Times New Roman"/>
              </a:rPr>
              <a:t> </a:t>
            </a:r>
            <a:r>
              <a:rPr sz="1000">
                <a:latin typeface="Times New Roman"/>
                <a:cs typeface="Times New Roman"/>
              </a:rPr>
              <a:t>most beneficial</a:t>
            </a:r>
            <a:r>
              <a:rPr sz="1000" spc="75">
                <a:latin typeface="Times New Roman"/>
                <a:cs typeface="Times New Roman"/>
              </a:rPr>
              <a:t> </a:t>
            </a:r>
            <a:r>
              <a:rPr sz="1000">
                <a:latin typeface="Times New Roman"/>
                <a:cs typeface="Times New Roman"/>
              </a:rPr>
              <a:t>for</a:t>
            </a:r>
            <a:r>
              <a:rPr sz="1000" spc="65">
                <a:latin typeface="Times New Roman"/>
                <a:cs typeface="Times New Roman"/>
              </a:rPr>
              <a:t> </a:t>
            </a:r>
            <a:r>
              <a:rPr sz="1000">
                <a:latin typeface="Times New Roman"/>
                <a:cs typeface="Times New Roman"/>
              </a:rPr>
              <a:t>a</a:t>
            </a:r>
            <a:r>
              <a:rPr sz="1000" spc="75">
                <a:latin typeface="Times New Roman"/>
                <a:cs typeface="Times New Roman"/>
              </a:rPr>
              <a:t> </a:t>
            </a:r>
            <a:r>
              <a:rPr sz="1000">
                <a:latin typeface="Times New Roman"/>
                <a:cs typeface="Times New Roman"/>
              </a:rPr>
              <a:t>stock</a:t>
            </a:r>
            <a:r>
              <a:rPr sz="1000" spc="145">
                <a:latin typeface="Times New Roman"/>
                <a:cs typeface="Times New Roman"/>
              </a:rPr>
              <a:t> </a:t>
            </a:r>
            <a:r>
              <a:rPr sz="1000">
                <a:latin typeface="Times New Roman"/>
                <a:cs typeface="Times New Roman"/>
              </a:rPr>
              <a:t>market</a:t>
            </a:r>
            <a:endParaRPr/>
          </a:p>
          <a:p>
            <a:pPr marL="12700">
              <a:lnSpc>
                <a:spcPts val="1145"/>
              </a:lnSpc>
            </a:pPr>
            <a:r>
              <a:rPr sz="1000">
                <a:latin typeface="Times New Roman"/>
                <a:cs typeface="Times New Roman"/>
              </a:rPr>
              <a:t>investor?</a:t>
            </a:r>
            <a:endParaRPr/>
          </a:p>
          <a:p>
            <a:pPr marL="192405" algn="just">
              <a:lnSpc>
                <a:spcPts val="1155"/>
              </a:lnSpc>
            </a:pPr>
            <a:r>
              <a:rPr sz="1000">
                <a:latin typeface="Times New Roman"/>
                <a:cs typeface="Times New Roman"/>
              </a:rPr>
              <a:t>Then</a:t>
            </a:r>
            <a:r>
              <a:rPr sz="1000" spc="5">
                <a:latin typeface="Times New Roman"/>
                <a:cs typeface="Times New Roman"/>
              </a:rPr>
              <a:t>,</a:t>
            </a:r>
            <a:r>
              <a:rPr sz="1000" spc="16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following</a:t>
            </a:r>
            <a:r>
              <a:rPr sz="1000" spc="180">
                <a:latin typeface="Times New Roman"/>
                <a:cs typeface="Times New Roman"/>
              </a:rPr>
              <a:t> </a:t>
            </a:r>
            <a:r>
              <a:rPr sz="1000">
                <a:latin typeface="Times New Roman"/>
                <a:cs typeface="Times New Roman"/>
              </a:rPr>
              <a:t>hypothesis</a:t>
            </a:r>
            <a:r>
              <a:rPr sz="1000" spc="185">
                <a:latin typeface="Times New Roman"/>
                <a:cs typeface="Times New Roman"/>
              </a:rPr>
              <a:t> </a:t>
            </a:r>
            <a:r>
              <a:rPr sz="1000" spc="-10">
                <a:latin typeface="Times New Roman"/>
                <a:cs typeface="Times New Roman"/>
              </a:rPr>
              <a:t>wa</a:t>
            </a:r>
            <a:r>
              <a:rPr sz="1000">
                <a:latin typeface="Times New Roman"/>
                <a:cs typeface="Times New Roman"/>
              </a:rPr>
              <a:t>s</a:t>
            </a:r>
            <a:r>
              <a:rPr sz="1000" spc="180">
                <a:latin typeface="Times New Roman"/>
                <a:cs typeface="Times New Roman"/>
              </a:rPr>
              <a:t> </a:t>
            </a:r>
            <a:r>
              <a:rPr sz="1000">
                <a:latin typeface="Times New Roman"/>
                <a:cs typeface="Times New Roman"/>
              </a:rPr>
              <a:t>formulated:</a:t>
            </a:r>
            <a:r>
              <a:rPr sz="1000" spc="180">
                <a:latin typeface="Times New Roman"/>
                <a:cs typeface="Times New Roman"/>
              </a:rPr>
              <a:t> </a:t>
            </a:r>
            <a:r>
              <a:rPr sz="1000">
                <a:latin typeface="Times New Roman"/>
                <a:cs typeface="Times New Roman"/>
              </a:rPr>
              <a:t>when</a:t>
            </a:r>
            <a:r>
              <a:rPr sz="1000" spc="175">
                <a:latin typeface="Times New Roman"/>
                <a:cs typeface="Times New Roman"/>
              </a:rPr>
              <a:t> </a:t>
            </a:r>
            <a:r>
              <a:rPr sz="1000">
                <a:latin typeface="Times New Roman"/>
                <a:cs typeface="Times New Roman"/>
              </a:rPr>
              <a:t>investing</a:t>
            </a:r>
            <a:r>
              <a:rPr sz="1000" spc="165">
                <a:latin typeface="Times New Roman"/>
                <a:cs typeface="Times New Roman"/>
              </a:rPr>
              <a:t> </a:t>
            </a:r>
            <a:r>
              <a:rPr sz="1000">
                <a:latin typeface="Times New Roman"/>
                <a:cs typeface="Times New Roman"/>
              </a:rPr>
              <a:t>in</a:t>
            </a:r>
            <a:r>
              <a:rPr sz="1000" spc="165">
                <a:latin typeface="Times New Roman"/>
                <a:cs typeface="Times New Roman"/>
              </a:rPr>
              <a:t> </a:t>
            </a:r>
            <a:r>
              <a:rPr sz="1000">
                <a:latin typeface="Times New Roman"/>
                <a:cs typeface="Times New Roman"/>
              </a:rPr>
              <a:t>dividend,</a:t>
            </a:r>
            <a:r>
              <a:rPr sz="1000" spc="170">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most</a:t>
            </a:r>
            <a:r>
              <a:rPr sz="1000" spc="180">
                <a:latin typeface="Times New Roman"/>
                <a:cs typeface="Times New Roman"/>
              </a:rPr>
              <a:t> </a:t>
            </a:r>
            <a:r>
              <a:rPr sz="1000">
                <a:latin typeface="Times New Roman"/>
                <a:cs typeface="Times New Roman"/>
              </a:rPr>
              <a:t>attractive</a:t>
            </a:r>
            <a:r>
              <a:rPr sz="1000" spc="185">
                <a:latin typeface="Times New Roman"/>
                <a:cs typeface="Times New Roman"/>
              </a:rPr>
              <a:t> </a:t>
            </a:r>
            <a:r>
              <a:rPr sz="1000">
                <a:latin typeface="Times New Roman"/>
                <a:cs typeface="Times New Roman"/>
              </a:rPr>
              <a:t>investments</a:t>
            </a:r>
            <a:r>
              <a:rPr sz="1000" spc="165">
                <a:latin typeface="Times New Roman"/>
                <a:cs typeface="Times New Roman"/>
              </a:rPr>
              <a:t> </a:t>
            </a:r>
            <a:r>
              <a:rPr sz="1000">
                <a:latin typeface="Times New Roman"/>
                <a:cs typeface="Times New Roman"/>
              </a:rPr>
              <a:t>are</a:t>
            </a:r>
            <a:r>
              <a:rPr sz="1000" spc="170">
                <a:latin typeface="Times New Roman"/>
                <a:cs typeface="Times New Roman"/>
              </a:rPr>
              <a:t> </a:t>
            </a:r>
            <a:r>
              <a:rPr sz="1000">
                <a:latin typeface="Times New Roman"/>
                <a:cs typeface="Times New Roman"/>
              </a:rPr>
              <a:t>those</a:t>
            </a:r>
            <a:endParaRPr/>
          </a:p>
          <a:p>
            <a:pPr marL="12700" algn="just">
              <a:lnSpc>
                <a:spcPts val="1155"/>
              </a:lnSpc>
            </a:pPr>
            <a:r>
              <a:rPr sz="1000">
                <a:latin typeface="Times New Roman"/>
                <a:cs typeface="Times New Roman"/>
              </a:rPr>
              <a:t>companies in which the most shares are held by institutional investors and the State Treasury.</a:t>
            </a:r>
            <a:endParaRPr/>
          </a:p>
          <a:p>
            <a:pPr marL="140970" indent="-128270">
              <a:spcBef>
                <a:spcPts val="1100"/>
              </a:spcBef>
              <a:tabLst>
                <a:tab pos="140970" algn="l"/>
              </a:tabLst>
            </a:pPr>
            <a:r>
              <a:rPr sz="1000" b="1">
                <a:latin typeface="Times New Roman"/>
                <a:cs typeface="Times New Roman"/>
              </a:rPr>
              <a:t>4.</a:t>
            </a:r>
            <a:r>
              <a:rPr sz="1000" b="1">
                <a:latin typeface="Times New Roman"/>
                <a:cs typeface="Times New Roman"/>
              </a:rPr>
              <a:t>	</a:t>
            </a:r>
            <a:r>
              <a:rPr sz="1000" b="1">
                <a:latin typeface="Times New Roman"/>
                <a:cs typeface="Times New Roman"/>
              </a:rPr>
              <a:t>Research methodology and methods</a:t>
            </a:r>
            <a:endParaRPr/>
          </a:p>
          <a:p>
            <a:pPr marL="12700" marR="15240" indent="179705" algn="just">
              <a:lnSpc>
                <a:spcPct val="95862"/>
              </a:lnSpc>
              <a:spcBef>
                <a:spcPts val="1100"/>
              </a:spcBef>
            </a:pPr>
            <a:r>
              <a:rPr sz="1000">
                <a:latin typeface="Times New Roman"/>
                <a:cs typeface="Times New Roman"/>
              </a:rPr>
              <a:t>The research was carried out among the Polish joint-stock companies that were listed on the Warsaw Stock Exchange (WSE) in the period between 2005–2019. In order to achieve the aim of the article, only non-financial companies that were regular dividend payers were included in the research sample. This means that the study was conducted on those companies that paid out dividend at least three times in five consecutive years. Moreover, the condition for including the company in the research sample was obtaining all data required for analysis. The adopted criteria were met by </a:t>
            </a:r>
            <a:r>
              <a:rPr sz="1000" spc="5">
                <a:latin typeface="Times New Roman"/>
                <a:cs typeface="Times New Roman"/>
              </a:rPr>
              <a:t>127 </a:t>
            </a:r>
            <a:r>
              <a:rPr sz="1000">
                <a:latin typeface="Times New Roman"/>
                <a:cs typeface="Times New Roman"/>
              </a:rPr>
              <a:t>companies.</a:t>
            </a:r>
            <a:endParaRPr/>
          </a:p>
          <a:p>
            <a:pPr marL="192405" algn="just">
              <a:lnSpc>
                <a:spcPts val="1190"/>
              </a:lnSpc>
            </a:pPr>
            <a:r>
              <a:rPr sz="1000">
                <a:latin typeface="Times New Roman"/>
                <a:cs typeface="Times New Roman"/>
              </a:rPr>
              <a:t>In order to answer the research questions and to verify the research hypothesis stating that when investing in dividend, the</a:t>
            </a:r>
            <a:endParaRPr/>
          </a:p>
          <a:p>
            <a:pPr marL="12700" algn="just">
              <a:lnSpc>
                <a:spcPts val="1145"/>
              </a:lnSpc>
            </a:pPr>
            <a:r>
              <a:rPr sz="1000">
                <a:latin typeface="Times New Roman"/>
                <a:cs typeface="Times New Roman"/>
              </a:rPr>
              <a:t>most</a:t>
            </a:r>
            <a:r>
              <a:rPr sz="1000" spc="145">
                <a:latin typeface="Times New Roman"/>
                <a:cs typeface="Times New Roman"/>
              </a:rPr>
              <a:t> </a:t>
            </a:r>
            <a:r>
              <a:rPr sz="1000">
                <a:latin typeface="Times New Roman"/>
                <a:cs typeface="Times New Roman"/>
              </a:rPr>
              <a:t>attractive</a:t>
            </a:r>
            <a:r>
              <a:rPr sz="1000" spc="145">
                <a:latin typeface="Times New Roman"/>
                <a:cs typeface="Times New Roman"/>
              </a:rPr>
              <a:t> </a:t>
            </a:r>
            <a:r>
              <a:rPr sz="1000">
                <a:latin typeface="Times New Roman"/>
                <a:cs typeface="Times New Roman"/>
              </a:rPr>
              <a:t>investments</a:t>
            </a:r>
            <a:r>
              <a:rPr sz="1000" spc="140">
                <a:latin typeface="Times New Roman"/>
                <a:cs typeface="Times New Roman"/>
              </a:rPr>
              <a:t> </a:t>
            </a:r>
            <a:r>
              <a:rPr sz="1000">
                <a:latin typeface="Times New Roman"/>
                <a:cs typeface="Times New Roman"/>
              </a:rPr>
              <a:t>are</a:t>
            </a:r>
            <a:r>
              <a:rPr sz="1000" spc="145">
                <a:latin typeface="Times New Roman"/>
                <a:cs typeface="Times New Roman"/>
              </a:rPr>
              <a:t> </a:t>
            </a:r>
            <a:r>
              <a:rPr sz="1000">
                <a:latin typeface="Times New Roman"/>
                <a:cs typeface="Times New Roman"/>
              </a:rPr>
              <a:t>those</a:t>
            </a:r>
            <a:r>
              <a:rPr sz="1000" spc="145">
                <a:latin typeface="Times New Roman"/>
                <a:cs typeface="Times New Roman"/>
              </a:rPr>
              <a:t> </a:t>
            </a:r>
            <a:r>
              <a:rPr sz="1000">
                <a:latin typeface="Times New Roman"/>
                <a:cs typeface="Times New Roman"/>
              </a:rPr>
              <a:t>companies</a:t>
            </a:r>
            <a:r>
              <a:rPr sz="1000" spc="140">
                <a:latin typeface="Times New Roman"/>
                <a:cs typeface="Times New Roman"/>
              </a:rPr>
              <a:t> </a:t>
            </a:r>
            <a:r>
              <a:rPr sz="1000">
                <a:latin typeface="Times New Roman"/>
                <a:cs typeface="Times New Roman"/>
              </a:rPr>
              <a:t>in</a:t>
            </a:r>
            <a:r>
              <a:rPr sz="1000" spc="150">
                <a:latin typeface="Times New Roman"/>
                <a:cs typeface="Times New Roman"/>
              </a:rPr>
              <a:t> </a:t>
            </a:r>
            <a:r>
              <a:rPr sz="1000">
                <a:latin typeface="Times New Roman"/>
                <a:cs typeface="Times New Roman"/>
              </a:rPr>
              <a:t>which</a:t>
            </a:r>
            <a:r>
              <a:rPr sz="1000" spc="150">
                <a:latin typeface="Times New Roman"/>
                <a:cs typeface="Times New Roman"/>
              </a:rPr>
              <a:t> </a:t>
            </a:r>
            <a:r>
              <a:rPr sz="1000">
                <a:latin typeface="Times New Roman"/>
                <a:cs typeface="Times New Roman"/>
              </a:rPr>
              <a:t>the</a:t>
            </a:r>
            <a:r>
              <a:rPr sz="1000" spc="160">
                <a:latin typeface="Times New Roman"/>
                <a:cs typeface="Times New Roman"/>
              </a:rPr>
              <a:t> </a:t>
            </a:r>
            <a:r>
              <a:rPr sz="1000">
                <a:latin typeface="Times New Roman"/>
                <a:cs typeface="Times New Roman"/>
              </a:rPr>
              <a:t>most</a:t>
            </a:r>
            <a:r>
              <a:rPr sz="1000" spc="145">
                <a:latin typeface="Times New Roman"/>
                <a:cs typeface="Times New Roman"/>
              </a:rPr>
              <a:t> </a:t>
            </a:r>
            <a:r>
              <a:rPr sz="1000">
                <a:latin typeface="Times New Roman"/>
                <a:cs typeface="Times New Roman"/>
              </a:rPr>
              <a:t>shares</a:t>
            </a:r>
            <a:r>
              <a:rPr sz="1000" spc="140">
                <a:latin typeface="Times New Roman"/>
                <a:cs typeface="Times New Roman"/>
              </a:rPr>
              <a:t> </a:t>
            </a:r>
            <a:r>
              <a:rPr sz="1000">
                <a:latin typeface="Times New Roman"/>
                <a:cs typeface="Times New Roman"/>
              </a:rPr>
              <a:t>are</a:t>
            </a:r>
            <a:r>
              <a:rPr sz="1000" spc="145">
                <a:latin typeface="Times New Roman"/>
                <a:cs typeface="Times New Roman"/>
              </a:rPr>
              <a:t> </a:t>
            </a:r>
            <a:r>
              <a:rPr sz="1000">
                <a:latin typeface="Times New Roman"/>
                <a:cs typeface="Times New Roman"/>
              </a:rPr>
              <a:t>held</a:t>
            </a:r>
            <a:r>
              <a:rPr sz="1000" spc="150">
                <a:latin typeface="Times New Roman"/>
                <a:cs typeface="Times New Roman"/>
              </a:rPr>
              <a:t> </a:t>
            </a:r>
            <a:r>
              <a:rPr sz="1000">
                <a:latin typeface="Times New Roman"/>
                <a:cs typeface="Times New Roman"/>
              </a:rPr>
              <a:t>by</a:t>
            </a:r>
            <a:r>
              <a:rPr sz="1000" spc="140">
                <a:latin typeface="Times New Roman"/>
                <a:cs typeface="Times New Roman"/>
              </a:rPr>
              <a:t> </a:t>
            </a:r>
            <a:r>
              <a:rPr sz="1000">
                <a:latin typeface="Times New Roman"/>
                <a:cs typeface="Times New Roman"/>
              </a:rPr>
              <a:t>institutional</a:t>
            </a:r>
            <a:r>
              <a:rPr sz="1000" spc="145">
                <a:latin typeface="Times New Roman"/>
                <a:cs typeface="Times New Roman"/>
              </a:rPr>
              <a:t> </a:t>
            </a:r>
            <a:r>
              <a:rPr sz="1000">
                <a:latin typeface="Times New Roman"/>
                <a:cs typeface="Times New Roman"/>
              </a:rPr>
              <a:t>investors</a:t>
            </a:r>
            <a:r>
              <a:rPr sz="1000" spc="140">
                <a:latin typeface="Times New Roman"/>
                <a:cs typeface="Times New Roman"/>
              </a:rPr>
              <a:t> </a:t>
            </a:r>
            <a:r>
              <a:rPr sz="1000">
                <a:latin typeface="Times New Roman"/>
                <a:cs typeface="Times New Roman"/>
              </a:rPr>
              <a:t>and</a:t>
            </a:r>
            <a:r>
              <a:rPr sz="1000" spc="150">
                <a:latin typeface="Times New Roman"/>
                <a:cs typeface="Times New Roman"/>
              </a:rPr>
              <a:t> </a:t>
            </a:r>
            <a:r>
              <a:rPr sz="1000">
                <a:latin typeface="Times New Roman"/>
                <a:cs typeface="Times New Roman"/>
              </a:rPr>
              <a:t>the</a:t>
            </a:r>
            <a:r>
              <a:rPr sz="1000" spc="145">
                <a:latin typeface="Times New Roman"/>
                <a:cs typeface="Times New Roman"/>
              </a:rPr>
              <a:t> </a:t>
            </a:r>
            <a:r>
              <a:rPr sz="1000">
                <a:latin typeface="Times New Roman"/>
                <a:cs typeface="Times New Roman"/>
              </a:rPr>
              <a:t>State</a:t>
            </a:r>
            <a:endParaRPr/>
          </a:p>
          <a:p>
            <a:pPr marL="12700" algn="just">
              <a:lnSpc>
                <a:spcPts val="1155"/>
              </a:lnSpc>
            </a:pPr>
            <a:r>
              <a:rPr sz="1000">
                <a:latin typeface="Times New Roman"/>
                <a:cs typeface="Times New Roman"/>
              </a:rPr>
              <a:t>Treasury,</a:t>
            </a:r>
            <a:r>
              <a:rPr sz="1000" spc="85">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calculation</a:t>
            </a:r>
            <a:r>
              <a:rPr sz="1000" spc="80">
                <a:latin typeface="Times New Roman"/>
                <a:cs typeface="Times New Roman"/>
              </a:rPr>
              <a:t> </a:t>
            </a:r>
            <a:r>
              <a:rPr sz="1000">
                <a:latin typeface="Times New Roman"/>
                <a:cs typeface="Times New Roman"/>
              </a:rPr>
              <a:t>process</a:t>
            </a:r>
            <a:r>
              <a:rPr sz="1000" spc="95">
                <a:latin typeface="Times New Roman"/>
                <a:cs typeface="Times New Roman"/>
              </a:rPr>
              <a:t> </a:t>
            </a:r>
            <a:r>
              <a:rPr sz="1000">
                <a:latin typeface="Times New Roman"/>
                <a:cs typeface="Times New Roman"/>
              </a:rPr>
              <a:t>was</a:t>
            </a:r>
            <a:r>
              <a:rPr sz="1000" spc="80">
                <a:latin typeface="Times New Roman"/>
                <a:cs typeface="Times New Roman"/>
              </a:rPr>
              <a:t> </a:t>
            </a:r>
            <a:r>
              <a:rPr sz="1000">
                <a:latin typeface="Times New Roman"/>
                <a:cs typeface="Times New Roman"/>
              </a:rPr>
              <a:t>composed</a:t>
            </a:r>
            <a:r>
              <a:rPr sz="1000" spc="115">
                <a:latin typeface="Times New Roman"/>
                <a:cs typeface="Times New Roman"/>
              </a:rPr>
              <a:t> </a:t>
            </a:r>
            <a:r>
              <a:rPr sz="1000">
                <a:latin typeface="Times New Roman"/>
                <a:cs typeface="Times New Roman"/>
              </a:rPr>
              <a:t>of</a:t>
            </a:r>
            <a:r>
              <a:rPr sz="1000" spc="90">
                <a:latin typeface="Times New Roman"/>
                <a:cs typeface="Times New Roman"/>
              </a:rPr>
              <a:t> </a:t>
            </a:r>
            <a:r>
              <a:rPr sz="1000">
                <a:latin typeface="Times New Roman"/>
                <a:cs typeface="Times New Roman"/>
              </a:rPr>
              <a:t>several</a:t>
            </a:r>
            <a:r>
              <a:rPr sz="1000" spc="100">
                <a:latin typeface="Times New Roman"/>
                <a:cs typeface="Times New Roman"/>
              </a:rPr>
              <a:t> </a:t>
            </a:r>
            <a:r>
              <a:rPr sz="1000">
                <a:latin typeface="Times New Roman"/>
                <a:cs typeface="Times New Roman"/>
              </a:rPr>
              <a:t>steps.</a:t>
            </a:r>
            <a:r>
              <a:rPr sz="1000" spc="85">
                <a:latin typeface="Times New Roman"/>
                <a:cs typeface="Times New Roman"/>
              </a:rPr>
              <a:t> </a:t>
            </a:r>
            <a:r>
              <a:rPr sz="1000">
                <a:latin typeface="Times New Roman"/>
                <a:cs typeface="Times New Roman"/>
              </a:rPr>
              <a:t>Firstly,</a:t>
            </a:r>
            <a:r>
              <a:rPr sz="1000" spc="85">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companies</a:t>
            </a:r>
            <a:r>
              <a:rPr sz="1000" spc="95">
                <a:latin typeface="Times New Roman"/>
                <a:cs typeface="Times New Roman"/>
              </a:rPr>
              <a:t> </a:t>
            </a:r>
            <a:r>
              <a:rPr sz="1000">
                <a:latin typeface="Times New Roman"/>
                <a:cs typeface="Times New Roman"/>
              </a:rPr>
              <a:t>were</a:t>
            </a:r>
            <a:r>
              <a:rPr sz="1000" spc="85">
                <a:latin typeface="Times New Roman"/>
                <a:cs typeface="Times New Roman"/>
              </a:rPr>
              <a:t> </a:t>
            </a:r>
            <a:r>
              <a:rPr sz="1000">
                <a:latin typeface="Times New Roman"/>
                <a:cs typeface="Times New Roman"/>
              </a:rPr>
              <a:t>categorized</a:t>
            </a:r>
            <a:r>
              <a:rPr sz="1000" spc="90">
                <a:latin typeface="Times New Roman"/>
                <a:cs typeface="Times New Roman"/>
              </a:rPr>
              <a:t> </a:t>
            </a:r>
            <a:r>
              <a:rPr sz="1000">
                <a:latin typeface="Times New Roman"/>
                <a:cs typeface="Times New Roman"/>
              </a:rPr>
              <a:t>according</a:t>
            </a:r>
            <a:r>
              <a:rPr sz="1000" spc="80">
                <a:latin typeface="Times New Roman"/>
                <a:cs typeface="Times New Roman"/>
              </a:rPr>
              <a:t> </a:t>
            </a:r>
            <a:r>
              <a:rPr sz="1000">
                <a:latin typeface="Times New Roman"/>
                <a:cs typeface="Times New Roman"/>
              </a:rPr>
              <a:t>to</a:t>
            </a:r>
            <a:r>
              <a:rPr sz="1000" spc="90">
                <a:latin typeface="Times New Roman"/>
                <a:cs typeface="Times New Roman"/>
              </a:rPr>
              <a:t> </a:t>
            </a:r>
            <a:r>
              <a:rPr sz="1000">
                <a:latin typeface="Times New Roman"/>
                <a:cs typeface="Times New Roman"/>
              </a:rPr>
              <a:t>basic</a:t>
            </a:r>
            <a:endParaRPr/>
          </a:p>
          <a:p>
            <a:pPr marL="12700" algn="just">
              <a:lnSpc>
                <a:spcPts val="1150"/>
              </a:lnSpc>
            </a:pPr>
            <a:r>
              <a:rPr sz="1000">
                <a:latin typeface="Times New Roman"/>
                <a:cs typeface="Times New Roman"/>
              </a:rPr>
              <a:t>types of the first largest shareholders (i.e., institutional investor, manager, the State Treasury, natural person and legal person).</a:t>
            </a:r>
            <a:endParaRPr/>
          </a:p>
          <a:p>
            <a:pPr marL="12700" algn="just">
              <a:lnSpc>
                <a:spcPts val="1140"/>
              </a:lnSpc>
            </a:pPr>
            <a:r>
              <a:rPr sz="1000">
                <a:latin typeface="Times New Roman"/>
                <a:cs typeface="Times New Roman"/>
              </a:rPr>
              <a:t>Secondly,</a:t>
            </a:r>
            <a:r>
              <a:rPr sz="1000" spc="160">
                <a:latin typeface="Times New Roman"/>
                <a:cs typeface="Times New Roman"/>
              </a:rPr>
              <a:t> </a:t>
            </a:r>
            <a:r>
              <a:rPr sz="1000">
                <a:latin typeface="Times New Roman"/>
                <a:cs typeface="Times New Roman"/>
              </a:rPr>
              <a:t>t</a:t>
            </a:r>
            <a:r>
              <a:rPr sz="1000" spc="15">
                <a:latin typeface="Times New Roman"/>
                <a:cs typeface="Times New Roman"/>
              </a:rPr>
              <a:t>en</a:t>
            </a:r>
            <a:r>
              <a:rPr sz="1000" spc="135">
                <a:latin typeface="Times New Roman"/>
                <a:cs typeface="Times New Roman"/>
              </a:rPr>
              <a:t> </a:t>
            </a:r>
            <a:r>
              <a:rPr sz="1000">
                <a:latin typeface="Times New Roman"/>
                <a:cs typeface="Times New Roman"/>
              </a:rPr>
              <a:t>financial</a:t>
            </a:r>
            <a:r>
              <a:rPr sz="1000" spc="160">
                <a:latin typeface="Times New Roman"/>
                <a:cs typeface="Times New Roman"/>
              </a:rPr>
              <a:t> </a:t>
            </a:r>
            <a:r>
              <a:rPr sz="1000">
                <a:latin typeface="Times New Roman"/>
                <a:cs typeface="Times New Roman"/>
              </a:rPr>
              <a:t>indicators</a:t>
            </a:r>
            <a:r>
              <a:rPr sz="1000" spc="165">
                <a:latin typeface="Times New Roman"/>
                <a:cs typeface="Times New Roman"/>
              </a:rPr>
              <a:t> </a:t>
            </a:r>
            <a:r>
              <a:rPr sz="1000">
                <a:latin typeface="Times New Roman"/>
                <a:cs typeface="Times New Roman"/>
              </a:rPr>
              <a:t>were</a:t>
            </a:r>
            <a:r>
              <a:rPr sz="1000" spc="170">
                <a:latin typeface="Times New Roman"/>
                <a:cs typeface="Times New Roman"/>
              </a:rPr>
              <a:t> </a:t>
            </a:r>
            <a:r>
              <a:rPr sz="1000">
                <a:latin typeface="Times New Roman"/>
                <a:cs typeface="Times New Roman"/>
              </a:rPr>
              <a:t>selected</a:t>
            </a:r>
            <a:r>
              <a:rPr sz="1000" spc="165">
                <a:latin typeface="Times New Roman"/>
                <a:cs typeface="Times New Roman"/>
              </a:rPr>
              <a:t> </a:t>
            </a:r>
            <a:r>
              <a:rPr sz="1000">
                <a:latin typeface="Times New Roman"/>
                <a:cs typeface="Times New Roman"/>
              </a:rPr>
              <a:t>to</a:t>
            </a:r>
            <a:r>
              <a:rPr sz="1000" spc="160">
                <a:latin typeface="Times New Roman"/>
                <a:cs typeface="Times New Roman"/>
              </a:rPr>
              <a:t> </a:t>
            </a:r>
            <a:r>
              <a:rPr sz="1000">
                <a:latin typeface="Times New Roman"/>
                <a:cs typeface="Times New Roman"/>
              </a:rPr>
              <a:t>determine</a:t>
            </a:r>
            <a:r>
              <a:rPr sz="1000" spc="160">
                <a:latin typeface="Times New Roman"/>
                <a:cs typeface="Times New Roman"/>
              </a:rPr>
              <a:t> </a:t>
            </a:r>
            <a:r>
              <a:rPr sz="1000">
                <a:latin typeface="Times New Roman"/>
                <a:cs typeface="Times New Roman"/>
              </a:rPr>
              <a:t>the</a:t>
            </a:r>
            <a:r>
              <a:rPr sz="1000" spc="160">
                <a:latin typeface="Times New Roman"/>
                <a:cs typeface="Times New Roman"/>
              </a:rPr>
              <a:t> </a:t>
            </a:r>
            <a:r>
              <a:rPr sz="1000">
                <a:latin typeface="Times New Roman"/>
                <a:cs typeface="Times New Roman"/>
              </a:rPr>
              <a:t>synthetic</a:t>
            </a:r>
            <a:r>
              <a:rPr sz="1000" spc="185">
                <a:latin typeface="Times New Roman"/>
                <a:cs typeface="Times New Roman"/>
              </a:rPr>
              <a:t> </a:t>
            </a:r>
            <a:r>
              <a:rPr sz="1000">
                <a:latin typeface="Times New Roman"/>
                <a:cs typeface="Times New Roman"/>
              </a:rPr>
              <a:t>indicator</a:t>
            </a:r>
            <a:r>
              <a:rPr sz="1000" spc="165">
                <a:latin typeface="Times New Roman"/>
                <a:cs typeface="Times New Roman"/>
              </a:rPr>
              <a:t> </a:t>
            </a:r>
            <a:r>
              <a:rPr sz="1000">
                <a:latin typeface="Times New Roman"/>
                <a:cs typeface="Times New Roman"/>
              </a:rPr>
              <a:t>of</a:t>
            </a:r>
            <a:r>
              <a:rPr sz="1000" spc="150">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attractiveness</a:t>
            </a:r>
            <a:r>
              <a:rPr sz="1000" spc="155">
                <a:latin typeface="Times New Roman"/>
                <a:cs typeface="Times New Roman"/>
              </a:rPr>
              <a:t> </a:t>
            </a:r>
            <a:r>
              <a:rPr sz="1000">
                <a:latin typeface="Times New Roman"/>
                <a:cs typeface="Times New Roman"/>
              </a:rPr>
              <a:t>of</a:t>
            </a:r>
            <a:r>
              <a:rPr sz="1000" spc="150">
                <a:latin typeface="Times New Roman"/>
                <a:cs typeface="Times New Roman"/>
              </a:rPr>
              <a:t> </a:t>
            </a:r>
            <a:r>
              <a:rPr sz="1000">
                <a:latin typeface="Times New Roman"/>
                <a:cs typeface="Times New Roman"/>
              </a:rPr>
              <a:t>investment</a:t>
            </a:r>
            <a:r>
              <a:rPr sz="1000" spc="165">
                <a:latin typeface="Times New Roman"/>
                <a:cs typeface="Times New Roman"/>
              </a:rPr>
              <a:t> </a:t>
            </a:r>
            <a:r>
              <a:rPr sz="1000">
                <a:latin typeface="Times New Roman"/>
                <a:cs typeface="Times New Roman"/>
              </a:rPr>
              <a:t>in</a:t>
            </a:r>
            <a:endParaRPr/>
          </a:p>
          <a:p>
            <a:pPr marL="12700" algn="just">
              <a:lnSpc>
                <a:spcPts val="1155"/>
              </a:lnSpc>
            </a:pPr>
            <a:r>
              <a:rPr sz="1000">
                <a:latin typeface="Times New Roman"/>
                <a:cs typeface="Times New Roman"/>
              </a:rPr>
              <a:t>shares</a:t>
            </a:r>
            <a:r>
              <a:rPr sz="1000" spc="205">
                <a:latin typeface="Times New Roman"/>
                <a:cs typeface="Times New Roman"/>
              </a:rPr>
              <a:t> </a:t>
            </a:r>
            <a:r>
              <a:rPr sz="1000">
                <a:latin typeface="Times New Roman"/>
                <a:cs typeface="Times New Roman"/>
              </a:rPr>
              <a:t>of</a:t>
            </a:r>
            <a:r>
              <a:rPr sz="1000" spc="195">
                <a:latin typeface="Times New Roman"/>
                <a:cs typeface="Times New Roman"/>
              </a:rPr>
              <a:t> </a:t>
            </a:r>
            <a:r>
              <a:rPr sz="1000">
                <a:latin typeface="Times New Roman"/>
                <a:cs typeface="Times New Roman"/>
              </a:rPr>
              <a:t>dividend</a:t>
            </a:r>
            <a:r>
              <a:rPr sz="1000" spc="220">
                <a:latin typeface="Times New Roman"/>
                <a:cs typeface="Times New Roman"/>
              </a:rPr>
              <a:t> </a:t>
            </a:r>
            <a:r>
              <a:rPr sz="1000">
                <a:latin typeface="Times New Roman"/>
                <a:cs typeface="Times New Roman"/>
              </a:rPr>
              <a:t>payers</a:t>
            </a:r>
            <a:r>
              <a:rPr sz="1000" spc="200">
                <a:latin typeface="Times New Roman"/>
                <a:cs typeface="Times New Roman"/>
              </a:rPr>
              <a:t> </a:t>
            </a:r>
            <a:r>
              <a:rPr sz="1000">
                <a:latin typeface="Times New Roman"/>
                <a:cs typeface="Times New Roman"/>
              </a:rPr>
              <a:t>relative</a:t>
            </a:r>
            <a:r>
              <a:rPr sz="1000" spc="205">
                <a:latin typeface="Times New Roman"/>
                <a:cs typeface="Times New Roman"/>
              </a:rPr>
              <a:t> </a:t>
            </a:r>
            <a:r>
              <a:rPr sz="1000">
                <a:latin typeface="Times New Roman"/>
                <a:cs typeface="Times New Roman"/>
              </a:rPr>
              <a:t>to</a:t>
            </a:r>
            <a:r>
              <a:rPr sz="1000" spc="209">
                <a:latin typeface="Times New Roman"/>
                <a:cs typeface="Times New Roman"/>
              </a:rPr>
              <a:t> </a:t>
            </a:r>
            <a:r>
              <a:rPr sz="1000">
                <a:latin typeface="Times New Roman"/>
                <a:cs typeface="Times New Roman"/>
              </a:rPr>
              <a:t>the</a:t>
            </a:r>
            <a:r>
              <a:rPr sz="1000" spc="220">
                <a:latin typeface="Times New Roman"/>
                <a:cs typeface="Times New Roman"/>
              </a:rPr>
              <a:t> </a:t>
            </a:r>
            <a:r>
              <a:rPr sz="1000">
                <a:latin typeface="Times New Roman"/>
                <a:cs typeface="Times New Roman"/>
              </a:rPr>
              <a:t>first</a:t>
            </a:r>
            <a:r>
              <a:rPr sz="1000" spc="205">
                <a:latin typeface="Times New Roman"/>
                <a:cs typeface="Times New Roman"/>
              </a:rPr>
              <a:t> </a:t>
            </a:r>
            <a:r>
              <a:rPr sz="1000">
                <a:latin typeface="Times New Roman"/>
                <a:cs typeface="Times New Roman"/>
              </a:rPr>
              <a:t>largest</a:t>
            </a:r>
            <a:r>
              <a:rPr sz="1000" spc="215">
                <a:latin typeface="Times New Roman"/>
                <a:cs typeface="Times New Roman"/>
              </a:rPr>
              <a:t> </a:t>
            </a:r>
            <a:r>
              <a:rPr sz="1000">
                <a:latin typeface="Times New Roman"/>
                <a:cs typeface="Times New Roman"/>
              </a:rPr>
              <a:t>shareholder</a:t>
            </a:r>
            <a:r>
              <a:rPr sz="1000" spc="209">
                <a:latin typeface="Times New Roman"/>
                <a:cs typeface="Times New Roman"/>
              </a:rPr>
              <a:t> </a:t>
            </a:r>
            <a:r>
              <a:rPr sz="1000">
                <a:latin typeface="Times New Roman"/>
                <a:cs typeface="Times New Roman"/>
              </a:rPr>
              <a:t>(i.e.,</a:t>
            </a:r>
            <a:r>
              <a:rPr sz="1000" spc="234">
                <a:latin typeface="Times New Roman"/>
                <a:cs typeface="Times New Roman"/>
              </a:rPr>
              <a:t> </a:t>
            </a:r>
            <a:r>
              <a:rPr sz="1000">
                <a:latin typeface="Times New Roman"/>
                <a:cs typeface="Times New Roman"/>
              </a:rPr>
              <a:t>dividend</a:t>
            </a:r>
            <a:r>
              <a:rPr sz="1000" spc="209">
                <a:latin typeface="Times New Roman"/>
                <a:cs typeface="Times New Roman"/>
              </a:rPr>
              <a:t> </a:t>
            </a:r>
            <a:r>
              <a:rPr sz="1000">
                <a:latin typeface="Times New Roman"/>
                <a:cs typeface="Times New Roman"/>
              </a:rPr>
              <a:t>payout</a:t>
            </a:r>
            <a:r>
              <a:rPr sz="1000" spc="205">
                <a:latin typeface="Times New Roman"/>
                <a:cs typeface="Times New Roman"/>
              </a:rPr>
              <a:t> </a:t>
            </a:r>
            <a:r>
              <a:rPr sz="1000">
                <a:latin typeface="Times New Roman"/>
                <a:cs typeface="Times New Roman"/>
              </a:rPr>
              <a:t>ratio</a:t>
            </a:r>
            <a:r>
              <a:rPr sz="1000" spc="225">
                <a:latin typeface="Times New Roman"/>
                <a:cs typeface="Times New Roman"/>
              </a:rPr>
              <a:t> </a:t>
            </a:r>
            <a:r>
              <a:rPr sz="1000">
                <a:latin typeface="Times New Roman"/>
                <a:cs typeface="Times New Roman"/>
              </a:rPr>
              <a:t>–</a:t>
            </a:r>
            <a:r>
              <a:rPr sz="1000" spc="209">
                <a:latin typeface="Times New Roman"/>
                <a:cs typeface="Times New Roman"/>
              </a:rPr>
              <a:t> </a:t>
            </a:r>
            <a:r>
              <a:rPr sz="1000" i="1">
                <a:latin typeface="Times New Roman"/>
                <a:cs typeface="Times New Roman"/>
              </a:rPr>
              <a:t>DivPay</a:t>
            </a:r>
            <a:r>
              <a:rPr sz="1000">
                <a:latin typeface="Times New Roman"/>
                <a:cs typeface="Times New Roman"/>
              </a:rPr>
              <a:t>;</a:t>
            </a:r>
            <a:r>
              <a:rPr sz="1000" spc="205">
                <a:latin typeface="Times New Roman"/>
                <a:cs typeface="Times New Roman"/>
              </a:rPr>
              <a:t> </a:t>
            </a:r>
            <a:r>
              <a:rPr sz="1000">
                <a:latin typeface="Times New Roman"/>
                <a:cs typeface="Times New Roman"/>
              </a:rPr>
              <a:t>dividend</a:t>
            </a:r>
            <a:r>
              <a:rPr sz="1000" spc="220">
                <a:latin typeface="Times New Roman"/>
                <a:cs typeface="Times New Roman"/>
              </a:rPr>
              <a:t> </a:t>
            </a:r>
            <a:r>
              <a:rPr sz="1000">
                <a:latin typeface="Times New Roman"/>
                <a:cs typeface="Times New Roman"/>
              </a:rPr>
              <a:t>yield –</a:t>
            </a:r>
            <a:endParaRPr/>
          </a:p>
          <a:p>
            <a:pPr marL="12700" algn="just">
              <a:lnSpc>
                <a:spcPts val="1150"/>
              </a:lnSpc>
            </a:pPr>
            <a:r>
              <a:rPr sz="1000" i="1">
                <a:latin typeface="Times New Roman"/>
                <a:cs typeface="Times New Roman"/>
              </a:rPr>
              <a:t>DivYield</a:t>
            </a:r>
            <a:r>
              <a:rPr sz="1000">
                <a:latin typeface="Times New Roman"/>
                <a:cs typeface="Times New Roman"/>
              </a:rPr>
              <a:t>; return on equity – </a:t>
            </a:r>
            <a:r>
              <a:rPr sz="1000" i="1">
                <a:latin typeface="Times New Roman"/>
                <a:cs typeface="Times New Roman"/>
              </a:rPr>
              <a:t>ReturnE</a:t>
            </a:r>
            <a:r>
              <a:rPr sz="1000">
                <a:latin typeface="Times New Roman"/>
                <a:cs typeface="Times New Roman"/>
              </a:rPr>
              <a:t>; return on assets – </a:t>
            </a:r>
            <a:r>
              <a:rPr sz="1000" i="1">
                <a:latin typeface="Times New Roman"/>
                <a:cs typeface="Times New Roman"/>
              </a:rPr>
              <a:t>ReturnA</a:t>
            </a:r>
            <a:r>
              <a:rPr sz="1000">
                <a:latin typeface="Times New Roman"/>
                <a:cs typeface="Times New Roman"/>
              </a:rPr>
              <a:t>; current ratio of financial liquidity – </a:t>
            </a:r>
            <a:r>
              <a:rPr sz="1000" i="1">
                <a:latin typeface="Times New Roman"/>
                <a:cs typeface="Times New Roman"/>
              </a:rPr>
              <a:t>Liquidi.C</a:t>
            </a:r>
            <a:r>
              <a:rPr sz="1000">
                <a:latin typeface="Times New Roman"/>
                <a:cs typeface="Times New Roman"/>
              </a:rPr>
              <a:t>; quick ratio of</a:t>
            </a:r>
            <a:endParaRPr/>
          </a:p>
          <a:p>
            <a:pPr marL="12700" algn="just">
              <a:lnSpc>
                <a:spcPts val="1150"/>
              </a:lnSpc>
            </a:pPr>
            <a:r>
              <a:rPr sz="1000">
                <a:latin typeface="Times New Roman"/>
                <a:cs typeface="Times New Roman"/>
              </a:rPr>
              <a:t>financial</a:t>
            </a:r>
            <a:r>
              <a:rPr sz="1000" spc="130">
                <a:latin typeface="Times New Roman"/>
                <a:cs typeface="Times New Roman"/>
              </a:rPr>
              <a:t> </a:t>
            </a:r>
            <a:r>
              <a:rPr sz="1000">
                <a:latin typeface="Times New Roman"/>
                <a:cs typeface="Times New Roman"/>
              </a:rPr>
              <a:t>liquidity</a:t>
            </a:r>
            <a:r>
              <a:rPr sz="1000" spc="125">
                <a:latin typeface="Times New Roman"/>
                <a:cs typeface="Times New Roman"/>
              </a:rPr>
              <a:t> </a:t>
            </a:r>
            <a:r>
              <a:rPr sz="1000">
                <a:latin typeface="Times New Roman"/>
                <a:cs typeface="Times New Roman"/>
              </a:rPr>
              <a:t>–</a:t>
            </a:r>
            <a:r>
              <a:rPr sz="1000" spc="150">
                <a:latin typeface="Times New Roman"/>
                <a:cs typeface="Times New Roman"/>
              </a:rPr>
              <a:t> </a:t>
            </a:r>
            <a:r>
              <a:rPr sz="1000" i="1">
                <a:latin typeface="Times New Roman"/>
                <a:cs typeface="Times New Roman"/>
              </a:rPr>
              <a:t>Liquid.Q</a:t>
            </a:r>
            <a:r>
              <a:rPr sz="1000">
                <a:latin typeface="Times New Roman"/>
                <a:cs typeface="Times New Roman"/>
              </a:rPr>
              <a:t>;</a:t>
            </a:r>
            <a:r>
              <a:rPr sz="1000" spc="135">
                <a:latin typeface="Times New Roman"/>
                <a:cs typeface="Times New Roman"/>
              </a:rPr>
              <a:t> </a:t>
            </a:r>
            <a:r>
              <a:rPr sz="1000">
                <a:latin typeface="Times New Roman"/>
                <a:cs typeface="Times New Roman"/>
              </a:rPr>
              <a:t>debt</a:t>
            </a:r>
            <a:r>
              <a:rPr sz="1000" spc="130">
                <a:latin typeface="Times New Roman"/>
                <a:cs typeface="Times New Roman"/>
              </a:rPr>
              <a:t> </a:t>
            </a:r>
            <a:r>
              <a:rPr sz="1000">
                <a:latin typeface="Times New Roman"/>
                <a:cs typeface="Times New Roman"/>
              </a:rPr>
              <a:t>ratio</a:t>
            </a:r>
            <a:r>
              <a:rPr sz="1000" spc="145">
                <a:latin typeface="Times New Roman"/>
                <a:cs typeface="Times New Roman"/>
              </a:rPr>
              <a:t> </a:t>
            </a:r>
            <a:r>
              <a:rPr sz="1000">
                <a:latin typeface="Times New Roman"/>
                <a:cs typeface="Times New Roman"/>
              </a:rPr>
              <a:t>–</a:t>
            </a:r>
            <a:r>
              <a:rPr sz="1000" spc="140">
                <a:latin typeface="Times New Roman"/>
                <a:cs typeface="Times New Roman"/>
              </a:rPr>
              <a:t> </a:t>
            </a:r>
            <a:r>
              <a:rPr sz="1000" i="1">
                <a:latin typeface="Times New Roman"/>
                <a:cs typeface="Times New Roman"/>
              </a:rPr>
              <a:t>Debt</a:t>
            </a:r>
            <a:r>
              <a:rPr sz="1000">
                <a:latin typeface="Times New Roman"/>
                <a:cs typeface="Times New Roman"/>
              </a:rPr>
              <a:t>;</a:t>
            </a:r>
            <a:r>
              <a:rPr sz="1000" spc="520">
                <a:latin typeface="Times New Roman"/>
                <a:cs typeface="Times New Roman"/>
              </a:rPr>
              <a:t> </a:t>
            </a:r>
            <a:r>
              <a:rPr sz="1000">
                <a:latin typeface="Times New Roman"/>
                <a:cs typeface="Times New Roman"/>
              </a:rPr>
              <a:t>debt</a:t>
            </a:r>
            <a:r>
              <a:rPr sz="1000" spc="130">
                <a:latin typeface="Times New Roman"/>
                <a:cs typeface="Times New Roman"/>
              </a:rPr>
              <a:t> </a:t>
            </a:r>
            <a:r>
              <a:rPr sz="1000">
                <a:latin typeface="Times New Roman"/>
                <a:cs typeface="Times New Roman"/>
              </a:rPr>
              <a:t>to</a:t>
            </a:r>
            <a:r>
              <a:rPr sz="1000" spc="135">
                <a:latin typeface="Times New Roman"/>
                <a:cs typeface="Times New Roman"/>
              </a:rPr>
              <a:t> </a:t>
            </a:r>
            <a:r>
              <a:rPr sz="1000">
                <a:latin typeface="Times New Roman"/>
                <a:cs typeface="Times New Roman"/>
              </a:rPr>
              <a:t>equity</a:t>
            </a:r>
            <a:r>
              <a:rPr sz="1000" spc="115">
                <a:latin typeface="Times New Roman"/>
                <a:cs typeface="Times New Roman"/>
              </a:rPr>
              <a:t> </a:t>
            </a:r>
            <a:r>
              <a:rPr sz="1000">
                <a:latin typeface="Times New Roman"/>
                <a:cs typeface="Times New Roman"/>
              </a:rPr>
              <a:t>ratio</a:t>
            </a:r>
            <a:r>
              <a:rPr sz="1000" spc="150">
                <a:latin typeface="Times New Roman"/>
                <a:cs typeface="Times New Roman"/>
              </a:rPr>
              <a:t> </a:t>
            </a:r>
            <a:r>
              <a:rPr sz="1000">
                <a:latin typeface="Times New Roman"/>
                <a:cs typeface="Times New Roman"/>
              </a:rPr>
              <a:t>–</a:t>
            </a:r>
            <a:r>
              <a:rPr sz="1000" spc="140">
                <a:latin typeface="Times New Roman"/>
                <a:cs typeface="Times New Roman"/>
              </a:rPr>
              <a:t> </a:t>
            </a:r>
            <a:r>
              <a:rPr sz="1000" i="1">
                <a:latin typeface="Times New Roman"/>
                <a:cs typeface="Times New Roman"/>
              </a:rPr>
              <a:t>Leverage</a:t>
            </a:r>
            <a:r>
              <a:rPr sz="1000">
                <a:latin typeface="Times New Roman"/>
                <a:cs typeface="Times New Roman"/>
              </a:rPr>
              <a:t>;</a:t>
            </a:r>
            <a:r>
              <a:rPr sz="1000" spc="140">
                <a:latin typeface="Times New Roman"/>
                <a:cs typeface="Times New Roman"/>
              </a:rPr>
              <a:t> </a:t>
            </a:r>
            <a:r>
              <a:rPr sz="1000">
                <a:latin typeface="Times New Roman"/>
                <a:cs typeface="Times New Roman"/>
              </a:rPr>
              <a:t>company’s</a:t>
            </a:r>
            <a:r>
              <a:rPr sz="1000" spc="140">
                <a:latin typeface="Times New Roman"/>
                <a:cs typeface="Times New Roman"/>
              </a:rPr>
              <a:t> </a:t>
            </a:r>
            <a:r>
              <a:rPr sz="1000">
                <a:latin typeface="Times New Roman"/>
                <a:cs typeface="Times New Roman"/>
              </a:rPr>
              <a:t>size</a:t>
            </a:r>
            <a:r>
              <a:rPr sz="1000" spc="140">
                <a:latin typeface="Times New Roman"/>
                <a:cs typeface="Times New Roman"/>
              </a:rPr>
              <a:t> </a:t>
            </a:r>
            <a:r>
              <a:rPr sz="1000">
                <a:latin typeface="Times New Roman"/>
                <a:cs typeface="Times New Roman"/>
              </a:rPr>
              <a:t>–</a:t>
            </a:r>
            <a:r>
              <a:rPr sz="1000" spc="140">
                <a:latin typeface="Times New Roman"/>
                <a:cs typeface="Times New Roman"/>
              </a:rPr>
              <a:t> </a:t>
            </a:r>
            <a:r>
              <a:rPr sz="1000" i="1">
                <a:latin typeface="Times New Roman"/>
                <a:cs typeface="Times New Roman"/>
              </a:rPr>
              <a:t>Size</a:t>
            </a:r>
            <a:r>
              <a:rPr sz="1000">
                <a:latin typeface="Times New Roman"/>
                <a:cs typeface="Times New Roman"/>
              </a:rPr>
              <a:t>;</a:t>
            </a:r>
            <a:r>
              <a:rPr sz="1000" spc="145">
                <a:latin typeface="Times New Roman"/>
                <a:cs typeface="Times New Roman"/>
              </a:rPr>
              <a:t> </a:t>
            </a:r>
            <a:r>
              <a:rPr sz="1000">
                <a:latin typeface="Times New Roman"/>
                <a:cs typeface="Times New Roman"/>
              </a:rPr>
              <a:t>opportunities</a:t>
            </a:r>
            <a:r>
              <a:rPr sz="1000" spc="130">
                <a:latin typeface="Times New Roman"/>
                <a:cs typeface="Times New Roman"/>
              </a:rPr>
              <a:t> </a:t>
            </a:r>
            <a:r>
              <a:rPr sz="1000">
                <a:latin typeface="Times New Roman"/>
                <a:cs typeface="Times New Roman"/>
              </a:rPr>
              <a:t>of</a:t>
            </a:r>
            <a:endParaRPr/>
          </a:p>
          <a:p>
            <a:pPr marL="12700" algn="just">
              <a:lnSpc>
                <a:spcPts val="1155"/>
              </a:lnSpc>
            </a:pPr>
            <a:r>
              <a:rPr sz="1000">
                <a:latin typeface="Times New Roman"/>
                <a:cs typeface="Times New Roman"/>
              </a:rPr>
              <a:t>growth – </a:t>
            </a:r>
            <a:r>
              <a:rPr sz="1000" i="1">
                <a:latin typeface="Times New Roman"/>
                <a:cs typeface="Times New Roman"/>
              </a:rPr>
              <a:t>Growth</a:t>
            </a:r>
            <a:r>
              <a:rPr sz="1000">
                <a:latin typeface="Times New Roman"/>
                <a:cs typeface="Times New Roman"/>
              </a:rPr>
              <a:t>). The choice of such financial indicators was not accidental. The indicators were selected in such a way as to</a:t>
            </a:r>
            <a:endParaRPr/>
          </a:p>
          <a:p>
            <a:pPr marL="12700" algn="just">
              <a:lnSpc>
                <a:spcPts val="1150"/>
              </a:lnSpc>
            </a:pPr>
            <a:r>
              <a:rPr sz="1000">
                <a:latin typeface="Times New Roman"/>
                <a:cs typeface="Times New Roman"/>
              </a:rPr>
              <a:t>be</a:t>
            </a:r>
            <a:r>
              <a:rPr sz="1000" spc="135">
                <a:latin typeface="Times New Roman"/>
                <a:cs typeface="Times New Roman"/>
              </a:rPr>
              <a:t> </a:t>
            </a:r>
            <a:r>
              <a:rPr sz="1000">
                <a:latin typeface="Times New Roman"/>
                <a:cs typeface="Times New Roman"/>
              </a:rPr>
              <a:t>able</a:t>
            </a:r>
            <a:r>
              <a:rPr sz="1000" spc="135">
                <a:latin typeface="Times New Roman"/>
                <a:cs typeface="Times New Roman"/>
              </a:rPr>
              <a:t> </a:t>
            </a:r>
            <a:r>
              <a:rPr sz="1000">
                <a:latin typeface="Times New Roman"/>
                <a:cs typeface="Times New Roman"/>
              </a:rPr>
              <a:t>to</a:t>
            </a:r>
            <a:r>
              <a:rPr sz="1000" spc="135">
                <a:latin typeface="Times New Roman"/>
                <a:cs typeface="Times New Roman"/>
              </a:rPr>
              <a:t> </a:t>
            </a:r>
            <a:r>
              <a:rPr sz="1000">
                <a:latin typeface="Times New Roman"/>
                <a:cs typeface="Times New Roman"/>
              </a:rPr>
              <a:t>assess</a:t>
            </a:r>
            <a:r>
              <a:rPr sz="1000" spc="130">
                <a:latin typeface="Times New Roman"/>
                <a:cs typeface="Times New Roman"/>
              </a:rPr>
              <a:t> </a:t>
            </a:r>
            <a:r>
              <a:rPr sz="1000">
                <a:latin typeface="Times New Roman"/>
                <a:cs typeface="Times New Roman"/>
              </a:rPr>
              <a:t>the</a:t>
            </a:r>
            <a:r>
              <a:rPr sz="1000" spc="135">
                <a:latin typeface="Times New Roman"/>
                <a:cs typeface="Times New Roman"/>
              </a:rPr>
              <a:t> </a:t>
            </a:r>
            <a:r>
              <a:rPr sz="1000">
                <a:latin typeface="Times New Roman"/>
                <a:cs typeface="Times New Roman"/>
              </a:rPr>
              <a:t>investment</a:t>
            </a:r>
            <a:r>
              <a:rPr sz="1000" spc="130">
                <a:latin typeface="Times New Roman"/>
                <a:cs typeface="Times New Roman"/>
              </a:rPr>
              <a:t> </a:t>
            </a:r>
            <a:r>
              <a:rPr sz="1000">
                <a:latin typeface="Times New Roman"/>
                <a:cs typeface="Times New Roman"/>
              </a:rPr>
              <a:t>attractiveness</a:t>
            </a:r>
            <a:r>
              <a:rPr sz="1000" spc="140">
                <a:latin typeface="Times New Roman"/>
                <a:cs typeface="Times New Roman"/>
              </a:rPr>
              <a:t> </a:t>
            </a:r>
            <a:r>
              <a:rPr sz="1000">
                <a:latin typeface="Times New Roman"/>
                <a:cs typeface="Times New Roman"/>
              </a:rPr>
              <a:t>from</a:t>
            </a:r>
            <a:r>
              <a:rPr sz="1000" spc="125">
                <a:latin typeface="Times New Roman"/>
                <a:cs typeface="Times New Roman"/>
              </a:rPr>
              <a:t> </a:t>
            </a:r>
            <a:r>
              <a:rPr sz="1000">
                <a:latin typeface="Times New Roman"/>
                <a:cs typeface="Times New Roman"/>
              </a:rPr>
              <a:t>the</a:t>
            </a:r>
            <a:r>
              <a:rPr sz="1000" spc="135">
                <a:latin typeface="Times New Roman"/>
                <a:cs typeface="Times New Roman"/>
              </a:rPr>
              <a:t> </a:t>
            </a:r>
            <a:r>
              <a:rPr sz="1000">
                <a:latin typeface="Times New Roman"/>
                <a:cs typeface="Times New Roman"/>
              </a:rPr>
              <a:t>point</a:t>
            </a:r>
            <a:r>
              <a:rPr sz="1000" spc="130">
                <a:latin typeface="Times New Roman"/>
                <a:cs typeface="Times New Roman"/>
              </a:rPr>
              <a:t> </a:t>
            </a:r>
            <a:r>
              <a:rPr sz="1000">
                <a:latin typeface="Times New Roman"/>
                <a:cs typeface="Times New Roman"/>
              </a:rPr>
              <a:t>of</a:t>
            </a:r>
            <a:r>
              <a:rPr sz="1000" spc="135">
                <a:latin typeface="Times New Roman"/>
                <a:cs typeface="Times New Roman"/>
              </a:rPr>
              <a:t> </a:t>
            </a:r>
            <a:r>
              <a:rPr sz="1000">
                <a:latin typeface="Times New Roman"/>
                <a:cs typeface="Times New Roman"/>
              </a:rPr>
              <a:t>view</a:t>
            </a:r>
            <a:r>
              <a:rPr sz="1000" spc="125">
                <a:latin typeface="Times New Roman"/>
                <a:cs typeface="Times New Roman"/>
              </a:rPr>
              <a:t> </a:t>
            </a:r>
            <a:r>
              <a:rPr sz="1000">
                <a:latin typeface="Times New Roman"/>
                <a:cs typeface="Times New Roman"/>
              </a:rPr>
              <a:t>of</a:t>
            </a:r>
            <a:r>
              <a:rPr sz="1000" spc="125">
                <a:latin typeface="Times New Roman"/>
                <a:cs typeface="Times New Roman"/>
              </a:rPr>
              <a:t> </a:t>
            </a:r>
            <a:r>
              <a:rPr sz="1000">
                <a:latin typeface="Times New Roman"/>
                <a:cs typeface="Times New Roman"/>
              </a:rPr>
              <a:t>a</a:t>
            </a:r>
            <a:r>
              <a:rPr sz="1000" spc="135">
                <a:latin typeface="Times New Roman"/>
                <a:cs typeface="Times New Roman"/>
              </a:rPr>
              <a:t> </a:t>
            </a:r>
            <a:r>
              <a:rPr sz="1000">
                <a:latin typeface="Times New Roman"/>
                <a:cs typeface="Times New Roman"/>
              </a:rPr>
              <a:t>stock</a:t>
            </a:r>
            <a:r>
              <a:rPr sz="1000" spc="125">
                <a:latin typeface="Times New Roman"/>
                <a:cs typeface="Times New Roman"/>
              </a:rPr>
              <a:t> </a:t>
            </a:r>
            <a:r>
              <a:rPr sz="1000">
                <a:latin typeface="Times New Roman"/>
                <a:cs typeface="Times New Roman"/>
              </a:rPr>
              <a:t>investor</a:t>
            </a:r>
            <a:r>
              <a:rPr sz="1000" spc="135">
                <a:latin typeface="Times New Roman"/>
                <a:cs typeface="Times New Roman"/>
              </a:rPr>
              <a:t> </a:t>
            </a:r>
            <a:r>
              <a:rPr sz="1000">
                <a:latin typeface="Times New Roman"/>
                <a:cs typeface="Times New Roman"/>
              </a:rPr>
              <a:t>interested</a:t>
            </a:r>
            <a:r>
              <a:rPr sz="1000" spc="135">
                <a:latin typeface="Times New Roman"/>
                <a:cs typeface="Times New Roman"/>
              </a:rPr>
              <a:t> </a:t>
            </a:r>
            <a:r>
              <a:rPr sz="1000">
                <a:latin typeface="Times New Roman"/>
                <a:cs typeface="Times New Roman"/>
              </a:rPr>
              <a:t>in</a:t>
            </a:r>
            <a:r>
              <a:rPr sz="1000" spc="135">
                <a:latin typeface="Times New Roman"/>
                <a:cs typeface="Times New Roman"/>
              </a:rPr>
              <a:t> </a:t>
            </a:r>
            <a:r>
              <a:rPr sz="1000">
                <a:latin typeface="Times New Roman"/>
                <a:cs typeface="Times New Roman"/>
              </a:rPr>
              <a:t>dividends</a:t>
            </a:r>
            <a:r>
              <a:rPr sz="1000" spc="130">
                <a:latin typeface="Times New Roman"/>
                <a:cs typeface="Times New Roman"/>
              </a:rPr>
              <a:t> </a:t>
            </a:r>
            <a:r>
              <a:rPr sz="1000">
                <a:latin typeface="Times New Roman"/>
                <a:cs typeface="Times New Roman"/>
              </a:rPr>
              <a:t>investing</a:t>
            </a:r>
            <a:endParaRPr/>
          </a:p>
          <a:p>
            <a:pPr marL="12700" algn="just">
              <a:lnSpc>
                <a:spcPts val="1140"/>
              </a:lnSpc>
            </a:pPr>
            <a:r>
              <a:rPr sz="1000">
                <a:latin typeface="Times New Roman"/>
                <a:cs typeface="Times New Roman"/>
              </a:rPr>
              <a:t>(i.e.,</a:t>
            </a:r>
            <a:r>
              <a:rPr sz="1000" spc="75">
                <a:latin typeface="Times New Roman"/>
                <a:cs typeface="Times New Roman"/>
              </a:rPr>
              <a:t> </a:t>
            </a:r>
            <a:r>
              <a:rPr sz="1000">
                <a:latin typeface="Times New Roman"/>
                <a:cs typeface="Times New Roman"/>
              </a:rPr>
              <a:t>long-term</a:t>
            </a:r>
            <a:r>
              <a:rPr sz="1000" spc="65">
                <a:latin typeface="Times New Roman"/>
                <a:cs typeface="Times New Roman"/>
              </a:rPr>
              <a:t> </a:t>
            </a:r>
            <a:r>
              <a:rPr sz="1000">
                <a:latin typeface="Times New Roman"/>
                <a:cs typeface="Times New Roman"/>
              </a:rPr>
              <a:t>investing</a:t>
            </a:r>
            <a:r>
              <a:rPr sz="1000" spc="80">
                <a:latin typeface="Times New Roman"/>
                <a:cs typeface="Times New Roman"/>
              </a:rPr>
              <a:t> </a:t>
            </a:r>
            <a:r>
              <a:rPr sz="1000">
                <a:latin typeface="Times New Roman"/>
                <a:cs typeface="Times New Roman"/>
              </a:rPr>
              <a:t>with</a:t>
            </a:r>
            <a:r>
              <a:rPr sz="1000" spc="75">
                <a:latin typeface="Times New Roman"/>
                <a:cs typeface="Times New Roman"/>
              </a:rPr>
              <a:t> </a:t>
            </a:r>
            <a:r>
              <a:rPr sz="1000">
                <a:latin typeface="Times New Roman"/>
                <a:cs typeface="Times New Roman"/>
              </a:rPr>
              <a:t>dividends).</a:t>
            </a:r>
            <a:r>
              <a:rPr sz="1000" spc="75">
                <a:latin typeface="Times New Roman"/>
                <a:cs typeface="Times New Roman"/>
              </a:rPr>
              <a:t> </a:t>
            </a:r>
            <a:r>
              <a:rPr sz="1000">
                <a:latin typeface="Times New Roman"/>
                <a:cs typeface="Times New Roman"/>
              </a:rPr>
              <a:t>Such</a:t>
            </a:r>
            <a:r>
              <a:rPr sz="1000" spc="65">
                <a:latin typeface="Times New Roman"/>
                <a:cs typeface="Times New Roman"/>
              </a:rPr>
              <a:t> </a:t>
            </a:r>
            <a:r>
              <a:rPr sz="1000">
                <a:latin typeface="Times New Roman"/>
                <a:cs typeface="Times New Roman"/>
              </a:rPr>
              <a:t>an</a:t>
            </a:r>
            <a:r>
              <a:rPr sz="1000" spc="65">
                <a:latin typeface="Times New Roman"/>
                <a:cs typeface="Times New Roman"/>
              </a:rPr>
              <a:t> </a:t>
            </a:r>
            <a:r>
              <a:rPr sz="1000">
                <a:latin typeface="Times New Roman"/>
                <a:cs typeface="Times New Roman"/>
              </a:rPr>
              <a:t>investor,</a:t>
            </a:r>
            <a:r>
              <a:rPr sz="1000" spc="85">
                <a:latin typeface="Times New Roman"/>
                <a:cs typeface="Times New Roman"/>
              </a:rPr>
              <a:t> </a:t>
            </a:r>
            <a:r>
              <a:rPr sz="1000">
                <a:latin typeface="Times New Roman"/>
                <a:cs typeface="Times New Roman"/>
              </a:rPr>
              <a:t>unlike</a:t>
            </a:r>
            <a:r>
              <a:rPr sz="1000" spc="75">
                <a:latin typeface="Times New Roman"/>
                <a:cs typeface="Times New Roman"/>
              </a:rPr>
              <a:t> </a:t>
            </a:r>
            <a:r>
              <a:rPr sz="1000">
                <a:latin typeface="Times New Roman"/>
                <a:cs typeface="Times New Roman"/>
              </a:rPr>
              <a:t>a</a:t>
            </a:r>
            <a:r>
              <a:rPr sz="1000" spc="75">
                <a:latin typeface="Times New Roman"/>
                <a:cs typeface="Times New Roman"/>
              </a:rPr>
              <a:t> </a:t>
            </a:r>
            <a:r>
              <a:rPr sz="1000">
                <a:latin typeface="Times New Roman"/>
                <a:cs typeface="Times New Roman"/>
              </a:rPr>
              <a:t>stock</a:t>
            </a:r>
            <a:r>
              <a:rPr sz="1000" spc="80">
                <a:latin typeface="Times New Roman"/>
                <a:cs typeface="Times New Roman"/>
              </a:rPr>
              <a:t> </a:t>
            </a:r>
            <a:r>
              <a:rPr sz="1000">
                <a:latin typeface="Times New Roman"/>
                <a:cs typeface="Times New Roman"/>
              </a:rPr>
              <a:t>market</a:t>
            </a:r>
            <a:r>
              <a:rPr sz="1000" spc="75">
                <a:latin typeface="Times New Roman"/>
                <a:cs typeface="Times New Roman"/>
              </a:rPr>
              <a:t> </a:t>
            </a:r>
            <a:r>
              <a:rPr sz="1000">
                <a:latin typeface="Times New Roman"/>
                <a:cs typeface="Times New Roman"/>
              </a:rPr>
              <a:t>speculator,</a:t>
            </a:r>
            <a:r>
              <a:rPr sz="1000" spc="75">
                <a:latin typeface="Times New Roman"/>
                <a:cs typeface="Times New Roman"/>
              </a:rPr>
              <a:t> </a:t>
            </a:r>
            <a:r>
              <a:rPr sz="1000">
                <a:latin typeface="Times New Roman"/>
                <a:cs typeface="Times New Roman"/>
              </a:rPr>
              <a:t>is</a:t>
            </a:r>
            <a:r>
              <a:rPr sz="1000" spc="70">
                <a:latin typeface="Times New Roman"/>
                <a:cs typeface="Times New Roman"/>
              </a:rPr>
              <a:t> </a:t>
            </a:r>
            <a:r>
              <a:rPr sz="1000">
                <a:latin typeface="Times New Roman"/>
                <a:cs typeface="Times New Roman"/>
              </a:rPr>
              <a:t>focused</a:t>
            </a:r>
            <a:r>
              <a:rPr sz="1000" spc="90">
                <a:latin typeface="Times New Roman"/>
                <a:cs typeface="Times New Roman"/>
              </a:rPr>
              <a:t> </a:t>
            </a:r>
            <a:r>
              <a:rPr sz="1000">
                <a:latin typeface="Times New Roman"/>
                <a:cs typeface="Times New Roman"/>
              </a:rPr>
              <a:t>mainly</a:t>
            </a:r>
            <a:r>
              <a:rPr sz="1000" spc="65">
                <a:latin typeface="Times New Roman"/>
                <a:cs typeface="Times New Roman"/>
              </a:rPr>
              <a:t> </a:t>
            </a:r>
            <a:r>
              <a:rPr sz="1000">
                <a:latin typeface="Times New Roman"/>
                <a:cs typeface="Times New Roman"/>
              </a:rPr>
              <a:t>on</a:t>
            </a:r>
            <a:r>
              <a:rPr sz="1000" spc="65">
                <a:latin typeface="Times New Roman"/>
                <a:cs typeface="Times New Roman"/>
              </a:rPr>
              <a:t> </a:t>
            </a:r>
            <a:r>
              <a:rPr sz="1000">
                <a:latin typeface="Times New Roman"/>
                <a:cs typeface="Times New Roman"/>
              </a:rPr>
              <a:t>receiving</a:t>
            </a:r>
            <a:endParaRPr/>
          </a:p>
          <a:p>
            <a:pPr marL="12700" algn="just">
              <a:lnSpc>
                <a:spcPts val="1155"/>
              </a:lnSpc>
            </a:pPr>
            <a:r>
              <a:rPr sz="1000">
                <a:latin typeface="Times New Roman"/>
                <a:cs typeface="Times New Roman"/>
              </a:rPr>
              <a:t>regular</a:t>
            </a:r>
            <a:r>
              <a:rPr sz="1000" spc="185">
                <a:latin typeface="Times New Roman"/>
                <a:cs typeface="Times New Roman"/>
              </a:rPr>
              <a:t> </a:t>
            </a:r>
            <a:r>
              <a:rPr sz="1000">
                <a:latin typeface="Times New Roman"/>
                <a:cs typeface="Times New Roman"/>
              </a:rPr>
              <a:t>investment</a:t>
            </a:r>
            <a:r>
              <a:rPr sz="1000" spc="180">
                <a:latin typeface="Times New Roman"/>
                <a:cs typeface="Times New Roman"/>
              </a:rPr>
              <a:t> </a:t>
            </a:r>
            <a:r>
              <a:rPr sz="1000">
                <a:latin typeface="Times New Roman"/>
                <a:cs typeface="Times New Roman"/>
              </a:rPr>
              <a:t>income</a:t>
            </a:r>
            <a:r>
              <a:rPr sz="1000" spc="185">
                <a:latin typeface="Times New Roman"/>
                <a:cs typeface="Times New Roman"/>
              </a:rPr>
              <a:t> </a:t>
            </a:r>
            <a:r>
              <a:rPr sz="1000">
                <a:latin typeface="Times New Roman"/>
                <a:cs typeface="Times New Roman"/>
              </a:rPr>
              <a:t>in</a:t>
            </a:r>
            <a:r>
              <a:rPr sz="1000" spc="185">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form</a:t>
            </a:r>
            <a:r>
              <a:rPr sz="1000" spc="160">
                <a:latin typeface="Times New Roman"/>
                <a:cs typeface="Times New Roman"/>
              </a:rPr>
              <a:t> </a:t>
            </a:r>
            <a:r>
              <a:rPr sz="1000">
                <a:latin typeface="Times New Roman"/>
                <a:cs typeface="Times New Roman"/>
              </a:rPr>
              <a:t>of</a:t>
            </a:r>
            <a:r>
              <a:rPr sz="1000" spc="175">
                <a:latin typeface="Times New Roman"/>
                <a:cs typeface="Times New Roman"/>
              </a:rPr>
              <a:t> </a:t>
            </a:r>
            <a:r>
              <a:rPr sz="1000">
                <a:latin typeface="Times New Roman"/>
                <a:cs typeface="Times New Roman"/>
              </a:rPr>
              <a:t>dividends.</a:t>
            </a:r>
            <a:r>
              <a:rPr sz="1000" spc="215">
                <a:latin typeface="Times New Roman"/>
                <a:cs typeface="Times New Roman"/>
              </a:rPr>
              <a:t> </a:t>
            </a:r>
            <a:r>
              <a:rPr sz="1000">
                <a:latin typeface="Times New Roman"/>
                <a:cs typeface="Times New Roman"/>
              </a:rPr>
              <a:t>Thirdly</a:t>
            </a:r>
            <a:r>
              <a:rPr sz="1000" spc="5">
                <a:latin typeface="Times New Roman"/>
                <a:cs typeface="Times New Roman"/>
              </a:rPr>
              <a:t>,</a:t>
            </a:r>
            <a:r>
              <a:rPr sz="1000" spc="190">
                <a:latin typeface="Times New Roman"/>
                <a:cs typeface="Times New Roman"/>
              </a:rPr>
              <a:t> </a:t>
            </a:r>
            <a:r>
              <a:rPr sz="1000">
                <a:latin typeface="Times New Roman"/>
                <a:cs typeface="Times New Roman"/>
              </a:rPr>
              <a:t>to</a:t>
            </a:r>
            <a:r>
              <a:rPr sz="1000" spc="185">
                <a:latin typeface="Times New Roman"/>
                <a:cs typeface="Times New Roman"/>
              </a:rPr>
              <a:t> </a:t>
            </a:r>
            <a:r>
              <a:rPr sz="1000">
                <a:latin typeface="Times New Roman"/>
                <a:cs typeface="Times New Roman"/>
              </a:rPr>
              <a:t>rank</a:t>
            </a:r>
            <a:r>
              <a:rPr sz="1000" spc="185">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investment</a:t>
            </a:r>
            <a:r>
              <a:rPr sz="1000" spc="190">
                <a:latin typeface="Times New Roman"/>
                <a:cs typeface="Times New Roman"/>
              </a:rPr>
              <a:t> </a:t>
            </a:r>
            <a:r>
              <a:rPr sz="1000">
                <a:latin typeface="Times New Roman"/>
                <a:cs typeface="Times New Roman"/>
              </a:rPr>
              <a:t>attractiveness</a:t>
            </a:r>
            <a:r>
              <a:rPr sz="1000" spc="180">
                <a:latin typeface="Times New Roman"/>
                <a:cs typeface="Times New Roman"/>
              </a:rPr>
              <a:t> </a:t>
            </a:r>
            <a:r>
              <a:rPr sz="1000">
                <a:latin typeface="Times New Roman"/>
                <a:cs typeface="Times New Roman"/>
              </a:rPr>
              <a:t>of</a:t>
            </a:r>
            <a:r>
              <a:rPr sz="1000" spc="175">
                <a:latin typeface="Times New Roman"/>
                <a:cs typeface="Times New Roman"/>
              </a:rPr>
              <a:t> </a:t>
            </a:r>
            <a:r>
              <a:rPr sz="1000">
                <a:latin typeface="Times New Roman"/>
                <a:cs typeface="Times New Roman"/>
              </a:rPr>
              <a:t>dividend</a:t>
            </a:r>
            <a:r>
              <a:rPr sz="1000" spc="185">
                <a:latin typeface="Times New Roman"/>
                <a:cs typeface="Times New Roman"/>
              </a:rPr>
              <a:t> </a:t>
            </a:r>
            <a:r>
              <a:rPr sz="1000">
                <a:latin typeface="Times New Roman"/>
                <a:cs typeface="Times New Roman"/>
              </a:rPr>
              <a:t>payers</a:t>
            </a:r>
            <a:r>
              <a:rPr sz="1000" spc="180">
                <a:latin typeface="Times New Roman"/>
                <a:cs typeface="Times New Roman"/>
              </a:rPr>
              <a:t> </a:t>
            </a:r>
            <a:r>
              <a:rPr sz="1000">
                <a:latin typeface="Times New Roman"/>
                <a:cs typeface="Times New Roman"/>
              </a:rPr>
              <a:t>in</a:t>
            </a:r>
            <a:endParaRPr/>
          </a:p>
          <a:p>
            <a:pPr marL="12700" algn="just">
              <a:lnSpc>
                <a:spcPts val="1150"/>
              </a:lnSpc>
            </a:pPr>
            <a:r>
              <a:rPr sz="1000">
                <a:latin typeface="Times New Roman"/>
                <a:cs typeface="Times New Roman"/>
              </a:rPr>
              <a:t>relation</a:t>
            </a:r>
            <a:r>
              <a:rPr sz="1000" spc="165">
                <a:latin typeface="Times New Roman"/>
                <a:cs typeface="Times New Roman"/>
              </a:rPr>
              <a:t> </a:t>
            </a:r>
            <a:r>
              <a:rPr sz="1000">
                <a:latin typeface="Times New Roman"/>
                <a:cs typeface="Times New Roman"/>
              </a:rPr>
              <a:t>to</a:t>
            </a:r>
            <a:r>
              <a:rPr sz="1000" spc="175">
                <a:latin typeface="Times New Roman"/>
                <a:cs typeface="Times New Roman"/>
              </a:rPr>
              <a:t> </a:t>
            </a:r>
            <a:r>
              <a:rPr sz="1000">
                <a:latin typeface="Times New Roman"/>
                <a:cs typeface="Times New Roman"/>
              </a:rPr>
              <a:t>different</a:t>
            </a:r>
            <a:r>
              <a:rPr sz="1000" spc="170">
                <a:latin typeface="Times New Roman"/>
                <a:cs typeface="Times New Roman"/>
              </a:rPr>
              <a:t> </a:t>
            </a:r>
            <a:r>
              <a:rPr sz="1000">
                <a:latin typeface="Times New Roman"/>
                <a:cs typeface="Times New Roman"/>
              </a:rPr>
              <a:t>types</a:t>
            </a:r>
            <a:r>
              <a:rPr sz="1000" spc="165">
                <a:latin typeface="Times New Roman"/>
                <a:cs typeface="Times New Roman"/>
              </a:rPr>
              <a:t> </a:t>
            </a:r>
            <a:r>
              <a:rPr sz="1000">
                <a:latin typeface="Times New Roman"/>
                <a:cs typeface="Times New Roman"/>
              </a:rPr>
              <a:t>of</a:t>
            </a:r>
            <a:r>
              <a:rPr sz="1000" spc="170">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largest</a:t>
            </a:r>
            <a:r>
              <a:rPr sz="1000" spc="170">
                <a:latin typeface="Times New Roman"/>
                <a:cs typeface="Times New Roman"/>
              </a:rPr>
              <a:t> </a:t>
            </a:r>
            <a:r>
              <a:rPr sz="1000">
                <a:latin typeface="Times New Roman"/>
                <a:cs typeface="Times New Roman"/>
              </a:rPr>
              <a:t>shareholder,</a:t>
            </a:r>
            <a:r>
              <a:rPr sz="1000" spc="18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classical</a:t>
            </a:r>
            <a:r>
              <a:rPr sz="1000" spc="180">
                <a:latin typeface="Times New Roman"/>
                <a:cs typeface="Times New Roman"/>
              </a:rPr>
              <a:t> </a:t>
            </a:r>
            <a:r>
              <a:rPr sz="1000">
                <a:latin typeface="Times New Roman"/>
                <a:cs typeface="Times New Roman"/>
              </a:rPr>
              <a:t>technique</a:t>
            </a:r>
            <a:r>
              <a:rPr sz="1000" spc="185">
                <a:latin typeface="Times New Roman"/>
                <a:cs typeface="Times New Roman"/>
              </a:rPr>
              <a:t> </a:t>
            </a:r>
            <a:r>
              <a:rPr sz="1000">
                <a:latin typeface="Times New Roman"/>
                <a:cs typeface="Times New Roman"/>
              </a:rPr>
              <a:t>for</a:t>
            </a:r>
            <a:r>
              <a:rPr sz="1000" spc="170">
                <a:latin typeface="Times New Roman"/>
                <a:cs typeface="Times New Roman"/>
              </a:rPr>
              <a:t> </a:t>
            </a:r>
            <a:r>
              <a:rPr sz="1000">
                <a:latin typeface="Times New Roman"/>
                <a:cs typeface="Times New Roman"/>
              </a:rPr>
              <a:t>order</a:t>
            </a:r>
            <a:r>
              <a:rPr sz="1000" spc="160">
                <a:latin typeface="Times New Roman"/>
                <a:cs typeface="Times New Roman"/>
              </a:rPr>
              <a:t> </a:t>
            </a:r>
            <a:r>
              <a:rPr sz="1000">
                <a:latin typeface="Times New Roman"/>
                <a:cs typeface="Times New Roman"/>
              </a:rPr>
              <a:t>of</a:t>
            </a:r>
            <a:r>
              <a:rPr sz="1000" spc="160">
                <a:latin typeface="Times New Roman"/>
                <a:cs typeface="Times New Roman"/>
              </a:rPr>
              <a:t> </a:t>
            </a:r>
            <a:r>
              <a:rPr sz="1000">
                <a:latin typeface="Times New Roman"/>
                <a:cs typeface="Times New Roman"/>
              </a:rPr>
              <a:t>preference</a:t>
            </a:r>
            <a:r>
              <a:rPr sz="1000" spc="185">
                <a:latin typeface="Times New Roman"/>
                <a:cs typeface="Times New Roman"/>
              </a:rPr>
              <a:t> </a:t>
            </a:r>
            <a:r>
              <a:rPr sz="1000">
                <a:latin typeface="Times New Roman"/>
                <a:cs typeface="Times New Roman"/>
              </a:rPr>
              <a:t>by</a:t>
            </a:r>
            <a:r>
              <a:rPr sz="1000" spc="165">
                <a:latin typeface="Times New Roman"/>
                <a:cs typeface="Times New Roman"/>
              </a:rPr>
              <a:t> </a:t>
            </a:r>
            <a:r>
              <a:rPr sz="1000">
                <a:latin typeface="Times New Roman"/>
                <a:cs typeface="Times New Roman"/>
              </a:rPr>
              <a:t>similarity</a:t>
            </a:r>
            <a:r>
              <a:rPr sz="1000" spc="165">
                <a:latin typeface="Times New Roman"/>
                <a:cs typeface="Times New Roman"/>
              </a:rPr>
              <a:t> </a:t>
            </a:r>
            <a:r>
              <a:rPr sz="1000">
                <a:latin typeface="Times New Roman"/>
                <a:cs typeface="Times New Roman"/>
              </a:rPr>
              <a:t>to</a:t>
            </a:r>
            <a:r>
              <a:rPr sz="1000" spc="175">
                <a:latin typeface="Times New Roman"/>
                <a:cs typeface="Times New Roman"/>
              </a:rPr>
              <a:t> </a:t>
            </a:r>
            <a:r>
              <a:rPr sz="1000">
                <a:latin typeface="Times New Roman"/>
                <a:cs typeface="Times New Roman"/>
              </a:rPr>
              <a:t>ideal</a:t>
            </a:r>
            <a:endParaRPr/>
          </a:p>
          <a:p>
            <a:pPr marL="12700" algn="just">
              <a:lnSpc>
                <a:spcPts val="1155"/>
              </a:lnSpc>
            </a:pPr>
            <a:r>
              <a:rPr sz="1000">
                <a:latin typeface="Times New Roman"/>
                <a:cs typeface="Times New Roman"/>
              </a:rPr>
              <a:t>solution</a:t>
            </a:r>
            <a:r>
              <a:rPr sz="1000" spc="190">
                <a:latin typeface="Times New Roman"/>
                <a:cs typeface="Times New Roman"/>
              </a:rPr>
              <a:t> </a:t>
            </a:r>
            <a:r>
              <a:rPr sz="1000">
                <a:latin typeface="Times New Roman"/>
                <a:cs typeface="Times New Roman"/>
              </a:rPr>
              <a:t>(TOPSIS)</a:t>
            </a:r>
            <a:r>
              <a:rPr sz="1000" spc="215">
                <a:latin typeface="Times New Roman"/>
                <a:cs typeface="Times New Roman"/>
              </a:rPr>
              <a:t> </a:t>
            </a:r>
            <a:r>
              <a:rPr sz="1000">
                <a:latin typeface="Times New Roman"/>
                <a:cs typeface="Times New Roman"/>
              </a:rPr>
              <a:t>was</a:t>
            </a:r>
            <a:r>
              <a:rPr sz="1000" spc="200">
                <a:latin typeface="Times New Roman"/>
                <a:cs typeface="Times New Roman"/>
              </a:rPr>
              <a:t> </a:t>
            </a:r>
            <a:r>
              <a:rPr sz="1000">
                <a:latin typeface="Times New Roman"/>
                <a:cs typeface="Times New Roman"/>
              </a:rPr>
              <a:t>implemented</a:t>
            </a:r>
            <a:r>
              <a:rPr sz="1000" spc="5">
                <a:latin typeface="Times New Roman"/>
                <a:cs typeface="Times New Roman"/>
              </a:rPr>
              <a:t>.</a:t>
            </a:r>
            <a:r>
              <a:rPr sz="1000" spc="190">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use</a:t>
            </a:r>
            <a:r>
              <a:rPr sz="1000" spc="205">
                <a:latin typeface="Times New Roman"/>
                <a:cs typeface="Times New Roman"/>
              </a:rPr>
              <a:t> </a:t>
            </a:r>
            <a:r>
              <a:rPr sz="1000">
                <a:latin typeface="Times New Roman"/>
                <a:cs typeface="Times New Roman"/>
              </a:rPr>
              <a:t>of</a:t>
            </a:r>
            <a:r>
              <a:rPr sz="1000" spc="195">
                <a:latin typeface="Times New Roman"/>
                <a:cs typeface="Times New Roman"/>
              </a:rPr>
              <a:t> </a:t>
            </a:r>
            <a:r>
              <a:rPr sz="1000">
                <a:latin typeface="Times New Roman"/>
                <a:cs typeface="Times New Roman"/>
              </a:rPr>
              <a:t>this</a:t>
            </a:r>
            <a:r>
              <a:rPr sz="1000" spc="190">
                <a:latin typeface="Times New Roman"/>
                <a:cs typeface="Times New Roman"/>
              </a:rPr>
              <a:t> </a:t>
            </a:r>
            <a:r>
              <a:rPr sz="1000">
                <a:latin typeface="Times New Roman"/>
                <a:cs typeface="Times New Roman"/>
              </a:rPr>
              <a:t>technique</a:t>
            </a:r>
            <a:r>
              <a:rPr sz="1000" spc="205">
                <a:latin typeface="Times New Roman"/>
                <a:cs typeface="Times New Roman"/>
              </a:rPr>
              <a:t> </a:t>
            </a:r>
            <a:r>
              <a:rPr sz="1000">
                <a:latin typeface="Times New Roman"/>
                <a:cs typeface="Times New Roman"/>
              </a:rPr>
              <a:t>was</a:t>
            </a:r>
            <a:r>
              <a:rPr sz="1000" spc="190">
                <a:latin typeface="Times New Roman"/>
                <a:cs typeface="Times New Roman"/>
              </a:rPr>
              <a:t> </a:t>
            </a:r>
            <a:r>
              <a:rPr sz="1000">
                <a:latin typeface="Times New Roman"/>
                <a:cs typeface="Times New Roman"/>
              </a:rPr>
              <a:t>possible</a:t>
            </a:r>
            <a:r>
              <a:rPr sz="1000" spc="205">
                <a:latin typeface="Times New Roman"/>
                <a:cs typeface="Times New Roman"/>
              </a:rPr>
              <a:t> </a:t>
            </a:r>
            <a:r>
              <a:rPr sz="1000">
                <a:latin typeface="Times New Roman"/>
                <a:cs typeface="Times New Roman"/>
              </a:rPr>
              <a:t>after</a:t>
            </a:r>
            <a:r>
              <a:rPr sz="1000" spc="195">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elimination</a:t>
            </a:r>
            <a:r>
              <a:rPr sz="1000" spc="185">
                <a:latin typeface="Times New Roman"/>
                <a:cs typeface="Times New Roman"/>
              </a:rPr>
              <a:t> </a:t>
            </a:r>
            <a:r>
              <a:rPr sz="1000">
                <a:latin typeface="Times New Roman"/>
                <a:cs typeface="Times New Roman"/>
              </a:rPr>
              <a:t>of</a:t>
            </a:r>
            <a:r>
              <a:rPr sz="1000" spc="215">
                <a:latin typeface="Times New Roman"/>
                <a:cs typeface="Times New Roman"/>
              </a:rPr>
              <a:t> </a:t>
            </a:r>
            <a:r>
              <a:rPr sz="1000">
                <a:latin typeface="Times New Roman"/>
                <a:cs typeface="Times New Roman"/>
              </a:rPr>
              <a:t>strongly</a:t>
            </a:r>
            <a:r>
              <a:rPr sz="1000" spc="185">
                <a:latin typeface="Times New Roman"/>
                <a:cs typeface="Times New Roman"/>
              </a:rPr>
              <a:t> </a:t>
            </a:r>
            <a:r>
              <a:rPr sz="1000">
                <a:latin typeface="Times New Roman"/>
                <a:cs typeface="Times New Roman"/>
              </a:rPr>
              <a:t>correlated</a:t>
            </a:r>
            <a:endParaRPr/>
          </a:p>
          <a:p>
            <a:pPr marL="12700" algn="just">
              <a:lnSpc>
                <a:spcPts val="1150"/>
              </a:lnSpc>
            </a:pPr>
            <a:r>
              <a:rPr sz="1000">
                <a:latin typeface="Times New Roman"/>
                <a:cs typeface="Times New Roman"/>
              </a:rPr>
              <a:t>variables (</a:t>
            </a:r>
            <a:r>
              <a:rPr sz="1000" i="1">
                <a:latin typeface="Times New Roman"/>
                <a:cs typeface="Times New Roman"/>
              </a:rPr>
              <a:t>r</a:t>
            </a:r>
            <a:r>
              <a:rPr sz="1000" i="1" baseline="-40000">
                <a:latin typeface="Times New Roman"/>
                <a:cs typeface="Times New Roman"/>
              </a:rPr>
              <a:t>yx</a:t>
            </a:r>
            <a:r>
              <a:rPr sz="1000" i="1">
                <a:latin typeface="Times New Roman"/>
                <a:cs typeface="Times New Roman"/>
              </a:rPr>
              <a:t> </a:t>
            </a:r>
            <a:r>
              <a:rPr sz="1000">
                <a:latin typeface="Times New Roman"/>
                <a:cs typeface="Times New Roman"/>
              </a:rPr>
              <a:t>is at 0,75). In order to do this, the Pearson correlation coefficient was calculated. As a result, some variables must</a:t>
            </a:r>
            <a:endParaRPr/>
          </a:p>
          <a:p>
            <a:pPr marL="12700" algn="just">
              <a:lnSpc>
                <a:spcPts val="1155"/>
              </a:lnSpc>
            </a:pPr>
            <a:r>
              <a:rPr sz="1000">
                <a:latin typeface="Times New Roman"/>
                <a:cs typeface="Times New Roman"/>
              </a:rPr>
              <a:t>have been excluded from further research (i.e., </a:t>
            </a:r>
            <a:r>
              <a:rPr sz="1000" i="1">
                <a:latin typeface="Times New Roman"/>
                <a:cs typeface="Times New Roman"/>
              </a:rPr>
              <a:t>ReturnA </a:t>
            </a:r>
            <a:r>
              <a:rPr sz="1000">
                <a:latin typeface="Times New Roman"/>
                <a:cs typeface="Times New Roman"/>
              </a:rPr>
              <a:t>and </a:t>
            </a:r>
            <a:r>
              <a:rPr sz="1000" i="1">
                <a:latin typeface="Times New Roman"/>
                <a:cs typeface="Times New Roman"/>
              </a:rPr>
              <a:t>Liquid.Q</a:t>
            </a:r>
            <a:r>
              <a:rPr sz="1000">
                <a:latin typeface="Times New Roman"/>
                <a:cs typeface="Times New Roman"/>
              </a:rPr>
              <a:t>), and synthetic indicator (</a:t>
            </a:r>
            <a:r>
              <a:rPr sz="1000" i="1" spc="5">
                <a:latin typeface="Times New Roman"/>
                <a:cs typeface="Times New Roman"/>
              </a:rPr>
              <a:t>SI</a:t>
            </a:r>
            <a:r>
              <a:rPr sz="1000" spc="5">
                <a:latin typeface="Times New Roman"/>
                <a:cs typeface="Times New Roman"/>
              </a:rPr>
              <a:t>) </a:t>
            </a:r>
            <a:r>
              <a:rPr sz="1000">
                <a:latin typeface="Times New Roman"/>
                <a:cs typeface="Times New Roman"/>
              </a:rPr>
              <a:t>– standing for the measure</a:t>
            </a:r>
            <a:endParaRPr/>
          </a:p>
          <a:p>
            <a:pPr marL="12700" algn="just">
              <a:lnSpc>
                <a:spcPts val="1135"/>
              </a:lnSpc>
            </a:pPr>
            <a:r>
              <a:rPr sz="1000">
                <a:latin typeface="Times New Roman"/>
                <a:cs typeface="Times New Roman"/>
              </a:rPr>
              <a:t>of investment attractiveness – took the form below:</a:t>
            </a:r>
            <a:endParaRPr/>
          </a:p>
        </p:txBody>
      </p:sp>
      <p:sp>
        <p:nvSpPr>
          <p:cNvPr id="25" name="shape 25"/>
          <p:cNvSpPr txBox="1"/>
          <p:nvPr/>
        </p:nvSpPr>
        <p:spPr>
          <a:xfrm>
            <a:off x="1342390" y="6436762"/>
            <a:ext cx="3990975" cy="167641"/>
          </a:xfrm>
          <a:prstGeom prst="rect"/>
          <a:noFill/>
        </p:spPr>
        <p:txBody>
          <a:bodyPr vertOverflow="overflow" horzOverflow="overflow" numCol="1" wrap="square" lIns="0" tIns="0" rIns="0" bIns="0">
            <a:spAutoFit/>
          </a:bodyPr>
          <a:p>
            <a:pPr marL="12700"/>
            <a:r>
              <a:rPr sz="1100" i="1" spc="-5">
                <a:latin typeface="Times New Roman"/>
                <a:cs typeface="Times New Roman"/>
              </a:rPr>
              <a:t>SI  </a:t>
            </a:r>
            <a:r>
              <a:rPr sz="1100" spc="-5">
                <a:latin typeface="Symbol"/>
                <a:cs typeface="Symbol"/>
              </a:rPr>
              <a:t>  </a:t>
            </a:r>
            <a:r>
              <a:rPr sz="1100" i="1" spc="-5">
                <a:latin typeface="Times New Roman"/>
                <a:cs typeface="Times New Roman"/>
              </a:rPr>
              <a:t>f(DivPay,DivYield,ReturnE,Liqu</a:t>
            </a:r>
            <a:r>
              <a:rPr sz="1100" i="1" spc="-35">
                <a:latin typeface="Times New Roman"/>
                <a:cs typeface="Times New Roman"/>
              </a:rPr>
              <a:t>id</a:t>
            </a:r>
            <a:r>
              <a:rPr sz="1100" spc="-5">
                <a:latin typeface="Times New Roman"/>
                <a:cs typeface="Times New Roman"/>
              </a:rPr>
              <a:t>.</a:t>
            </a:r>
            <a:r>
              <a:rPr sz="1100" i="1" spc="-5">
                <a:latin typeface="Times New Roman"/>
                <a:cs typeface="Times New Roman"/>
              </a:rPr>
              <a:t>C,Debt,Leverage,Size,Growth)</a:t>
            </a:r>
            <a:endParaRPr/>
          </a:p>
        </p:txBody>
      </p:sp>
      <p:sp>
        <p:nvSpPr>
          <p:cNvPr id="26" name="shape 26"/>
          <p:cNvSpPr txBox="1"/>
          <p:nvPr/>
        </p:nvSpPr>
        <p:spPr>
          <a:xfrm>
            <a:off x="6860540" y="6460617"/>
            <a:ext cx="174625" cy="152400"/>
          </a:xfrm>
          <a:prstGeom prst="rect"/>
          <a:noFill/>
        </p:spPr>
        <p:txBody>
          <a:bodyPr vertOverflow="overflow" horzOverflow="overflow" numCol="1" wrap="square" lIns="0" tIns="0" rIns="0" bIns="0">
            <a:spAutoFit/>
          </a:bodyPr>
          <a:p>
            <a:pPr marL="12700"/>
            <a:r>
              <a:rPr sz="1000" spc="5">
                <a:latin typeface="Times New Roman"/>
                <a:cs typeface="Times New Roman"/>
              </a:rPr>
              <a:t>(1</a:t>
            </a:r>
            <a:r>
              <a:rPr sz="1000">
                <a:latin typeface="Times New Roman"/>
                <a:cs typeface="Times New Roman"/>
              </a:rPr>
              <a:t>)</a:t>
            </a:r>
            <a:endParaRPr/>
          </a:p>
        </p:txBody>
      </p:sp>
      <p:sp>
        <p:nvSpPr>
          <p:cNvPr id="27" name="shape 27"/>
          <p:cNvSpPr txBox="1"/>
          <p:nvPr/>
        </p:nvSpPr>
        <p:spPr>
          <a:xfrm>
            <a:off x="528320" y="6633337"/>
            <a:ext cx="6505575" cy="735838"/>
          </a:xfrm>
          <a:prstGeom prst="rect"/>
          <a:noFill/>
        </p:spPr>
        <p:txBody>
          <a:bodyPr vertOverflow="overflow" horzOverflow="overflow" numCol="1" wrap="square" lIns="0" tIns="0" rIns="0" bIns="0">
            <a:spAutoFit/>
          </a:bodyPr>
          <a:p>
            <a:pPr marL="12700" marR="12700" indent="179705" algn="just">
              <a:lnSpc>
                <a:spcPct val="95680"/>
              </a:lnSpc>
            </a:pPr>
            <a:r>
              <a:rPr sz="1000">
                <a:latin typeface="Times New Roman"/>
                <a:cs typeface="Times New Roman"/>
              </a:rPr>
              <a:t>The variables remaining in the study were divided into stimulants (S) and destimulants (D). The way of variables calculation and substantiation of their assignment to one of two categories were presented in table 1.</a:t>
            </a:r>
            <a:endParaRPr/>
          </a:p>
          <a:p>
            <a:pPr marL="12700">
              <a:spcBef>
                <a:spcPts val="1100"/>
              </a:spcBef>
            </a:pPr>
            <a:r>
              <a:rPr sz="1000">
                <a:latin typeface="Times New Roman"/>
                <a:cs typeface="Times New Roman"/>
              </a:rPr>
              <a:t>Table 1</a:t>
            </a:r>
            <a:endParaRPr/>
          </a:p>
          <a:p>
            <a:pPr marL="12700">
              <a:lnSpc>
                <a:spcPts val="1190"/>
              </a:lnSpc>
            </a:pPr>
            <a:r>
              <a:rPr sz="1000">
                <a:latin typeface="Times New Roman"/>
                <a:cs typeface="Times New Roman"/>
              </a:rPr>
              <a:t>Stimulants and destimulants in the study regarding investment attractiveness of regular dividend payers</a:t>
            </a:r>
            <a:endParaRPr/>
          </a:p>
        </p:txBody>
      </p:sp>
      <p:sp>
        <p:nvSpPr>
          <p:cNvPr id="28" name="shape 28"/>
          <p:cNvSpPr txBox="1"/>
          <p:nvPr/>
        </p:nvSpPr>
        <p:spPr>
          <a:xfrm>
            <a:off x="528320" y="9788855"/>
            <a:ext cx="1047116" cy="363220"/>
          </a:xfrm>
          <a:prstGeom prst="rect"/>
          <a:noFill/>
        </p:spPr>
        <p:txBody>
          <a:bodyPr vertOverflow="overflow" horzOverflow="overflow" numCol="1" wrap="square" lIns="0" tIns="0" rIns="0" bIns="0">
            <a:spAutoFit/>
          </a:bodyPr>
          <a:p>
            <a:pPr marL="12700"/>
            <a:r>
              <a:rPr sz="800">
                <a:latin typeface="Times New Roman"/>
                <a:cs typeface="Times New Roman"/>
              </a:rPr>
              <a:t>Source: Own preparation</a:t>
            </a:r>
            <a:endParaRPr/>
          </a:p>
          <a:p>
            <a:pPr marL="12700">
              <a:spcBef>
                <a:spcPts val="700"/>
              </a:spcBef>
            </a:pPr>
            <a:r>
              <a:rPr sz="1000" i="1">
                <a:latin typeface="Times New Roman"/>
                <a:cs typeface="Times New Roman"/>
              </a:rPr>
              <a:t>6</a:t>
            </a:r>
            <a:endParaRPr/>
          </a:p>
        </p:txBody>
      </p:sp>
      <p:grpSp>
        <p:nvGrpSpPr>
          <p:cNvPr id="29" name="shape 29"/>
          <p:cNvGrpSpPr/>
          <p:nvPr/>
        </p:nvGrpSpPr>
        <p:grpSpPr>
          <a:xfrm>
            <a:off x="1691894" y="7370953"/>
            <a:ext cx="3066924" cy="6096"/>
            <a:chOff x="0" y="0"/>
            <a:chExt cx="3066923" cy="6096"/>
          </a:xfrm>
        </p:grpSpPr>
        <p:sp>
          <p:nvSpPr>
            <p:cNvPr id="30" name="shape 30"/>
            <p:cNvSpPr/>
            <p:nvPr/>
          </p:nvSpPr>
          <p:spPr>
            <a:xfrm>
              <a:off x="0" y="0"/>
              <a:ext cx="6096" cy="6096"/>
            </a:xfrm>
            <a:prstGeom prst="rect">
              <a:avLst/>
            </a:prstGeom>
            <a:solidFill>
              <a:srgbClr val="000000"/>
            </a:solidFill>
          </p:spPr>
        </p:sp>
        <p:sp>
          <p:nvSpPr>
            <p:cNvPr id="31" name="shape 31"/>
            <p:cNvSpPr/>
            <p:nvPr/>
          </p:nvSpPr>
          <p:spPr>
            <a:xfrm>
              <a:off x="6096" y="0"/>
              <a:ext cx="803453" cy="6096"/>
            </a:xfrm>
            <a:prstGeom prst="rect">
              <a:avLst/>
            </a:prstGeom>
            <a:solidFill>
              <a:srgbClr val="000000"/>
            </a:solidFill>
          </p:spPr>
        </p:sp>
        <p:sp>
          <p:nvSpPr>
            <p:cNvPr id="32" name="shape 32"/>
            <p:cNvSpPr/>
            <p:nvPr/>
          </p:nvSpPr>
          <p:spPr>
            <a:xfrm>
              <a:off x="809625" y="0"/>
              <a:ext cx="6096" cy="6096"/>
            </a:xfrm>
            <a:prstGeom prst="rect">
              <a:avLst/>
            </a:prstGeom>
            <a:solidFill>
              <a:srgbClr val="000000"/>
            </a:solidFill>
          </p:spPr>
        </p:sp>
        <p:sp>
          <p:nvSpPr>
            <p:cNvPr id="33" name="shape 33"/>
            <p:cNvSpPr/>
            <p:nvPr/>
          </p:nvSpPr>
          <p:spPr>
            <a:xfrm>
              <a:off x="815721" y="0"/>
              <a:ext cx="1705610" cy="6096"/>
            </a:xfrm>
            <a:prstGeom prst="rect">
              <a:avLst/>
            </a:prstGeom>
            <a:solidFill>
              <a:srgbClr val="000000"/>
            </a:solidFill>
          </p:spPr>
        </p:sp>
        <p:sp>
          <p:nvSpPr>
            <p:cNvPr id="34" name="shape 34"/>
            <p:cNvSpPr/>
            <p:nvPr/>
          </p:nvSpPr>
          <p:spPr>
            <a:xfrm>
              <a:off x="2521331" y="0"/>
              <a:ext cx="6096" cy="6096"/>
            </a:xfrm>
            <a:prstGeom prst="rect">
              <a:avLst/>
            </a:prstGeom>
            <a:solidFill>
              <a:srgbClr val="000000"/>
            </a:solidFill>
          </p:spPr>
        </p:sp>
        <p:sp>
          <p:nvSpPr>
            <p:cNvPr id="35" name="shape 35"/>
            <p:cNvSpPr/>
            <p:nvPr/>
          </p:nvSpPr>
          <p:spPr>
            <a:xfrm>
              <a:off x="2527427" y="0"/>
              <a:ext cx="533400" cy="6096"/>
            </a:xfrm>
            <a:prstGeom prst="rect">
              <a:avLst/>
            </a:prstGeom>
            <a:solidFill>
              <a:srgbClr val="000000"/>
            </a:solidFill>
          </p:spPr>
        </p:sp>
        <p:sp>
          <p:nvSpPr>
            <p:cNvPr id="36" name="shape 36"/>
            <p:cNvSpPr/>
            <p:nvPr/>
          </p:nvSpPr>
          <p:spPr>
            <a:xfrm>
              <a:off x="3060827" y="0"/>
              <a:ext cx="6097" cy="6096"/>
            </a:xfrm>
            <a:prstGeom prst="rect">
              <a:avLst/>
            </a:prstGeom>
            <a:solidFill>
              <a:srgbClr val="000000"/>
            </a:solidFill>
          </p:spPr>
        </p:sp>
      </p:grpSp>
      <p:grpSp>
        <p:nvGrpSpPr>
          <p:cNvPr id="37" name="shape 37"/>
          <p:cNvGrpSpPr/>
          <p:nvPr/>
        </p:nvGrpSpPr>
        <p:grpSpPr>
          <a:xfrm>
            <a:off x="1691894" y="7521829"/>
            <a:ext cx="3066924" cy="6096"/>
            <a:chOff x="0" y="0"/>
            <a:chExt cx="3066923" cy="6096"/>
          </a:xfrm>
        </p:grpSpPr>
        <p:sp>
          <p:nvSpPr>
            <p:cNvPr id="38" name="shape 38"/>
            <p:cNvSpPr/>
            <p:nvPr/>
          </p:nvSpPr>
          <p:spPr>
            <a:xfrm>
              <a:off x="0" y="0"/>
              <a:ext cx="6096" cy="6096"/>
            </a:xfrm>
            <a:prstGeom prst="rect">
              <a:avLst/>
            </a:prstGeom>
            <a:solidFill>
              <a:srgbClr val="000000"/>
            </a:solidFill>
          </p:spPr>
        </p:sp>
        <p:sp>
          <p:nvSpPr>
            <p:cNvPr id="39" name="shape 39"/>
            <p:cNvSpPr/>
            <p:nvPr/>
          </p:nvSpPr>
          <p:spPr>
            <a:xfrm>
              <a:off x="6096" y="0"/>
              <a:ext cx="803453" cy="6096"/>
            </a:xfrm>
            <a:prstGeom prst="rect">
              <a:avLst/>
            </a:prstGeom>
            <a:solidFill>
              <a:srgbClr val="000000"/>
            </a:solidFill>
          </p:spPr>
        </p:sp>
        <p:sp>
          <p:nvSpPr>
            <p:cNvPr id="40" name="shape 40"/>
            <p:cNvSpPr/>
            <p:nvPr/>
          </p:nvSpPr>
          <p:spPr>
            <a:xfrm>
              <a:off x="809625" y="0"/>
              <a:ext cx="6096" cy="6096"/>
            </a:xfrm>
            <a:prstGeom prst="rect">
              <a:avLst/>
            </a:prstGeom>
            <a:solidFill>
              <a:srgbClr val="000000"/>
            </a:solidFill>
          </p:spPr>
        </p:sp>
        <p:sp>
          <p:nvSpPr>
            <p:cNvPr id="41" name="shape 41"/>
            <p:cNvSpPr/>
            <p:nvPr/>
          </p:nvSpPr>
          <p:spPr>
            <a:xfrm>
              <a:off x="815721" y="0"/>
              <a:ext cx="1705610" cy="6096"/>
            </a:xfrm>
            <a:prstGeom prst="rect">
              <a:avLst/>
            </a:prstGeom>
            <a:solidFill>
              <a:srgbClr val="000000"/>
            </a:solidFill>
          </p:spPr>
        </p:sp>
        <p:sp>
          <p:nvSpPr>
            <p:cNvPr id="42" name="shape 42"/>
            <p:cNvSpPr/>
            <p:nvPr/>
          </p:nvSpPr>
          <p:spPr>
            <a:xfrm>
              <a:off x="2521331" y="0"/>
              <a:ext cx="6096" cy="6096"/>
            </a:xfrm>
            <a:prstGeom prst="rect">
              <a:avLst/>
            </a:prstGeom>
            <a:solidFill>
              <a:srgbClr val="000000"/>
            </a:solidFill>
          </p:spPr>
        </p:sp>
        <p:sp>
          <p:nvSpPr>
            <p:cNvPr id="43" name="shape 43"/>
            <p:cNvSpPr/>
            <p:nvPr/>
          </p:nvSpPr>
          <p:spPr>
            <a:xfrm>
              <a:off x="2527427" y="0"/>
              <a:ext cx="533400" cy="6096"/>
            </a:xfrm>
            <a:prstGeom prst="rect">
              <a:avLst/>
            </a:prstGeom>
            <a:solidFill>
              <a:srgbClr val="000000"/>
            </a:solidFill>
          </p:spPr>
        </p:sp>
        <p:sp>
          <p:nvSpPr>
            <p:cNvPr id="44" name="shape 44"/>
            <p:cNvSpPr/>
            <p:nvPr/>
          </p:nvSpPr>
          <p:spPr>
            <a:xfrm>
              <a:off x="3060827" y="0"/>
              <a:ext cx="6097" cy="6096"/>
            </a:xfrm>
            <a:prstGeom prst="rect">
              <a:avLst/>
            </a:prstGeom>
            <a:solidFill>
              <a:srgbClr val="000000"/>
            </a:solidFill>
          </p:spPr>
        </p:sp>
      </p:grpSp>
      <p:grpSp>
        <p:nvGrpSpPr>
          <p:cNvPr id="45" name="shape 45"/>
          <p:cNvGrpSpPr/>
          <p:nvPr/>
        </p:nvGrpSpPr>
        <p:grpSpPr>
          <a:xfrm>
            <a:off x="1691894" y="7805674"/>
            <a:ext cx="3066924" cy="6096"/>
            <a:chOff x="0" y="0"/>
            <a:chExt cx="3066923" cy="6096"/>
          </a:xfrm>
        </p:grpSpPr>
        <p:sp>
          <p:nvSpPr>
            <p:cNvPr id="46" name="shape 46"/>
            <p:cNvSpPr/>
            <p:nvPr/>
          </p:nvSpPr>
          <p:spPr>
            <a:xfrm>
              <a:off x="0" y="0"/>
              <a:ext cx="6096" cy="6096"/>
            </a:xfrm>
            <a:prstGeom prst="rect">
              <a:avLst/>
            </a:prstGeom>
            <a:solidFill>
              <a:srgbClr val="000000"/>
            </a:solidFill>
          </p:spPr>
        </p:sp>
        <p:sp>
          <p:nvSpPr>
            <p:cNvPr id="47" name="shape 47"/>
            <p:cNvSpPr/>
            <p:nvPr/>
          </p:nvSpPr>
          <p:spPr>
            <a:xfrm>
              <a:off x="6096" y="0"/>
              <a:ext cx="803453" cy="6096"/>
            </a:xfrm>
            <a:prstGeom prst="rect">
              <a:avLst/>
            </a:prstGeom>
            <a:solidFill>
              <a:srgbClr val="000000"/>
            </a:solidFill>
          </p:spPr>
        </p:sp>
        <p:sp>
          <p:nvSpPr>
            <p:cNvPr id="48" name="shape 48"/>
            <p:cNvSpPr/>
            <p:nvPr/>
          </p:nvSpPr>
          <p:spPr>
            <a:xfrm>
              <a:off x="809625" y="0"/>
              <a:ext cx="6096" cy="6096"/>
            </a:xfrm>
            <a:prstGeom prst="rect">
              <a:avLst/>
            </a:prstGeom>
            <a:solidFill>
              <a:srgbClr val="000000"/>
            </a:solidFill>
          </p:spPr>
        </p:sp>
        <p:sp>
          <p:nvSpPr>
            <p:cNvPr id="49" name="shape 49"/>
            <p:cNvSpPr/>
            <p:nvPr/>
          </p:nvSpPr>
          <p:spPr>
            <a:xfrm>
              <a:off x="815721" y="0"/>
              <a:ext cx="1705610" cy="6096"/>
            </a:xfrm>
            <a:prstGeom prst="rect">
              <a:avLst/>
            </a:prstGeom>
            <a:solidFill>
              <a:srgbClr val="000000"/>
            </a:solidFill>
          </p:spPr>
        </p:sp>
        <p:sp>
          <p:nvSpPr>
            <p:cNvPr id="50" name="shape 50"/>
            <p:cNvSpPr/>
            <p:nvPr/>
          </p:nvSpPr>
          <p:spPr>
            <a:xfrm>
              <a:off x="2521331" y="0"/>
              <a:ext cx="6096" cy="6096"/>
            </a:xfrm>
            <a:prstGeom prst="rect">
              <a:avLst/>
            </a:prstGeom>
            <a:solidFill>
              <a:srgbClr val="000000"/>
            </a:solidFill>
          </p:spPr>
        </p:sp>
        <p:sp>
          <p:nvSpPr>
            <p:cNvPr id="51" name="shape 51"/>
            <p:cNvSpPr/>
            <p:nvPr/>
          </p:nvSpPr>
          <p:spPr>
            <a:xfrm>
              <a:off x="2527427" y="0"/>
              <a:ext cx="533400" cy="6096"/>
            </a:xfrm>
            <a:prstGeom prst="rect">
              <a:avLst/>
            </a:prstGeom>
            <a:solidFill>
              <a:srgbClr val="000000"/>
            </a:solidFill>
          </p:spPr>
        </p:sp>
        <p:sp>
          <p:nvSpPr>
            <p:cNvPr id="52" name="shape 52"/>
            <p:cNvSpPr/>
            <p:nvPr/>
          </p:nvSpPr>
          <p:spPr>
            <a:xfrm>
              <a:off x="3060827" y="0"/>
              <a:ext cx="6097" cy="6096"/>
            </a:xfrm>
            <a:prstGeom prst="rect">
              <a:avLst/>
            </a:prstGeom>
            <a:solidFill>
              <a:srgbClr val="000000"/>
            </a:solidFill>
          </p:spPr>
        </p:sp>
      </p:grpSp>
      <p:grpSp>
        <p:nvGrpSpPr>
          <p:cNvPr id="53" name="shape 53"/>
          <p:cNvGrpSpPr/>
          <p:nvPr/>
        </p:nvGrpSpPr>
        <p:grpSpPr>
          <a:xfrm>
            <a:off x="1691894" y="8090662"/>
            <a:ext cx="3066924" cy="6096"/>
            <a:chOff x="0" y="0"/>
            <a:chExt cx="3066923" cy="6096"/>
          </a:xfrm>
        </p:grpSpPr>
        <p:sp>
          <p:nvSpPr>
            <p:cNvPr id="54" name="shape 54"/>
            <p:cNvSpPr/>
            <p:nvPr/>
          </p:nvSpPr>
          <p:spPr>
            <a:xfrm>
              <a:off x="0" y="0"/>
              <a:ext cx="6096" cy="6096"/>
            </a:xfrm>
            <a:prstGeom prst="rect">
              <a:avLst/>
            </a:prstGeom>
            <a:solidFill>
              <a:srgbClr val="000000"/>
            </a:solidFill>
          </p:spPr>
        </p:sp>
        <p:sp>
          <p:nvSpPr>
            <p:cNvPr id="55" name="shape 55"/>
            <p:cNvSpPr/>
            <p:nvPr/>
          </p:nvSpPr>
          <p:spPr>
            <a:xfrm>
              <a:off x="6096" y="0"/>
              <a:ext cx="803453" cy="6096"/>
            </a:xfrm>
            <a:prstGeom prst="rect">
              <a:avLst/>
            </a:prstGeom>
            <a:solidFill>
              <a:srgbClr val="000000"/>
            </a:solidFill>
          </p:spPr>
        </p:sp>
        <p:sp>
          <p:nvSpPr>
            <p:cNvPr id="56" name="shape 56"/>
            <p:cNvSpPr/>
            <p:nvPr/>
          </p:nvSpPr>
          <p:spPr>
            <a:xfrm>
              <a:off x="809625" y="0"/>
              <a:ext cx="6096" cy="6096"/>
            </a:xfrm>
            <a:prstGeom prst="rect">
              <a:avLst/>
            </a:prstGeom>
            <a:solidFill>
              <a:srgbClr val="000000"/>
            </a:solidFill>
          </p:spPr>
        </p:sp>
        <p:sp>
          <p:nvSpPr>
            <p:cNvPr id="57" name="shape 57"/>
            <p:cNvSpPr/>
            <p:nvPr/>
          </p:nvSpPr>
          <p:spPr>
            <a:xfrm>
              <a:off x="815721" y="0"/>
              <a:ext cx="1705610" cy="6096"/>
            </a:xfrm>
            <a:prstGeom prst="rect">
              <a:avLst/>
            </a:prstGeom>
            <a:solidFill>
              <a:srgbClr val="000000"/>
            </a:solidFill>
          </p:spPr>
        </p:sp>
        <p:sp>
          <p:nvSpPr>
            <p:cNvPr id="58" name="shape 58"/>
            <p:cNvSpPr/>
            <p:nvPr/>
          </p:nvSpPr>
          <p:spPr>
            <a:xfrm>
              <a:off x="2521331" y="0"/>
              <a:ext cx="6096" cy="6096"/>
            </a:xfrm>
            <a:prstGeom prst="rect">
              <a:avLst/>
            </a:prstGeom>
            <a:solidFill>
              <a:srgbClr val="000000"/>
            </a:solidFill>
          </p:spPr>
        </p:sp>
        <p:sp>
          <p:nvSpPr>
            <p:cNvPr id="59" name="shape 59"/>
            <p:cNvSpPr/>
            <p:nvPr/>
          </p:nvSpPr>
          <p:spPr>
            <a:xfrm>
              <a:off x="2527427" y="0"/>
              <a:ext cx="533400" cy="6096"/>
            </a:xfrm>
            <a:prstGeom prst="rect">
              <a:avLst/>
            </a:prstGeom>
            <a:solidFill>
              <a:srgbClr val="000000"/>
            </a:solidFill>
          </p:spPr>
        </p:sp>
        <p:sp>
          <p:nvSpPr>
            <p:cNvPr id="60" name="shape 60"/>
            <p:cNvSpPr/>
            <p:nvPr/>
          </p:nvSpPr>
          <p:spPr>
            <a:xfrm>
              <a:off x="3060827" y="0"/>
              <a:ext cx="6097" cy="6096"/>
            </a:xfrm>
            <a:prstGeom prst="rect">
              <a:avLst/>
            </a:prstGeom>
            <a:solidFill>
              <a:srgbClr val="000000"/>
            </a:solidFill>
          </p:spPr>
        </p:sp>
      </p:grpSp>
      <p:grpSp>
        <p:nvGrpSpPr>
          <p:cNvPr id="61" name="shape 61"/>
          <p:cNvGrpSpPr/>
          <p:nvPr/>
        </p:nvGrpSpPr>
        <p:grpSpPr>
          <a:xfrm>
            <a:off x="1691894" y="8374126"/>
            <a:ext cx="3066924" cy="6097"/>
            <a:chOff x="0" y="0"/>
            <a:chExt cx="3066923" cy="6097"/>
          </a:xfrm>
        </p:grpSpPr>
        <p:sp>
          <p:nvSpPr>
            <p:cNvPr id="62" name="shape 62"/>
            <p:cNvSpPr/>
            <p:nvPr/>
          </p:nvSpPr>
          <p:spPr>
            <a:xfrm>
              <a:off x="0" y="0"/>
              <a:ext cx="6096" cy="6097"/>
            </a:xfrm>
            <a:prstGeom prst="rect">
              <a:avLst/>
            </a:prstGeom>
            <a:solidFill>
              <a:srgbClr val="000000"/>
            </a:solidFill>
          </p:spPr>
        </p:sp>
        <p:sp>
          <p:nvSpPr>
            <p:cNvPr id="63" name="shape 63"/>
            <p:cNvSpPr/>
            <p:nvPr/>
          </p:nvSpPr>
          <p:spPr>
            <a:xfrm>
              <a:off x="6096" y="0"/>
              <a:ext cx="803453" cy="6097"/>
            </a:xfrm>
            <a:prstGeom prst="rect">
              <a:avLst/>
            </a:prstGeom>
            <a:solidFill>
              <a:srgbClr val="000000"/>
            </a:solidFill>
          </p:spPr>
        </p:sp>
        <p:sp>
          <p:nvSpPr>
            <p:cNvPr id="64" name="shape 64"/>
            <p:cNvSpPr/>
            <p:nvPr/>
          </p:nvSpPr>
          <p:spPr>
            <a:xfrm>
              <a:off x="809625" y="0"/>
              <a:ext cx="6096" cy="6097"/>
            </a:xfrm>
            <a:prstGeom prst="rect">
              <a:avLst/>
            </a:prstGeom>
            <a:solidFill>
              <a:srgbClr val="000000"/>
            </a:solidFill>
          </p:spPr>
        </p:sp>
        <p:sp>
          <p:nvSpPr>
            <p:cNvPr id="65" name="shape 65"/>
            <p:cNvSpPr/>
            <p:nvPr/>
          </p:nvSpPr>
          <p:spPr>
            <a:xfrm>
              <a:off x="815721" y="0"/>
              <a:ext cx="1705610" cy="6097"/>
            </a:xfrm>
            <a:prstGeom prst="rect">
              <a:avLst/>
            </a:prstGeom>
            <a:solidFill>
              <a:srgbClr val="000000"/>
            </a:solidFill>
          </p:spPr>
        </p:sp>
        <p:sp>
          <p:nvSpPr>
            <p:cNvPr id="66" name="shape 66"/>
            <p:cNvSpPr/>
            <p:nvPr/>
          </p:nvSpPr>
          <p:spPr>
            <a:xfrm>
              <a:off x="2521331" y="0"/>
              <a:ext cx="6096" cy="6097"/>
            </a:xfrm>
            <a:prstGeom prst="rect">
              <a:avLst/>
            </a:prstGeom>
            <a:solidFill>
              <a:srgbClr val="000000"/>
            </a:solidFill>
          </p:spPr>
        </p:sp>
        <p:sp>
          <p:nvSpPr>
            <p:cNvPr id="67" name="shape 67"/>
            <p:cNvSpPr/>
            <p:nvPr/>
          </p:nvSpPr>
          <p:spPr>
            <a:xfrm>
              <a:off x="2527427" y="0"/>
              <a:ext cx="533400" cy="6097"/>
            </a:xfrm>
            <a:prstGeom prst="rect">
              <a:avLst/>
            </a:prstGeom>
            <a:solidFill>
              <a:srgbClr val="000000"/>
            </a:solidFill>
          </p:spPr>
        </p:sp>
        <p:sp>
          <p:nvSpPr>
            <p:cNvPr id="68" name="shape 68"/>
            <p:cNvSpPr/>
            <p:nvPr/>
          </p:nvSpPr>
          <p:spPr>
            <a:xfrm>
              <a:off x="3060827" y="0"/>
              <a:ext cx="6097" cy="6097"/>
            </a:xfrm>
            <a:prstGeom prst="rect">
              <a:avLst/>
            </a:prstGeom>
            <a:solidFill>
              <a:srgbClr val="000000"/>
            </a:solidFill>
          </p:spPr>
        </p:sp>
      </p:grpSp>
      <p:grpSp>
        <p:nvGrpSpPr>
          <p:cNvPr id="69" name="shape 69"/>
          <p:cNvGrpSpPr/>
          <p:nvPr/>
        </p:nvGrpSpPr>
        <p:grpSpPr>
          <a:xfrm>
            <a:off x="1691894" y="8657589"/>
            <a:ext cx="3066924" cy="6097"/>
            <a:chOff x="0" y="0"/>
            <a:chExt cx="3066923" cy="6097"/>
          </a:xfrm>
        </p:grpSpPr>
        <p:sp>
          <p:nvSpPr>
            <p:cNvPr id="70" name="shape 70"/>
            <p:cNvSpPr/>
            <p:nvPr/>
          </p:nvSpPr>
          <p:spPr>
            <a:xfrm>
              <a:off x="0" y="0"/>
              <a:ext cx="6096" cy="6097"/>
            </a:xfrm>
            <a:prstGeom prst="rect">
              <a:avLst/>
            </a:prstGeom>
            <a:solidFill>
              <a:srgbClr val="000000"/>
            </a:solidFill>
          </p:spPr>
        </p:sp>
        <p:sp>
          <p:nvSpPr>
            <p:cNvPr id="71" name="shape 71"/>
            <p:cNvSpPr/>
            <p:nvPr/>
          </p:nvSpPr>
          <p:spPr>
            <a:xfrm>
              <a:off x="6096" y="0"/>
              <a:ext cx="803453" cy="6097"/>
            </a:xfrm>
            <a:prstGeom prst="rect">
              <a:avLst/>
            </a:prstGeom>
            <a:solidFill>
              <a:srgbClr val="000000"/>
            </a:solidFill>
          </p:spPr>
        </p:sp>
        <p:sp>
          <p:nvSpPr>
            <p:cNvPr id="72" name="shape 72"/>
            <p:cNvSpPr/>
            <p:nvPr/>
          </p:nvSpPr>
          <p:spPr>
            <a:xfrm>
              <a:off x="809625" y="0"/>
              <a:ext cx="6096" cy="6097"/>
            </a:xfrm>
            <a:prstGeom prst="rect">
              <a:avLst/>
            </a:prstGeom>
            <a:solidFill>
              <a:srgbClr val="000000"/>
            </a:solidFill>
          </p:spPr>
        </p:sp>
        <p:sp>
          <p:nvSpPr>
            <p:cNvPr id="73" name="shape 73"/>
            <p:cNvSpPr/>
            <p:nvPr/>
          </p:nvSpPr>
          <p:spPr>
            <a:xfrm>
              <a:off x="815721" y="0"/>
              <a:ext cx="1705610" cy="6097"/>
            </a:xfrm>
            <a:prstGeom prst="rect">
              <a:avLst/>
            </a:prstGeom>
            <a:solidFill>
              <a:srgbClr val="000000"/>
            </a:solidFill>
          </p:spPr>
        </p:sp>
        <p:sp>
          <p:nvSpPr>
            <p:cNvPr id="74" name="shape 74"/>
            <p:cNvSpPr/>
            <p:nvPr/>
          </p:nvSpPr>
          <p:spPr>
            <a:xfrm>
              <a:off x="2521331" y="0"/>
              <a:ext cx="6096" cy="6097"/>
            </a:xfrm>
            <a:prstGeom prst="rect">
              <a:avLst/>
            </a:prstGeom>
            <a:solidFill>
              <a:srgbClr val="000000"/>
            </a:solidFill>
          </p:spPr>
        </p:sp>
        <p:sp>
          <p:nvSpPr>
            <p:cNvPr id="75" name="shape 75"/>
            <p:cNvSpPr/>
            <p:nvPr/>
          </p:nvSpPr>
          <p:spPr>
            <a:xfrm>
              <a:off x="2527427" y="0"/>
              <a:ext cx="533400" cy="6097"/>
            </a:xfrm>
            <a:prstGeom prst="rect">
              <a:avLst/>
            </a:prstGeom>
            <a:solidFill>
              <a:srgbClr val="000000"/>
            </a:solidFill>
          </p:spPr>
        </p:sp>
        <p:sp>
          <p:nvSpPr>
            <p:cNvPr id="76" name="shape 76"/>
            <p:cNvSpPr/>
            <p:nvPr/>
          </p:nvSpPr>
          <p:spPr>
            <a:xfrm>
              <a:off x="3060827" y="0"/>
              <a:ext cx="6097" cy="6097"/>
            </a:xfrm>
            <a:prstGeom prst="rect">
              <a:avLst/>
            </a:prstGeom>
            <a:solidFill>
              <a:srgbClr val="000000"/>
            </a:solidFill>
          </p:spPr>
        </p:sp>
      </p:grpSp>
      <p:grpSp>
        <p:nvGrpSpPr>
          <p:cNvPr id="77" name="shape 77"/>
          <p:cNvGrpSpPr/>
          <p:nvPr/>
        </p:nvGrpSpPr>
        <p:grpSpPr>
          <a:xfrm>
            <a:off x="1691894" y="8941053"/>
            <a:ext cx="3066924" cy="6097"/>
            <a:chOff x="0" y="0"/>
            <a:chExt cx="3066923" cy="6097"/>
          </a:xfrm>
        </p:grpSpPr>
        <p:sp>
          <p:nvSpPr>
            <p:cNvPr id="78" name="shape 78"/>
            <p:cNvSpPr/>
            <p:nvPr/>
          </p:nvSpPr>
          <p:spPr>
            <a:xfrm>
              <a:off x="0" y="0"/>
              <a:ext cx="6096" cy="6097"/>
            </a:xfrm>
            <a:prstGeom prst="rect">
              <a:avLst/>
            </a:prstGeom>
            <a:solidFill>
              <a:srgbClr val="000000"/>
            </a:solidFill>
          </p:spPr>
        </p:sp>
        <p:sp>
          <p:nvSpPr>
            <p:cNvPr id="79" name="shape 79"/>
            <p:cNvSpPr/>
            <p:nvPr/>
          </p:nvSpPr>
          <p:spPr>
            <a:xfrm>
              <a:off x="6096" y="0"/>
              <a:ext cx="803453" cy="6097"/>
            </a:xfrm>
            <a:prstGeom prst="rect">
              <a:avLst/>
            </a:prstGeom>
            <a:solidFill>
              <a:srgbClr val="000000"/>
            </a:solidFill>
          </p:spPr>
        </p:sp>
        <p:sp>
          <p:nvSpPr>
            <p:cNvPr id="80" name="shape 80"/>
            <p:cNvSpPr/>
            <p:nvPr/>
          </p:nvSpPr>
          <p:spPr>
            <a:xfrm>
              <a:off x="809625" y="0"/>
              <a:ext cx="6096" cy="6097"/>
            </a:xfrm>
            <a:prstGeom prst="rect">
              <a:avLst/>
            </a:prstGeom>
            <a:solidFill>
              <a:srgbClr val="000000"/>
            </a:solidFill>
          </p:spPr>
        </p:sp>
        <p:sp>
          <p:nvSpPr>
            <p:cNvPr id="81" name="shape 81"/>
            <p:cNvSpPr/>
            <p:nvPr/>
          </p:nvSpPr>
          <p:spPr>
            <a:xfrm>
              <a:off x="815721" y="0"/>
              <a:ext cx="1705610" cy="6097"/>
            </a:xfrm>
            <a:prstGeom prst="rect">
              <a:avLst/>
            </a:prstGeom>
            <a:solidFill>
              <a:srgbClr val="000000"/>
            </a:solidFill>
          </p:spPr>
        </p:sp>
        <p:sp>
          <p:nvSpPr>
            <p:cNvPr id="82" name="shape 82"/>
            <p:cNvSpPr/>
            <p:nvPr/>
          </p:nvSpPr>
          <p:spPr>
            <a:xfrm>
              <a:off x="2521331" y="0"/>
              <a:ext cx="6096" cy="6097"/>
            </a:xfrm>
            <a:prstGeom prst="rect">
              <a:avLst/>
            </a:prstGeom>
            <a:solidFill>
              <a:srgbClr val="000000"/>
            </a:solidFill>
          </p:spPr>
        </p:sp>
        <p:sp>
          <p:nvSpPr>
            <p:cNvPr id="83" name="shape 83"/>
            <p:cNvSpPr/>
            <p:nvPr/>
          </p:nvSpPr>
          <p:spPr>
            <a:xfrm>
              <a:off x="2527427" y="0"/>
              <a:ext cx="533400" cy="6097"/>
            </a:xfrm>
            <a:prstGeom prst="rect">
              <a:avLst/>
            </a:prstGeom>
            <a:solidFill>
              <a:srgbClr val="000000"/>
            </a:solidFill>
          </p:spPr>
        </p:sp>
        <p:sp>
          <p:nvSpPr>
            <p:cNvPr id="84" name="shape 84"/>
            <p:cNvSpPr/>
            <p:nvPr/>
          </p:nvSpPr>
          <p:spPr>
            <a:xfrm>
              <a:off x="3060827" y="0"/>
              <a:ext cx="6097" cy="6097"/>
            </a:xfrm>
            <a:prstGeom prst="rect">
              <a:avLst/>
            </a:prstGeom>
            <a:solidFill>
              <a:srgbClr val="000000"/>
            </a:solidFill>
          </p:spPr>
        </p:sp>
      </p:grpSp>
      <p:grpSp>
        <p:nvGrpSpPr>
          <p:cNvPr id="85" name="shape 85"/>
          <p:cNvGrpSpPr/>
          <p:nvPr/>
        </p:nvGrpSpPr>
        <p:grpSpPr>
          <a:xfrm>
            <a:off x="1691894" y="9226042"/>
            <a:ext cx="3066924" cy="6097"/>
            <a:chOff x="0" y="0"/>
            <a:chExt cx="3066923" cy="6097"/>
          </a:xfrm>
        </p:grpSpPr>
        <p:sp>
          <p:nvSpPr>
            <p:cNvPr id="86" name="shape 86"/>
            <p:cNvSpPr/>
            <p:nvPr/>
          </p:nvSpPr>
          <p:spPr>
            <a:xfrm>
              <a:off x="0" y="0"/>
              <a:ext cx="6096" cy="6097"/>
            </a:xfrm>
            <a:prstGeom prst="rect">
              <a:avLst/>
            </a:prstGeom>
            <a:solidFill>
              <a:srgbClr val="000000"/>
            </a:solidFill>
          </p:spPr>
        </p:sp>
        <p:sp>
          <p:nvSpPr>
            <p:cNvPr id="87" name="shape 87"/>
            <p:cNvSpPr/>
            <p:nvPr/>
          </p:nvSpPr>
          <p:spPr>
            <a:xfrm>
              <a:off x="6096" y="0"/>
              <a:ext cx="803453" cy="6097"/>
            </a:xfrm>
            <a:prstGeom prst="rect">
              <a:avLst/>
            </a:prstGeom>
            <a:solidFill>
              <a:srgbClr val="000000"/>
            </a:solidFill>
          </p:spPr>
        </p:sp>
        <p:sp>
          <p:nvSpPr>
            <p:cNvPr id="88" name="shape 88"/>
            <p:cNvSpPr/>
            <p:nvPr/>
          </p:nvSpPr>
          <p:spPr>
            <a:xfrm>
              <a:off x="809625" y="0"/>
              <a:ext cx="6096" cy="6097"/>
            </a:xfrm>
            <a:prstGeom prst="rect">
              <a:avLst/>
            </a:prstGeom>
            <a:solidFill>
              <a:srgbClr val="000000"/>
            </a:solidFill>
          </p:spPr>
        </p:sp>
        <p:sp>
          <p:nvSpPr>
            <p:cNvPr id="89" name="shape 89"/>
            <p:cNvSpPr/>
            <p:nvPr/>
          </p:nvSpPr>
          <p:spPr>
            <a:xfrm>
              <a:off x="815721" y="0"/>
              <a:ext cx="1705610" cy="6097"/>
            </a:xfrm>
            <a:prstGeom prst="rect">
              <a:avLst/>
            </a:prstGeom>
            <a:solidFill>
              <a:srgbClr val="000000"/>
            </a:solidFill>
          </p:spPr>
        </p:sp>
        <p:sp>
          <p:nvSpPr>
            <p:cNvPr id="90" name="shape 90"/>
            <p:cNvSpPr/>
            <p:nvPr/>
          </p:nvSpPr>
          <p:spPr>
            <a:xfrm>
              <a:off x="2521331" y="0"/>
              <a:ext cx="6096" cy="6097"/>
            </a:xfrm>
            <a:prstGeom prst="rect">
              <a:avLst/>
            </a:prstGeom>
            <a:solidFill>
              <a:srgbClr val="000000"/>
            </a:solidFill>
          </p:spPr>
        </p:sp>
        <p:sp>
          <p:nvSpPr>
            <p:cNvPr id="91" name="shape 91"/>
            <p:cNvSpPr/>
            <p:nvPr/>
          </p:nvSpPr>
          <p:spPr>
            <a:xfrm>
              <a:off x="2527427" y="0"/>
              <a:ext cx="533400" cy="6097"/>
            </a:xfrm>
            <a:prstGeom prst="rect">
              <a:avLst/>
            </a:prstGeom>
            <a:solidFill>
              <a:srgbClr val="000000"/>
            </a:solidFill>
          </p:spPr>
        </p:sp>
        <p:sp>
          <p:nvSpPr>
            <p:cNvPr id="92" name="shape 92"/>
            <p:cNvSpPr/>
            <p:nvPr/>
          </p:nvSpPr>
          <p:spPr>
            <a:xfrm>
              <a:off x="3060827" y="0"/>
              <a:ext cx="6097" cy="6097"/>
            </a:xfrm>
            <a:prstGeom prst="rect">
              <a:avLst/>
            </a:prstGeom>
            <a:solidFill>
              <a:srgbClr val="000000"/>
            </a:solidFill>
          </p:spPr>
        </p:sp>
      </p:grpSp>
      <p:grpSp>
        <p:nvGrpSpPr>
          <p:cNvPr id="93" name="shape 93"/>
          <p:cNvGrpSpPr/>
          <p:nvPr/>
        </p:nvGrpSpPr>
        <p:grpSpPr>
          <a:xfrm>
            <a:off x="1691894" y="9509455"/>
            <a:ext cx="3066924" cy="6096"/>
            <a:chOff x="0" y="0"/>
            <a:chExt cx="3066923" cy="6096"/>
          </a:xfrm>
        </p:grpSpPr>
        <p:sp>
          <p:nvSpPr>
            <p:cNvPr id="94" name="shape 94"/>
            <p:cNvSpPr/>
            <p:nvPr/>
          </p:nvSpPr>
          <p:spPr>
            <a:xfrm>
              <a:off x="0" y="0"/>
              <a:ext cx="6096" cy="6096"/>
            </a:xfrm>
            <a:prstGeom prst="rect">
              <a:avLst/>
            </a:prstGeom>
            <a:solidFill>
              <a:srgbClr val="000000"/>
            </a:solidFill>
          </p:spPr>
        </p:sp>
        <p:sp>
          <p:nvSpPr>
            <p:cNvPr id="95" name="shape 95"/>
            <p:cNvSpPr/>
            <p:nvPr/>
          </p:nvSpPr>
          <p:spPr>
            <a:xfrm>
              <a:off x="6096" y="0"/>
              <a:ext cx="803453" cy="6096"/>
            </a:xfrm>
            <a:prstGeom prst="rect">
              <a:avLst/>
            </a:prstGeom>
            <a:solidFill>
              <a:srgbClr val="000000"/>
            </a:solidFill>
          </p:spPr>
        </p:sp>
        <p:sp>
          <p:nvSpPr>
            <p:cNvPr id="96" name="shape 96"/>
            <p:cNvSpPr/>
            <p:nvPr/>
          </p:nvSpPr>
          <p:spPr>
            <a:xfrm>
              <a:off x="809625" y="0"/>
              <a:ext cx="6096" cy="6096"/>
            </a:xfrm>
            <a:prstGeom prst="rect">
              <a:avLst/>
            </a:prstGeom>
            <a:solidFill>
              <a:srgbClr val="000000"/>
            </a:solidFill>
          </p:spPr>
        </p:sp>
        <p:sp>
          <p:nvSpPr>
            <p:cNvPr id="97" name="shape 97"/>
            <p:cNvSpPr/>
            <p:nvPr/>
          </p:nvSpPr>
          <p:spPr>
            <a:xfrm>
              <a:off x="815721" y="0"/>
              <a:ext cx="1705610" cy="6096"/>
            </a:xfrm>
            <a:prstGeom prst="rect">
              <a:avLst/>
            </a:prstGeom>
            <a:solidFill>
              <a:srgbClr val="000000"/>
            </a:solidFill>
          </p:spPr>
        </p:sp>
        <p:sp>
          <p:nvSpPr>
            <p:cNvPr id="98" name="shape 98"/>
            <p:cNvSpPr/>
            <p:nvPr/>
          </p:nvSpPr>
          <p:spPr>
            <a:xfrm>
              <a:off x="2521331" y="0"/>
              <a:ext cx="6096" cy="6096"/>
            </a:xfrm>
            <a:prstGeom prst="rect">
              <a:avLst/>
            </a:prstGeom>
            <a:solidFill>
              <a:srgbClr val="000000"/>
            </a:solidFill>
          </p:spPr>
        </p:sp>
        <p:sp>
          <p:nvSpPr>
            <p:cNvPr id="99" name="shape 99"/>
            <p:cNvSpPr/>
            <p:nvPr/>
          </p:nvSpPr>
          <p:spPr>
            <a:xfrm>
              <a:off x="2527427" y="0"/>
              <a:ext cx="533400" cy="6096"/>
            </a:xfrm>
            <a:prstGeom prst="rect">
              <a:avLst/>
            </a:prstGeom>
            <a:solidFill>
              <a:srgbClr val="000000"/>
            </a:solidFill>
          </p:spPr>
        </p:sp>
        <p:sp>
          <p:nvSpPr>
            <p:cNvPr id="100" name="shape 100"/>
            <p:cNvSpPr/>
            <p:nvPr/>
          </p:nvSpPr>
          <p:spPr>
            <a:xfrm>
              <a:off x="3060827" y="0"/>
              <a:ext cx="6097" cy="6096"/>
            </a:xfrm>
            <a:prstGeom prst="rect">
              <a:avLst/>
            </a:prstGeom>
            <a:solidFill>
              <a:srgbClr val="000000"/>
            </a:solidFill>
          </p:spPr>
        </p:sp>
      </p:grpSp>
      <p:grpSp>
        <p:nvGrpSpPr>
          <p:cNvPr id="101" name="shape 101"/>
          <p:cNvGrpSpPr/>
          <p:nvPr/>
        </p:nvGrpSpPr>
        <p:grpSpPr>
          <a:xfrm>
            <a:off x="1682750" y="9792919"/>
            <a:ext cx="3069972" cy="6096"/>
            <a:chOff x="0" y="0"/>
            <a:chExt cx="3069971" cy="6096"/>
          </a:xfrm>
        </p:grpSpPr>
        <p:sp>
          <p:nvSpPr>
            <p:cNvPr id="102" name="shape 102"/>
            <p:cNvSpPr/>
            <p:nvPr/>
          </p:nvSpPr>
          <p:spPr>
            <a:xfrm>
              <a:off x="0" y="0"/>
              <a:ext cx="6096" cy="6096"/>
            </a:xfrm>
            <a:prstGeom prst="rect">
              <a:avLst/>
            </a:prstGeom>
            <a:solidFill>
              <a:srgbClr val="000000"/>
            </a:solidFill>
          </p:spPr>
        </p:sp>
        <p:sp>
          <p:nvSpPr>
            <p:cNvPr id="103" name="shape 103"/>
            <p:cNvSpPr/>
            <p:nvPr/>
          </p:nvSpPr>
          <p:spPr>
            <a:xfrm>
              <a:off x="6096" y="0"/>
              <a:ext cx="812597" cy="6096"/>
            </a:xfrm>
            <a:prstGeom prst="rect">
              <a:avLst/>
            </a:prstGeom>
            <a:solidFill>
              <a:srgbClr val="000000"/>
            </a:solidFill>
          </p:spPr>
        </p:sp>
        <p:sp>
          <p:nvSpPr>
            <p:cNvPr id="104" name="shape 104"/>
            <p:cNvSpPr/>
            <p:nvPr/>
          </p:nvSpPr>
          <p:spPr>
            <a:xfrm>
              <a:off x="809625" y="0"/>
              <a:ext cx="6096" cy="6096"/>
            </a:xfrm>
            <a:prstGeom prst="rect">
              <a:avLst/>
            </a:prstGeom>
            <a:solidFill>
              <a:srgbClr val="000000"/>
            </a:solidFill>
          </p:spPr>
        </p:sp>
        <p:sp>
          <p:nvSpPr>
            <p:cNvPr id="105" name="shape 105"/>
            <p:cNvSpPr/>
            <p:nvPr/>
          </p:nvSpPr>
          <p:spPr>
            <a:xfrm>
              <a:off x="815721" y="0"/>
              <a:ext cx="1714754" cy="6096"/>
            </a:xfrm>
            <a:prstGeom prst="rect">
              <a:avLst/>
            </a:prstGeom>
            <a:solidFill>
              <a:srgbClr val="000000"/>
            </a:solidFill>
          </p:spPr>
        </p:sp>
        <p:sp>
          <p:nvSpPr>
            <p:cNvPr id="106" name="shape 106"/>
            <p:cNvSpPr/>
            <p:nvPr/>
          </p:nvSpPr>
          <p:spPr>
            <a:xfrm>
              <a:off x="2521331" y="0"/>
              <a:ext cx="6096" cy="6096"/>
            </a:xfrm>
            <a:prstGeom prst="rect">
              <a:avLst/>
            </a:prstGeom>
            <a:solidFill>
              <a:srgbClr val="000000"/>
            </a:solidFill>
          </p:spPr>
        </p:sp>
        <p:sp>
          <p:nvSpPr>
            <p:cNvPr id="107" name="shape 107"/>
            <p:cNvSpPr/>
            <p:nvPr/>
          </p:nvSpPr>
          <p:spPr>
            <a:xfrm>
              <a:off x="2527427" y="0"/>
              <a:ext cx="542544" cy="6096"/>
            </a:xfrm>
            <a:prstGeom prst="rect">
              <a:avLst/>
            </a:prstGeom>
            <a:solidFill>
              <a:srgbClr val="000000"/>
            </a:solidFill>
          </p:spPr>
        </p:sp>
        <p:sp>
          <p:nvSpPr>
            <p:cNvPr id="108" name="shape 108"/>
            <p:cNvSpPr/>
            <p:nvPr/>
          </p:nvSpPr>
          <p:spPr>
            <a:xfrm>
              <a:off x="3060827" y="0"/>
              <a:ext cx="6097" cy="6096"/>
            </a:xfrm>
            <a:prstGeom prst="rect">
              <a:avLst/>
            </a:prstGeom>
            <a:solidFill>
              <a:srgbClr val="000000"/>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p:nvPr/>
        </p:nvSpPr>
        <p:spPr>
          <a:xfrm>
            <a:off x="541020" y="2360930"/>
            <a:ext cx="958901" cy="6096"/>
          </a:xfrm>
          <a:prstGeom prst="rect">
            <a:avLst/>
          </a:prstGeom>
          <a:solidFill>
            <a:srgbClr val="000000"/>
          </a:solidFill>
        </p:spPr>
      </p:sp>
      <p:sp>
        <p:nvSpPr>
          <p:cNvPr id="3" name="shape 3"/>
          <p:cNvSpPr/>
          <p:nvPr/>
        </p:nvSpPr>
        <p:spPr>
          <a:xfrm>
            <a:off x="1505966" y="2360930"/>
            <a:ext cx="5484622" cy="6096"/>
          </a:xfrm>
          <a:prstGeom prst="rect">
            <a:avLst/>
          </a:prstGeom>
          <a:solidFill>
            <a:srgbClr val="000000"/>
          </a:solidFill>
        </p:spPr>
      </p:sp>
      <p:grpSp>
        <p:nvGrpSpPr>
          <p:cNvPr id="4" name="shape 4"/>
          <p:cNvGrpSpPr/>
          <p:nvPr/>
        </p:nvGrpSpPr>
        <p:grpSpPr>
          <a:xfrm>
            <a:off x="2655289" y="2742473"/>
            <a:ext cx="72932" cy="347577"/>
            <a:chOff x="0" y="0"/>
            <a:chExt cx="72932" cy="347577"/>
          </a:xfrm>
        </p:grpSpPr>
        <p:sp>
          <p:nvSpPr>
            <p:cNvPr id="5" name="shape 5"/>
            <p:cNvSpPr/>
            <p:nvPr/>
          </p:nvSpPr>
          <p:spPr>
            <a:xfrm>
              <a:off x="0" y="217753"/>
              <a:ext cx="38000" cy="129824"/>
            </a:xfrm>
            <a:custGeom>
              <a:pathLst>
                <a:path w="37999" h="129823">
                  <a:moveTo>
                    <a:pt x="6252" y="1214"/>
                  </a:moveTo>
                  <a:lnTo>
                    <a:pt x="31747" y="128609"/>
                  </a:lnTo>
                </a:path>
              </a:pathLst>
            </a:custGeom>
            <a:ln w="12651" cap="flat">
              <a:solidFill>
                <a:srgbClr val="000000"/>
              </a:solidFill>
              <a:prstDash val="solid"/>
              <a:round/>
            </a:ln>
          </p:spPr>
        </p:sp>
        <p:sp>
          <p:nvSpPr>
            <p:cNvPr id="6" name="shape 6"/>
            <p:cNvSpPr/>
            <p:nvPr/>
          </p:nvSpPr>
          <p:spPr>
            <a:xfrm>
              <a:off x="31920" y="0"/>
              <a:ext cx="41012" cy="346677"/>
            </a:xfrm>
            <a:custGeom>
              <a:pathLst>
                <a:path w="41011" h="346676">
                  <a:moveTo>
                    <a:pt x="3248" y="346362"/>
                  </a:moveTo>
                  <a:lnTo>
                    <a:pt x="37762" y="314"/>
                  </a:lnTo>
                </a:path>
              </a:pathLst>
            </a:custGeom>
            <a:ln w="6480" cap="flat">
              <a:solidFill>
                <a:srgbClr val="000000"/>
              </a:solidFill>
              <a:prstDash val="solid"/>
              <a:round/>
            </a:ln>
          </p:spPr>
        </p:sp>
      </p:grpSp>
      <p:sp>
        <p:nvSpPr>
          <p:cNvPr id="7" name="shape 7"/>
          <p:cNvSpPr/>
          <p:nvPr/>
        </p:nvSpPr>
        <p:spPr>
          <a:xfrm>
            <a:off x="541020" y="2505710"/>
            <a:ext cx="958901" cy="6096"/>
          </a:xfrm>
          <a:prstGeom prst="rect">
            <a:avLst/>
          </a:prstGeom>
          <a:solidFill>
            <a:srgbClr val="000000"/>
          </a:solidFill>
        </p:spPr>
      </p:sp>
      <p:sp>
        <p:nvSpPr>
          <p:cNvPr id="8" name="shape 8"/>
          <p:cNvSpPr/>
          <p:nvPr/>
        </p:nvSpPr>
        <p:spPr>
          <a:xfrm>
            <a:off x="1505966" y="2505710"/>
            <a:ext cx="5484622" cy="6096"/>
          </a:xfrm>
          <a:prstGeom prst="rect">
            <a:avLst/>
          </a:prstGeom>
          <a:solidFill>
            <a:srgbClr val="000000"/>
          </a:solidFill>
        </p:spPr>
      </p:sp>
      <p:sp>
        <p:nvSpPr>
          <p:cNvPr id="9" name="shape 9"/>
          <p:cNvSpPr/>
          <p:nvPr/>
        </p:nvSpPr>
        <p:spPr>
          <a:xfrm>
            <a:off x="541020" y="3135122"/>
            <a:ext cx="958901" cy="6096"/>
          </a:xfrm>
          <a:prstGeom prst="rect">
            <a:avLst/>
          </a:prstGeom>
          <a:solidFill>
            <a:srgbClr val="000000"/>
          </a:solidFill>
        </p:spPr>
      </p:sp>
      <p:sp>
        <p:nvSpPr>
          <p:cNvPr id="10" name="shape 10"/>
          <p:cNvSpPr/>
          <p:nvPr/>
        </p:nvSpPr>
        <p:spPr>
          <a:xfrm>
            <a:off x="1505966" y="3135122"/>
            <a:ext cx="5484622" cy="6096"/>
          </a:xfrm>
          <a:prstGeom prst="rect">
            <a:avLst/>
          </a:prstGeom>
          <a:solidFill>
            <a:srgbClr val="000000"/>
          </a:solidFill>
        </p:spPr>
      </p:sp>
      <p:sp>
        <p:nvSpPr>
          <p:cNvPr id="11" name="shape 11"/>
          <p:cNvSpPr/>
          <p:nvPr/>
        </p:nvSpPr>
        <p:spPr>
          <a:xfrm>
            <a:off x="541020" y="3522599"/>
            <a:ext cx="958901" cy="6096"/>
          </a:xfrm>
          <a:prstGeom prst="rect">
            <a:avLst/>
          </a:prstGeom>
          <a:solidFill>
            <a:srgbClr val="000000"/>
          </a:solidFill>
        </p:spPr>
      </p:sp>
      <p:sp>
        <p:nvSpPr>
          <p:cNvPr id="12" name="shape 12"/>
          <p:cNvSpPr/>
          <p:nvPr/>
        </p:nvSpPr>
        <p:spPr>
          <a:xfrm>
            <a:off x="1505966" y="3522599"/>
            <a:ext cx="5484622" cy="6096"/>
          </a:xfrm>
          <a:prstGeom prst="rect">
            <a:avLst/>
          </a:prstGeom>
          <a:solidFill>
            <a:srgbClr val="000000"/>
          </a:solidFill>
        </p:spPr>
      </p:sp>
      <p:sp>
        <p:nvSpPr>
          <p:cNvPr id="13" name="shape 13"/>
          <p:cNvSpPr/>
          <p:nvPr/>
        </p:nvSpPr>
        <p:spPr>
          <a:xfrm>
            <a:off x="2687689" y="4475571"/>
            <a:ext cx="37832" cy="132280"/>
          </a:xfrm>
          <a:custGeom>
            <a:pathLst>
              <a:path w="37831" h="132279">
                <a:moveTo>
                  <a:pt x="6233" y="1105"/>
                </a:moveTo>
                <a:lnTo>
                  <a:pt x="31597" y="131174"/>
                </a:lnTo>
              </a:path>
            </a:pathLst>
          </a:custGeom>
          <a:ln w="12387" cap="flat">
            <a:solidFill>
              <a:srgbClr val="000000"/>
            </a:solidFill>
            <a:prstDash val="solid"/>
            <a:round/>
          </a:ln>
        </p:spPr>
      </p:sp>
      <p:grpSp>
        <p:nvGrpSpPr>
          <p:cNvPr id="14" name="shape 14"/>
          <p:cNvGrpSpPr/>
          <p:nvPr/>
        </p:nvGrpSpPr>
        <p:grpSpPr>
          <a:xfrm>
            <a:off x="2685743" y="4673716"/>
            <a:ext cx="72213" cy="353235"/>
            <a:chOff x="0" y="0"/>
            <a:chExt cx="72213" cy="353235"/>
          </a:xfrm>
        </p:grpSpPr>
        <p:sp>
          <p:nvSpPr>
            <p:cNvPr id="15" name="shape 15"/>
            <p:cNvSpPr/>
            <p:nvPr/>
          </p:nvSpPr>
          <p:spPr>
            <a:xfrm>
              <a:off x="0" y="220955"/>
              <a:ext cx="37889" cy="132280"/>
            </a:xfrm>
            <a:custGeom>
              <a:pathLst>
                <a:path w="37888" h="132279">
                  <a:moveTo>
                    <a:pt x="6243" y="1105"/>
                  </a:moveTo>
                  <a:lnTo>
                    <a:pt x="31645" y="131173"/>
                  </a:lnTo>
                </a:path>
              </a:pathLst>
            </a:custGeom>
            <a:ln w="12396" cap="flat">
              <a:solidFill>
                <a:srgbClr val="000000"/>
              </a:solidFill>
              <a:prstDash val="solid"/>
              <a:round/>
            </a:ln>
          </p:spPr>
        </p:sp>
        <p:sp>
          <p:nvSpPr>
            <p:cNvPr id="16" name="shape 16"/>
            <p:cNvSpPr/>
            <p:nvPr/>
          </p:nvSpPr>
          <p:spPr>
            <a:xfrm>
              <a:off x="31654" y="0"/>
              <a:ext cx="40559" cy="352403"/>
            </a:xfrm>
            <a:custGeom>
              <a:pathLst>
                <a:path w="40558" h="352402">
                  <a:moveTo>
                    <a:pt x="3084" y="352129"/>
                  </a:moveTo>
                  <a:lnTo>
                    <a:pt x="37474" y="273"/>
                  </a:lnTo>
                </a:path>
              </a:pathLst>
            </a:custGeom>
            <a:ln w="6047" cap="flat">
              <a:solidFill>
                <a:srgbClr val="000000"/>
              </a:solidFill>
              <a:prstDash val="solid"/>
              <a:round/>
            </a:ln>
          </p:spPr>
        </p:sp>
      </p:grpSp>
      <p:sp>
        <p:nvSpPr>
          <p:cNvPr id="17" name="shape 17"/>
          <p:cNvSpPr/>
          <p:nvPr/>
        </p:nvSpPr>
        <p:spPr>
          <a:xfrm>
            <a:off x="541020" y="4214495"/>
            <a:ext cx="958901" cy="6097"/>
          </a:xfrm>
          <a:prstGeom prst="rect">
            <a:avLst/>
          </a:prstGeom>
          <a:solidFill>
            <a:srgbClr val="000000"/>
          </a:solidFill>
        </p:spPr>
      </p:sp>
      <p:sp>
        <p:nvSpPr>
          <p:cNvPr id="18" name="shape 18"/>
          <p:cNvSpPr/>
          <p:nvPr/>
        </p:nvSpPr>
        <p:spPr>
          <a:xfrm>
            <a:off x="1505966" y="4214495"/>
            <a:ext cx="5484622" cy="6097"/>
          </a:xfrm>
          <a:prstGeom prst="rect">
            <a:avLst/>
          </a:prstGeom>
          <a:solidFill>
            <a:srgbClr val="000000"/>
          </a:solidFill>
        </p:spPr>
      </p:sp>
      <p:sp>
        <p:nvSpPr>
          <p:cNvPr id="19" name="shape 19"/>
          <p:cNvSpPr/>
          <p:nvPr/>
        </p:nvSpPr>
        <p:spPr>
          <a:xfrm>
            <a:off x="541020" y="5060315"/>
            <a:ext cx="958901" cy="6097"/>
          </a:xfrm>
          <a:prstGeom prst="rect">
            <a:avLst/>
          </a:prstGeom>
          <a:solidFill>
            <a:srgbClr val="000000"/>
          </a:solidFill>
        </p:spPr>
      </p:sp>
      <p:sp>
        <p:nvSpPr>
          <p:cNvPr id="20" name="shape 20"/>
          <p:cNvSpPr/>
          <p:nvPr/>
        </p:nvSpPr>
        <p:spPr>
          <a:xfrm>
            <a:off x="1505966" y="5060315"/>
            <a:ext cx="5484622" cy="6097"/>
          </a:xfrm>
          <a:prstGeom prst="rect">
            <a:avLst/>
          </a:prstGeom>
          <a:solidFill>
            <a:srgbClr val="000000"/>
          </a:solidFill>
        </p:spPr>
      </p:sp>
      <p:sp>
        <p:nvSpPr>
          <p:cNvPr id="21" name="shape 21"/>
          <p:cNvSpPr/>
          <p:nvPr/>
        </p:nvSpPr>
        <p:spPr>
          <a:xfrm>
            <a:off x="541020" y="5504053"/>
            <a:ext cx="958901" cy="6097"/>
          </a:xfrm>
          <a:prstGeom prst="rect">
            <a:avLst/>
          </a:prstGeom>
          <a:solidFill>
            <a:srgbClr val="000000"/>
          </a:solidFill>
        </p:spPr>
      </p:sp>
      <p:sp>
        <p:nvSpPr>
          <p:cNvPr id="22" name="shape 22"/>
          <p:cNvSpPr/>
          <p:nvPr/>
        </p:nvSpPr>
        <p:spPr>
          <a:xfrm>
            <a:off x="1505966" y="5504053"/>
            <a:ext cx="5484622" cy="6097"/>
          </a:xfrm>
          <a:prstGeom prst="rect">
            <a:avLst/>
          </a:prstGeom>
          <a:solidFill>
            <a:srgbClr val="000000"/>
          </a:solidFill>
        </p:spPr>
      </p:sp>
      <p:sp>
        <p:nvSpPr>
          <p:cNvPr id="23" name="shape 23"/>
          <p:cNvSpPr/>
          <p:nvPr/>
        </p:nvSpPr>
        <p:spPr>
          <a:xfrm>
            <a:off x="531876" y="6621145"/>
            <a:ext cx="968045" cy="6096"/>
          </a:xfrm>
          <a:prstGeom prst="rect">
            <a:avLst/>
          </a:prstGeom>
          <a:solidFill>
            <a:srgbClr val="000000"/>
          </a:solidFill>
        </p:spPr>
      </p:sp>
      <p:sp>
        <p:nvSpPr>
          <p:cNvPr id="24" name="shape 24"/>
          <p:cNvSpPr/>
          <p:nvPr/>
        </p:nvSpPr>
        <p:spPr>
          <a:xfrm>
            <a:off x="1496822" y="6621145"/>
            <a:ext cx="5493766" cy="6096"/>
          </a:xfrm>
          <a:prstGeom prst="rect">
            <a:avLst/>
          </a:prstGeom>
          <a:solidFill>
            <a:srgbClr val="000000"/>
          </a:solidFill>
        </p:spPr>
      </p:sp>
      <p:sp>
        <p:nvSpPr>
          <p:cNvPr id="25" name="shape 25"/>
          <p:cNvSpPr/>
          <p:nvPr/>
        </p:nvSpPr>
        <p:spPr>
          <a:xfrm>
            <a:off x="2085973" y="7677529"/>
            <a:ext cx="320775" cy="3073"/>
          </a:xfrm>
          <a:custGeom>
            <a:pathLst>
              <a:path w="320774" h="3072">
                <a:moveTo>
                  <a:pt x="0" y="1536"/>
                </a:moveTo>
                <a:lnTo>
                  <a:pt x="320774" y="1536"/>
                </a:lnTo>
              </a:path>
            </a:pathLst>
          </a:custGeom>
          <a:ln w="3077" cap="flat">
            <a:solidFill>
              <a:srgbClr val="000000"/>
            </a:solidFill>
            <a:prstDash val="solid"/>
            <a:round/>
          </a:ln>
        </p:spPr>
      </p:sp>
      <p:sp>
        <p:nvSpPr>
          <p:cNvPr id="26" name="shape 26"/>
          <p:cNvSpPr/>
          <p:nvPr/>
        </p:nvSpPr>
        <p:spPr>
          <a:xfrm>
            <a:off x="2845231" y="7677529"/>
            <a:ext cx="291155" cy="3073"/>
          </a:xfrm>
          <a:custGeom>
            <a:pathLst>
              <a:path w="291154" h="3072">
                <a:moveTo>
                  <a:pt x="0" y="1536"/>
                </a:moveTo>
                <a:lnTo>
                  <a:pt x="291154" y="1536"/>
                </a:lnTo>
              </a:path>
            </a:pathLst>
          </a:custGeom>
          <a:ln w="3077" cap="flat">
            <a:solidFill>
              <a:srgbClr val="000000"/>
            </a:solidFill>
            <a:prstDash val="solid"/>
            <a:round/>
          </a:ln>
        </p:spPr>
      </p:sp>
      <p:sp>
        <p:nvSpPr>
          <p:cNvPr id="27" name="shape 27"/>
          <p:cNvSpPr/>
          <p:nvPr/>
        </p:nvSpPr>
        <p:spPr>
          <a:xfrm>
            <a:off x="2157772" y="8215526"/>
            <a:ext cx="321077" cy="3073"/>
          </a:xfrm>
          <a:custGeom>
            <a:pathLst>
              <a:path w="321076" h="3072">
                <a:moveTo>
                  <a:pt x="0" y="1536"/>
                </a:moveTo>
                <a:lnTo>
                  <a:pt x="321076" y="1536"/>
                </a:lnTo>
              </a:path>
            </a:pathLst>
          </a:custGeom>
          <a:ln w="3077" cap="flat">
            <a:solidFill>
              <a:srgbClr val="000000"/>
            </a:solidFill>
            <a:prstDash val="solid"/>
            <a:round/>
          </a:ln>
        </p:spPr>
      </p:sp>
      <p:sp>
        <p:nvSpPr>
          <p:cNvPr id="28" name="shape 28"/>
          <p:cNvSpPr/>
          <p:nvPr/>
        </p:nvSpPr>
        <p:spPr>
          <a:xfrm>
            <a:off x="2917358" y="8215526"/>
            <a:ext cx="291155" cy="3073"/>
          </a:xfrm>
          <a:custGeom>
            <a:pathLst>
              <a:path w="291154" h="3072">
                <a:moveTo>
                  <a:pt x="0" y="1536"/>
                </a:moveTo>
                <a:lnTo>
                  <a:pt x="291154" y="1536"/>
                </a:lnTo>
              </a:path>
            </a:pathLst>
          </a:custGeom>
          <a:ln w="3077" cap="flat">
            <a:solidFill>
              <a:srgbClr val="000000"/>
            </a:solidFill>
            <a:prstDash val="solid"/>
            <a:round/>
          </a:ln>
        </p:spPr>
      </p:sp>
      <p:sp>
        <p:nvSpPr>
          <p:cNvPr id="29" name="shape 29"/>
          <p:cNvSpPr/>
          <p:nvPr/>
        </p:nvSpPr>
        <p:spPr>
          <a:xfrm>
            <a:off x="1646266" y="8021804"/>
            <a:ext cx="2483247" cy="6453"/>
          </a:xfrm>
          <a:custGeom>
            <a:pathLst>
              <a:path w="2483246" h="6452">
                <a:moveTo>
                  <a:pt x="0" y="3226"/>
                </a:moveTo>
                <a:lnTo>
                  <a:pt x="2483246" y="3226"/>
                </a:lnTo>
              </a:path>
            </a:pathLst>
          </a:custGeom>
          <a:ln w="6462" cap="flat">
            <a:solidFill>
              <a:srgbClr val="000000"/>
            </a:solidFill>
            <a:prstDash val="solid"/>
            <a:round/>
          </a:ln>
        </p:spPr>
      </p:sp>
      <p:sp>
        <p:nvSpPr>
          <p:cNvPr id="30" name="shape 30"/>
          <p:cNvSpPr txBox="1"/>
          <p:nvPr/>
        </p:nvSpPr>
        <p:spPr>
          <a:xfrm>
            <a:off x="3129234" y="8378911"/>
            <a:ext cx="61595" cy="110490"/>
          </a:xfrm>
          <a:prstGeom prst="rect"/>
          <a:noFill/>
        </p:spPr>
        <p:txBody>
          <a:bodyPr vertOverflow="overflow" horzOverflow="overflow" numCol="1" wrap="square" lIns="0" tIns="0" rIns="0" bIns="0">
            <a:spAutoFit/>
          </a:bodyPr>
          <a:p>
            <a:pPr marL="12700"/>
            <a:r>
              <a:rPr sz="600" i="1" spc="-25">
                <a:latin typeface="Times New Roman"/>
                <a:cs typeface="Times New Roman"/>
              </a:rPr>
              <a:t>ij</a:t>
            </a:r>
            <a:endParaRPr/>
          </a:p>
        </p:txBody>
      </p:sp>
      <p:sp>
        <p:nvSpPr>
          <p:cNvPr id="31" name="shape 31"/>
          <p:cNvSpPr txBox="1"/>
          <p:nvPr/>
        </p:nvSpPr>
        <p:spPr>
          <a:xfrm>
            <a:off x="3054333" y="8103007"/>
            <a:ext cx="61595" cy="110490"/>
          </a:xfrm>
          <a:prstGeom prst="rect"/>
          <a:noFill/>
        </p:spPr>
        <p:txBody>
          <a:bodyPr vertOverflow="overflow" horzOverflow="overflow" numCol="1" wrap="square" lIns="0" tIns="0" rIns="0" bIns="0">
            <a:spAutoFit/>
          </a:bodyPr>
          <a:p>
            <a:pPr marL="12700"/>
            <a:r>
              <a:rPr sz="600" i="1" spc="-25">
                <a:latin typeface="Times New Roman"/>
                <a:cs typeface="Times New Roman"/>
              </a:rPr>
              <a:t>ij</a:t>
            </a:r>
            <a:endParaRPr/>
          </a:p>
        </p:txBody>
      </p:sp>
      <p:sp>
        <p:nvSpPr>
          <p:cNvPr id="32" name="shape 32"/>
          <p:cNvSpPr txBox="1"/>
          <p:nvPr/>
        </p:nvSpPr>
        <p:spPr>
          <a:xfrm>
            <a:off x="2674786" y="8206233"/>
            <a:ext cx="61595" cy="110490"/>
          </a:xfrm>
          <a:prstGeom prst="rect"/>
          <a:noFill/>
        </p:spPr>
        <p:txBody>
          <a:bodyPr vertOverflow="overflow" horzOverflow="overflow" numCol="1" wrap="square" lIns="0" tIns="0" rIns="0" bIns="0">
            <a:spAutoFit/>
          </a:bodyPr>
          <a:p>
            <a:pPr marL="12700"/>
            <a:r>
              <a:rPr sz="600" i="1" spc="-25">
                <a:latin typeface="Times New Roman"/>
                <a:cs typeface="Times New Roman"/>
              </a:rPr>
              <a:t>ij</a:t>
            </a:r>
            <a:endParaRPr/>
          </a:p>
        </p:txBody>
      </p:sp>
      <p:sp>
        <p:nvSpPr>
          <p:cNvPr id="33" name="shape 33"/>
          <p:cNvSpPr txBox="1"/>
          <p:nvPr/>
        </p:nvSpPr>
        <p:spPr>
          <a:xfrm>
            <a:off x="3057485" y="7840918"/>
            <a:ext cx="61595" cy="110490"/>
          </a:xfrm>
          <a:prstGeom prst="rect"/>
          <a:noFill/>
        </p:spPr>
        <p:txBody>
          <a:bodyPr vertOverflow="overflow" horzOverflow="overflow" numCol="1" wrap="square" lIns="0" tIns="0" rIns="0" bIns="0">
            <a:spAutoFit/>
          </a:bodyPr>
          <a:p>
            <a:pPr marL="12700"/>
            <a:r>
              <a:rPr sz="600" i="1" spc="-25">
                <a:latin typeface="Times New Roman"/>
                <a:cs typeface="Times New Roman"/>
              </a:rPr>
              <a:t>ij</a:t>
            </a:r>
            <a:endParaRPr/>
          </a:p>
        </p:txBody>
      </p:sp>
      <p:sp>
        <p:nvSpPr>
          <p:cNvPr id="34" name="shape 34"/>
          <p:cNvSpPr txBox="1"/>
          <p:nvPr/>
        </p:nvSpPr>
        <p:spPr>
          <a:xfrm>
            <a:off x="2982332" y="7565010"/>
            <a:ext cx="61595" cy="110490"/>
          </a:xfrm>
          <a:prstGeom prst="rect"/>
          <a:noFill/>
        </p:spPr>
        <p:txBody>
          <a:bodyPr vertOverflow="overflow" horzOverflow="overflow" numCol="1" wrap="square" lIns="0" tIns="0" rIns="0" bIns="0">
            <a:spAutoFit/>
          </a:bodyPr>
          <a:p>
            <a:pPr marL="12700"/>
            <a:r>
              <a:rPr sz="600" i="1" spc="-25">
                <a:latin typeface="Times New Roman"/>
                <a:cs typeface="Times New Roman"/>
              </a:rPr>
              <a:t>ij</a:t>
            </a:r>
            <a:endParaRPr/>
          </a:p>
        </p:txBody>
      </p:sp>
      <p:sp>
        <p:nvSpPr>
          <p:cNvPr id="35" name="shape 35"/>
          <p:cNvSpPr txBox="1"/>
          <p:nvPr/>
        </p:nvSpPr>
        <p:spPr>
          <a:xfrm>
            <a:off x="2602659" y="7668249"/>
            <a:ext cx="61595" cy="110490"/>
          </a:xfrm>
          <a:prstGeom prst="rect"/>
          <a:noFill/>
        </p:spPr>
        <p:txBody>
          <a:bodyPr vertOverflow="overflow" horzOverflow="overflow" numCol="1" wrap="square" lIns="0" tIns="0" rIns="0" bIns="0">
            <a:spAutoFit/>
          </a:bodyPr>
          <a:p>
            <a:pPr marL="12700"/>
            <a:r>
              <a:rPr sz="600" i="1" spc="-25">
                <a:latin typeface="Times New Roman"/>
                <a:cs typeface="Times New Roman"/>
              </a:rPr>
              <a:t>ij</a:t>
            </a:r>
            <a:endParaRPr/>
          </a:p>
        </p:txBody>
      </p:sp>
      <p:sp>
        <p:nvSpPr>
          <p:cNvPr id="36" name="shape 36"/>
          <p:cNvSpPr txBox="1"/>
          <p:nvPr/>
        </p:nvSpPr>
        <p:spPr>
          <a:xfrm>
            <a:off x="1443144" y="8014203"/>
            <a:ext cx="46990" cy="110490"/>
          </a:xfrm>
          <a:prstGeom prst="rect"/>
          <a:noFill/>
        </p:spPr>
        <p:txBody>
          <a:bodyPr vertOverflow="overflow" horzOverflow="overflow" numCol="1" wrap="square" lIns="0" tIns="0" rIns="0" bIns="0">
            <a:spAutoFit/>
          </a:bodyPr>
          <a:p>
            <a:pPr marL="12700"/>
            <a:r>
              <a:rPr sz="600" i="1">
                <a:latin typeface="Times New Roman"/>
                <a:cs typeface="Times New Roman"/>
              </a:rPr>
              <a:t>j</a:t>
            </a:r>
            <a:endParaRPr/>
          </a:p>
        </p:txBody>
      </p:sp>
      <p:sp>
        <p:nvSpPr>
          <p:cNvPr id="37" name="shape 37"/>
          <p:cNvSpPr txBox="1"/>
          <p:nvPr/>
        </p:nvSpPr>
        <p:spPr>
          <a:xfrm>
            <a:off x="2996203" y="8011304"/>
            <a:ext cx="88265" cy="180975"/>
          </a:xfrm>
          <a:prstGeom prst="rect"/>
          <a:noFill/>
        </p:spPr>
        <p:txBody>
          <a:bodyPr vertOverflow="overflow" horzOverflow="overflow" numCol="1" wrap="square" lIns="0" tIns="0" rIns="0" bIns="0">
            <a:spAutoFit/>
          </a:bodyPr>
          <a:p>
            <a:pPr marL="12700"/>
            <a:r>
              <a:rPr sz="1100" i="1">
                <a:latin typeface="Times New Roman"/>
                <a:cs typeface="Times New Roman"/>
              </a:rPr>
              <a:t>x</a:t>
            </a:r>
            <a:endParaRPr/>
          </a:p>
        </p:txBody>
      </p:sp>
      <p:sp>
        <p:nvSpPr>
          <p:cNvPr id="38" name="shape 38"/>
          <p:cNvSpPr txBox="1"/>
          <p:nvPr/>
        </p:nvSpPr>
        <p:spPr>
          <a:xfrm>
            <a:off x="2635949" y="8114543"/>
            <a:ext cx="80645" cy="180975"/>
          </a:xfrm>
          <a:prstGeom prst="rect"/>
          <a:noFill/>
        </p:spPr>
        <p:txBody>
          <a:bodyPr vertOverflow="overflow" horzOverflow="overflow" numCol="1" wrap="square" lIns="0" tIns="0" rIns="0" bIns="0">
            <a:spAutoFit/>
          </a:bodyPr>
          <a:p>
            <a:pPr marL="12700"/>
            <a:r>
              <a:rPr sz="1100" i="1">
                <a:latin typeface="Times New Roman"/>
                <a:cs typeface="Times New Roman"/>
              </a:rPr>
              <a:t>r</a:t>
            </a:r>
            <a:endParaRPr/>
          </a:p>
        </p:txBody>
      </p:sp>
      <p:sp>
        <p:nvSpPr>
          <p:cNvPr id="39" name="shape 39"/>
          <p:cNvSpPr txBox="1"/>
          <p:nvPr/>
        </p:nvSpPr>
        <p:spPr>
          <a:xfrm>
            <a:off x="2309929" y="8225150"/>
            <a:ext cx="127000" cy="180975"/>
          </a:xfrm>
          <a:prstGeom prst="rect"/>
          <a:noFill/>
        </p:spPr>
        <p:txBody>
          <a:bodyPr vertOverflow="overflow" horzOverflow="overflow" numCol="1" wrap="square" lIns="0" tIns="0" rIns="0" bIns="0">
            <a:spAutoFit/>
          </a:bodyPr>
          <a:p>
            <a:pPr marL="12700"/>
            <a:r>
              <a:rPr sz="1100" i="1">
                <a:latin typeface="Times New Roman"/>
                <a:cs typeface="Times New Roman"/>
              </a:rPr>
              <a:t>m</a:t>
            </a:r>
            <a:endParaRPr/>
          </a:p>
        </p:txBody>
      </p:sp>
      <p:sp>
        <p:nvSpPr>
          <p:cNvPr id="40" name="shape 40"/>
          <p:cNvSpPr txBox="1"/>
          <p:nvPr/>
        </p:nvSpPr>
        <p:spPr>
          <a:xfrm>
            <a:off x="2564137" y="7576546"/>
            <a:ext cx="80645" cy="180975"/>
          </a:xfrm>
          <a:prstGeom prst="rect"/>
          <a:noFill/>
        </p:spPr>
        <p:txBody>
          <a:bodyPr vertOverflow="overflow" horzOverflow="overflow" numCol="1" wrap="square" lIns="0" tIns="0" rIns="0" bIns="0">
            <a:spAutoFit/>
          </a:bodyPr>
          <a:p>
            <a:pPr marL="12700"/>
            <a:r>
              <a:rPr sz="1100" i="1">
                <a:latin typeface="Times New Roman"/>
                <a:cs typeface="Times New Roman"/>
              </a:rPr>
              <a:t>r</a:t>
            </a:r>
            <a:endParaRPr/>
          </a:p>
        </p:txBody>
      </p:sp>
      <p:sp>
        <p:nvSpPr>
          <p:cNvPr id="41" name="shape 41"/>
          <p:cNvSpPr txBox="1"/>
          <p:nvPr/>
        </p:nvSpPr>
        <p:spPr>
          <a:xfrm>
            <a:off x="2238130" y="7687153"/>
            <a:ext cx="127000" cy="180975"/>
          </a:xfrm>
          <a:prstGeom prst="rect"/>
          <a:noFill/>
        </p:spPr>
        <p:txBody>
          <a:bodyPr vertOverflow="overflow" horzOverflow="overflow" numCol="1" wrap="square" lIns="0" tIns="0" rIns="0" bIns="0">
            <a:spAutoFit/>
          </a:bodyPr>
          <a:p>
            <a:pPr marL="12700"/>
            <a:r>
              <a:rPr sz="1100" i="1">
                <a:latin typeface="Times New Roman"/>
                <a:cs typeface="Times New Roman"/>
              </a:rPr>
              <a:t>m</a:t>
            </a:r>
            <a:endParaRPr/>
          </a:p>
        </p:txBody>
      </p:sp>
      <p:sp>
        <p:nvSpPr>
          <p:cNvPr id="42" name="shape 42"/>
          <p:cNvSpPr txBox="1"/>
          <p:nvPr/>
        </p:nvSpPr>
        <p:spPr>
          <a:xfrm>
            <a:off x="2746282" y="8114543"/>
            <a:ext cx="161925" cy="180975"/>
          </a:xfrm>
          <a:prstGeom prst="rect"/>
          <a:noFill/>
        </p:spPr>
        <p:txBody>
          <a:bodyPr vertOverflow="overflow" horzOverflow="overflow" numCol="1" wrap="square" lIns="0" tIns="0" rIns="0" bIns="0">
            <a:spAutoFit/>
          </a:bodyPr>
          <a:p>
            <a:pPr marL="12700"/>
            <a:r>
              <a:rPr sz="1100" spc="-25">
                <a:latin typeface="Times New Roman"/>
                <a:cs typeface="Times New Roman"/>
              </a:rPr>
              <a:t>ln(</a:t>
            </a:r>
            <a:endParaRPr/>
          </a:p>
        </p:txBody>
      </p:sp>
      <p:sp>
        <p:nvSpPr>
          <p:cNvPr id="43" name="shape 43"/>
          <p:cNvSpPr txBox="1"/>
          <p:nvPr/>
        </p:nvSpPr>
        <p:spPr>
          <a:xfrm>
            <a:off x="2153394" y="8225150"/>
            <a:ext cx="331470" cy="180975"/>
          </a:xfrm>
          <a:prstGeom prst="rect"/>
          <a:noFill/>
        </p:spPr>
        <p:txBody>
          <a:bodyPr vertOverflow="overflow" horzOverflow="overflow" numCol="1" wrap="square" lIns="0" tIns="0" rIns="0" bIns="0">
            <a:spAutoFit/>
          </a:bodyPr>
          <a:p>
            <a:pPr marL="12700">
              <a:tabLst>
                <a:tab pos="271780" algn="l"/>
              </a:tabLst>
            </a:pPr>
            <a:r>
              <a:rPr sz="1100">
                <a:latin typeface="Times New Roman"/>
                <a:cs typeface="Times New Roman"/>
              </a:rPr>
              <a:t>ln(</a:t>
            </a:r>
            <a:r>
              <a:rPr sz="1100">
                <a:latin typeface="Times New Roman"/>
                <a:cs typeface="Times New Roman"/>
              </a:rPr>
              <a:t>	</a:t>
            </a:r>
            <a:r>
              <a:rPr sz="1100">
                <a:latin typeface="Times New Roman"/>
                <a:cs typeface="Times New Roman"/>
              </a:rPr>
              <a:t>)</a:t>
            </a:r>
            <a:endParaRPr/>
          </a:p>
        </p:txBody>
      </p:sp>
      <p:sp>
        <p:nvSpPr>
          <p:cNvPr id="44" name="shape 44"/>
          <p:cNvSpPr txBox="1"/>
          <p:nvPr/>
        </p:nvSpPr>
        <p:spPr>
          <a:xfrm>
            <a:off x="2270789" y="8025134"/>
            <a:ext cx="95885" cy="180975"/>
          </a:xfrm>
          <a:prstGeom prst="rect"/>
          <a:noFill/>
        </p:spPr>
        <p:txBody>
          <a:bodyPr vertOverflow="overflow" horzOverflow="overflow" numCol="1" wrap="square" lIns="0" tIns="0" rIns="0" bIns="0">
            <a:spAutoFit/>
          </a:bodyPr>
          <a:p>
            <a:pPr marL="12700"/>
            <a:r>
              <a:rPr sz="1100">
                <a:latin typeface="Times New Roman"/>
                <a:cs typeface="Times New Roman"/>
              </a:rPr>
              <a:t>1</a:t>
            </a:r>
            <a:endParaRPr/>
          </a:p>
        </p:txBody>
      </p:sp>
      <p:sp>
        <p:nvSpPr>
          <p:cNvPr id="45" name="shape 45"/>
          <p:cNvSpPr txBox="1"/>
          <p:nvPr/>
        </p:nvSpPr>
        <p:spPr>
          <a:xfrm>
            <a:off x="2674156" y="7576546"/>
            <a:ext cx="161925" cy="180975"/>
          </a:xfrm>
          <a:prstGeom prst="rect"/>
          <a:noFill/>
        </p:spPr>
        <p:txBody>
          <a:bodyPr vertOverflow="overflow" horzOverflow="overflow" numCol="1" wrap="square" lIns="0" tIns="0" rIns="0" bIns="0">
            <a:spAutoFit/>
          </a:bodyPr>
          <a:p>
            <a:pPr marL="12700"/>
            <a:r>
              <a:rPr sz="1100" spc="-25">
                <a:latin typeface="Times New Roman"/>
                <a:cs typeface="Times New Roman"/>
              </a:rPr>
              <a:t>ln(</a:t>
            </a:r>
            <a:endParaRPr/>
          </a:p>
        </p:txBody>
      </p:sp>
      <p:sp>
        <p:nvSpPr>
          <p:cNvPr id="46" name="shape 46"/>
          <p:cNvSpPr txBox="1"/>
          <p:nvPr/>
        </p:nvSpPr>
        <p:spPr>
          <a:xfrm>
            <a:off x="2081595" y="7687153"/>
            <a:ext cx="331470" cy="180975"/>
          </a:xfrm>
          <a:prstGeom prst="rect"/>
          <a:noFill/>
        </p:spPr>
        <p:txBody>
          <a:bodyPr vertOverflow="overflow" horzOverflow="overflow" numCol="1" wrap="square" lIns="0" tIns="0" rIns="0" bIns="0">
            <a:spAutoFit/>
          </a:bodyPr>
          <a:p>
            <a:pPr marL="12700">
              <a:tabLst>
                <a:tab pos="271780" algn="l"/>
              </a:tabLst>
            </a:pPr>
            <a:r>
              <a:rPr sz="1100">
                <a:latin typeface="Times New Roman"/>
                <a:cs typeface="Times New Roman"/>
              </a:rPr>
              <a:t>ln(</a:t>
            </a:r>
            <a:r>
              <a:rPr sz="1100">
                <a:latin typeface="Times New Roman"/>
                <a:cs typeface="Times New Roman"/>
              </a:rPr>
              <a:t>	</a:t>
            </a:r>
            <a:r>
              <a:rPr sz="1100">
                <a:latin typeface="Times New Roman"/>
                <a:cs typeface="Times New Roman"/>
              </a:rPr>
              <a:t>)</a:t>
            </a:r>
            <a:endParaRPr/>
          </a:p>
        </p:txBody>
      </p:sp>
      <p:sp>
        <p:nvSpPr>
          <p:cNvPr id="47" name="shape 47"/>
          <p:cNvSpPr txBox="1"/>
          <p:nvPr/>
        </p:nvSpPr>
        <p:spPr>
          <a:xfrm>
            <a:off x="1341755" y="7920360"/>
            <a:ext cx="120015" cy="167641"/>
          </a:xfrm>
          <a:prstGeom prst="rect"/>
          <a:noFill/>
        </p:spPr>
        <p:txBody>
          <a:bodyPr vertOverflow="overflow" horzOverflow="overflow" numCol="1" wrap="square" lIns="0" tIns="0" rIns="0" bIns="0">
            <a:spAutoFit/>
          </a:bodyPr>
          <a:p>
            <a:pPr marL="12700"/>
            <a:r>
              <a:rPr sz="1100" i="1">
                <a:latin typeface="Times New Roman"/>
                <a:cs typeface="Times New Roman"/>
              </a:rPr>
              <a:t>w</a:t>
            </a:r>
            <a:endParaRPr/>
          </a:p>
        </p:txBody>
      </p:sp>
      <p:sp>
        <p:nvSpPr>
          <p:cNvPr id="48" name="shape 48"/>
          <p:cNvSpPr txBox="1"/>
          <p:nvPr/>
        </p:nvSpPr>
        <p:spPr>
          <a:xfrm>
            <a:off x="528320" y="8573515"/>
            <a:ext cx="6507481" cy="1573276"/>
          </a:xfrm>
          <a:prstGeom prst="rect"/>
          <a:noFill/>
        </p:spPr>
        <p:txBody>
          <a:bodyPr vertOverflow="overflow" horzOverflow="overflow" numCol="1" wrap="square" lIns="0" tIns="0" rIns="0" bIns="0">
            <a:spAutoFit/>
          </a:bodyPr>
          <a:p>
            <a:pPr marL="12700" marR="12700" indent="179705" algn="just">
              <a:lnSpc>
                <a:spcPct val="94634"/>
              </a:lnSpc>
            </a:pPr>
            <a:r>
              <a:rPr sz="1000">
                <a:latin typeface="Times New Roman"/>
                <a:cs typeface="Times New Roman"/>
              </a:rPr>
              <a:t>The data for analysis comes from the websites of the surveyed companies and Stock Market Yearbooks published annually by the Warsaw Stock Exchange. The statistical software Statistica 13.5 and Excel were used for the calculations.</a:t>
            </a:r>
            <a:endParaRPr/>
          </a:p>
          <a:p>
            <a:pPr marL="139065" indent="-126365">
              <a:spcBef>
                <a:spcPts val="1100"/>
              </a:spcBef>
              <a:tabLst>
                <a:tab pos="139065" algn="l"/>
              </a:tabLst>
            </a:pPr>
            <a:r>
              <a:rPr sz="1000" b="1">
                <a:latin typeface="Times New Roman"/>
                <a:cs typeface="Times New Roman"/>
              </a:rPr>
              <a:t>5.</a:t>
            </a:r>
            <a:r>
              <a:rPr sz="1000" b="1">
                <a:latin typeface="Times New Roman"/>
                <a:cs typeface="Times New Roman"/>
              </a:rPr>
              <a:t>	</a:t>
            </a:r>
            <a:r>
              <a:rPr sz="1000" b="1">
                <a:latin typeface="Times New Roman"/>
                <a:cs typeface="Times New Roman"/>
              </a:rPr>
              <a:t>Main results</a:t>
            </a:r>
            <a:endParaRPr/>
          </a:p>
          <a:p>
            <a:pPr marL="12700" marR="12700" indent="179705" algn="just">
              <a:lnSpc>
                <a:spcPct val="96023"/>
              </a:lnSpc>
              <a:spcBef>
                <a:spcPts val="1200"/>
              </a:spcBef>
            </a:pPr>
            <a:r>
              <a:rPr sz="1000">
                <a:latin typeface="Times New Roman"/>
                <a:cs typeface="Times New Roman"/>
              </a:rPr>
              <a:t>Finding the answer to the first research question (i.e., in which companies, broken down by type of the first-largest shareholder, is the highest dividend payment observed?) requires calculating the average value of dividend according to the various entities that hold the largest number of shares. Therefore, fundamental descriptive statistics were calculated. The results of this computation were presented in table 3.</a:t>
            </a:r>
            <a:endParaRPr/>
          </a:p>
          <a:p>
            <a:pPr marL="6430010">
              <a:spcBef>
                <a:spcPts val="800"/>
              </a:spcBef>
            </a:pPr>
            <a:r>
              <a:rPr sz="1000" i="1">
                <a:latin typeface="Times New Roman"/>
                <a:cs typeface="Times New Roman"/>
              </a:rPr>
              <a:t>7</a:t>
            </a:r>
            <a:endParaRPr/>
          </a:p>
        </p:txBody>
      </p:sp>
      <p:sp>
        <p:nvSpPr>
          <p:cNvPr id="49" name="shape 49"/>
          <p:cNvSpPr txBox="1"/>
          <p:nvPr/>
        </p:nvSpPr>
        <p:spPr>
          <a:xfrm>
            <a:off x="2781300" y="5397211"/>
            <a:ext cx="344171" cy="91441"/>
          </a:xfrm>
          <a:prstGeom prst="rect"/>
          <a:noFill/>
        </p:spPr>
        <p:txBody>
          <a:bodyPr vertOverflow="overflow" horzOverflow="overflow" numCol="1" wrap="square" lIns="0" tIns="0" rIns="0" bIns="0">
            <a:spAutoFit/>
          </a:bodyPr>
          <a:p>
            <a:pPr marL="12700">
              <a:tabLst>
                <a:tab pos="309880" algn="l"/>
              </a:tabLst>
            </a:pPr>
            <a:r>
              <a:rPr sz="600" i="1">
                <a:latin typeface="Times New Roman"/>
                <a:cs typeface="Times New Roman"/>
              </a:rPr>
              <a:t>i</a:t>
            </a:r>
            <a:r>
              <a:rPr sz="600" i="1">
                <a:latin typeface="Times New Roman"/>
                <a:cs typeface="Times New Roman"/>
              </a:rPr>
              <a:t>	</a:t>
            </a:r>
            <a:r>
              <a:rPr sz="600" i="1">
                <a:latin typeface="Times New Roman"/>
                <a:cs typeface="Times New Roman"/>
              </a:rPr>
              <a:t>i</a:t>
            </a:r>
            <a:endParaRPr/>
          </a:p>
        </p:txBody>
      </p:sp>
      <p:sp>
        <p:nvSpPr>
          <p:cNvPr id="50" name="shape 50"/>
          <p:cNvSpPr txBox="1"/>
          <p:nvPr/>
        </p:nvSpPr>
        <p:spPr>
          <a:xfrm>
            <a:off x="1643380" y="8088008"/>
            <a:ext cx="161925" cy="228600"/>
          </a:xfrm>
          <a:prstGeom prst="rect"/>
          <a:noFill/>
        </p:spPr>
        <p:txBody>
          <a:bodyPr vertOverflow="overflow" horzOverflow="overflow" numCol="1" wrap="square" lIns="0" tIns="0" rIns="0" bIns="0">
            <a:spAutoFit/>
          </a:bodyPr>
          <a:p>
            <a:pPr marL="12700"/>
            <a:r>
              <a:rPr sz="1500">
                <a:latin typeface="Symbol"/>
                <a:cs typeface="Symbol"/>
              </a:rPr>
              <a:t></a:t>
            </a:r>
            <a:endParaRPr/>
          </a:p>
        </p:txBody>
      </p:sp>
      <p:sp>
        <p:nvSpPr>
          <p:cNvPr id="51" name="shape 51"/>
          <p:cNvSpPr txBox="1"/>
          <p:nvPr/>
        </p:nvSpPr>
        <p:spPr>
          <a:xfrm>
            <a:off x="528320" y="6617081"/>
            <a:ext cx="6507481" cy="846836"/>
          </a:xfrm>
          <a:prstGeom prst="rect"/>
          <a:noFill/>
        </p:spPr>
        <p:txBody>
          <a:bodyPr vertOverflow="overflow" horzOverflow="overflow" numCol="1" wrap="square" lIns="0" tIns="0" rIns="0" bIns="0">
            <a:spAutoFit/>
          </a:bodyPr>
          <a:p>
            <a:pPr marL="12700"/>
            <a:r>
              <a:rPr sz="800">
                <a:latin typeface="Times New Roman"/>
                <a:cs typeface="Times New Roman"/>
              </a:rPr>
              <a:t>Source: Own preparation.</a:t>
            </a:r>
            <a:endParaRPr/>
          </a:p>
          <a:p>
            <a:pPr marL="12700" marR="12700" indent="179705" algn="just">
              <a:lnSpc>
                <a:spcPct val="95680"/>
              </a:lnSpc>
              <a:spcBef>
                <a:spcPts val="1100"/>
              </a:spcBef>
            </a:pPr>
            <a:r>
              <a:rPr sz="1000" spc="-5">
                <a:latin typeface="Times New Roman"/>
                <a:cs typeface="Times New Roman"/>
              </a:rPr>
              <a:t>It should be noted that </a:t>
            </a:r>
            <a:r>
              <a:rPr sz="1000" i="1">
                <a:latin typeface="Times New Roman"/>
                <a:cs typeface="Times New Roman"/>
              </a:rPr>
              <a:t>SI</a:t>
            </a:r>
            <a:r>
              <a:rPr sz="1000" i="1" spc="-5" baseline="-40000">
                <a:latin typeface="Times New Roman"/>
                <a:cs typeface="Times New Roman"/>
              </a:rPr>
              <a:t>i</a:t>
            </a:r>
            <a:r>
              <a:rPr sz="1000" i="1" spc="-5">
                <a:latin typeface="Times New Roman"/>
                <a:cs typeface="Times New Roman"/>
              </a:rPr>
              <a:t> </a:t>
            </a:r>
            <a:r>
              <a:rPr sz="1000" spc="-5">
                <a:latin typeface="Times New Roman"/>
                <a:cs typeface="Times New Roman"/>
              </a:rPr>
              <a:t>is in the range of &lt;0;1&gt;. The highest value of </a:t>
            </a:r>
            <a:r>
              <a:rPr sz="1000" i="1">
                <a:latin typeface="Times New Roman"/>
                <a:cs typeface="Times New Roman"/>
              </a:rPr>
              <a:t>SI</a:t>
            </a:r>
            <a:r>
              <a:rPr sz="1000" i="1" spc="-5" baseline="-40000">
                <a:latin typeface="Times New Roman"/>
                <a:cs typeface="Times New Roman"/>
              </a:rPr>
              <a:t>i</a:t>
            </a:r>
            <a:r>
              <a:rPr sz="1000" i="1" spc="-5">
                <a:latin typeface="Times New Roman"/>
                <a:cs typeface="Times New Roman"/>
              </a:rPr>
              <a:t> </a:t>
            </a:r>
            <a:r>
              <a:rPr sz="1000" spc="-5">
                <a:latin typeface="Times New Roman"/>
                <a:cs typeface="Times New Roman"/>
              </a:rPr>
              <a:t>indicates the best solution in considered problem </a:t>
            </a:r>
            <a:r>
              <a:rPr sz="1000">
                <a:latin typeface="Times New Roman"/>
                <a:cs typeface="Times New Roman"/>
              </a:rPr>
              <a:t>of linear ordering (i.e., the highest investment attractiveness of dividend payers). Furthermore, the synthetic index was calculated in two ways – without weights (</a:t>
            </a:r>
            <a:r>
              <a:rPr sz="1000" i="1" spc="5">
                <a:latin typeface="Times New Roman"/>
                <a:cs typeface="Times New Roman"/>
              </a:rPr>
              <a:t>SI</a:t>
            </a:r>
            <a:r>
              <a:rPr sz="1000" spc="5">
                <a:latin typeface="Times New Roman"/>
                <a:cs typeface="Times New Roman"/>
              </a:rPr>
              <a:t>[I]) </a:t>
            </a:r>
            <a:r>
              <a:rPr sz="1000">
                <a:latin typeface="Times New Roman"/>
                <a:cs typeface="Times New Roman"/>
              </a:rPr>
              <a:t>and with weights (</a:t>
            </a:r>
            <a:r>
              <a:rPr sz="1000" i="1" spc="5">
                <a:latin typeface="Times New Roman"/>
                <a:cs typeface="Times New Roman"/>
              </a:rPr>
              <a:t>SI</a:t>
            </a:r>
            <a:r>
              <a:rPr sz="1000" spc="5">
                <a:latin typeface="Times New Roman"/>
                <a:cs typeface="Times New Roman"/>
              </a:rPr>
              <a:t>[II])</a:t>
            </a:r>
            <a:r>
              <a:rPr sz="1000">
                <a:latin typeface="Times New Roman"/>
                <a:cs typeface="Times New Roman"/>
              </a:rPr>
              <a:t>. The weights were computed using the entropy method. The weight vector was calculated as follows [26]:</a:t>
            </a:r>
            <a:endParaRPr/>
          </a:p>
        </p:txBody>
      </p:sp>
      <p:sp>
        <p:nvSpPr>
          <p:cNvPr id="52" name="shape 52"/>
          <p:cNvSpPr txBox="1"/>
          <p:nvPr/>
        </p:nvSpPr>
        <p:spPr>
          <a:xfrm>
            <a:off x="528320" y="528320"/>
            <a:ext cx="862966" cy="152400"/>
          </a:xfrm>
          <a:prstGeom prst="rect"/>
          <a:noFill/>
        </p:spPr>
        <p:txBody>
          <a:bodyPr vertOverflow="overflow" horzOverflow="overflow" numCol="1" wrap="square" lIns="0" tIns="0" rIns="0" bIns="0">
            <a:spAutoFit/>
          </a:bodyPr>
          <a:p>
            <a:pPr marL="12700"/>
            <a:r>
              <a:rPr sz="1000" i="1">
                <a:latin typeface="Times New Roman"/>
                <a:cs typeface="Times New Roman"/>
              </a:rPr>
              <a:t>ISSN 2707-9325</a:t>
            </a:r>
            <a:endParaRPr/>
          </a:p>
        </p:txBody>
      </p:sp>
      <p:sp>
        <p:nvSpPr>
          <p:cNvPr id="53" name="shape 53"/>
          <p:cNvSpPr txBox="1"/>
          <p:nvPr/>
        </p:nvSpPr>
        <p:spPr>
          <a:xfrm>
            <a:off x="1837690" y="7574394"/>
            <a:ext cx="244475" cy="167641"/>
          </a:xfrm>
          <a:prstGeom prst="rect"/>
          <a:noFill/>
        </p:spPr>
        <p:txBody>
          <a:bodyPr vertOverflow="overflow" horzOverflow="overflow" numCol="1" wrap="square" lIns="0" tIns="0" rIns="0" bIns="0">
            <a:spAutoFit/>
          </a:bodyPr>
          <a:p>
            <a:pPr marL="12700"/>
            <a:r>
              <a:rPr sz="1100">
                <a:latin typeface="Symbol"/>
                <a:cs typeface="Symbol"/>
              </a:rPr>
              <a:t>  </a:t>
            </a:r>
            <a:endParaRPr/>
          </a:p>
        </p:txBody>
      </p:sp>
      <p:sp>
        <p:nvSpPr>
          <p:cNvPr id="54" name="shape 54"/>
          <p:cNvSpPr txBox="1"/>
          <p:nvPr/>
        </p:nvSpPr>
        <p:spPr>
          <a:xfrm>
            <a:off x="2198370" y="7484985"/>
            <a:ext cx="96520" cy="167641"/>
          </a:xfrm>
          <a:prstGeom prst="rect"/>
          <a:noFill/>
        </p:spPr>
        <p:txBody>
          <a:bodyPr vertOverflow="overflow" horzOverflow="overflow" numCol="1" wrap="square" lIns="0" tIns="0" rIns="0" bIns="0">
            <a:spAutoFit/>
          </a:bodyPr>
          <a:p>
            <a:pPr marL="12700"/>
            <a:r>
              <a:rPr sz="1100">
                <a:latin typeface="Times New Roman"/>
                <a:cs typeface="Times New Roman"/>
              </a:rPr>
              <a:t>1</a:t>
            </a:r>
            <a:endParaRPr/>
          </a:p>
        </p:txBody>
      </p:sp>
      <p:sp>
        <p:nvSpPr>
          <p:cNvPr id="55" name="shape 55"/>
          <p:cNvSpPr txBox="1"/>
          <p:nvPr/>
        </p:nvSpPr>
        <p:spPr>
          <a:xfrm>
            <a:off x="2413000" y="7550023"/>
            <a:ext cx="162561" cy="228600"/>
          </a:xfrm>
          <a:prstGeom prst="rect"/>
          <a:noFill/>
        </p:spPr>
        <p:txBody>
          <a:bodyPr vertOverflow="overflow" horzOverflow="overflow" numCol="1" wrap="square" lIns="0" tIns="0" rIns="0" bIns="0">
            <a:spAutoFit/>
          </a:bodyPr>
          <a:p>
            <a:pPr marL="12700"/>
            <a:r>
              <a:rPr sz="1500">
                <a:latin typeface="Symbol"/>
                <a:cs typeface="Symbol"/>
              </a:rPr>
              <a:t></a:t>
            </a:r>
            <a:endParaRPr/>
          </a:p>
        </p:txBody>
      </p:sp>
      <p:sp>
        <p:nvSpPr>
          <p:cNvPr id="56" name="shape 56"/>
          <p:cNvSpPr txBox="1"/>
          <p:nvPr/>
        </p:nvSpPr>
        <p:spPr>
          <a:xfrm>
            <a:off x="2924175" y="7471155"/>
            <a:ext cx="88265" cy="167641"/>
          </a:xfrm>
          <a:prstGeom prst="rect"/>
          <a:noFill/>
        </p:spPr>
        <p:txBody>
          <a:bodyPr vertOverflow="overflow" horzOverflow="overflow" numCol="1" wrap="square" lIns="0" tIns="0" rIns="0" bIns="0">
            <a:spAutoFit/>
          </a:bodyPr>
          <a:p>
            <a:pPr marL="12700"/>
            <a:r>
              <a:rPr sz="1100" i="1">
                <a:latin typeface="Times New Roman"/>
                <a:cs typeface="Times New Roman"/>
              </a:rPr>
              <a:t>x</a:t>
            </a:r>
            <a:endParaRPr/>
          </a:p>
        </p:txBody>
      </p:sp>
      <p:sp>
        <p:nvSpPr>
          <p:cNvPr id="57" name="shape 57"/>
          <p:cNvSpPr txBox="1"/>
          <p:nvPr/>
        </p:nvSpPr>
        <p:spPr>
          <a:xfrm>
            <a:off x="3418205" y="7574394"/>
            <a:ext cx="103505" cy="167641"/>
          </a:xfrm>
          <a:prstGeom prst="rect"/>
          <a:noFill/>
        </p:spPr>
        <p:txBody>
          <a:bodyPr vertOverflow="overflow" horzOverflow="overflow" numCol="1" wrap="square" lIns="0" tIns="0" rIns="0" bIns="0">
            <a:spAutoFit/>
          </a:bodyPr>
          <a:p>
            <a:pPr marL="12700"/>
            <a:r>
              <a:rPr sz="1100">
                <a:latin typeface="Symbol"/>
                <a:cs typeface="Symbol"/>
              </a:rPr>
              <a:t></a:t>
            </a:r>
            <a:endParaRPr/>
          </a:p>
        </p:txBody>
      </p:sp>
      <p:sp>
        <p:nvSpPr>
          <p:cNvPr id="58" name="shape 58"/>
          <p:cNvSpPr txBox="1"/>
          <p:nvPr/>
        </p:nvSpPr>
        <p:spPr>
          <a:xfrm>
            <a:off x="528320" y="894334"/>
            <a:ext cx="6506846" cy="1463675"/>
          </a:xfrm>
          <a:prstGeom prst="rect"/>
          <a:noFill/>
        </p:spPr>
        <p:txBody>
          <a:bodyPr vertOverflow="overflow" horzOverflow="overflow" numCol="1" wrap="square" lIns="0" tIns="0" rIns="0" bIns="0">
            <a:spAutoFit/>
          </a:bodyPr>
          <a:p>
            <a:pPr marL="12700" marR="12700" indent="179705" algn="just">
              <a:lnSpc>
                <a:spcPct val="95485"/>
              </a:lnSpc>
            </a:pPr>
            <a:r>
              <a:rPr sz="1000">
                <a:latin typeface="Times New Roman"/>
                <a:cs typeface="Times New Roman"/>
              </a:rPr>
              <a:t>In order to subject the research hypothesis to empirical verification, we used technique for order of preference by similarity to ideal solution [25]. This technique is widely used by economists for multiple criteria decision making. The best decision is that one which is the closest to the ideal solution and the farthest from the non-ideal one [22]. The decision-making process consists of four following steps: 1) normalization of the decision matrix; 2) calculation of the weighted normalized decision matrix; 3) determination of the positive and negative ideal solutions; 4) calculation of the Euclidean distance from the positive ideal solution and the negative ideal solution; 5) calculation of the relative closeness to the ideal solution The procedure to follow for each of the four steps above is detailed in table 2.</a:t>
            </a:r>
            <a:endParaRPr/>
          </a:p>
          <a:p>
            <a:pPr marL="12700">
              <a:spcBef>
                <a:spcPts val="1200"/>
              </a:spcBef>
            </a:pPr>
            <a:r>
              <a:rPr sz="1000">
                <a:latin typeface="Times New Roman"/>
                <a:cs typeface="Times New Roman"/>
              </a:rPr>
              <a:t>Table 2</a:t>
            </a:r>
            <a:endParaRPr/>
          </a:p>
          <a:p>
            <a:pPr marL="12700">
              <a:lnSpc>
                <a:spcPts val="1145"/>
              </a:lnSpc>
            </a:pPr>
            <a:r>
              <a:rPr sz="1000">
                <a:latin typeface="Times New Roman"/>
                <a:cs typeface="Times New Roman"/>
              </a:rPr>
              <a:t>The technique for order of preference by similarity to ideal solution</a:t>
            </a:r>
            <a:endParaRPr/>
          </a:p>
        </p:txBody>
      </p:sp>
      <p:sp>
        <p:nvSpPr>
          <p:cNvPr id="59" name="shape 59"/>
          <p:cNvSpPr txBox="1"/>
          <p:nvPr/>
        </p:nvSpPr>
        <p:spPr>
          <a:xfrm>
            <a:off x="1517650" y="7920360"/>
            <a:ext cx="102870" cy="167641"/>
          </a:xfrm>
          <a:prstGeom prst="rect"/>
          <a:noFill/>
        </p:spPr>
        <p:txBody>
          <a:bodyPr vertOverflow="overflow" horzOverflow="overflow" numCol="1" wrap="square" lIns="0" tIns="0" rIns="0" bIns="0">
            <a:spAutoFit/>
          </a:bodyPr>
          <a:p>
            <a:pPr marL="12700"/>
            <a:r>
              <a:rPr sz="1100">
                <a:latin typeface="Symbol"/>
                <a:cs typeface="Symbol"/>
              </a:rPr>
              <a:t></a:t>
            </a:r>
            <a:endParaRPr/>
          </a:p>
        </p:txBody>
      </p:sp>
      <p:sp>
        <p:nvSpPr>
          <p:cNvPr id="60" name="shape 60"/>
          <p:cNvSpPr txBox="1"/>
          <p:nvPr/>
        </p:nvSpPr>
        <p:spPr>
          <a:xfrm>
            <a:off x="2428240" y="7758334"/>
            <a:ext cx="135256" cy="91441"/>
          </a:xfrm>
          <a:prstGeom prst="rect"/>
          <a:noFill/>
        </p:spPr>
        <p:txBody>
          <a:bodyPr vertOverflow="overflow" horzOverflow="overflow" numCol="1" wrap="square" lIns="0" tIns="0" rIns="0" bIns="0">
            <a:spAutoFit/>
          </a:bodyPr>
          <a:p>
            <a:pPr marL="12700"/>
            <a:r>
              <a:rPr sz="600" i="1">
                <a:latin typeface="Times New Roman"/>
                <a:cs typeface="Times New Roman"/>
              </a:rPr>
              <a:t>i</a:t>
            </a:r>
            <a:r>
              <a:rPr sz="600">
                <a:latin typeface="Symbol"/>
                <a:cs typeface="Symbol"/>
              </a:rPr>
              <a:t></a:t>
            </a:r>
            <a:r>
              <a:rPr sz="600">
                <a:latin typeface="Times New Roman"/>
                <a:cs typeface="Times New Roman"/>
              </a:rPr>
              <a:t>1</a:t>
            </a:r>
            <a:endParaRPr/>
          </a:p>
        </p:txBody>
      </p:sp>
      <p:sp>
        <p:nvSpPr>
          <p:cNvPr id="61" name="shape 61"/>
          <p:cNvSpPr txBox="1"/>
          <p:nvPr/>
        </p:nvSpPr>
        <p:spPr>
          <a:xfrm>
            <a:off x="2842260" y="7722390"/>
            <a:ext cx="245111" cy="299085"/>
          </a:xfrm>
          <a:prstGeom prst="rect"/>
          <a:noFill/>
        </p:spPr>
        <p:txBody>
          <a:bodyPr vertOverflow="overflow" horzOverflow="overflow" numCol="1" wrap="square" lIns="0" tIns="0" rIns="0" bIns="0">
            <a:spAutoFit/>
          </a:bodyPr>
          <a:p>
            <a:pPr marL="12700"/>
            <a:r>
              <a:rPr sz="1500">
                <a:latin typeface="Symbol"/>
                <a:cs typeface="Symbol"/>
              </a:rPr>
              <a:t></a:t>
            </a:r>
            <a:r>
              <a:rPr sz="1650" i="1" baseline="10101">
                <a:latin typeface="Times New Roman"/>
                <a:cs typeface="Times New Roman"/>
              </a:rPr>
              <a:t>x</a:t>
            </a:r>
            <a:endParaRPr/>
          </a:p>
          <a:p>
            <a:pPr marL="27305">
              <a:lnSpc>
                <a:spcPts val="555"/>
              </a:lnSpc>
            </a:pPr>
            <a:r>
              <a:rPr sz="600" i="1">
                <a:latin typeface="Times New Roman"/>
                <a:cs typeface="Times New Roman"/>
              </a:rPr>
              <a:t>i</a:t>
            </a:r>
            <a:r>
              <a:rPr sz="600">
                <a:latin typeface="Symbol"/>
                <a:cs typeface="Symbol"/>
              </a:rPr>
              <a:t></a:t>
            </a:r>
            <a:r>
              <a:rPr sz="600">
                <a:latin typeface="Times New Roman"/>
                <a:cs typeface="Times New Roman"/>
              </a:rPr>
              <a:t>1</a:t>
            </a:r>
            <a:endParaRPr/>
          </a:p>
        </p:txBody>
      </p:sp>
      <p:sp>
        <p:nvSpPr>
          <p:cNvPr id="62" name="shape 62"/>
          <p:cNvSpPr txBox="1"/>
          <p:nvPr/>
        </p:nvSpPr>
        <p:spPr>
          <a:xfrm>
            <a:off x="6664960" y="7940802"/>
            <a:ext cx="174625" cy="152400"/>
          </a:xfrm>
          <a:prstGeom prst="rect"/>
          <a:noFill/>
        </p:spPr>
        <p:txBody>
          <a:bodyPr vertOverflow="overflow" horzOverflow="overflow" numCol="1" wrap="square" lIns="0" tIns="0" rIns="0" bIns="0">
            <a:spAutoFit/>
          </a:bodyPr>
          <a:p>
            <a:pPr marL="12700"/>
            <a:r>
              <a:rPr sz="1000">
                <a:latin typeface="Times New Roman"/>
                <a:cs typeface="Times New Roman"/>
              </a:rPr>
              <a:t>(2)</a:t>
            </a:r>
            <a:endParaRPr/>
          </a:p>
        </p:txBody>
      </p:sp>
      <p:sp>
        <p:nvSpPr>
          <p:cNvPr id="63" name="shape 63"/>
          <p:cNvSpPr txBox="1"/>
          <p:nvPr/>
        </p:nvSpPr>
        <p:spPr>
          <a:xfrm>
            <a:off x="2771140" y="2505102"/>
            <a:ext cx="88900" cy="167640"/>
          </a:xfrm>
          <a:prstGeom prst="rect"/>
          <a:noFill/>
        </p:spPr>
        <p:txBody>
          <a:bodyPr vertOverflow="overflow" horzOverflow="overflow" numCol="1" wrap="square" lIns="0" tIns="0" rIns="0" bIns="0">
            <a:spAutoFit/>
          </a:bodyPr>
          <a:p>
            <a:pPr marL="12700"/>
            <a:r>
              <a:rPr sz="1100" i="1">
                <a:latin typeface="Times New Roman"/>
                <a:cs typeface="Times New Roman"/>
              </a:rPr>
              <a:t>x</a:t>
            </a:r>
            <a:endParaRPr/>
          </a:p>
        </p:txBody>
      </p:sp>
      <p:sp>
        <p:nvSpPr>
          <p:cNvPr id="64" name="shape 64"/>
          <p:cNvSpPr txBox="1"/>
          <p:nvPr/>
        </p:nvSpPr>
        <p:spPr>
          <a:xfrm>
            <a:off x="1909445" y="8112391"/>
            <a:ext cx="245110" cy="167641"/>
          </a:xfrm>
          <a:prstGeom prst="rect"/>
          <a:noFill/>
        </p:spPr>
        <p:txBody>
          <a:bodyPr vertOverflow="overflow" horzOverflow="overflow" numCol="1" wrap="square" lIns="0" tIns="0" rIns="0" bIns="0">
            <a:spAutoFit/>
          </a:bodyPr>
          <a:p>
            <a:pPr marL="12700"/>
            <a:r>
              <a:rPr sz="1100">
                <a:latin typeface="Symbol"/>
                <a:cs typeface="Symbol"/>
              </a:rPr>
              <a:t>  </a:t>
            </a:r>
            <a:endParaRPr/>
          </a:p>
        </p:txBody>
      </p:sp>
      <p:sp>
        <p:nvSpPr>
          <p:cNvPr id="65" name="shape 65"/>
          <p:cNvSpPr txBox="1"/>
          <p:nvPr/>
        </p:nvSpPr>
        <p:spPr>
          <a:xfrm>
            <a:off x="2484755" y="8088008"/>
            <a:ext cx="162561" cy="228600"/>
          </a:xfrm>
          <a:prstGeom prst="rect"/>
          <a:noFill/>
        </p:spPr>
        <p:txBody>
          <a:bodyPr vertOverflow="overflow" horzOverflow="overflow" numCol="1" wrap="square" lIns="0" tIns="0" rIns="0" bIns="0">
            <a:spAutoFit/>
          </a:bodyPr>
          <a:p>
            <a:pPr marL="12700"/>
            <a:r>
              <a:rPr sz="1500">
                <a:latin typeface="Symbol"/>
                <a:cs typeface="Symbol"/>
              </a:rPr>
              <a:t></a:t>
            </a:r>
            <a:endParaRPr/>
          </a:p>
        </p:txBody>
      </p:sp>
      <p:sp>
        <p:nvSpPr>
          <p:cNvPr id="66" name="shape 66"/>
          <p:cNvSpPr txBox="1"/>
          <p:nvPr/>
        </p:nvSpPr>
        <p:spPr>
          <a:xfrm>
            <a:off x="3543935" y="8112391"/>
            <a:ext cx="103506" cy="167641"/>
          </a:xfrm>
          <a:prstGeom prst="rect"/>
          <a:noFill/>
        </p:spPr>
        <p:txBody>
          <a:bodyPr vertOverflow="overflow" horzOverflow="overflow" numCol="1" wrap="square" lIns="0" tIns="0" rIns="0" bIns="0">
            <a:spAutoFit/>
          </a:bodyPr>
          <a:p>
            <a:pPr marL="12700"/>
            <a:r>
              <a:rPr sz="1100">
                <a:latin typeface="Symbol"/>
                <a:cs typeface="Symbol"/>
              </a:rPr>
              <a:t></a:t>
            </a:r>
            <a:endParaRPr/>
          </a:p>
        </p:txBody>
      </p:sp>
      <p:sp>
        <p:nvSpPr>
          <p:cNvPr id="67" name="shape 67"/>
          <p:cNvSpPr txBox="1"/>
          <p:nvPr/>
        </p:nvSpPr>
        <p:spPr>
          <a:xfrm>
            <a:off x="1665605" y="8296330"/>
            <a:ext cx="136525" cy="91441"/>
          </a:xfrm>
          <a:prstGeom prst="rect"/>
          <a:noFill/>
        </p:spPr>
        <p:txBody>
          <a:bodyPr vertOverflow="overflow" horzOverflow="overflow" numCol="1" wrap="square" lIns="0" tIns="0" rIns="0" bIns="0">
            <a:spAutoFit/>
          </a:bodyPr>
          <a:p>
            <a:pPr marL="12700"/>
            <a:r>
              <a:rPr sz="600" i="1">
                <a:latin typeface="Times New Roman"/>
                <a:cs typeface="Times New Roman"/>
              </a:rPr>
              <a:t>j </a:t>
            </a:r>
            <a:r>
              <a:rPr sz="600">
                <a:latin typeface="Symbol"/>
                <a:cs typeface="Symbol"/>
              </a:rPr>
              <a:t></a:t>
            </a:r>
            <a:r>
              <a:rPr sz="600">
                <a:latin typeface="Times New Roman"/>
                <a:cs typeface="Times New Roman"/>
              </a:rPr>
              <a:t>1</a:t>
            </a:r>
            <a:endParaRPr/>
          </a:p>
        </p:txBody>
      </p:sp>
      <p:sp>
        <p:nvSpPr>
          <p:cNvPr id="68" name="shape 68"/>
          <p:cNvSpPr txBox="1"/>
          <p:nvPr/>
        </p:nvSpPr>
        <p:spPr>
          <a:xfrm>
            <a:off x="2499995" y="8296331"/>
            <a:ext cx="135255" cy="91441"/>
          </a:xfrm>
          <a:prstGeom prst="rect"/>
          <a:noFill/>
        </p:spPr>
        <p:txBody>
          <a:bodyPr vertOverflow="overflow" horzOverflow="overflow" numCol="1" wrap="square" lIns="0" tIns="0" rIns="0" bIns="0">
            <a:spAutoFit/>
          </a:bodyPr>
          <a:p>
            <a:pPr marL="12700"/>
            <a:r>
              <a:rPr sz="600" i="1">
                <a:latin typeface="Times New Roman"/>
                <a:cs typeface="Times New Roman"/>
              </a:rPr>
              <a:t>i</a:t>
            </a:r>
            <a:r>
              <a:rPr sz="600">
                <a:latin typeface="Symbol"/>
                <a:cs typeface="Symbol"/>
              </a:rPr>
              <a:t></a:t>
            </a:r>
            <a:r>
              <a:rPr sz="600">
                <a:latin typeface="Times New Roman"/>
                <a:cs typeface="Times New Roman"/>
              </a:rPr>
              <a:t>1</a:t>
            </a:r>
            <a:endParaRPr/>
          </a:p>
        </p:txBody>
      </p:sp>
      <p:sp>
        <p:nvSpPr>
          <p:cNvPr id="69" name="shape 69"/>
          <p:cNvSpPr txBox="1"/>
          <p:nvPr/>
        </p:nvSpPr>
        <p:spPr>
          <a:xfrm>
            <a:off x="2914015" y="8260374"/>
            <a:ext cx="245746" cy="299085"/>
          </a:xfrm>
          <a:prstGeom prst="rect"/>
          <a:noFill/>
        </p:spPr>
        <p:txBody>
          <a:bodyPr vertOverflow="overflow" horzOverflow="overflow" numCol="1" wrap="square" lIns="0" tIns="0" rIns="0" bIns="0">
            <a:spAutoFit/>
          </a:bodyPr>
          <a:p>
            <a:pPr marL="12700"/>
            <a:r>
              <a:rPr sz="1500">
                <a:latin typeface="Symbol"/>
                <a:cs typeface="Symbol"/>
              </a:rPr>
              <a:t></a:t>
            </a:r>
            <a:r>
              <a:rPr sz="1650" i="1" baseline="10101">
                <a:latin typeface="Times New Roman"/>
                <a:cs typeface="Times New Roman"/>
              </a:rPr>
              <a:t>x</a:t>
            </a:r>
            <a:endParaRPr/>
          </a:p>
          <a:p>
            <a:pPr marL="27940">
              <a:lnSpc>
                <a:spcPts val="555"/>
              </a:lnSpc>
            </a:pPr>
            <a:r>
              <a:rPr sz="600" i="1">
                <a:latin typeface="Times New Roman"/>
                <a:cs typeface="Times New Roman"/>
              </a:rPr>
              <a:t>i</a:t>
            </a:r>
            <a:r>
              <a:rPr sz="600">
                <a:latin typeface="Symbol"/>
                <a:cs typeface="Symbol"/>
              </a:rPr>
              <a:t></a:t>
            </a:r>
            <a:r>
              <a:rPr sz="600">
                <a:latin typeface="Times New Roman"/>
                <a:cs typeface="Times New Roman"/>
              </a:rPr>
              <a:t>1</a:t>
            </a:r>
            <a:endParaRPr/>
          </a:p>
        </p:txBody>
      </p:sp>
      <p:sp>
        <p:nvSpPr>
          <p:cNvPr id="70" name="shape 70"/>
          <p:cNvSpPr/>
          <p:nvPr/>
        </p:nvSpPr>
        <p:spPr>
          <a:xfrm>
            <a:off x="1499870" y="2360930"/>
            <a:ext cx="6097" cy="6096"/>
          </a:xfrm>
          <a:prstGeom prst="rect">
            <a:avLst/>
          </a:prstGeom>
          <a:solidFill>
            <a:srgbClr val="000000"/>
          </a:solidFill>
        </p:spPr>
      </p:sp>
      <p:sp>
        <p:nvSpPr>
          <p:cNvPr id="71" name="shape 71"/>
          <p:cNvSpPr/>
          <p:nvPr/>
        </p:nvSpPr>
        <p:spPr>
          <a:xfrm>
            <a:off x="2642481" y="2955613"/>
            <a:ext cx="20718" cy="15642"/>
          </a:xfrm>
          <a:custGeom>
            <a:pathLst>
              <a:path w="20717" h="15641">
                <a:moveTo>
                  <a:pt x="1657" y="12870"/>
                </a:moveTo>
                <a:lnTo>
                  <a:pt x="19060" y="2770"/>
                </a:lnTo>
              </a:path>
            </a:pathLst>
          </a:custGeom>
          <a:ln w="6480" cap="flat">
            <a:solidFill>
              <a:srgbClr val="000000"/>
            </a:solidFill>
            <a:prstDash val="solid"/>
            <a:round/>
          </a:ln>
        </p:spPr>
      </p:sp>
      <p:graphicFrame>
        <p:nvGraphicFramePr>
          <p:cNvPr id="72" name="shape 72"/>
          <p:cNvGraphicFramePr>
            <a:graphicFrameLocks noGrp="1"/>
          </p:cNvGraphicFramePr>
          <p:nvPr/>
        </p:nvGraphicFramePr>
        <p:xfrm>
          <a:off x="663360" y="2345198"/>
          <a:ext cx="5363633" cy="4301458"/>
        </p:xfrm>
        <a:graphic>
          <a:graphicData uri="http://schemas.openxmlformats.org/drawingml/2006/table">
            <a:tbl>
              <a:tblPr>
                <a:tableStyleId>{2D5ABB26-0587-4C30-8999-92F81FD0307C}</a:tableStyleId>
              </a:tblPr>
              <a:tblGrid>
                <a:gridCol w="1183005"/>
                <a:gridCol w="4180205"/>
              </a:tblGrid>
              <a:tr h="285115">
                <a:tc>
                  <a:txBody>
                    <a:bodyPr/>
                    <a:p>
                      <a:pPr marL="25400" marR="493395">
                        <a:spcBef>
                          <a:spcPts val="100"/>
                        </a:spcBef>
                      </a:pPr>
                      <a:r>
                        <a:rPr sz="950" b="1" spc="-5">
                          <a:latin typeface="Times New Roman"/>
                          <a:cs typeface="Times New Roman"/>
                        </a:rPr>
                        <a:t>Specification</a:t>
                      </a:r>
                      <a:endParaRPr/>
                    </a:p>
                  </a:txBody>
                  <a:tcPr marL="0" marR="0" marT="12700" marB="0">
                    <a:lnL/>
                    <a:lnR/>
                    <a:lnT/>
                    <a:lnB/>
                  </a:tcPr>
                </a:tc>
                <a:tc>
                  <a:txBody>
                    <a:bodyPr/>
                    <a:p>
                      <a:pPr marL="1767205" marR="1151255">
                        <a:spcBef>
                          <a:spcPts val="100"/>
                        </a:spcBef>
                      </a:pPr>
                      <a:r>
                        <a:rPr sz="950" b="1">
                          <a:latin typeface="Times New Roman"/>
                          <a:cs typeface="Times New Roman"/>
                        </a:rPr>
                        <a:t>Procedure of calculation</a:t>
                      </a:r>
                      <a:endParaRPr/>
                    </a:p>
                  </a:txBody>
                  <a:tcPr marL="0" marR="0" marT="12700" marB="0">
                    <a:lnL/>
                    <a:lnR/>
                    <a:lnT/>
                    <a:lnB/>
                  </a:tcPr>
                </a:tc>
              </a:tr>
              <a:tr h="446405">
                <a:tc>
                  <a:txBody>
                    <a:bodyPr/>
                    <a:p>
                      <a:pPr marL="203835" marR="673100">
                        <a:spcBef>
                          <a:spcPts val="900"/>
                        </a:spcBef>
                      </a:pPr>
                      <a:r>
                        <a:rPr sz="950" spc="-5">
                          <a:latin typeface="Times New Roman"/>
                          <a:cs typeface="Times New Roman"/>
                        </a:rPr>
                        <a:t>Step 1</a:t>
                      </a:r>
                      <a:endParaRPr/>
                    </a:p>
                  </a:txBody>
                  <a:tcPr marL="0" marR="0" marT="114300" marB="0">
                    <a:lnL/>
                    <a:lnR/>
                    <a:lnT/>
                    <a:lnB/>
                  </a:tcPr>
                </a:tc>
                <a:tc rowSpan="3">
                  <a:txBody>
                    <a:bodyPr/>
                    <a:p>
                      <a:pPr marL="1002665" marR="3141345">
                        <a:lnSpc>
                          <a:spcPts val="485"/>
                        </a:lnSpc>
                      </a:pPr>
                      <a:r>
                        <a:rPr sz="600" i="1" spc="-30">
                          <a:latin typeface="Times New Roman"/>
                          <a:cs typeface="Times New Roman"/>
                        </a:rPr>
                        <a:t>ij</a:t>
                      </a:r>
                      <a:endParaRPr/>
                    </a:p>
                    <a:p>
                      <a:pPr marL="516890" marR="1477010">
                        <a:lnSpc>
                          <a:spcPts val="600"/>
                        </a:lnSpc>
                        <a:tabLst>
                          <a:tab pos="664845" algn="l"/>
                          <a:tab pos="1235075" algn="l"/>
                        </a:tabLst>
                      </a:pPr>
                      <a:r>
                        <a:rPr sz="1100" i="1">
                          <a:latin typeface="Times New Roman"/>
                          <a:cs typeface="Times New Roman"/>
                        </a:rPr>
                        <a:t>r</a:t>
                      </a:r>
                      <a:r>
                        <a:rPr sz="1100" i="1">
                          <a:latin typeface="Times New Roman"/>
                          <a:cs typeface="Times New Roman"/>
                        </a:rPr>
                        <a:t>	</a:t>
                      </a:r>
                      <a:r>
                        <a:rPr sz="1100">
                          <a:latin typeface="Symbol"/>
                          <a:cs typeface="Symbol"/>
                        </a:rPr>
                        <a:t></a:t>
                      </a:r>
                      <a:r>
                        <a:rPr sz="1100">
                          <a:latin typeface="Symbol"/>
                          <a:cs typeface="Symbol"/>
                        </a:rPr>
                        <a:t>	</a:t>
                      </a:r>
                      <a:r>
                        <a:rPr sz="1100">
                          <a:latin typeface="Times New Roman"/>
                          <a:cs typeface="Times New Roman"/>
                        </a:rPr>
                        <a:t>,(</a:t>
                      </a:r>
                      <a:r>
                        <a:rPr sz="1100" i="1">
                          <a:latin typeface="Times New Roman"/>
                          <a:cs typeface="Times New Roman"/>
                        </a:rPr>
                        <a:t>i </a:t>
                      </a:r>
                      <a:r>
                        <a:rPr sz="1100">
                          <a:latin typeface="Symbol"/>
                          <a:cs typeface="Symbol"/>
                        </a:rPr>
                        <a:t> </a:t>
                      </a:r>
                      <a:r>
                        <a:rPr sz="1100">
                          <a:latin typeface="Times New Roman"/>
                          <a:cs typeface="Times New Roman"/>
                        </a:rPr>
                        <a:t>1,2,...,</a:t>
                      </a:r>
                      <a:r>
                        <a:rPr sz="1100" i="1">
                          <a:latin typeface="Times New Roman"/>
                          <a:cs typeface="Times New Roman"/>
                        </a:rPr>
                        <a:t>m</a:t>
                      </a:r>
                      <a:r>
                        <a:rPr sz="1100">
                          <a:latin typeface="Times New Roman"/>
                          <a:cs typeface="Times New Roman"/>
                        </a:rPr>
                        <a:t>; </a:t>
                      </a:r>
                      <a:r>
                        <a:rPr sz="1100" i="1">
                          <a:latin typeface="Times New Roman"/>
                          <a:cs typeface="Times New Roman"/>
                        </a:rPr>
                        <a:t>j </a:t>
                      </a:r>
                      <a:r>
                        <a:rPr sz="1100">
                          <a:latin typeface="Symbol"/>
                          <a:cs typeface="Symbol"/>
                        </a:rPr>
                        <a:t> </a:t>
                      </a:r>
                      <a:r>
                        <a:rPr sz="1100">
                          <a:latin typeface="Times New Roman"/>
                          <a:cs typeface="Times New Roman"/>
                        </a:rPr>
                        <a:t>1,2,...,</a:t>
                      </a:r>
                      <a:r>
                        <a:rPr sz="1100" i="1">
                          <a:latin typeface="Times New Roman"/>
                          <a:cs typeface="Times New Roman"/>
                        </a:rPr>
                        <a:t>n</a:t>
                      </a:r>
                      <a:r>
                        <a:rPr sz="1100">
                          <a:latin typeface="Times New Roman"/>
                          <a:cs typeface="Times New Roman"/>
                        </a:rPr>
                        <a:t>)</a:t>
                      </a:r>
                      <a:endParaRPr/>
                    </a:p>
                    <a:p>
                      <a:pPr marL="561975" marR="3197225">
                        <a:lnSpc>
                          <a:spcPts val="195"/>
                        </a:lnSpc>
                        <a:tabLst>
                          <a:tab pos="927100" algn="l"/>
                        </a:tabLst>
                      </a:pPr>
                      <a:r>
                        <a:rPr sz="600" i="1" spc="-25">
                          <a:latin typeface="Times New Roman"/>
                          <a:cs typeface="Times New Roman"/>
                        </a:rPr>
                        <a:t>ij</a:t>
                      </a:r>
                      <a:r>
                        <a:rPr sz="600" i="1" spc="-25">
                          <a:latin typeface="Times New Roman"/>
                          <a:cs typeface="Times New Roman"/>
                        </a:rPr>
                        <a:t>	</a:t>
                      </a:r>
                      <a:r>
                        <a:rPr sz="900" i="1" spc="-30" baseline="-32407">
                          <a:latin typeface="Times New Roman"/>
                          <a:cs typeface="Times New Roman"/>
                        </a:rPr>
                        <a:t>m</a:t>
                      </a:r>
                      <a:endParaRPr/>
                    </a:p>
                    <a:p>
                      <a:pPr marL="886460" marR="3016250"/>
                      <a:r>
                        <a:rPr sz="1500" spc="-20">
                          <a:latin typeface="Symbol"/>
                          <a:cs typeface="Symbol"/>
                        </a:rPr>
                        <a:t> </a:t>
                      </a:r>
                      <a:r>
                        <a:rPr sz="1650" i="1" spc="-30" baseline="10101">
                          <a:latin typeface="Times New Roman"/>
                          <a:cs typeface="Times New Roman"/>
                        </a:rPr>
                        <a:t>x</a:t>
                      </a:r>
                      <a:r>
                        <a:rPr sz="900" spc="-20" baseline="86296">
                          <a:latin typeface="Times New Roman"/>
                          <a:cs typeface="Times New Roman"/>
                        </a:rPr>
                        <a:t>2</a:t>
                      </a:r>
                      <a:endParaRPr/>
                    </a:p>
                    <a:p>
                      <a:pPr marL="897255" marR="3160395">
                        <a:lnSpc>
                          <a:spcPts val="585"/>
                        </a:lnSpc>
                      </a:pPr>
                      <a:r>
                        <a:rPr sz="600" i="1" spc="-25">
                          <a:latin typeface="Times New Roman"/>
                          <a:cs typeface="Times New Roman"/>
                        </a:rPr>
                        <a:t>k </a:t>
                      </a:r>
                      <a:r>
                        <a:rPr sz="600" spc="-25">
                          <a:latin typeface="Symbol"/>
                          <a:cs typeface="Symbol"/>
                        </a:rPr>
                        <a:t></a:t>
                      </a:r>
                      <a:r>
                        <a:rPr sz="600" spc="-25">
                          <a:latin typeface="Times New Roman"/>
                          <a:cs typeface="Times New Roman"/>
                        </a:rPr>
                        <a:t>1</a:t>
                      </a:r>
                      <a:endParaRPr/>
                    </a:p>
                    <a:p>
                      <a:pPr marL="2498090" marR="1643380">
                        <a:spcBef>
                          <a:spcPts val="400"/>
                        </a:spcBef>
                      </a:pPr>
                      <a:r>
                        <a:rPr sz="600" i="1" spc="-15">
                          <a:latin typeface="Times New Roman"/>
                          <a:cs typeface="Times New Roman"/>
                        </a:rPr>
                        <a:t>n</a:t>
                      </a:r>
                      <a:endParaRPr/>
                    </a:p>
                    <a:p>
                      <a:pPr marL="514350" marR="1183005">
                        <a:lnSpc>
                          <a:spcPts val="1155"/>
                        </a:lnSpc>
                        <a:tabLst>
                          <a:tab pos="680720" algn="l"/>
                          <a:tab pos="2793365" algn="l"/>
                        </a:tabLst>
                      </a:pPr>
                      <a:r>
                        <a:rPr sz="1100" i="1">
                          <a:latin typeface="Times New Roman"/>
                          <a:cs typeface="Times New Roman"/>
                        </a:rPr>
                        <a:t>v</a:t>
                      </a:r>
                      <a:r>
                        <a:rPr sz="1100" i="1">
                          <a:latin typeface="Times New Roman"/>
                          <a:cs typeface="Times New Roman"/>
                        </a:rPr>
                        <a:t>	</a:t>
                      </a:r>
                      <a:r>
                        <a:rPr sz="1100">
                          <a:latin typeface="Symbol"/>
                          <a:cs typeface="Symbol"/>
                        </a:rPr>
                        <a:t> </a:t>
                      </a:r>
                      <a:r>
                        <a:rPr sz="1100" i="1">
                          <a:latin typeface="Times New Roman"/>
                          <a:cs typeface="Times New Roman"/>
                        </a:rPr>
                        <a:t>w</a:t>
                      </a:r>
                      <a:r>
                        <a:rPr sz="1100" i="1" spc="120">
                          <a:latin typeface="Times New Roman"/>
                          <a:cs typeface="Times New Roman"/>
                        </a:rPr>
                        <a:t> </a:t>
                      </a:r>
                      <a:r>
                        <a:rPr sz="1100" i="1">
                          <a:latin typeface="Times New Roman"/>
                          <a:cs typeface="Times New Roman"/>
                        </a:rPr>
                        <a:t>r  </a:t>
                      </a:r>
                      <a:r>
                        <a:rPr sz="1100">
                          <a:latin typeface="Times New Roman"/>
                          <a:cs typeface="Times New Roman"/>
                        </a:rPr>
                        <a:t>,(</a:t>
                      </a:r>
                      <a:r>
                        <a:rPr sz="1100" i="1">
                          <a:latin typeface="Times New Roman"/>
                          <a:cs typeface="Times New Roman"/>
                        </a:rPr>
                        <a:t>i </a:t>
                      </a:r>
                      <a:r>
                        <a:rPr sz="1100">
                          <a:latin typeface="Symbol"/>
                          <a:cs typeface="Symbol"/>
                        </a:rPr>
                        <a:t> </a:t>
                      </a:r>
                      <a:r>
                        <a:rPr sz="1100">
                          <a:latin typeface="Times New Roman"/>
                          <a:cs typeface="Times New Roman"/>
                        </a:rPr>
                        <a:t>1,2,..., </a:t>
                      </a:r>
                      <a:r>
                        <a:rPr sz="1100" i="1">
                          <a:latin typeface="Times New Roman"/>
                          <a:cs typeface="Times New Roman"/>
                        </a:rPr>
                        <a:t>m</a:t>
                      </a:r>
                      <a:r>
                        <a:rPr sz="1100">
                          <a:latin typeface="Times New Roman"/>
                          <a:cs typeface="Times New Roman"/>
                        </a:rPr>
                        <a:t>; </a:t>
                      </a:r>
                      <a:r>
                        <a:rPr sz="1100" i="1">
                          <a:latin typeface="Times New Roman"/>
                          <a:cs typeface="Times New Roman"/>
                        </a:rPr>
                        <a:t>j </a:t>
                      </a:r>
                      <a:r>
                        <a:rPr sz="1100">
                          <a:latin typeface="Symbol"/>
                          <a:cs typeface="Symbol"/>
                        </a:rPr>
                        <a:t> </a:t>
                      </a:r>
                      <a:r>
                        <a:rPr sz="1100">
                          <a:latin typeface="Times New Roman"/>
                          <a:cs typeface="Times New Roman"/>
                        </a:rPr>
                        <a:t>1,2,...</a:t>
                      </a:r>
                      <a:r>
                        <a:rPr sz="1100" i="1">
                          <a:latin typeface="Times New Roman"/>
                          <a:cs typeface="Times New Roman"/>
                        </a:rPr>
                        <a:t>n</a:t>
                      </a:r>
                      <a:r>
                        <a:rPr sz="1100">
                          <a:latin typeface="Times New Roman"/>
                          <a:cs typeface="Times New Roman"/>
                        </a:rPr>
                        <a:t>;</a:t>
                      </a:r>
                      <a:r>
                        <a:rPr sz="2250" baseline="-7407">
                          <a:latin typeface="Symbol"/>
                          <a:cs typeface="Symbol"/>
                        </a:rPr>
                        <a:t></a:t>
                      </a:r>
                      <a:r>
                        <a:rPr sz="1100" i="1">
                          <a:latin typeface="Times New Roman"/>
                          <a:cs typeface="Times New Roman"/>
                        </a:rPr>
                        <a:t>w</a:t>
                      </a:r>
                      <a:r>
                        <a:rPr sz="1100" i="1">
                          <a:latin typeface="Times New Roman"/>
                          <a:cs typeface="Times New Roman"/>
                        </a:rPr>
                        <a:t>	</a:t>
                      </a:r>
                      <a:r>
                        <a:rPr sz="1100" spc="-55">
                          <a:latin typeface="Symbol"/>
                          <a:cs typeface="Symbol"/>
                        </a:rPr>
                        <a:t> </a:t>
                      </a:r>
                      <a:r>
                        <a:rPr sz="1100" spc="-55">
                          <a:latin typeface="Times New Roman"/>
                          <a:cs typeface="Times New Roman"/>
                        </a:rPr>
                        <a:t>1)</a:t>
                      </a:r>
                      <a:endParaRPr/>
                    </a:p>
                    <a:p>
                      <a:pPr marL="578485" marR="1445260">
                        <a:lnSpc>
                          <a:spcPts val="55"/>
                        </a:lnSpc>
                        <a:tabLst>
                          <a:tab pos="902970" algn="l"/>
                          <a:tab pos="984250" algn="l"/>
                          <a:tab pos="2713355" algn="l"/>
                        </a:tabLst>
                      </a:pPr>
                      <a:r>
                        <a:rPr sz="600" i="1" spc="-25">
                          <a:latin typeface="Times New Roman"/>
                          <a:cs typeface="Times New Roman"/>
                        </a:rPr>
                        <a:t>ij</a:t>
                      </a:r>
                      <a:r>
                        <a:rPr sz="600" i="1" spc="-25">
                          <a:latin typeface="Times New Roman"/>
                          <a:cs typeface="Times New Roman"/>
                        </a:rPr>
                        <a:t>	</a:t>
                      </a:r>
                      <a:r>
                        <a:rPr sz="600" i="1">
                          <a:latin typeface="Times New Roman"/>
                          <a:cs typeface="Times New Roman"/>
                        </a:rPr>
                        <a:t>j</a:t>
                      </a:r>
                      <a:r>
                        <a:rPr sz="600" i="1">
                          <a:latin typeface="Times New Roman"/>
                          <a:cs typeface="Times New Roman"/>
                        </a:rPr>
                        <a:t>	</a:t>
                      </a:r>
                      <a:r>
                        <a:rPr sz="600" i="1" spc="-25">
                          <a:latin typeface="Times New Roman"/>
                          <a:cs typeface="Times New Roman"/>
                        </a:rPr>
                        <a:t>ij</a:t>
                      </a:r>
                      <a:r>
                        <a:rPr sz="600" i="1" spc="-25">
                          <a:latin typeface="Times New Roman"/>
                          <a:cs typeface="Times New Roman"/>
                        </a:rPr>
                        <a:t>	</a:t>
                      </a:r>
                      <a:r>
                        <a:rPr sz="600" i="1" spc="-15">
                          <a:latin typeface="Times New Roman"/>
                          <a:cs typeface="Times New Roman"/>
                        </a:rPr>
                        <a:t>j</a:t>
                      </a:r>
                      <a:endParaRPr/>
                    </a:p>
                    <a:p>
                      <a:pPr marL="2474595" marR="1599565">
                        <a:spcBef>
                          <a:spcPts val="100"/>
                        </a:spcBef>
                      </a:pPr>
                      <a:r>
                        <a:rPr sz="600" i="1">
                          <a:latin typeface="Times New Roman"/>
                          <a:cs typeface="Times New Roman"/>
                        </a:rPr>
                        <a:t>j</a:t>
                      </a:r>
                      <a:r>
                        <a:rPr sz="600">
                          <a:latin typeface="Symbol"/>
                          <a:cs typeface="Symbol"/>
                        </a:rPr>
                        <a:t></a:t>
                      </a:r>
                      <a:r>
                        <a:rPr sz="600">
                          <a:latin typeface="Times New Roman"/>
                          <a:cs typeface="Times New Roman"/>
                        </a:rPr>
                        <a:t>1</a:t>
                      </a:r>
                      <a:endParaRPr/>
                    </a:p>
                    <a:p>
                      <a:pPr marL="516255" marR="632460">
                        <a:spcBef>
                          <a:spcPts val="800"/>
                        </a:spcBef>
                        <a:tabLst>
                          <a:tab pos="2210435" algn="l"/>
                          <a:tab pos="3101340" algn="l"/>
                          <a:tab pos="3439795" algn="l"/>
                        </a:tabLst>
                      </a:pP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Symbol"/>
                          <a:cs typeface="Symbol"/>
                        </a:rPr>
                        <a:t> </a:t>
                      </a:r>
                      <a:r>
                        <a:rPr sz="1100">
                          <a:latin typeface="Times New Roman"/>
                          <a:cs typeface="Times New Roman"/>
                        </a:rPr>
                        <a:t>(</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a:latin typeface="Symbol"/>
                          <a:cs typeface="Symbol"/>
                        </a:rPr>
                        <a:t> </a:t>
                      </a:r>
                      <a:r>
                        <a:rPr sz="1100">
                          <a:latin typeface="Times New Roman"/>
                          <a:cs typeface="Times New Roman"/>
                        </a:rPr>
                        <a:t>{max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  </a:t>
                      </a:r>
                      <a:r>
                        <a:rPr sz="1100" spc="-15">
                          <a:latin typeface="Times New Roman"/>
                          <a:cs typeface="Times New Roman"/>
                        </a:rPr>
                        <a:t>), </a:t>
                      </a:r>
                      <a:r>
                        <a:rPr sz="1100">
                          <a:latin typeface="Times New Roman"/>
                          <a:cs typeface="Times New Roman"/>
                        </a:rPr>
                        <a:t>(min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a:t>
                      </a:r>
                      <a:r>
                        <a:rPr sz="1100" i="1">
                          <a:latin typeface="Times New Roman"/>
                          <a:cs typeface="Times New Roman"/>
                        </a:rPr>
                        <a:t>	</a:t>
                      </a:r>
                      <a:r>
                        <a:rPr sz="1100" spc="-30">
                          <a:latin typeface="Times New Roman"/>
                          <a:cs typeface="Times New Roman"/>
                        </a:rPr>
                        <a:t>)}</a:t>
                      </a:r>
                      <a:endParaRPr/>
                    </a:p>
                    <a:p>
                      <a:pPr marL="1769745" marR="2157730">
                        <a:lnSpc>
                          <a:spcPts val="435"/>
                        </a:lnSpc>
                      </a:pPr>
                      <a:r>
                        <a:rPr sz="600" i="1">
                          <a:latin typeface="Times New Roman"/>
                          <a:cs typeface="Times New Roman"/>
                        </a:rPr>
                        <a:t>i  </a:t>
                      </a:r>
                      <a:r>
                        <a:rPr sz="600">
                          <a:latin typeface="Times New Roman"/>
                          <a:cs typeface="Times New Roman"/>
                        </a:rPr>
                        <a:t>1,...,</a:t>
                      </a:r>
                      <a:r>
                        <a:rPr sz="600" i="1">
                          <a:latin typeface="Times New Roman"/>
                          <a:cs typeface="Times New Roman"/>
                        </a:rPr>
                        <a:t>m</a:t>
                      </a:r>
                      <a:endParaRPr/>
                    </a:p>
                    <a:p>
                      <a:pPr/>
                      <a:r>
                        <a:rPr sz="1000">
                          <a:latin typeface="Times New Roman"/>
                          <a:cs typeface="Times New Roman"/>
                        </a:rPr>
                        <a:t/>
                      </a:r>
                      <a:endParaRPr sz="1000"/>
                    </a:p>
                    <a:p>
                      <a:pPr marL="918210" marR="697230">
                        <a:spcBef>
                          <a:spcPts val="500"/>
                        </a:spcBef>
                        <a:tabLst>
                          <a:tab pos="1456055" algn="l"/>
                          <a:tab pos="1790700" algn="l"/>
                          <a:tab pos="2507615" algn="l"/>
                          <a:tab pos="2748915" algn="l"/>
                          <a:tab pos="3044190" algn="l"/>
                          <a:tab pos="3426460" algn="l"/>
                        </a:tabLst>
                      </a:pPr>
                      <a:r>
                        <a:rPr sz="600">
                          <a:latin typeface="Times New Roman"/>
                          <a:cs typeface="Times New Roman"/>
                        </a:rPr>
                        <a:t>1</a:t>
                      </a:r>
                      <a:r>
                        <a:rPr sz="600" spc="989">
                          <a:latin typeface="Times New Roman"/>
                          <a:cs typeface="Times New Roman"/>
                        </a:rPr>
                        <a:t>  </a:t>
                      </a:r>
                      <a:r>
                        <a:rPr sz="600">
                          <a:latin typeface="Times New Roman"/>
                          <a:cs typeface="Times New Roman"/>
                        </a:rPr>
                        <a:t>2</a:t>
                      </a:r>
                      <a:r>
                        <a:rPr sz="600">
                          <a:latin typeface="Times New Roman"/>
                          <a:cs typeface="Times New Roman"/>
                        </a:rPr>
                        <a:t>	</a:t>
                      </a:r>
                      <a:r>
                        <a:rPr sz="600" i="1">
                          <a:latin typeface="Times New Roman"/>
                          <a:cs typeface="Times New Roman"/>
                        </a:rPr>
                        <a:t>n</a:t>
                      </a:r>
                      <a:r>
                        <a:rPr sz="600" i="1">
                          <a:latin typeface="Times New Roman"/>
                          <a:cs typeface="Times New Roman"/>
                        </a:rPr>
                        <a:t>	</a:t>
                      </a:r>
                      <a:r>
                        <a:rPr sz="900" i="1" baseline="-27777">
                          <a:latin typeface="Times New Roman"/>
                          <a:cs typeface="Times New Roman"/>
                        </a:rPr>
                        <a:t>i</a:t>
                      </a:r>
                      <a:r>
                        <a:rPr sz="900" baseline="-27777">
                          <a:latin typeface="Symbol"/>
                          <a:cs typeface="Symbol"/>
                        </a:rPr>
                        <a:t></a:t>
                      </a:r>
                      <a:r>
                        <a:rPr sz="900" baseline="-27777">
                          <a:latin typeface="Times New Roman"/>
                          <a:cs typeface="Times New Roman"/>
                        </a:rPr>
                        <a:t>1,...,</a:t>
                      </a:r>
                      <a:r>
                        <a:rPr sz="900" i="1" baseline="-27777">
                          <a:latin typeface="Times New Roman"/>
                          <a:cs typeface="Times New Roman"/>
                        </a:rPr>
                        <a:t>m</a:t>
                      </a:r>
                      <a:r>
                        <a:rPr sz="900" i="1" spc="750" baseline="-27777">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a:latin typeface="Times New Roman"/>
                          <a:cs typeface="Times New Roman"/>
                        </a:rPr>
                        <a:t>S</a:t>
                      </a:r>
                      <a:r>
                        <a:rPr sz="600" i="1">
                          <a:latin typeface="Times New Roman"/>
                          <a:cs typeface="Times New Roman"/>
                        </a:rPr>
                        <a:t>	</a:t>
                      </a:r>
                      <a:r>
                        <a:rPr sz="900" baseline="-32407">
                          <a:latin typeface="Symbol"/>
                          <a:cs typeface="Symbol"/>
                        </a:rPr>
                        <a:t></a:t>
                      </a:r>
                      <a:r>
                        <a:rPr sz="900" baseline="-32407">
                          <a:latin typeface="Symbol"/>
                          <a:cs typeface="Symbol"/>
                        </a:rPr>
                        <a:t>	</a:t>
                      </a:r>
                      <a:r>
                        <a:rPr sz="600" i="1" spc="-30">
                          <a:latin typeface="Times New Roman"/>
                          <a:cs typeface="Times New Roman"/>
                        </a:rPr>
                        <a:t>ij</a:t>
                      </a:r>
                      <a:r>
                        <a:rPr sz="600" i="1" spc="-30">
                          <a:latin typeface="Times New Roman"/>
                          <a:cs typeface="Times New Roman"/>
                        </a:rPr>
                        <a:t>	</a:t>
                      </a:r>
                      <a:r>
                        <a:rPr sz="600" i="1" spc="-15">
                          <a:latin typeface="Times New Roman"/>
                          <a:cs typeface="Times New Roman"/>
                        </a:rPr>
                        <a:t>D</a:t>
                      </a:r>
                      <a:endParaRPr/>
                    </a:p>
                    <a:p>
                      <a:pPr marL="2722245" marR="1223010">
                        <a:lnSpc>
                          <a:spcPts val="245"/>
                        </a:lnSpc>
                      </a:pPr>
                      <a:r>
                        <a:rPr sz="600" i="1">
                          <a:latin typeface="Times New Roman"/>
                          <a:cs typeface="Times New Roman"/>
                        </a:rPr>
                        <a:t>i  </a:t>
                      </a:r>
                      <a:r>
                        <a:rPr sz="600">
                          <a:latin typeface="Times New Roman"/>
                          <a:cs typeface="Times New Roman"/>
                        </a:rPr>
                        <a:t>1,..,</a:t>
                      </a:r>
                      <a:r>
                        <a:rPr sz="600" i="1">
                          <a:latin typeface="Times New Roman"/>
                          <a:cs typeface="Times New Roman"/>
                        </a:rPr>
                        <a:t>m</a:t>
                      </a:r>
                      <a:endParaRPr/>
                    </a:p>
                  </a:txBody>
                  <a:tcPr marL="0" marR="0" marT="0" marB="0">
                    <a:lnL/>
                    <a:lnR/>
                    <a:lnT/>
                    <a:lnB/>
                  </a:tcPr>
                </a:tc>
              </a:tr>
              <a:tr h="523875">
                <a:tc>
                  <a:txBody>
                    <a:bodyPr/>
                    <a:p>
                      <a:pPr marL="203835" marR="673100"/>
                      <a:r>
                        <a:rPr sz="950" spc="-5">
                          <a:latin typeface="Times New Roman"/>
                          <a:cs typeface="Times New Roman"/>
                        </a:rPr>
                        <a:t>Step 2</a:t>
                      </a:r>
                      <a:endParaRPr/>
                    </a:p>
                  </a:txBody>
                  <a:tcPr anchor="ctr" marL="0" marR="0" marT="0" marB="0">
                    <a:lnL/>
                    <a:lnR/>
                    <a:lnT/>
                    <a:lnB/>
                  </a:tcPr>
                </a:tc>
                <a:tc rowSpan="3">
                  <a:txBody>
                    <a:bodyPr/>
                    <a:p>
                      <a:pPr marL="1002665" marR="3141345">
                        <a:lnSpc>
                          <a:spcPts val="485"/>
                        </a:lnSpc>
                      </a:pPr>
                      <a:r>
                        <a:rPr sz="600" i="1" spc="-30">
                          <a:latin typeface="Times New Roman"/>
                          <a:cs typeface="Times New Roman"/>
                        </a:rPr>
                        <a:t>ij</a:t>
                      </a:r>
                      <a:endParaRPr/>
                    </a:p>
                    <a:p>
                      <a:pPr marL="516890" marR="1477010">
                        <a:lnSpc>
                          <a:spcPts val="600"/>
                        </a:lnSpc>
                        <a:tabLst>
                          <a:tab pos="664845" algn="l"/>
                          <a:tab pos="1235075" algn="l"/>
                        </a:tabLst>
                      </a:pPr>
                      <a:r>
                        <a:rPr sz="1100" i="1">
                          <a:latin typeface="Times New Roman"/>
                          <a:cs typeface="Times New Roman"/>
                        </a:rPr>
                        <a:t>r</a:t>
                      </a:r>
                      <a:r>
                        <a:rPr sz="1100" i="1">
                          <a:latin typeface="Times New Roman"/>
                          <a:cs typeface="Times New Roman"/>
                        </a:rPr>
                        <a:t>	</a:t>
                      </a:r>
                      <a:r>
                        <a:rPr sz="1100">
                          <a:latin typeface="Symbol"/>
                          <a:cs typeface="Symbol"/>
                        </a:rPr>
                        <a:t></a:t>
                      </a:r>
                      <a:r>
                        <a:rPr sz="1100">
                          <a:latin typeface="Symbol"/>
                          <a:cs typeface="Symbol"/>
                        </a:rPr>
                        <a:t>	</a:t>
                      </a:r>
                      <a:r>
                        <a:rPr sz="1100">
                          <a:latin typeface="Times New Roman"/>
                          <a:cs typeface="Times New Roman"/>
                        </a:rPr>
                        <a:t>,(</a:t>
                      </a:r>
                      <a:r>
                        <a:rPr sz="1100" i="1">
                          <a:latin typeface="Times New Roman"/>
                          <a:cs typeface="Times New Roman"/>
                        </a:rPr>
                        <a:t>i </a:t>
                      </a:r>
                      <a:r>
                        <a:rPr sz="1100">
                          <a:latin typeface="Symbol"/>
                          <a:cs typeface="Symbol"/>
                        </a:rPr>
                        <a:t> </a:t>
                      </a:r>
                      <a:r>
                        <a:rPr sz="1100">
                          <a:latin typeface="Times New Roman"/>
                          <a:cs typeface="Times New Roman"/>
                        </a:rPr>
                        <a:t>1,2,...,</a:t>
                      </a:r>
                      <a:r>
                        <a:rPr sz="1100" i="1">
                          <a:latin typeface="Times New Roman"/>
                          <a:cs typeface="Times New Roman"/>
                        </a:rPr>
                        <a:t>m</a:t>
                      </a:r>
                      <a:r>
                        <a:rPr sz="1100">
                          <a:latin typeface="Times New Roman"/>
                          <a:cs typeface="Times New Roman"/>
                        </a:rPr>
                        <a:t>; </a:t>
                      </a:r>
                      <a:r>
                        <a:rPr sz="1100" i="1">
                          <a:latin typeface="Times New Roman"/>
                          <a:cs typeface="Times New Roman"/>
                        </a:rPr>
                        <a:t>j </a:t>
                      </a:r>
                      <a:r>
                        <a:rPr sz="1100">
                          <a:latin typeface="Symbol"/>
                          <a:cs typeface="Symbol"/>
                        </a:rPr>
                        <a:t> </a:t>
                      </a:r>
                      <a:r>
                        <a:rPr sz="1100">
                          <a:latin typeface="Times New Roman"/>
                          <a:cs typeface="Times New Roman"/>
                        </a:rPr>
                        <a:t>1,2,...,</a:t>
                      </a:r>
                      <a:r>
                        <a:rPr sz="1100" i="1">
                          <a:latin typeface="Times New Roman"/>
                          <a:cs typeface="Times New Roman"/>
                        </a:rPr>
                        <a:t>n</a:t>
                      </a:r>
                      <a:r>
                        <a:rPr sz="1100">
                          <a:latin typeface="Times New Roman"/>
                          <a:cs typeface="Times New Roman"/>
                        </a:rPr>
                        <a:t>)</a:t>
                      </a:r>
                      <a:endParaRPr/>
                    </a:p>
                    <a:p>
                      <a:pPr marL="561975" marR="3197225">
                        <a:lnSpc>
                          <a:spcPts val="195"/>
                        </a:lnSpc>
                        <a:tabLst>
                          <a:tab pos="927100" algn="l"/>
                        </a:tabLst>
                      </a:pPr>
                      <a:r>
                        <a:rPr sz="600" i="1" spc="-25">
                          <a:latin typeface="Times New Roman"/>
                          <a:cs typeface="Times New Roman"/>
                        </a:rPr>
                        <a:t>ij</a:t>
                      </a:r>
                      <a:r>
                        <a:rPr sz="600" i="1" spc="-25">
                          <a:latin typeface="Times New Roman"/>
                          <a:cs typeface="Times New Roman"/>
                        </a:rPr>
                        <a:t>	</a:t>
                      </a:r>
                      <a:r>
                        <a:rPr sz="900" i="1" spc="-30" baseline="-32407">
                          <a:latin typeface="Times New Roman"/>
                          <a:cs typeface="Times New Roman"/>
                        </a:rPr>
                        <a:t>m</a:t>
                      </a:r>
                      <a:endParaRPr/>
                    </a:p>
                    <a:p>
                      <a:pPr marL="886460" marR="3016250"/>
                      <a:r>
                        <a:rPr sz="1500" spc="-20">
                          <a:latin typeface="Symbol"/>
                          <a:cs typeface="Symbol"/>
                        </a:rPr>
                        <a:t> </a:t>
                      </a:r>
                      <a:r>
                        <a:rPr sz="1650" i="1" spc="-30" baseline="10101">
                          <a:latin typeface="Times New Roman"/>
                          <a:cs typeface="Times New Roman"/>
                        </a:rPr>
                        <a:t>x</a:t>
                      </a:r>
                      <a:r>
                        <a:rPr sz="900" spc="-20" baseline="86296">
                          <a:latin typeface="Times New Roman"/>
                          <a:cs typeface="Times New Roman"/>
                        </a:rPr>
                        <a:t>2</a:t>
                      </a:r>
                      <a:endParaRPr/>
                    </a:p>
                    <a:p>
                      <a:pPr marL="897255" marR="3160395">
                        <a:lnSpc>
                          <a:spcPts val="585"/>
                        </a:lnSpc>
                      </a:pPr>
                      <a:r>
                        <a:rPr sz="600" i="1" spc="-25">
                          <a:latin typeface="Times New Roman"/>
                          <a:cs typeface="Times New Roman"/>
                        </a:rPr>
                        <a:t>k </a:t>
                      </a:r>
                      <a:r>
                        <a:rPr sz="600" spc="-25">
                          <a:latin typeface="Symbol"/>
                          <a:cs typeface="Symbol"/>
                        </a:rPr>
                        <a:t></a:t>
                      </a:r>
                      <a:r>
                        <a:rPr sz="600" spc="-25">
                          <a:latin typeface="Times New Roman"/>
                          <a:cs typeface="Times New Roman"/>
                        </a:rPr>
                        <a:t>1</a:t>
                      </a:r>
                      <a:endParaRPr/>
                    </a:p>
                    <a:p>
                      <a:pPr marL="2498090" marR="1643380">
                        <a:spcBef>
                          <a:spcPts val="400"/>
                        </a:spcBef>
                      </a:pPr>
                      <a:r>
                        <a:rPr sz="600" i="1" spc="-15">
                          <a:latin typeface="Times New Roman"/>
                          <a:cs typeface="Times New Roman"/>
                        </a:rPr>
                        <a:t>n</a:t>
                      </a:r>
                      <a:endParaRPr/>
                    </a:p>
                    <a:p>
                      <a:pPr marL="514350" marR="1183005">
                        <a:lnSpc>
                          <a:spcPts val="1155"/>
                        </a:lnSpc>
                        <a:tabLst>
                          <a:tab pos="680720" algn="l"/>
                          <a:tab pos="2793365" algn="l"/>
                        </a:tabLst>
                      </a:pPr>
                      <a:r>
                        <a:rPr sz="1100" i="1">
                          <a:latin typeface="Times New Roman"/>
                          <a:cs typeface="Times New Roman"/>
                        </a:rPr>
                        <a:t>v</a:t>
                      </a:r>
                      <a:r>
                        <a:rPr sz="1100" i="1">
                          <a:latin typeface="Times New Roman"/>
                          <a:cs typeface="Times New Roman"/>
                        </a:rPr>
                        <a:t>	</a:t>
                      </a:r>
                      <a:r>
                        <a:rPr sz="1100">
                          <a:latin typeface="Symbol"/>
                          <a:cs typeface="Symbol"/>
                        </a:rPr>
                        <a:t> </a:t>
                      </a:r>
                      <a:r>
                        <a:rPr sz="1100" i="1">
                          <a:latin typeface="Times New Roman"/>
                          <a:cs typeface="Times New Roman"/>
                        </a:rPr>
                        <a:t>w</a:t>
                      </a:r>
                      <a:r>
                        <a:rPr sz="1100" i="1" spc="120">
                          <a:latin typeface="Times New Roman"/>
                          <a:cs typeface="Times New Roman"/>
                        </a:rPr>
                        <a:t> </a:t>
                      </a:r>
                      <a:r>
                        <a:rPr sz="1100" i="1">
                          <a:latin typeface="Times New Roman"/>
                          <a:cs typeface="Times New Roman"/>
                        </a:rPr>
                        <a:t>r  </a:t>
                      </a:r>
                      <a:r>
                        <a:rPr sz="1100">
                          <a:latin typeface="Times New Roman"/>
                          <a:cs typeface="Times New Roman"/>
                        </a:rPr>
                        <a:t>,(</a:t>
                      </a:r>
                      <a:r>
                        <a:rPr sz="1100" i="1">
                          <a:latin typeface="Times New Roman"/>
                          <a:cs typeface="Times New Roman"/>
                        </a:rPr>
                        <a:t>i </a:t>
                      </a:r>
                      <a:r>
                        <a:rPr sz="1100">
                          <a:latin typeface="Symbol"/>
                          <a:cs typeface="Symbol"/>
                        </a:rPr>
                        <a:t> </a:t>
                      </a:r>
                      <a:r>
                        <a:rPr sz="1100">
                          <a:latin typeface="Times New Roman"/>
                          <a:cs typeface="Times New Roman"/>
                        </a:rPr>
                        <a:t>1,2,..., </a:t>
                      </a:r>
                      <a:r>
                        <a:rPr sz="1100" i="1">
                          <a:latin typeface="Times New Roman"/>
                          <a:cs typeface="Times New Roman"/>
                        </a:rPr>
                        <a:t>m</a:t>
                      </a:r>
                      <a:r>
                        <a:rPr sz="1100">
                          <a:latin typeface="Times New Roman"/>
                          <a:cs typeface="Times New Roman"/>
                        </a:rPr>
                        <a:t>; </a:t>
                      </a:r>
                      <a:r>
                        <a:rPr sz="1100" i="1">
                          <a:latin typeface="Times New Roman"/>
                          <a:cs typeface="Times New Roman"/>
                        </a:rPr>
                        <a:t>j </a:t>
                      </a:r>
                      <a:r>
                        <a:rPr sz="1100">
                          <a:latin typeface="Symbol"/>
                          <a:cs typeface="Symbol"/>
                        </a:rPr>
                        <a:t> </a:t>
                      </a:r>
                      <a:r>
                        <a:rPr sz="1100">
                          <a:latin typeface="Times New Roman"/>
                          <a:cs typeface="Times New Roman"/>
                        </a:rPr>
                        <a:t>1,2,...</a:t>
                      </a:r>
                      <a:r>
                        <a:rPr sz="1100" i="1">
                          <a:latin typeface="Times New Roman"/>
                          <a:cs typeface="Times New Roman"/>
                        </a:rPr>
                        <a:t>n</a:t>
                      </a:r>
                      <a:r>
                        <a:rPr sz="1100">
                          <a:latin typeface="Times New Roman"/>
                          <a:cs typeface="Times New Roman"/>
                        </a:rPr>
                        <a:t>;</a:t>
                      </a:r>
                      <a:r>
                        <a:rPr sz="2250" baseline="-7407">
                          <a:latin typeface="Symbol"/>
                          <a:cs typeface="Symbol"/>
                        </a:rPr>
                        <a:t></a:t>
                      </a:r>
                      <a:r>
                        <a:rPr sz="1100" i="1">
                          <a:latin typeface="Times New Roman"/>
                          <a:cs typeface="Times New Roman"/>
                        </a:rPr>
                        <a:t>w</a:t>
                      </a:r>
                      <a:r>
                        <a:rPr sz="1100" i="1">
                          <a:latin typeface="Times New Roman"/>
                          <a:cs typeface="Times New Roman"/>
                        </a:rPr>
                        <a:t>	</a:t>
                      </a:r>
                      <a:r>
                        <a:rPr sz="1100" spc="-55">
                          <a:latin typeface="Symbol"/>
                          <a:cs typeface="Symbol"/>
                        </a:rPr>
                        <a:t> </a:t>
                      </a:r>
                      <a:r>
                        <a:rPr sz="1100" spc="-55">
                          <a:latin typeface="Times New Roman"/>
                          <a:cs typeface="Times New Roman"/>
                        </a:rPr>
                        <a:t>1)</a:t>
                      </a:r>
                      <a:endParaRPr/>
                    </a:p>
                    <a:p>
                      <a:pPr marL="578485" marR="1445260">
                        <a:lnSpc>
                          <a:spcPts val="55"/>
                        </a:lnSpc>
                        <a:tabLst>
                          <a:tab pos="902970" algn="l"/>
                          <a:tab pos="984250" algn="l"/>
                          <a:tab pos="2713355" algn="l"/>
                        </a:tabLst>
                      </a:pPr>
                      <a:r>
                        <a:rPr sz="600" i="1" spc="-25">
                          <a:latin typeface="Times New Roman"/>
                          <a:cs typeface="Times New Roman"/>
                        </a:rPr>
                        <a:t>ij</a:t>
                      </a:r>
                      <a:r>
                        <a:rPr sz="600" i="1" spc="-25">
                          <a:latin typeface="Times New Roman"/>
                          <a:cs typeface="Times New Roman"/>
                        </a:rPr>
                        <a:t>	</a:t>
                      </a:r>
                      <a:r>
                        <a:rPr sz="600" i="1">
                          <a:latin typeface="Times New Roman"/>
                          <a:cs typeface="Times New Roman"/>
                        </a:rPr>
                        <a:t>j</a:t>
                      </a:r>
                      <a:r>
                        <a:rPr sz="600" i="1">
                          <a:latin typeface="Times New Roman"/>
                          <a:cs typeface="Times New Roman"/>
                        </a:rPr>
                        <a:t>	</a:t>
                      </a:r>
                      <a:r>
                        <a:rPr sz="600" i="1" spc="-25">
                          <a:latin typeface="Times New Roman"/>
                          <a:cs typeface="Times New Roman"/>
                        </a:rPr>
                        <a:t>ij</a:t>
                      </a:r>
                      <a:r>
                        <a:rPr sz="600" i="1" spc="-25">
                          <a:latin typeface="Times New Roman"/>
                          <a:cs typeface="Times New Roman"/>
                        </a:rPr>
                        <a:t>	</a:t>
                      </a:r>
                      <a:r>
                        <a:rPr sz="600" i="1" spc="-15">
                          <a:latin typeface="Times New Roman"/>
                          <a:cs typeface="Times New Roman"/>
                        </a:rPr>
                        <a:t>j</a:t>
                      </a:r>
                      <a:endParaRPr/>
                    </a:p>
                    <a:p>
                      <a:pPr marL="2474595" marR="1599565">
                        <a:spcBef>
                          <a:spcPts val="100"/>
                        </a:spcBef>
                      </a:pPr>
                      <a:r>
                        <a:rPr sz="600" i="1">
                          <a:latin typeface="Times New Roman"/>
                          <a:cs typeface="Times New Roman"/>
                        </a:rPr>
                        <a:t>j</a:t>
                      </a:r>
                      <a:r>
                        <a:rPr sz="600">
                          <a:latin typeface="Symbol"/>
                          <a:cs typeface="Symbol"/>
                        </a:rPr>
                        <a:t></a:t>
                      </a:r>
                      <a:r>
                        <a:rPr sz="600">
                          <a:latin typeface="Times New Roman"/>
                          <a:cs typeface="Times New Roman"/>
                        </a:rPr>
                        <a:t>1</a:t>
                      </a:r>
                      <a:endParaRPr/>
                    </a:p>
                    <a:p>
                      <a:pPr marL="516255" marR="632460">
                        <a:spcBef>
                          <a:spcPts val="800"/>
                        </a:spcBef>
                        <a:tabLst>
                          <a:tab pos="2210435" algn="l"/>
                          <a:tab pos="3101340" algn="l"/>
                          <a:tab pos="3439795" algn="l"/>
                        </a:tabLst>
                      </a:pP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Symbol"/>
                          <a:cs typeface="Symbol"/>
                        </a:rPr>
                        <a:t> </a:t>
                      </a:r>
                      <a:r>
                        <a:rPr sz="1100">
                          <a:latin typeface="Times New Roman"/>
                          <a:cs typeface="Times New Roman"/>
                        </a:rPr>
                        <a:t>(</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a:latin typeface="Symbol"/>
                          <a:cs typeface="Symbol"/>
                        </a:rPr>
                        <a:t> </a:t>
                      </a:r>
                      <a:r>
                        <a:rPr sz="1100">
                          <a:latin typeface="Times New Roman"/>
                          <a:cs typeface="Times New Roman"/>
                        </a:rPr>
                        <a:t>{max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  </a:t>
                      </a:r>
                      <a:r>
                        <a:rPr sz="1100" spc="-15">
                          <a:latin typeface="Times New Roman"/>
                          <a:cs typeface="Times New Roman"/>
                        </a:rPr>
                        <a:t>), </a:t>
                      </a:r>
                      <a:r>
                        <a:rPr sz="1100">
                          <a:latin typeface="Times New Roman"/>
                          <a:cs typeface="Times New Roman"/>
                        </a:rPr>
                        <a:t>(min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a:t>
                      </a:r>
                      <a:r>
                        <a:rPr sz="1100" i="1">
                          <a:latin typeface="Times New Roman"/>
                          <a:cs typeface="Times New Roman"/>
                        </a:rPr>
                        <a:t>	</a:t>
                      </a:r>
                      <a:r>
                        <a:rPr sz="1100" spc="-30">
                          <a:latin typeface="Times New Roman"/>
                          <a:cs typeface="Times New Roman"/>
                        </a:rPr>
                        <a:t>)}</a:t>
                      </a:r>
                      <a:endParaRPr/>
                    </a:p>
                    <a:p>
                      <a:pPr marL="1769745" marR="2157730">
                        <a:lnSpc>
                          <a:spcPts val="435"/>
                        </a:lnSpc>
                      </a:pPr>
                      <a:r>
                        <a:rPr sz="600" i="1">
                          <a:latin typeface="Times New Roman"/>
                          <a:cs typeface="Times New Roman"/>
                        </a:rPr>
                        <a:t>i  </a:t>
                      </a:r>
                      <a:r>
                        <a:rPr sz="600">
                          <a:latin typeface="Times New Roman"/>
                          <a:cs typeface="Times New Roman"/>
                        </a:rPr>
                        <a:t>1,...,</a:t>
                      </a:r>
                      <a:r>
                        <a:rPr sz="600" i="1">
                          <a:latin typeface="Times New Roman"/>
                          <a:cs typeface="Times New Roman"/>
                        </a:rPr>
                        <a:t>m</a:t>
                      </a:r>
                      <a:endParaRPr/>
                    </a:p>
                    <a:p>
                      <a:pPr/>
                      <a:r>
                        <a:rPr sz="1000">
                          <a:latin typeface="Times New Roman"/>
                          <a:cs typeface="Times New Roman"/>
                        </a:rPr>
                        <a:t/>
                      </a:r>
                      <a:endParaRPr sz="1000"/>
                    </a:p>
                    <a:p>
                      <a:pPr marL="918210" marR="697230">
                        <a:spcBef>
                          <a:spcPts val="500"/>
                        </a:spcBef>
                        <a:tabLst>
                          <a:tab pos="1456055" algn="l"/>
                          <a:tab pos="1790700" algn="l"/>
                          <a:tab pos="2507615" algn="l"/>
                          <a:tab pos="2748915" algn="l"/>
                          <a:tab pos="3044190" algn="l"/>
                          <a:tab pos="3426460" algn="l"/>
                        </a:tabLst>
                      </a:pPr>
                      <a:r>
                        <a:rPr sz="600">
                          <a:latin typeface="Times New Roman"/>
                          <a:cs typeface="Times New Roman"/>
                        </a:rPr>
                        <a:t>1</a:t>
                      </a:r>
                      <a:r>
                        <a:rPr sz="600" spc="989">
                          <a:latin typeface="Times New Roman"/>
                          <a:cs typeface="Times New Roman"/>
                        </a:rPr>
                        <a:t>  </a:t>
                      </a:r>
                      <a:r>
                        <a:rPr sz="600">
                          <a:latin typeface="Times New Roman"/>
                          <a:cs typeface="Times New Roman"/>
                        </a:rPr>
                        <a:t>2</a:t>
                      </a:r>
                      <a:r>
                        <a:rPr sz="600">
                          <a:latin typeface="Times New Roman"/>
                          <a:cs typeface="Times New Roman"/>
                        </a:rPr>
                        <a:t>	</a:t>
                      </a:r>
                      <a:r>
                        <a:rPr sz="600" i="1">
                          <a:latin typeface="Times New Roman"/>
                          <a:cs typeface="Times New Roman"/>
                        </a:rPr>
                        <a:t>n</a:t>
                      </a:r>
                      <a:r>
                        <a:rPr sz="600" i="1">
                          <a:latin typeface="Times New Roman"/>
                          <a:cs typeface="Times New Roman"/>
                        </a:rPr>
                        <a:t>	</a:t>
                      </a:r>
                      <a:r>
                        <a:rPr sz="900" i="1" baseline="-27777">
                          <a:latin typeface="Times New Roman"/>
                          <a:cs typeface="Times New Roman"/>
                        </a:rPr>
                        <a:t>i</a:t>
                      </a:r>
                      <a:r>
                        <a:rPr sz="900" baseline="-27777">
                          <a:latin typeface="Symbol"/>
                          <a:cs typeface="Symbol"/>
                        </a:rPr>
                        <a:t></a:t>
                      </a:r>
                      <a:r>
                        <a:rPr sz="900" baseline="-27777">
                          <a:latin typeface="Times New Roman"/>
                          <a:cs typeface="Times New Roman"/>
                        </a:rPr>
                        <a:t>1,...,</a:t>
                      </a:r>
                      <a:r>
                        <a:rPr sz="900" i="1" baseline="-27777">
                          <a:latin typeface="Times New Roman"/>
                          <a:cs typeface="Times New Roman"/>
                        </a:rPr>
                        <a:t>m</a:t>
                      </a:r>
                      <a:r>
                        <a:rPr sz="900" i="1" spc="750" baseline="-27777">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a:latin typeface="Times New Roman"/>
                          <a:cs typeface="Times New Roman"/>
                        </a:rPr>
                        <a:t>S</a:t>
                      </a:r>
                      <a:r>
                        <a:rPr sz="600" i="1">
                          <a:latin typeface="Times New Roman"/>
                          <a:cs typeface="Times New Roman"/>
                        </a:rPr>
                        <a:t>	</a:t>
                      </a:r>
                      <a:r>
                        <a:rPr sz="900" baseline="-32407">
                          <a:latin typeface="Symbol"/>
                          <a:cs typeface="Symbol"/>
                        </a:rPr>
                        <a:t></a:t>
                      </a:r>
                      <a:r>
                        <a:rPr sz="900" baseline="-32407">
                          <a:latin typeface="Symbol"/>
                          <a:cs typeface="Symbol"/>
                        </a:rPr>
                        <a:t>	</a:t>
                      </a:r>
                      <a:r>
                        <a:rPr sz="600" i="1" spc="-30">
                          <a:latin typeface="Times New Roman"/>
                          <a:cs typeface="Times New Roman"/>
                        </a:rPr>
                        <a:t>ij</a:t>
                      </a:r>
                      <a:r>
                        <a:rPr sz="600" i="1" spc="-30">
                          <a:latin typeface="Times New Roman"/>
                          <a:cs typeface="Times New Roman"/>
                        </a:rPr>
                        <a:t>	</a:t>
                      </a:r>
                      <a:r>
                        <a:rPr sz="600" i="1" spc="-15">
                          <a:latin typeface="Times New Roman"/>
                          <a:cs typeface="Times New Roman"/>
                        </a:rPr>
                        <a:t>D</a:t>
                      </a:r>
                      <a:endParaRPr/>
                    </a:p>
                    <a:p>
                      <a:pPr marL="2722245" marR="1223010">
                        <a:lnSpc>
                          <a:spcPts val="245"/>
                        </a:lnSpc>
                      </a:pPr>
                      <a:r>
                        <a:rPr sz="600" i="1">
                          <a:latin typeface="Times New Roman"/>
                          <a:cs typeface="Times New Roman"/>
                        </a:rPr>
                        <a:t>i  </a:t>
                      </a:r>
                      <a:r>
                        <a:rPr sz="600">
                          <a:latin typeface="Times New Roman"/>
                          <a:cs typeface="Times New Roman"/>
                        </a:rPr>
                        <a:t>1,..,</a:t>
                      </a:r>
                      <a:r>
                        <a:rPr sz="600" i="1">
                          <a:latin typeface="Times New Roman"/>
                          <a:cs typeface="Times New Roman"/>
                        </a:rPr>
                        <a:t>m</a:t>
                      </a:r>
                      <a:endParaRPr/>
                    </a:p>
                  </a:txBody>
                  <a:tcPr marL="0" marR="0" marT="0" marB="0">
                    <a:lnL/>
                    <a:lnR/>
                    <a:lnT/>
                    <a:lnB/>
                  </a:tcPr>
                </a:tc>
              </a:tr>
              <a:tr h="654050">
                <a:tc>
                  <a:txBody>
                    <a:bodyPr/>
                    <a:p>
                      <a:pPr/>
                      <a:r>
                        <a:rPr sz="1000">
                          <a:latin typeface="Arial"/>
                          <a:cs typeface="Arial"/>
                        </a:rPr>
                        <a:t/>
                      </a:r>
                      <a:endParaRPr sz="1000"/>
                    </a:p>
                    <a:p>
                      <a:pPr marL="203835" marR="673100">
                        <a:spcBef>
                          <a:spcPts val="300"/>
                        </a:spcBef>
                      </a:pPr>
                      <a:r>
                        <a:rPr sz="950" spc="-5">
                          <a:latin typeface="Times New Roman"/>
                          <a:cs typeface="Times New Roman"/>
                        </a:rPr>
                        <a:t>Step 3</a:t>
                      </a:r>
                      <a:endParaRPr/>
                    </a:p>
                  </a:txBody>
                  <a:tcPr marL="0" marR="0" marT="0" marB="0">
                    <a:lnL/>
                    <a:lnR/>
                    <a:lnT/>
                    <a:lnB/>
                  </a:tcPr>
                </a:tc>
                <a:tc rowSpan="3">
                  <a:txBody>
                    <a:bodyPr/>
                    <a:p>
                      <a:pPr marL="1002665" marR="3141345">
                        <a:lnSpc>
                          <a:spcPts val="485"/>
                        </a:lnSpc>
                      </a:pPr>
                      <a:r>
                        <a:rPr sz="600" i="1" spc="-30">
                          <a:latin typeface="Times New Roman"/>
                          <a:cs typeface="Times New Roman"/>
                        </a:rPr>
                        <a:t>ij</a:t>
                      </a:r>
                      <a:endParaRPr/>
                    </a:p>
                    <a:p>
                      <a:pPr marL="516890" marR="1477010">
                        <a:lnSpc>
                          <a:spcPts val="600"/>
                        </a:lnSpc>
                        <a:tabLst>
                          <a:tab pos="664845" algn="l"/>
                          <a:tab pos="1235075" algn="l"/>
                        </a:tabLst>
                      </a:pPr>
                      <a:r>
                        <a:rPr sz="1100" i="1">
                          <a:latin typeface="Times New Roman"/>
                          <a:cs typeface="Times New Roman"/>
                        </a:rPr>
                        <a:t>r</a:t>
                      </a:r>
                      <a:r>
                        <a:rPr sz="1100" i="1">
                          <a:latin typeface="Times New Roman"/>
                          <a:cs typeface="Times New Roman"/>
                        </a:rPr>
                        <a:t>	</a:t>
                      </a:r>
                      <a:r>
                        <a:rPr sz="1100">
                          <a:latin typeface="Symbol"/>
                          <a:cs typeface="Symbol"/>
                        </a:rPr>
                        <a:t></a:t>
                      </a:r>
                      <a:r>
                        <a:rPr sz="1100">
                          <a:latin typeface="Symbol"/>
                          <a:cs typeface="Symbol"/>
                        </a:rPr>
                        <a:t>	</a:t>
                      </a:r>
                      <a:r>
                        <a:rPr sz="1100">
                          <a:latin typeface="Times New Roman"/>
                          <a:cs typeface="Times New Roman"/>
                        </a:rPr>
                        <a:t>,(</a:t>
                      </a:r>
                      <a:r>
                        <a:rPr sz="1100" i="1">
                          <a:latin typeface="Times New Roman"/>
                          <a:cs typeface="Times New Roman"/>
                        </a:rPr>
                        <a:t>i </a:t>
                      </a:r>
                      <a:r>
                        <a:rPr sz="1100">
                          <a:latin typeface="Symbol"/>
                          <a:cs typeface="Symbol"/>
                        </a:rPr>
                        <a:t> </a:t>
                      </a:r>
                      <a:r>
                        <a:rPr sz="1100">
                          <a:latin typeface="Times New Roman"/>
                          <a:cs typeface="Times New Roman"/>
                        </a:rPr>
                        <a:t>1,2,...,</a:t>
                      </a:r>
                      <a:r>
                        <a:rPr sz="1100" i="1">
                          <a:latin typeface="Times New Roman"/>
                          <a:cs typeface="Times New Roman"/>
                        </a:rPr>
                        <a:t>m</a:t>
                      </a:r>
                      <a:r>
                        <a:rPr sz="1100">
                          <a:latin typeface="Times New Roman"/>
                          <a:cs typeface="Times New Roman"/>
                        </a:rPr>
                        <a:t>; </a:t>
                      </a:r>
                      <a:r>
                        <a:rPr sz="1100" i="1">
                          <a:latin typeface="Times New Roman"/>
                          <a:cs typeface="Times New Roman"/>
                        </a:rPr>
                        <a:t>j </a:t>
                      </a:r>
                      <a:r>
                        <a:rPr sz="1100">
                          <a:latin typeface="Symbol"/>
                          <a:cs typeface="Symbol"/>
                        </a:rPr>
                        <a:t> </a:t>
                      </a:r>
                      <a:r>
                        <a:rPr sz="1100">
                          <a:latin typeface="Times New Roman"/>
                          <a:cs typeface="Times New Roman"/>
                        </a:rPr>
                        <a:t>1,2,...,</a:t>
                      </a:r>
                      <a:r>
                        <a:rPr sz="1100" i="1">
                          <a:latin typeface="Times New Roman"/>
                          <a:cs typeface="Times New Roman"/>
                        </a:rPr>
                        <a:t>n</a:t>
                      </a:r>
                      <a:r>
                        <a:rPr sz="1100">
                          <a:latin typeface="Times New Roman"/>
                          <a:cs typeface="Times New Roman"/>
                        </a:rPr>
                        <a:t>)</a:t>
                      </a:r>
                      <a:endParaRPr/>
                    </a:p>
                    <a:p>
                      <a:pPr marL="561975" marR="3197225">
                        <a:lnSpc>
                          <a:spcPts val="195"/>
                        </a:lnSpc>
                        <a:tabLst>
                          <a:tab pos="927100" algn="l"/>
                        </a:tabLst>
                      </a:pPr>
                      <a:r>
                        <a:rPr sz="600" i="1" spc="-25">
                          <a:latin typeface="Times New Roman"/>
                          <a:cs typeface="Times New Roman"/>
                        </a:rPr>
                        <a:t>ij</a:t>
                      </a:r>
                      <a:r>
                        <a:rPr sz="600" i="1" spc="-25">
                          <a:latin typeface="Times New Roman"/>
                          <a:cs typeface="Times New Roman"/>
                        </a:rPr>
                        <a:t>	</a:t>
                      </a:r>
                      <a:r>
                        <a:rPr sz="900" i="1" spc="-30" baseline="-32407">
                          <a:latin typeface="Times New Roman"/>
                          <a:cs typeface="Times New Roman"/>
                        </a:rPr>
                        <a:t>m</a:t>
                      </a:r>
                      <a:endParaRPr/>
                    </a:p>
                    <a:p>
                      <a:pPr marL="886460" marR="3016250"/>
                      <a:r>
                        <a:rPr sz="1500" spc="-20">
                          <a:latin typeface="Symbol"/>
                          <a:cs typeface="Symbol"/>
                        </a:rPr>
                        <a:t> </a:t>
                      </a:r>
                      <a:r>
                        <a:rPr sz="1650" i="1" spc="-30" baseline="10101">
                          <a:latin typeface="Times New Roman"/>
                          <a:cs typeface="Times New Roman"/>
                        </a:rPr>
                        <a:t>x</a:t>
                      </a:r>
                      <a:r>
                        <a:rPr sz="900" spc="-20" baseline="86296">
                          <a:latin typeface="Times New Roman"/>
                          <a:cs typeface="Times New Roman"/>
                        </a:rPr>
                        <a:t>2</a:t>
                      </a:r>
                      <a:endParaRPr/>
                    </a:p>
                    <a:p>
                      <a:pPr marL="897255" marR="3160395">
                        <a:lnSpc>
                          <a:spcPts val="585"/>
                        </a:lnSpc>
                      </a:pPr>
                      <a:r>
                        <a:rPr sz="600" i="1" spc="-25">
                          <a:latin typeface="Times New Roman"/>
                          <a:cs typeface="Times New Roman"/>
                        </a:rPr>
                        <a:t>k </a:t>
                      </a:r>
                      <a:r>
                        <a:rPr sz="600" spc="-25">
                          <a:latin typeface="Symbol"/>
                          <a:cs typeface="Symbol"/>
                        </a:rPr>
                        <a:t></a:t>
                      </a:r>
                      <a:r>
                        <a:rPr sz="600" spc="-25">
                          <a:latin typeface="Times New Roman"/>
                          <a:cs typeface="Times New Roman"/>
                        </a:rPr>
                        <a:t>1</a:t>
                      </a:r>
                      <a:endParaRPr/>
                    </a:p>
                    <a:p>
                      <a:pPr marL="2498090" marR="1643380">
                        <a:spcBef>
                          <a:spcPts val="400"/>
                        </a:spcBef>
                      </a:pPr>
                      <a:r>
                        <a:rPr sz="600" i="1" spc="-15">
                          <a:latin typeface="Times New Roman"/>
                          <a:cs typeface="Times New Roman"/>
                        </a:rPr>
                        <a:t>n</a:t>
                      </a:r>
                      <a:endParaRPr/>
                    </a:p>
                    <a:p>
                      <a:pPr marL="514350" marR="1183005">
                        <a:lnSpc>
                          <a:spcPts val="1155"/>
                        </a:lnSpc>
                        <a:tabLst>
                          <a:tab pos="680720" algn="l"/>
                          <a:tab pos="2793365" algn="l"/>
                        </a:tabLst>
                      </a:pPr>
                      <a:r>
                        <a:rPr sz="1100" i="1">
                          <a:latin typeface="Times New Roman"/>
                          <a:cs typeface="Times New Roman"/>
                        </a:rPr>
                        <a:t>v</a:t>
                      </a:r>
                      <a:r>
                        <a:rPr sz="1100" i="1">
                          <a:latin typeface="Times New Roman"/>
                          <a:cs typeface="Times New Roman"/>
                        </a:rPr>
                        <a:t>	</a:t>
                      </a:r>
                      <a:r>
                        <a:rPr sz="1100">
                          <a:latin typeface="Symbol"/>
                          <a:cs typeface="Symbol"/>
                        </a:rPr>
                        <a:t> </a:t>
                      </a:r>
                      <a:r>
                        <a:rPr sz="1100" i="1">
                          <a:latin typeface="Times New Roman"/>
                          <a:cs typeface="Times New Roman"/>
                        </a:rPr>
                        <a:t>w</a:t>
                      </a:r>
                      <a:r>
                        <a:rPr sz="1100" i="1" spc="120">
                          <a:latin typeface="Times New Roman"/>
                          <a:cs typeface="Times New Roman"/>
                        </a:rPr>
                        <a:t> </a:t>
                      </a:r>
                      <a:r>
                        <a:rPr sz="1100" i="1">
                          <a:latin typeface="Times New Roman"/>
                          <a:cs typeface="Times New Roman"/>
                        </a:rPr>
                        <a:t>r  </a:t>
                      </a:r>
                      <a:r>
                        <a:rPr sz="1100">
                          <a:latin typeface="Times New Roman"/>
                          <a:cs typeface="Times New Roman"/>
                        </a:rPr>
                        <a:t>,(</a:t>
                      </a:r>
                      <a:r>
                        <a:rPr sz="1100" i="1">
                          <a:latin typeface="Times New Roman"/>
                          <a:cs typeface="Times New Roman"/>
                        </a:rPr>
                        <a:t>i </a:t>
                      </a:r>
                      <a:r>
                        <a:rPr sz="1100">
                          <a:latin typeface="Symbol"/>
                          <a:cs typeface="Symbol"/>
                        </a:rPr>
                        <a:t> </a:t>
                      </a:r>
                      <a:r>
                        <a:rPr sz="1100">
                          <a:latin typeface="Times New Roman"/>
                          <a:cs typeface="Times New Roman"/>
                        </a:rPr>
                        <a:t>1,2,..., </a:t>
                      </a:r>
                      <a:r>
                        <a:rPr sz="1100" i="1">
                          <a:latin typeface="Times New Roman"/>
                          <a:cs typeface="Times New Roman"/>
                        </a:rPr>
                        <a:t>m</a:t>
                      </a:r>
                      <a:r>
                        <a:rPr sz="1100">
                          <a:latin typeface="Times New Roman"/>
                          <a:cs typeface="Times New Roman"/>
                        </a:rPr>
                        <a:t>; </a:t>
                      </a:r>
                      <a:r>
                        <a:rPr sz="1100" i="1">
                          <a:latin typeface="Times New Roman"/>
                          <a:cs typeface="Times New Roman"/>
                        </a:rPr>
                        <a:t>j </a:t>
                      </a:r>
                      <a:r>
                        <a:rPr sz="1100">
                          <a:latin typeface="Symbol"/>
                          <a:cs typeface="Symbol"/>
                        </a:rPr>
                        <a:t> </a:t>
                      </a:r>
                      <a:r>
                        <a:rPr sz="1100">
                          <a:latin typeface="Times New Roman"/>
                          <a:cs typeface="Times New Roman"/>
                        </a:rPr>
                        <a:t>1,2,...</a:t>
                      </a:r>
                      <a:r>
                        <a:rPr sz="1100" i="1">
                          <a:latin typeface="Times New Roman"/>
                          <a:cs typeface="Times New Roman"/>
                        </a:rPr>
                        <a:t>n</a:t>
                      </a:r>
                      <a:r>
                        <a:rPr sz="1100">
                          <a:latin typeface="Times New Roman"/>
                          <a:cs typeface="Times New Roman"/>
                        </a:rPr>
                        <a:t>;</a:t>
                      </a:r>
                      <a:r>
                        <a:rPr sz="2250" baseline="-7407">
                          <a:latin typeface="Symbol"/>
                          <a:cs typeface="Symbol"/>
                        </a:rPr>
                        <a:t></a:t>
                      </a:r>
                      <a:r>
                        <a:rPr sz="1100" i="1">
                          <a:latin typeface="Times New Roman"/>
                          <a:cs typeface="Times New Roman"/>
                        </a:rPr>
                        <a:t>w</a:t>
                      </a:r>
                      <a:r>
                        <a:rPr sz="1100" i="1">
                          <a:latin typeface="Times New Roman"/>
                          <a:cs typeface="Times New Roman"/>
                        </a:rPr>
                        <a:t>	</a:t>
                      </a:r>
                      <a:r>
                        <a:rPr sz="1100" spc="-55">
                          <a:latin typeface="Symbol"/>
                          <a:cs typeface="Symbol"/>
                        </a:rPr>
                        <a:t> </a:t>
                      </a:r>
                      <a:r>
                        <a:rPr sz="1100" spc="-55">
                          <a:latin typeface="Times New Roman"/>
                          <a:cs typeface="Times New Roman"/>
                        </a:rPr>
                        <a:t>1)</a:t>
                      </a:r>
                      <a:endParaRPr/>
                    </a:p>
                    <a:p>
                      <a:pPr marL="578485" marR="1445260">
                        <a:lnSpc>
                          <a:spcPts val="55"/>
                        </a:lnSpc>
                        <a:tabLst>
                          <a:tab pos="902970" algn="l"/>
                          <a:tab pos="984250" algn="l"/>
                          <a:tab pos="2713355" algn="l"/>
                        </a:tabLst>
                      </a:pPr>
                      <a:r>
                        <a:rPr sz="600" i="1" spc="-25">
                          <a:latin typeface="Times New Roman"/>
                          <a:cs typeface="Times New Roman"/>
                        </a:rPr>
                        <a:t>ij</a:t>
                      </a:r>
                      <a:r>
                        <a:rPr sz="600" i="1" spc="-25">
                          <a:latin typeface="Times New Roman"/>
                          <a:cs typeface="Times New Roman"/>
                        </a:rPr>
                        <a:t>	</a:t>
                      </a:r>
                      <a:r>
                        <a:rPr sz="600" i="1">
                          <a:latin typeface="Times New Roman"/>
                          <a:cs typeface="Times New Roman"/>
                        </a:rPr>
                        <a:t>j</a:t>
                      </a:r>
                      <a:r>
                        <a:rPr sz="600" i="1">
                          <a:latin typeface="Times New Roman"/>
                          <a:cs typeface="Times New Roman"/>
                        </a:rPr>
                        <a:t>	</a:t>
                      </a:r>
                      <a:r>
                        <a:rPr sz="600" i="1" spc="-25">
                          <a:latin typeface="Times New Roman"/>
                          <a:cs typeface="Times New Roman"/>
                        </a:rPr>
                        <a:t>ij</a:t>
                      </a:r>
                      <a:r>
                        <a:rPr sz="600" i="1" spc="-25">
                          <a:latin typeface="Times New Roman"/>
                          <a:cs typeface="Times New Roman"/>
                        </a:rPr>
                        <a:t>	</a:t>
                      </a:r>
                      <a:r>
                        <a:rPr sz="600" i="1" spc="-15">
                          <a:latin typeface="Times New Roman"/>
                          <a:cs typeface="Times New Roman"/>
                        </a:rPr>
                        <a:t>j</a:t>
                      </a:r>
                      <a:endParaRPr/>
                    </a:p>
                    <a:p>
                      <a:pPr marL="2474595" marR="1599565">
                        <a:spcBef>
                          <a:spcPts val="100"/>
                        </a:spcBef>
                      </a:pPr>
                      <a:r>
                        <a:rPr sz="600" i="1">
                          <a:latin typeface="Times New Roman"/>
                          <a:cs typeface="Times New Roman"/>
                        </a:rPr>
                        <a:t>j</a:t>
                      </a:r>
                      <a:r>
                        <a:rPr sz="600">
                          <a:latin typeface="Symbol"/>
                          <a:cs typeface="Symbol"/>
                        </a:rPr>
                        <a:t></a:t>
                      </a:r>
                      <a:r>
                        <a:rPr sz="600">
                          <a:latin typeface="Times New Roman"/>
                          <a:cs typeface="Times New Roman"/>
                        </a:rPr>
                        <a:t>1</a:t>
                      </a:r>
                      <a:endParaRPr/>
                    </a:p>
                    <a:p>
                      <a:pPr marL="516255" marR="632460">
                        <a:spcBef>
                          <a:spcPts val="800"/>
                        </a:spcBef>
                        <a:tabLst>
                          <a:tab pos="2210435" algn="l"/>
                          <a:tab pos="3101340" algn="l"/>
                          <a:tab pos="3439795" algn="l"/>
                        </a:tabLst>
                      </a:pP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Symbol"/>
                          <a:cs typeface="Symbol"/>
                        </a:rPr>
                        <a:t> </a:t>
                      </a:r>
                      <a:r>
                        <a:rPr sz="1100">
                          <a:latin typeface="Times New Roman"/>
                          <a:cs typeface="Times New Roman"/>
                        </a:rPr>
                        <a:t>(</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a:latin typeface="Symbol"/>
                          <a:cs typeface="Symbol"/>
                        </a:rPr>
                        <a:t> </a:t>
                      </a:r>
                      <a:r>
                        <a:rPr sz="1100">
                          <a:latin typeface="Times New Roman"/>
                          <a:cs typeface="Times New Roman"/>
                        </a:rPr>
                        <a:t>{max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  </a:t>
                      </a:r>
                      <a:r>
                        <a:rPr sz="1100" spc="-15">
                          <a:latin typeface="Times New Roman"/>
                          <a:cs typeface="Times New Roman"/>
                        </a:rPr>
                        <a:t>), </a:t>
                      </a:r>
                      <a:r>
                        <a:rPr sz="1100">
                          <a:latin typeface="Times New Roman"/>
                          <a:cs typeface="Times New Roman"/>
                        </a:rPr>
                        <a:t>(min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a:t>
                      </a:r>
                      <a:r>
                        <a:rPr sz="1100" i="1">
                          <a:latin typeface="Times New Roman"/>
                          <a:cs typeface="Times New Roman"/>
                        </a:rPr>
                        <a:t>	</a:t>
                      </a:r>
                      <a:r>
                        <a:rPr sz="1100" spc="-30">
                          <a:latin typeface="Times New Roman"/>
                          <a:cs typeface="Times New Roman"/>
                        </a:rPr>
                        <a:t>)}</a:t>
                      </a:r>
                      <a:endParaRPr/>
                    </a:p>
                    <a:p>
                      <a:pPr marL="1769745" marR="2157730">
                        <a:lnSpc>
                          <a:spcPts val="435"/>
                        </a:lnSpc>
                      </a:pPr>
                      <a:r>
                        <a:rPr sz="600" i="1">
                          <a:latin typeface="Times New Roman"/>
                          <a:cs typeface="Times New Roman"/>
                        </a:rPr>
                        <a:t>i  </a:t>
                      </a:r>
                      <a:r>
                        <a:rPr sz="600">
                          <a:latin typeface="Times New Roman"/>
                          <a:cs typeface="Times New Roman"/>
                        </a:rPr>
                        <a:t>1,...,</a:t>
                      </a:r>
                      <a:r>
                        <a:rPr sz="600" i="1">
                          <a:latin typeface="Times New Roman"/>
                          <a:cs typeface="Times New Roman"/>
                        </a:rPr>
                        <a:t>m</a:t>
                      </a:r>
                      <a:endParaRPr/>
                    </a:p>
                    <a:p>
                      <a:pPr/>
                      <a:r>
                        <a:rPr sz="1000">
                          <a:latin typeface="Times New Roman"/>
                          <a:cs typeface="Times New Roman"/>
                        </a:rPr>
                        <a:t/>
                      </a:r>
                      <a:endParaRPr sz="1000"/>
                    </a:p>
                    <a:p>
                      <a:pPr marL="918210" marR="697230">
                        <a:spcBef>
                          <a:spcPts val="500"/>
                        </a:spcBef>
                        <a:tabLst>
                          <a:tab pos="1456055" algn="l"/>
                          <a:tab pos="1790700" algn="l"/>
                          <a:tab pos="2507615" algn="l"/>
                          <a:tab pos="2748915" algn="l"/>
                          <a:tab pos="3044190" algn="l"/>
                          <a:tab pos="3426460" algn="l"/>
                        </a:tabLst>
                      </a:pPr>
                      <a:r>
                        <a:rPr sz="600">
                          <a:latin typeface="Times New Roman"/>
                          <a:cs typeface="Times New Roman"/>
                        </a:rPr>
                        <a:t>1</a:t>
                      </a:r>
                      <a:r>
                        <a:rPr sz="600" spc="989">
                          <a:latin typeface="Times New Roman"/>
                          <a:cs typeface="Times New Roman"/>
                        </a:rPr>
                        <a:t>  </a:t>
                      </a:r>
                      <a:r>
                        <a:rPr sz="600">
                          <a:latin typeface="Times New Roman"/>
                          <a:cs typeface="Times New Roman"/>
                        </a:rPr>
                        <a:t>2</a:t>
                      </a:r>
                      <a:r>
                        <a:rPr sz="600">
                          <a:latin typeface="Times New Roman"/>
                          <a:cs typeface="Times New Roman"/>
                        </a:rPr>
                        <a:t>	</a:t>
                      </a:r>
                      <a:r>
                        <a:rPr sz="600" i="1">
                          <a:latin typeface="Times New Roman"/>
                          <a:cs typeface="Times New Roman"/>
                        </a:rPr>
                        <a:t>n</a:t>
                      </a:r>
                      <a:r>
                        <a:rPr sz="600" i="1">
                          <a:latin typeface="Times New Roman"/>
                          <a:cs typeface="Times New Roman"/>
                        </a:rPr>
                        <a:t>	</a:t>
                      </a:r>
                      <a:r>
                        <a:rPr sz="900" i="1" baseline="-27777">
                          <a:latin typeface="Times New Roman"/>
                          <a:cs typeface="Times New Roman"/>
                        </a:rPr>
                        <a:t>i</a:t>
                      </a:r>
                      <a:r>
                        <a:rPr sz="900" baseline="-27777">
                          <a:latin typeface="Symbol"/>
                          <a:cs typeface="Symbol"/>
                        </a:rPr>
                        <a:t></a:t>
                      </a:r>
                      <a:r>
                        <a:rPr sz="900" baseline="-27777">
                          <a:latin typeface="Times New Roman"/>
                          <a:cs typeface="Times New Roman"/>
                        </a:rPr>
                        <a:t>1,...,</a:t>
                      </a:r>
                      <a:r>
                        <a:rPr sz="900" i="1" baseline="-27777">
                          <a:latin typeface="Times New Roman"/>
                          <a:cs typeface="Times New Roman"/>
                        </a:rPr>
                        <a:t>m</a:t>
                      </a:r>
                      <a:r>
                        <a:rPr sz="900" i="1" spc="750" baseline="-27777">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a:latin typeface="Times New Roman"/>
                          <a:cs typeface="Times New Roman"/>
                        </a:rPr>
                        <a:t>S</a:t>
                      </a:r>
                      <a:r>
                        <a:rPr sz="600" i="1">
                          <a:latin typeface="Times New Roman"/>
                          <a:cs typeface="Times New Roman"/>
                        </a:rPr>
                        <a:t>	</a:t>
                      </a:r>
                      <a:r>
                        <a:rPr sz="900" baseline="-32407">
                          <a:latin typeface="Symbol"/>
                          <a:cs typeface="Symbol"/>
                        </a:rPr>
                        <a:t></a:t>
                      </a:r>
                      <a:r>
                        <a:rPr sz="900" baseline="-32407">
                          <a:latin typeface="Symbol"/>
                          <a:cs typeface="Symbol"/>
                        </a:rPr>
                        <a:t>	</a:t>
                      </a:r>
                      <a:r>
                        <a:rPr sz="600" i="1" spc="-30">
                          <a:latin typeface="Times New Roman"/>
                          <a:cs typeface="Times New Roman"/>
                        </a:rPr>
                        <a:t>ij</a:t>
                      </a:r>
                      <a:r>
                        <a:rPr sz="600" i="1" spc="-30">
                          <a:latin typeface="Times New Roman"/>
                          <a:cs typeface="Times New Roman"/>
                        </a:rPr>
                        <a:t>	</a:t>
                      </a:r>
                      <a:r>
                        <a:rPr sz="600" i="1" spc="-15">
                          <a:latin typeface="Times New Roman"/>
                          <a:cs typeface="Times New Roman"/>
                        </a:rPr>
                        <a:t>D</a:t>
                      </a:r>
                      <a:endParaRPr/>
                    </a:p>
                    <a:p>
                      <a:pPr marL="2722245" marR="1223010">
                        <a:lnSpc>
                          <a:spcPts val="245"/>
                        </a:lnSpc>
                      </a:pPr>
                      <a:r>
                        <a:rPr sz="600" i="1">
                          <a:latin typeface="Times New Roman"/>
                          <a:cs typeface="Times New Roman"/>
                        </a:rPr>
                        <a:t>i  </a:t>
                      </a:r>
                      <a:r>
                        <a:rPr sz="600">
                          <a:latin typeface="Times New Roman"/>
                          <a:cs typeface="Times New Roman"/>
                        </a:rPr>
                        <a:t>1,..,</a:t>
                      </a:r>
                      <a:r>
                        <a:rPr sz="600" i="1">
                          <a:latin typeface="Times New Roman"/>
                          <a:cs typeface="Times New Roman"/>
                        </a:rPr>
                        <a:t>m</a:t>
                      </a:r>
                      <a:endParaRPr/>
                    </a:p>
                  </a:txBody>
                  <a:tcPr marL="0" marR="0" marT="0" marB="0">
                    <a:lnL/>
                    <a:lnR/>
                    <a:lnT/>
                    <a:lnB/>
                  </a:tcPr>
                </a:tc>
              </a:tr>
              <a:tr h="706120">
                <a:tc>
                  <a:txBody>
                    <a:bodyPr/>
                    <a:p>
                      <a:pPr marL="203835" marR="673100"/>
                      <a:r>
                        <a:rPr sz="950" spc="-5">
                          <a:latin typeface="Times New Roman"/>
                          <a:cs typeface="Times New Roman"/>
                        </a:rPr>
                        <a:t>Step 4</a:t>
                      </a:r>
                      <a:endParaRPr/>
                    </a:p>
                  </a:txBody>
                  <a:tcPr anchor="ctr" marL="0" marR="0" marT="0" marB="0">
                    <a:lnL/>
                    <a:lnR/>
                    <a:lnT/>
                    <a:lnB/>
                  </a:tcPr>
                </a:tc>
                <a:tc rowSpan="2">
                  <a:txBody>
                    <a:bodyPr/>
                    <a:p>
                      <a:pPr marL="967105" marR="3173730">
                        <a:spcBef>
                          <a:spcPts val="100"/>
                        </a:spcBef>
                      </a:pPr>
                      <a:r>
                        <a:rPr sz="600" i="1" spc="-10">
                          <a:latin typeface="Times New Roman"/>
                          <a:cs typeface="Times New Roman"/>
                        </a:rPr>
                        <a:t>n</a:t>
                      </a:r>
                      <a:endParaRPr/>
                    </a:p>
                    <a:p>
                      <a:pPr marL="518795" marR="1062355">
                        <a:lnSpc>
                          <a:spcPts val="1060"/>
                        </a:lnSpc>
                        <a:tabLst>
                          <a:tab pos="918845" algn="l"/>
                          <a:tab pos="1277620" algn="l"/>
                        </a:tabLst>
                      </a:pPr>
                      <a:r>
                        <a:rPr sz="1050" i="1">
                          <a:latin typeface="Times New Roman"/>
                          <a:cs typeface="Times New Roman"/>
                        </a:rPr>
                        <a:t>S </a:t>
                      </a:r>
                      <a:r>
                        <a:rPr sz="900" baseline="63148">
                          <a:latin typeface="Symbol"/>
                          <a:cs typeface="Symbol"/>
                        </a:rPr>
                        <a:t></a:t>
                      </a:r>
                      <a:r>
                        <a:rPr sz="1350" baseline="15432">
                          <a:latin typeface="Symbol"/>
                          <a:cs typeface="Symbol"/>
                        </a:rPr>
                        <a:t>  </a:t>
                      </a:r>
                      <a:r>
                        <a:rPr sz="1050">
                          <a:latin typeface="Symbol"/>
                          <a:cs typeface="Symbol"/>
                        </a:rPr>
                        <a:t></a:t>
                      </a:r>
                      <a:r>
                        <a:rPr sz="1050">
                          <a:latin typeface="Symbol"/>
                          <a:cs typeface="Symbol"/>
                        </a:rPr>
                        <a:t>	</a:t>
                      </a:r>
                      <a:r>
                        <a:rPr sz="2175" baseline="-7662">
                          <a:latin typeface="Symbol"/>
                          <a:cs typeface="Symbol"/>
                        </a:rPr>
                        <a:t></a:t>
                      </a:r>
                      <a:r>
                        <a:rPr sz="1050">
                          <a:latin typeface="Times New Roman"/>
                          <a:cs typeface="Times New Roman"/>
                        </a:rPr>
                        <a:t>(</a:t>
                      </a:r>
                      <a:r>
                        <a:rPr sz="1050" i="1">
                          <a:latin typeface="Times New Roman"/>
                          <a:cs typeface="Times New Roman"/>
                        </a:rPr>
                        <a:t>v</a:t>
                      </a:r>
                      <a:r>
                        <a:rPr sz="1050" i="1">
                          <a:latin typeface="Times New Roman"/>
                          <a:cs typeface="Times New Roman"/>
                        </a:rPr>
                        <a:t>	</a:t>
                      </a:r>
                      <a:r>
                        <a:rPr sz="1050">
                          <a:latin typeface="Symbol"/>
                          <a:cs typeface="Symbol"/>
                        </a:rPr>
                        <a:t> </a:t>
                      </a:r>
                      <a:r>
                        <a:rPr sz="1050" i="1">
                          <a:latin typeface="Times New Roman"/>
                          <a:cs typeface="Times New Roman"/>
                        </a:rPr>
                        <a:t>a</a:t>
                      </a:r>
                      <a:r>
                        <a:rPr sz="900" baseline="63148">
                          <a:latin typeface="Symbol"/>
                          <a:cs typeface="Symbol"/>
                        </a:rPr>
                        <a:t></a:t>
                      </a:r>
                      <a:r>
                        <a:rPr sz="1350" baseline="15432">
                          <a:latin typeface="Symbol"/>
                          <a:cs typeface="Symbol"/>
                        </a:rPr>
                        <a:t> </a:t>
                      </a:r>
                      <a:r>
                        <a:rPr sz="1050">
                          <a:latin typeface="Times New Roman"/>
                          <a:cs typeface="Times New Roman"/>
                        </a:rPr>
                        <a:t>)</a:t>
                      </a:r>
                      <a:r>
                        <a:rPr sz="900" baseline="67777">
                          <a:latin typeface="Times New Roman"/>
                          <a:cs typeface="Times New Roman"/>
                        </a:rPr>
                        <a:t>2</a:t>
                      </a:r>
                      <a:r>
                        <a:rPr sz="1350" baseline="18518">
                          <a:latin typeface="Times New Roman"/>
                          <a:cs typeface="Times New Roman"/>
                        </a:rPr>
                        <a:t> </a:t>
                      </a:r>
                      <a:r>
                        <a:rPr sz="1050">
                          <a:latin typeface="Times New Roman"/>
                          <a:cs typeface="Times New Roman"/>
                        </a:rPr>
                        <a:t>,(</a:t>
                      </a:r>
                      <a:r>
                        <a:rPr sz="1050" i="1">
                          <a:latin typeface="Times New Roman"/>
                          <a:cs typeface="Times New Roman"/>
                        </a:rPr>
                        <a:t>i </a:t>
                      </a:r>
                      <a:r>
                        <a:rPr sz="1050">
                          <a:latin typeface="Symbol"/>
                          <a:cs typeface="Symbol"/>
                        </a:rPr>
                        <a:t> </a:t>
                      </a:r>
                      <a:r>
                        <a:rPr sz="1050">
                          <a:latin typeface="Times New Roman"/>
                          <a:cs typeface="Times New Roman"/>
                        </a:rPr>
                        <a:t>1,2,...,</a:t>
                      </a:r>
                      <a:r>
                        <a:rPr sz="1050" i="1">
                          <a:latin typeface="Times New Roman"/>
                          <a:cs typeface="Times New Roman"/>
                        </a:rPr>
                        <a:t>m</a:t>
                      </a:r>
                      <a:r>
                        <a:rPr sz="1050">
                          <a:latin typeface="Times New Roman"/>
                          <a:cs typeface="Times New Roman"/>
                        </a:rPr>
                        <a:t>; </a:t>
                      </a:r>
                      <a:r>
                        <a:rPr sz="1050" i="1">
                          <a:latin typeface="Times New Roman"/>
                          <a:cs typeface="Times New Roman"/>
                        </a:rPr>
                        <a:t>j </a:t>
                      </a:r>
                      <a:r>
                        <a:rPr sz="1050">
                          <a:latin typeface="Symbol"/>
                          <a:cs typeface="Symbol"/>
                        </a:rPr>
                        <a:t> </a:t>
                      </a:r>
                      <a:r>
                        <a:rPr sz="1050">
                          <a:latin typeface="Times New Roman"/>
                          <a:cs typeface="Times New Roman"/>
                        </a:rPr>
                        <a:t>1,2,...,</a:t>
                      </a:r>
                      <a:r>
                        <a:rPr sz="1050" i="1">
                          <a:latin typeface="Times New Roman"/>
                          <a:cs typeface="Times New Roman"/>
                        </a:rPr>
                        <a:t>n</a:t>
                      </a:r>
                      <a:r>
                        <a:rPr sz="1050">
                          <a:latin typeface="Times New Roman"/>
                          <a:cs typeface="Times New Roman"/>
                        </a:rPr>
                        <a:t>)</a:t>
                      </a:r>
                      <a:endParaRPr/>
                    </a:p>
                    <a:p>
                      <a:pPr marL="596900" marR="2685415">
                        <a:lnSpc>
                          <a:spcPts val="65"/>
                        </a:lnSpc>
                        <a:tabLst>
                          <a:tab pos="1184275" algn="l"/>
                          <a:tab pos="1472565" algn="l"/>
                        </a:tabLst>
                      </a:pPr>
                      <a:r>
                        <a:rPr sz="600" i="1">
                          <a:latin typeface="Times New Roman"/>
                          <a:cs typeface="Times New Roman"/>
                        </a:rPr>
                        <a:t>i</a:t>
                      </a:r>
                      <a:r>
                        <a:rPr sz="600" i="1">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spc="-10">
                          <a:latin typeface="Times New Roman"/>
                          <a:cs typeface="Times New Roman"/>
                        </a:rPr>
                        <a:t>j</a:t>
                      </a:r>
                      <a:endParaRPr/>
                    </a:p>
                    <a:p>
                      <a:pPr marL="943610" marR="3129915"/>
                      <a:r>
                        <a:rPr sz="600" i="1">
                          <a:latin typeface="Times New Roman"/>
                          <a:cs typeface="Times New Roman"/>
                        </a:rPr>
                        <a:t>j</a:t>
                      </a:r>
                      <a:r>
                        <a:rPr sz="600">
                          <a:latin typeface="Symbol"/>
                          <a:cs typeface="Symbol"/>
                        </a:rPr>
                        <a:t></a:t>
                      </a:r>
                      <a:r>
                        <a:rPr sz="600">
                          <a:latin typeface="Times New Roman"/>
                          <a:cs typeface="Times New Roman"/>
                        </a:rPr>
                        <a:t>1</a:t>
                      </a:r>
                      <a:endParaRPr/>
                    </a:p>
                    <a:p>
                      <a:pPr marL="964565" marR="3176270">
                        <a:spcBef>
                          <a:spcPts val="700"/>
                        </a:spcBef>
                      </a:pPr>
                      <a:r>
                        <a:rPr sz="600" i="1" spc="-10">
                          <a:latin typeface="Times New Roman"/>
                          <a:cs typeface="Times New Roman"/>
                        </a:rPr>
                        <a:t>n</a:t>
                      </a:r>
                      <a:endParaRPr/>
                    </a:p>
                    <a:p>
                      <a:pPr marL="518795" marR="1070610">
                        <a:lnSpc>
                          <a:spcPts val="1100"/>
                        </a:lnSpc>
                        <a:tabLst>
                          <a:tab pos="916940" algn="l"/>
                          <a:tab pos="1274445" algn="l"/>
                        </a:tabLst>
                      </a:pPr>
                      <a:r>
                        <a:rPr sz="1050" i="1">
                          <a:latin typeface="Times New Roman"/>
                          <a:cs typeface="Times New Roman"/>
                        </a:rPr>
                        <a:t>S </a:t>
                      </a:r>
                      <a:r>
                        <a:rPr sz="900" baseline="63148">
                          <a:latin typeface="Symbol"/>
                          <a:cs typeface="Symbol"/>
                        </a:rPr>
                        <a:t></a:t>
                      </a:r>
                      <a:r>
                        <a:rPr sz="1350" baseline="15432">
                          <a:latin typeface="Symbol"/>
                          <a:cs typeface="Symbol"/>
                        </a:rPr>
                        <a:t>  </a:t>
                      </a:r>
                      <a:r>
                        <a:rPr sz="1050">
                          <a:latin typeface="Symbol"/>
                          <a:cs typeface="Symbol"/>
                        </a:rPr>
                        <a:t></a:t>
                      </a:r>
                      <a:r>
                        <a:rPr sz="1050">
                          <a:latin typeface="Symbol"/>
                          <a:cs typeface="Symbol"/>
                        </a:rPr>
                        <a:t>	</a:t>
                      </a:r>
                      <a:r>
                        <a:rPr sz="2175" baseline="-7662">
                          <a:latin typeface="Symbol"/>
                          <a:cs typeface="Symbol"/>
                        </a:rPr>
                        <a:t></a:t>
                      </a:r>
                      <a:r>
                        <a:rPr sz="1050">
                          <a:latin typeface="Times New Roman"/>
                          <a:cs typeface="Times New Roman"/>
                        </a:rPr>
                        <a:t>(</a:t>
                      </a:r>
                      <a:r>
                        <a:rPr sz="1050" i="1">
                          <a:latin typeface="Times New Roman"/>
                          <a:cs typeface="Times New Roman"/>
                        </a:rPr>
                        <a:t>v</a:t>
                      </a:r>
                      <a:r>
                        <a:rPr sz="1050" i="1">
                          <a:latin typeface="Times New Roman"/>
                          <a:cs typeface="Times New Roman"/>
                        </a:rPr>
                        <a:t>	</a:t>
                      </a:r>
                      <a:r>
                        <a:rPr sz="1050">
                          <a:latin typeface="Symbol"/>
                          <a:cs typeface="Symbol"/>
                        </a:rPr>
                        <a:t> </a:t>
                      </a:r>
                      <a:r>
                        <a:rPr sz="1050" i="1">
                          <a:latin typeface="Times New Roman"/>
                          <a:cs typeface="Times New Roman"/>
                        </a:rPr>
                        <a:t>a</a:t>
                      </a:r>
                      <a:r>
                        <a:rPr sz="900" baseline="63148">
                          <a:latin typeface="Symbol"/>
                          <a:cs typeface="Symbol"/>
                        </a:rPr>
                        <a:t></a:t>
                      </a:r>
                      <a:r>
                        <a:rPr sz="1350" baseline="15432">
                          <a:latin typeface="Symbol"/>
                          <a:cs typeface="Symbol"/>
                        </a:rPr>
                        <a:t> </a:t>
                      </a:r>
                      <a:r>
                        <a:rPr sz="1050">
                          <a:latin typeface="Times New Roman"/>
                          <a:cs typeface="Times New Roman"/>
                        </a:rPr>
                        <a:t>)</a:t>
                      </a:r>
                      <a:r>
                        <a:rPr sz="900" baseline="67777">
                          <a:latin typeface="Times New Roman"/>
                          <a:cs typeface="Times New Roman"/>
                        </a:rPr>
                        <a:t>2</a:t>
                      </a:r>
                      <a:r>
                        <a:rPr sz="1350" baseline="18518">
                          <a:latin typeface="Times New Roman"/>
                          <a:cs typeface="Times New Roman"/>
                        </a:rPr>
                        <a:t> </a:t>
                      </a:r>
                      <a:r>
                        <a:rPr sz="1050">
                          <a:latin typeface="Times New Roman"/>
                          <a:cs typeface="Times New Roman"/>
                        </a:rPr>
                        <a:t>,(</a:t>
                      </a:r>
                      <a:r>
                        <a:rPr sz="1050" i="1">
                          <a:latin typeface="Times New Roman"/>
                          <a:cs typeface="Times New Roman"/>
                        </a:rPr>
                        <a:t>i </a:t>
                      </a:r>
                      <a:r>
                        <a:rPr sz="1050">
                          <a:latin typeface="Symbol"/>
                          <a:cs typeface="Symbol"/>
                        </a:rPr>
                        <a:t> </a:t>
                      </a:r>
                      <a:r>
                        <a:rPr sz="1050">
                          <a:latin typeface="Times New Roman"/>
                          <a:cs typeface="Times New Roman"/>
                        </a:rPr>
                        <a:t>1,2,...,</a:t>
                      </a:r>
                      <a:r>
                        <a:rPr sz="1050" i="1">
                          <a:latin typeface="Times New Roman"/>
                          <a:cs typeface="Times New Roman"/>
                        </a:rPr>
                        <a:t>m</a:t>
                      </a:r>
                      <a:r>
                        <a:rPr sz="1050">
                          <a:latin typeface="Times New Roman"/>
                          <a:cs typeface="Times New Roman"/>
                        </a:rPr>
                        <a:t>; </a:t>
                      </a:r>
                      <a:r>
                        <a:rPr sz="1050" i="1">
                          <a:latin typeface="Times New Roman"/>
                          <a:cs typeface="Times New Roman"/>
                        </a:rPr>
                        <a:t>j </a:t>
                      </a:r>
                      <a:r>
                        <a:rPr sz="1050">
                          <a:latin typeface="Symbol"/>
                          <a:cs typeface="Symbol"/>
                        </a:rPr>
                        <a:t> </a:t>
                      </a:r>
                      <a:r>
                        <a:rPr sz="1050">
                          <a:latin typeface="Times New Roman"/>
                          <a:cs typeface="Times New Roman"/>
                        </a:rPr>
                        <a:t>1,2,...,</a:t>
                      </a:r>
                      <a:r>
                        <a:rPr sz="1050" i="1">
                          <a:latin typeface="Times New Roman"/>
                          <a:cs typeface="Times New Roman"/>
                        </a:rPr>
                        <a:t>n</a:t>
                      </a:r>
                      <a:r>
                        <a:rPr sz="1050">
                          <a:latin typeface="Times New Roman"/>
                          <a:cs typeface="Times New Roman"/>
                        </a:rPr>
                        <a:t>)</a:t>
                      </a:r>
                      <a:endParaRPr/>
                    </a:p>
                    <a:p>
                      <a:pPr marL="596900" marR="2689225">
                        <a:lnSpc>
                          <a:spcPts val="60"/>
                        </a:lnSpc>
                        <a:tabLst>
                          <a:tab pos="1181735" algn="l"/>
                          <a:tab pos="1469390" algn="l"/>
                        </a:tabLst>
                      </a:pPr>
                      <a:r>
                        <a:rPr sz="600" i="1">
                          <a:latin typeface="Times New Roman"/>
                          <a:cs typeface="Times New Roman"/>
                        </a:rPr>
                        <a:t>i</a:t>
                      </a:r>
                      <a:r>
                        <a:rPr sz="600" i="1">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spc="-15">
                          <a:latin typeface="Times New Roman"/>
                          <a:cs typeface="Times New Roman"/>
                        </a:rPr>
                        <a:t>j</a:t>
                      </a:r>
                      <a:endParaRPr/>
                    </a:p>
                    <a:p>
                      <a:pPr marL="941705" marR="3131820"/>
                      <a:r>
                        <a:rPr sz="600" i="1">
                          <a:latin typeface="Times New Roman"/>
                          <a:cs typeface="Times New Roman"/>
                        </a:rPr>
                        <a:t>j</a:t>
                      </a:r>
                      <a:r>
                        <a:rPr sz="600">
                          <a:latin typeface="Symbol"/>
                          <a:cs typeface="Symbol"/>
                        </a:rPr>
                        <a:t></a:t>
                      </a:r>
                      <a:r>
                        <a:rPr sz="600">
                          <a:latin typeface="Times New Roman"/>
                          <a:cs typeface="Times New Roman"/>
                        </a:rPr>
                        <a:t>1</a:t>
                      </a:r>
                      <a:endParaRPr/>
                    </a:p>
                    <a:p>
                      <a:pPr marL="1012825" marR="3027045">
                        <a:spcBef>
                          <a:spcPts val="600"/>
                        </a:spcBef>
                      </a:pPr>
                      <a:r>
                        <a:rPr sz="1100" i="1" spc="-25">
                          <a:latin typeface="Times New Roman"/>
                          <a:cs typeface="Times New Roman"/>
                        </a:rPr>
                        <a:t>S </a:t>
                      </a:r>
                      <a:r>
                        <a:rPr sz="950" spc="-25" baseline="66315">
                          <a:latin typeface="Symbol"/>
                          <a:cs typeface="Symbol"/>
                        </a:rPr>
                        <a:t></a:t>
                      </a:r>
                      <a:endParaRPr/>
                    </a:p>
                    <a:p>
                      <a:pPr marL="518795" marR="2029460">
                        <a:lnSpc>
                          <a:spcPts val="645"/>
                        </a:lnSpc>
                        <a:tabLst>
                          <a:tab pos="735965" algn="l"/>
                          <a:tab pos="1096645" algn="l"/>
                          <a:tab pos="1357630" algn="l"/>
                        </a:tabLst>
                      </a:pPr>
                      <a:r>
                        <a:rPr sz="1100" i="1" spc="5">
                          <a:latin typeface="Times New Roman"/>
                          <a:cs typeface="Times New Roman"/>
                        </a:rPr>
                        <a:t>SI</a:t>
                      </a:r>
                      <a:r>
                        <a:rPr sz="1100" i="1" spc="5">
                          <a:latin typeface="Times New Roman"/>
                          <a:cs typeface="Times New Roman"/>
                        </a:rPr>
                        <a:t>	</a:t>
                      </a:r>
                      <a:r>
                        <a:rPr sz="1100">
                          <a:latin typeface="Symbol"/>
                          <a:cs typeface="Symbol"/>
                        </a:rPr>
                        <a:t></a:t>
                      </a:r>
                      <a:r>
                        <a:rPr sz="1100">
                          <a:latin typeface="Symbol"/>
                          <a:cs typeface="Symbol"/>
                        </a:rPr>
                        <a:t>	</a:t>
                      </a:r>
                      <a:r>
                        <a:rPr sz="950" i="1" baseline="66315">
                          <a:latin typeface="Times New Roman"/>
                          <a:cs typeface="Times New Roman"/>
                        </a:rPr>
                        <a:t>i</a:t>
                      </a:r>
                      <a:r>
                        <a:rPr sz="1425" i="1" baseline="17543">
                          <a:latin typeface="Times New Roman"/>
                          <a:cs typeface="Times New Roman"/>
                        </a:rPr>
                        <a:t>	</a:t>
                      </a:r>
                      <a:r>
                        <a:rPr sz="1100" spc="-20">
                          <a:latin typeface="Times New Roman"/>
                          <a:cs typeface="Times New Roman"/>
                        </a:rPr>
                        <a:t>, (</a:t>
                      </a:r>
                      <a:r>
                        <a:rPr sz="1100" i="1" spc="-20">
                          <a:latin typeface="Times New Roman"/>
                          <a:cs typeface="Times New Roman"/>
                        </a:rPr>
                        <a:t>i </a:t>
                      </a:r>
                      <a:r>
                        <a:rPr sz="1100" spc="-20">
                          <a:latin typeface="Symbol"/>
                          <a:cs typeface="Symbol"/>
                        </a:rPr>
                        <a:t> </a:t>
                      </a:r>
                      <a:r>
                        <a:rPr sz="1100" spc="-20">
                          <a:latin typeface="Times New Roman"/>
                          <a:cs typeface="Times New Roman"/>
                        </a:rPr>
                        <a:t>1,2,..., </a:t>
                      </a:r>
                      <a:r>
                        <a:rPr sz="1100" i="1" spc="-20">
                          <a:latin typeface="Times New Roman"/>
                          <a:cs typeface="Times New Roman"/>
                        </a:rPr>
                        <a:t>m</a:t>
                      </a:r>
                      <a:r>
                        <a:rPr sz="1100" spc="-20">
                          <a:latin typeface="Times New Roman"/>
                          <a:cs typeface="Times New Roman"/>
                        </a:rPr>
                        <a:t>)</a:t>
                      </a:r>
                      <a:endParaRPr/>
                    </a:p>
                    <a:p>
                      <a:pPr marL="652780" marR="2878455">
                        <a:lnSpc>
                          <a:spcPts val="190"/>
                        </a:lnSpc>
                        <a:tabLst>
                          <a:tab pos="961390" algn="l"/>
                          <a:tab pos="1258570" algn="l"/>
                        </a:tabLst>
                      </a:pPr>
                      <a:r>
                        <a:rPr sz="600" i="1">
                          <a:latin typeface="Times New Roman"/>
                          <a:cs typeface="Times New Roman"/>
                        </a:rPr>
                        <a:t>i</a:t>
                      </a:r>
                      <a:r>
                        <a:rPr sz="600" i="1">
                          <a:latin typeface="Times New Roman"/>
                          <a:cs typeface="Times New Roman"/>
                        </a:rPr>
                        <a:t>	</a:t>
                      </a:r>
                      <a:r>
                        <a:rPr sz="900" baseline="-9259">
                          <a:latin typeface="Symbol"/>
                          <a:cs typeface="Symbol"/>
                        </a:rPr>
                        <a:t></a:t>
                      </a:r>
                      <a:r>
                        <a:rPr sz="900" baseline="-9259">
                          <a:latin typeface="Symbol"/>
                          <a:cs typeface="Symbol"/>
                        </a:rPr>
                        <a:t>	</a:t>
                      </a:r>
                      <a:r>
                        <a:rPr sz="900" spc="-7" baseline="-9259">
                          <a:latin typeface="Symbol"/>
                          <a:cs typeface="Symbol"/>
                        </a:rPr>
                        <a:t></a:t>
                      </a:r>
                      <a:endParaRPr/>
                    </a:p>
                    <a:p>
                      <a:pPr marL="864235" marR="2946400">
                        <a:lnSpc>
                          <a:spcPts val="538"/>
                        </a:lnSpc>
                        <a:tabLst>
                          <a:tab pos="1054100" algn="l"/>
                        </a:tabLst>
                      </a:pPr>
                      <a:r>
                        <a:rPr sz="1100" i="1">
                          <a:latin typeface="Times New Roman"/>
                          <a:cs typeface="Times New Roman"/>
                        </a:rPr>
                        <a:t>S</a:t>
                      </a:r>
                      <a:r>
                        <a:rPr sz="1100" i="1">
                          <a:latin typeface="Times New Roman"/>
                          <a:cs typeface="Times New Roman"/>
                        </a:rPr>
                        <a:t>	</a:t>
                      </a:r>
                      <a:r>
                        <a:rPr sz="1100" spc="-10">
                          <a:latin typeface="Symbol"/>
                          <a:cs typeface="Symbol"/>
                        </a:rPr>
                        <a:t> </a:t>
                      </a:r>
                      <a:r>
                        <a:rPr sz="1100" i="1" spc="-10">
                          <a:latin typeface="Times New Roman"/>
                          <a:cs typeface="Times New Roman"/>
                        </a:rPr>
                        <a:t>S</a:t>
                      </a:r>
                      <a:endParaRPr/>
                    </a:p>
                  </a:txBody>
                  <a:tcPr marL="0" marR="0" marT="12700" marB="0">
                    <a:lnL/>
                    <a:lnR/>
                    <a:lnT/>
                    <a:lnB/>
                  </a:tcPr>
                </a:tc>
              </a:tr>
              <a:tr h="469265">
                <a:tc>
                  <a:txBody>
                    <a:bodyPr/>
                    <a:p>
                      <a:pPr/>
                      <a:r>
                        <a:rPr sz="1000">
                          <a:latin typeface="Arial"/>
                          <a:cs typeface="Arial"/>
                        </a:rPr>
                        <a:t/>
                      </a:r>
                      <a:endParaRPr sz="1000"/>
                    </a:p>
                    <a:p>
                      <a:pPr marL="203835" marR="673735">
                        <a:spcBef>
                          <a:spcPts val="700"/>
                        </a:spcBef>
                      </a:pPr>
                      <a:r>
                        <a:rPr sz="950" spc="-5">
                          <a:latin typeface="Times New Roman"/>
                          <a:cs typeface="Times New Roman"/>
                        </a:rPr>
                        <a:t>Step 5</a:t>
                      </a:r>
                      <a:endParaRPr/>
                    </a:p>
                  </a:txBody>
                  <a:tcPr marL="0" marR="0" marT="0" marB="0">
                    <a:lnL/>
                    <a:lnR/>
                    <a:lnT/>
                    <a:lnB/>
                  </a:tcPr>
                </a:tc>
                <a:tc rowSpan="2">
                  <a:txBody>
                    <a:bodyPr/>
                    <a:p>
                      <a:pPr marL="967105" marR="3173730">
                        <a:spcBef>
                          <a:spcPts val="100"/>
                        </a:spcBef>
                      </a:pPr>
                      <a:r>
                        <a:rPr sz="600" i="1" spc="-10">
                          <a:latin typeface="Times New Roman"/>
                          <a:cs typeface="Times New Roman"/>
                        </a:rPr>
                        <a:t>n</a:t>
                      </a:r>
                      <a:endParaRPr/>
                    </a:p>
                    <a:p>
                      <a:pPr marL="518795" marR="1062355">
                        <a:lnSpc>
                          <a:spcPts val="1060"/>
                        </a:lnSpc>
                        <a:tabLst>
                          <a:tab pos="918845" algn="l"/>
                          <a:tab pos="1277620" algn="l"/>
                        </a:tabLst>
                      </a:pPr>
                      <a:r>
                        <a:rPr sz="1050" i="1">
                          <a:latin typeface="Times New Roman"/>
                          <a:cs typeface="Times New Roman"/>
                        </a:rPr>
                        <a:t>S </a:t>
                      </a:r>
                      <a:r>
                        <a:rPr sz="900" baseline="63148">
                          <a:latin typeface="Symbol"/>
                          <a:cs typeface="Symbol"/>
                        </a:rPr>
                        <a:t></a:t>
                      </a:r>
                      <a:r>
                        <a:rPr sz="1350" baseline="15432">
                          <a:latin typeface="Symbol"/>
                          <a:cs typeface="Symbol"/>
                        </a:rPr>
                        <a:t>  </a:t>
                      </a:r>
                      <a:r>
                        <a:rPr sz="1050">
                          <a:latin typeface="Symbol"/>
                          <a:cs typeface="Symbol"/>
                        </a:rPr>
                        <a:t></a:t>
                      </a:r>
                      <a:r>
                        <a:rPr sz="1050">
                          <a:latin typeface="Symbol"/>
                          <a:cs typeface="Symbol"/>
                        </a:rPr>
                        <a:t>	</a:t>
                      </a:r>
                      <a:r>
                        <a:rPr sz="2175" baseline="-7662">
                          <a:latin typeface="Symbol"/>
                          <a:cs typeface="Symbol"/>
                        </a:rPr>
                        <a:t></a:t>
                      </a:r>
                      <a:r>
                        <a:rPr sz="1050">
                          <a:latin typeface="Times New Roman"/>
                          <a:cs typeface="Times New Roman"/>
                        </a:rPr>
                        <a:t>(</a:t>
                      </a:r>
                      <a:r>
                        <a:rPr sz="1050" i="1">
                          <a:latin typeface="Times New Roman"/>
                          <a:cs typeface="Times New Roman"/>
                        </a:rPr>
                        <a:t>v</a:t>
                      </a:r>
                      <a:r>
                        <a:rPr sz="1050" i="1">
                          <a:latin typeface="Times New Roman"/>
                          <a:cs typeface="Times New Roman"/>
                        </a:rPr>
                        <a:t>	</a:t>
                      </a:r>
                      <a:r>
                        <a:rPr sz="1050">
                          <a:latin typeface="Symbol"/>
                          <a:cs typeface="Symbol"/>
                        </a:rPr>
                        <a:t> </a:t>
                      </a:r>
                      <a:r>
                        <a:rPr sz="1050" i="1">
                          <a:latin typeface="Times New Roman"/>
                          <a:cs typeface="Times New Roman"/>
                        </a:rPr>
                        <a:t>a</a:t>
                      </a:r>
                      <a:r>
                        <a:rPr sz="900" baseline="63148">
                          <a:latin typeface="Symbol"/>
                          <a:cs typeface="Symbol"/>
                        </a:rPr>
                        <a:t></a:t>
                      </a:r>
                      <a:r>
                        <a:rPr sz="1350" baseline="15432">
                          <a:latin typeface="Symbol"/>
                          <a:cs typeface="Symbol"/>
                        </a:rPr>
                        <a:t> </a:t>
                      </a:r>
                      <a:r>
                        <a:rPr sz="1050">
                          <a:latin typeface="Times New Roman"/>
                          <a:cs typeface="Times New Roman"/>
                        </a:rPr>
                        <a:t>)</a:t>
                      </a:r>
                      <a:r>
                        <a:rPr sz="900" baseline="67777">
                          <a:latin typeface="Times New Roman"/>
                          <a:cs typeface="Times New Roman"/>
                        </a:rPr>
                        <a:t>2</a:t>
                      </a:r>
                      <a:r>
                        <a:rPr sz="1350" baseline="18518">
                          <a:latin typeface="Times New Roman"/>
                          <a:cs typeface="Times New Roman"/>
                        </a:rPr>
                        <a:t> </a:t>
                      </a:r>
                      <a:r>
                        <a:rPr sz="1050">
                          <a:latin typeface="Times New Roman"/>
                          <a:cs typeface="Times New Roman"/>
                        </a:rPr>
                        <a:t>,(</a:t>
                      </a:r>
                      <a:r>
                        <a:rPr sz="1050" i="1">
                          <a:latin typeface="Times New Roman"/>
                          <a:cs typeface="Times New Roman"/>
                        </a:rPr>
                        <a:t>i </a:t>
                      </a:r>
                      <a:r>
                        <a:rPr sz="1050">
                          <a:latin typeface="Symbol"/>
                          <a:cs typeface="Symbol"/>
                        </a:rPr>
                        <a:t> </a:t>
                      </a:r>
                      <a:r>
                        <a:rPr sz="1050">
                          <a:latin typeface="Times New Roman"/>
                          <a:cs typeface="Times New Roman"/>
                        </a:rPr>
                        <a:t>1,2,...,</a:t>
                      </a:r>
                      <a:r>
                        <a:rPr sz="1050" i="1">
                          <a:latin typeface="Times New Roman"/>
                          <a:cs typeface="Times New Roman"/>
                        </a:rPr>
                        <a:t>m</a:t>
                      </a:r>
                      <a:r>
                        <a:rPr sz="1050">
                          <a:latin typeface="Times New Roman"/>
                          <a:cs typeface="Times New Roman"/>
                        </a:rPr>
                        <a:t>; </a:t>
                      </a:r>
                      <a:r>
                        <a:rPr sz="1050" i="1">
                          <a:latin typeface="Times New Roman"/>
                          <a:cs typeface="Times New Roman"/>
                        </a:rPr>
                        <a:t>j </a:t>
                      </a:r>
                      <a:r>
                        <a:rPr sz="1050">
                          <a:latin typeface="Symbol"/>
                          <a:cs typeface="Symbol"/>
                        </a:rPr>
                        <a:t> </a:t>
                      </a:r>
                      <a:r>
                        <a:rPr sz="1050">
                          <a:latin typeface="Times New Roman"/>
                          <a:cs typeface="Times New Roman"/>
                        </a:rPr>
                        <a:t>1,2,...,</a:t>
                      </a:r>
                      <a:r>
                        <a:rPr sz="1050" i="1">
                          <a:latin typeface="Times New Roman"/>
                          <a:cs typeface="Times New Roman"/>
                        </a:rPr>
                        <a:t>n</a:t>
                      </a:r>
                      <a:r>
                        <a:rPr sz="1050">
                          <a:latin typeface="Times New Roman"/>
                          <a:cs typeface="Times New Roman"/>
                        </a:rPr>
                        <a:t>)</a:t>
                      </a:r>
                      <a:endParaRPr/>
                    </a:p>
                    <a:p>
                      <a:pPr marL="596900" marR="2685415">
                        <a:lnSpc>
                          <a:spcPts val="65"/>
                        </a:lnSpc>
                        <a:tabLst>
                          <a:tab pos="1184275" algn="l"/>
                          <a:tab pos="1472565" algn="l"/>
                        </a:tabLst>
                      </a:pPr>
                      <a:r>
                        <a:rPr sz="600" i="1">
                          <a:latin typeface="Times New Roman"/>
                          <a:cs typeface="Times New Roman"/>
                        </a:rPr>
                        <a:t>i</a:t>
                      </a:r>
                      <a:r>
                        <a:rPr sz="600" i="1">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spc="-10">
                          <a:latin typeface="Times New Roman"/>
                          <a:cs typeface="Times New Roman"/>
                        </a:rPr>
                        <a:t>j</a:t>
                      </a:r>
                      <a:endParaRPr/>
                    </a:p>
                    <a:p>
                      <a:pPr marL="943610" marR="3129915"/>
                      <a:r>
                        <a:rPr sz="600" i="1">
                          <a:latin typeface="Times New Roman"/>
                          <a:cs typeface="Times New Roman"/>
                        </a:rPr>
                        <a:t>j</a:t>
                      </a:r>
                      <a:r>
                        <a:rPr sz="600">
                          <a:latin typeface="Symbol"/>
                          <a:cs typeface="Symbol"/>
                        </a:rPr>
                        <a:t></a:t>
                      </a:r>
                      <a:r>
                        <a:rPr sz="600">
                          <a:latin typeface="Times New Roman"/>
                          <a:cs typeface="Times New Roman"/>
                        </a:rPr>
                        <a:t>1</a:t>
                      </a:r>
                      <a:endParaRPr/>
                    </a:p>
                    <a:p>
                      <a:pPr marL="964565" marR="3176270">
                        <a:spcBef>
                          <a:spcPts val="700"/>
                        </a:spcBef>
                      </a:pPr>
                      <a:r>
                        <a:rPr sz="600" i="1" spc="-10">
                          <a:latin typeface="Times New Roman"/>
                          <a:cs typeface="Times New Roman"/>
                        </a:rPr>
                        <a:t>n</a:t>
                      </a:r>
                      <a:endParaRPr/>
                    </a:p>
                    <a:p>
                      <a:pPr marL="518795" marR="1070610">
                        <a:lnSpc>
                          <a:spcPts val="1100"/>
                        </a:lnSpc>
                        <a:tabLst>
                          <a:tab pos="916940" algn="l"/>
                          <a:tab pos="1274445" algn="l"/>
                        </a:tabLst>
                      </a:pPr>
                      <a:r>
                        <a:rPr sz="1050" i="1">
                          <a:latin typeface="Times New Roman"/>
                          <a:cs typeface="Times New Roman"/>
                        </a:rPr>
                        <a:t>S </a:t>
                      </a:r>
                      <a:r>
                        <a:rPr sz="900" baseline="63148">
                          <a:latin typeface="Symbol"/>
                          <a:cs typeface="Symbol"/>
                        </a:rPr>
                        <a:t></a:t>
                      </a:r>
                      <a:r>
                        <a:rPr sz="1350" baseline="15432">
                          <a:latin typeface="Symbol"/>
                          <a:cs typeface="Symbol"/>
                        </a:rPr>
                        <a:t>  </a:t>
                      </a:r>
                      <a:r>
                        <a:rPr sz="1050">
                          <a:latin typeface="Symbol"/>
                          <a:cs typeface="Symbol"/>
                        </a:rPr>
                        <a:t></a:t>
                      </a:r>
                      <a:r>
                        <a:rPr sz="1050">
                          <a:latin typeface="Symbol"/>
                          <a:cs typeface="Symbol"/>
                        </a:rPr>
                        <a:t>	</a:t>
                      </a:r>
                      <a:r>
                        <a:rPr sz="2175" baseline="-7662">
                          <a:latin typeface="Symbol"/>
                          <a:cs typeface="Symbol"/>
                        </a:rPr>
                        <a:t></a:t>
                      </a:r>
                      <a:r>
                        <a:rPr sz="1050">
                          <a:latin typeface="Times New Roman"/>
                          <a:cs typeface="Times New Roman"/>
                        </a:rPr>
                        <a:t>(</a:t>
                      </a:r>
                      <a:r>
                        <a:rPr sz="1050" i="1">
                          <a:latin typeface="Times New Roman"/>
                          <a:cs typeface="Times New Roman"/>
                        </a:rPr>
                        <a:t>v</a:t>
                      </a:r>
                      <a:r>
                        <a:rPr sz="1050" i="1">
                          <a:latin typeface="Times New Roman"/>
                          <a:cs typeface="Times New Roman"/>
                        </a:rPr>
                        <a:t>	</a:t>
                      </a:r>
                      <a:r>
                        <a:rPr sz="1050">
                          <a:latin typeface="Symbol"/>
                          <a:cs typeface="Symbol"/>
                        </a:rPr>
                        <a:t> </a:t>
                      </a:r>
                      <a:r>
                        <a:rPr sz="1050" i="1">
                          <a:latin typeface="Times New Roman"/>
                          <a:cs typeface="Times New Roman"/>
                        </a:rPr>
                        <a:t>a</a:t>
                      </a:r>
                      <a:r>
                        <a:rPr sz="900" baseline="63148">
                          <a:latin typeface="Symbol"/>
                          <a:cs typeface="Symbol"/>
                        </a:rPr>
                        <a:t></a:t>
                      </a:r>
                      <a:r>
                        <a:rPr sz="1350" baseline="15432">
                          <a:latin typeface="Symbol"/>
                          <a:cs typeface="Symbol"/>
                        </a:rPr>
                        <a:t> </a:t>
                      </a:r>
                      <a:r>
                        <a:rPr sz="1050">
                          <a:latin typeface="Times New Roman"/>
                          <a:cs typeface="Times New Roman"/>
                        </a:rPr>
                        <a:t>)</a:t>
                      </a:r>
                      <a:r>
                        <a:rPr sz="900" baseline="67777">
                          <a:latin typeface="Times New Roman"/>
                          <a:cs typeface="Times New Roman"/>
                        </a:rPr>
                        <a:t>2</a:t>
                      </a:r>
                      <a:r>
                        <a:rPr sz="1350" baseline="18518">
                          <a:latin typeface="Times New Roman"/>
                          <a:cs typeface="Times New Roman"/>
                        </a:rPr>
                        <a:t> </a:t>
                      </a:r>
                      <a:r>
                        <a:rPr sz="1050">
                          <a:latin typeface="Times New Roman"/>
                          <a:cs typeface="Times New Roman"/>
                        </a:rPr>
                        <a:t>,(</a:t>
                      </a:r>
                      <a:r>
                        <a:rPr sz="1050" i="1">
                          <a:latin typeface="Times New Roman"/>
                          <a:cs typeface="Times New Roman"/>
                        </a:rPr>
                        <a:t>i </a:t>
                      </a:r>
                      <a:r>
                        <a:rPr sz="1050">
                          <a:latin typeface="Symbol"/>
                          <a:cs typeface="Symbol"/>
                        </a:rPr>
                        <a:t> </a:t>
                      </a:r>
                      <a:r>
                        <a:rPr sz="1050">
                          <a:latin typeface="Times New Roman"/>
                          <a:cs typeface="Times New Roman"/>
                        </a:rPr>
                        <a:t>1,2,...,</a:t>
                      </a:r>
                      <a:r>
                        <a:rPr sz="1050" i="1">
                          <a:latin typeface="Times New Roman"/>
                          <a:cs typeface="Times New Roman"/>
                        </a:rPr>
                        <a:t>m</a:t>
                      </a:r>
                      <a:r>
                        <a:rPr sz="1050">
                          <a:latin typeface="Times New Roman"/>
                          <a:cs typeface="Times New Roman"/>
                        </a:rPr>
                        <a:t>; </a:t>
                      </a:r>
                      <a:r>
                        <a:rPr sz="1050" i="1">
                          <a:latin typeface="Times New Roman"/>
                          <a:cs typeface="Times New Roman"/>
                        </a:rPr>
                        <a:t>j </a:t>
                      </a:r>
                      <a:r>
                        <a:rPr sz="1050">
                          <a:latin typeface="Symbol"/>
                          <a:cs typeface="Symbol"/>
                        </a:rPr>
                        <a:t> </a:t>
                      </a:r>
                      <a:r>
                        <a:rPr sz="1050">
                          <a:latin typeface="Times New Roman"/>
                          <a:cs typeface="Times New Roman"/>
                        </a:rPr>
                        <a:t>1,2,...,</a:t>
                      </a:r>
                      <a:r>
                        <a:rPr sz="1050" i="1">
                          <a:latin typeface="Times New Roman"/>
                          <a:cs typeface="Times New Roman"/>
                        </a:rPr>
                        <a:t>n</a:t>
                      </a:r>
                      <a:r>
                        <a:rPr sz="1050">
                          <a:latin typeface="Times New Roman"/>
                          <a:cs typeface="Times New Roman"/>
                        </a:rPr>
                        <a:t>)</a:t>
                      </a:r>
                      <a:endParaRPr/>
                    </a:p>
                    <a:p>
                      <a:pPr marL="596900" marR="2689225">
                        <a:lnSpc>
                          <a:spcPts val="60"/>
                        </a:lnSpc>
                        <a:tabLst>
                          <a:tab pos="1181735" algn="l"/>
                          <a:tab pos="1469390" algn="l"/>
                        </a:tabLst>
                      </a:pPr>
                      <a:r>
                        <a:rPr sz="600" i="1">
                          <a:latin typeface="Times New Roman"/>
                          <a:cs typeface="Times New Roman"/>
                        </a:rPr>
                        <a:t>i</a:t>
                      </a:r>
                      <a:r>
                        <a:rPr sz="600" i="1">
                          <a:latin typeface="Times New Roman"/>
                          <a:cs typeface="Times New Roman"/>
                        </a:rPr>
                        <a:t>	</a:t>
                      </a:r>
                      <a:r>
                        <a:rPr sz="600" i="1" spc="-30">
                          <a:latin typeface="Times New Roman"/>
                          <a:cs typeface="Times New Roman"/>
                        </a:rPr>
                        <a:t>ij</a:t>
                      </a:r>
                      <a:r>
                        <a:rPr sz="600" i="1" spc="-30">
                          <a:latin typeface="Times New Roman"/>
                          <a:cs typeface="Times New Roman"/>
                        </a:rPr>
                        <a:t>	</a:t>
                      </a:r>
                      <a:r>
                        <a:rPr sz="600" i="1" spc="-15">
                          <a:latin typeface="Times New Roman"/>
                          <a:cs typeface="Times New Roman"/>
                        </a:rPr>
                        <a:t>j</a:t>
                      </a:r>
                      <a:endParaRPr/>
                    </a:p>
                    <a:p>
                      <a:pPr marL="941705" marR="3131820"/>
                      <a:r>
                        <a:rPr sz="600" i="1">
                          <a:latin typeface="Times New Roman"/>
                          <a:cs typeface="Times New Roman"/>
                        </a:rPr>
                        <a:t>j</a:t>
                      </a:r>
                      <a:r>
                        <a:rPr sz="600">
                          <a:latin typeface="Symbol"/>
                          <a:cs typeface="Symbol"/>
                        </a:rPr>
                        <a:t></a:t>
                      </a:r>
                      <a:r>
                        <a:rPr sz="600">
                          <a:latin typeface="Times New Roman"/>
                          <a:cs typeface="Times New Roman"/>
                        </a:rPr>
                        <a:t>1</a:t>
                      </a:r>
                      <a:endParaRPr/>
                    </a:p>
                    <a:p>
                      <a:pPr marL="1012825" marR="3027045">
                        <a:spcBef>
                          <a:spcPts val="600"/>
                        </a:spcBef>
                      </a:pPr>
                      <a:r>
                        <a:rPr sz="1100" i="1" spc="-25">
                          <a:latin typeface="Times New Roman"/>
                          <a:cs typeface="Times New Roman"/>
                        </a:rPr>
                        <a:t>S </a:t>
                      </a:r>
                      <a:r>
                        <a:rPr sz="950" spc="-25" baseline="66315">
                          <a:latin typeface="Symbol"/>
                          <a:cs typeface="Symbol"/>
                        </a:rPr>
                        <a:t></a:t>
                      </a:r>
                      <a:endParaRPr/>
                    </a:p>
                    <a:p>
                      <a:pPr marL="518795" marR="2029460">
                        <a:lnSpc>
                          <a:spcPts val="645"/>
                        </a:lnSpc>
                        <a:tabLst>
                          <a:tab pos="735965" algn="l"/>
                          <a:tab pos="1096645" algn="l"/>
                          <a:tab pos="1357630" algn="l"/>
                        </a:tabLst>
                      </a:pPr>
                      <a:r>
                        <a:rPr sz="1100" i="1" spc="5">
                          <a:latin typeface="Times New Roman"/>
                          <a:cs typeface="Times New Roman"/>
                        </a:rPr>
                        <a:t>SI</a:t>
                      </a:r>
                      <a:r>
                        <a:rPr sz="1100" i="1" spc="5">
                          <a:latin typeface="Times New Roman"/>
                          <a:cs typeface="Times New Roman"/>
                        </a:rPr>
                        <a:t>	</a:t>
                      </a:r>
                      <a:r>
                        <a:rPr sz="1100">
                          <a:latin typeface="Symbol"/>
                          <a:cs typeface="Symbol"/>
                        </a:rPr>
                        <a:t></a:t>
                      </a:r>
                      <a:r>
                        <a:rPr sz="1100">
                          <a:latin typeface="Symbol"/>
                          <a:cs typeface="Symbol"/>
                        </a:rPr>
                        <a:t>	</a:t>
                      </a:r>
                      <a:r>
                        <a:rPr sz="950" i="1" baseline="66315">
                          <a:latin typeface="Times New Roman"/>
                          <a:cs typeface="Times New Roman"/>
                        </a:rPr>
                        <a:t>i</a:t>
                      </a:r>
                      <a:r>
                        <a:rPr sz="1425" i="1" baseline="17543">
                          <a:latin typeface="Times New Roman"/>
                          <a:cs typeface="Times New Roman"/>
                        </a:rPr>
                        <a:t>	</a:t>
                      </a:r>
                      <a:r>
                        <a:rPr sz="1100" spc="-20">
                          <a:latin typeface="Times New Roman"/>
                          <a:cs typeface="Times New Roman"/>
                        </a:rPr>
                        <a:t>, (</a:t>
                      </a:r>
                      <a:r>
                        <a:rPr sz="1100" i="1" spc="-20">
                          <a:latin typeface="Times New Roman"/>
                          <a:cs typeface="Times New Roman"/>
                        </a:rPr>
                        <a:t>i </a:t>
                      </a:r>
                      <a:r>
                        <a:rPr sz="1100" spc="-20">
                          <a:latin typeface="Symbol"/>
                          <a:cs typeface="Symbol"/>
                        </a:rPr>
                        <a:t> </a:t>
                      </a:r>
                      <a:r>
                        <a:rPr sz="1100" spc="-20">
                          <a:latin typeface="Times New Roman"/>
                          <a:cs typeface="Times New Roman"/>
                        </a:rPr>
                        <a:t>1,2,..., </a:t>
                      </a:r>
                      <a:r>
                        <a:rPr sz="1100" i="1" spc="-20">
                          <a:latin typeface="Times New Roman"/>
                          <a:cs typeface="Times New Roman"/>
                        </a:rPr>
                        <a:t>m</a:t>
                      </a:r>
                      <a:r>
                        <a:rPr sz="1100" spc="-20">
                          <a:latin typeface="Times New Roman"/>
                          <a:cs typeface="Times New Roman"/>
                        </a:rPr>
                        <a:t>)</a:t>
                      </a:r>
                      <a:endParaRPr/>
                    </a:p>
                    <a:p>
                      <a:pPr marL="652780" marR="2878455">
                        <a:lnSpc>
                          <a:spcPts val="190"/>
                        </a:lnSpc>
                        <a:tabLst>
                          <a:tab pos="961390" algn="l"/>
                          <a:tab pos="1258570" algn="l"/>
                        </a:tabLst>
                      </a:pPr>
                      <a:r>
                        <a:rPr sz="600" i="1">
                          <a:latin typeface="Times New Roman"/>
                          <a:cs typeface="Times New Roman"/>
                        </a:rPr>
                        <a:t>i</a:t>
                      </a:r>
                      <a:r>
                        <a:rPr sz="600" i="1">
                          <a:latin typeface="Times New Roman"/>
                          <a:cs typeface="Times New Roman"/>
                        </a:rPr>
                        <a:t>	</a:t>
                      </a:r>
                      <a:r>
                        <a:rPr sz="900" baseline="-9259">
                          <a:latin typeface="Symbol"/>
                          <a:cs typeface="Symbol"/>
                        </a:rPr>
                        <a:t></a:t>
                      </a:r>
                      <a:r>
                        <a:rPr sz="900" baseline="-9259">
                          <a:latin typeface="Symbol"/>
                          <a:cs typeface="Symbol"/>
                        </a:rPr>
                        <a:t>	</a:t>
                      </a:r>
                      <a:r>
                        <a:rPr sz="900" spc="-7" baseline="-9259">
                          <a:latin typeface="Symbol"/>
                          <a:cs typeface="Symbol"/>
                        </a:rPr>
                        <a:t></a:t>
                      </a:r>
                      <a:endParaRPr/>
                    </a:p>
                    <a:p>
                      <a:pPr marL="864235" marR="2946400">
                        <a:lnSpc>
                          <a:spcPts val="538"/>
                        </a:lnSpc>
                        <a:tabLst>
                          <a:tab pos="1054100" algn="l"/>
                        </a:tabLst>
                      </a:pPr>
                      <a:r>
                        <a:rPr sz="1100" i="1">
                          <a:latin typeface="Times New Roman"/>
                          <a:cs typeface="Times New Roman"/>
                        </a:rPr>
                        <a:t>S</a:t>
                      </a:r>
                      <a:r>
                        <a:rPr sz="1100" i="1">
                          <a:latin typeface="Times New Roman"/>
                          <a:cs typeface="Times New Roman"/>
                        </a:rPr>
                        <a:t>	</a:t>
                      </a:r>
                      <a:r>
                        <a:rPr sz="1100" spc="-10">
                          <a:latin typeface="Symbol"/>
                          <a:cs typeface="Symbol"/>
                        </a:rPr>
                        <a:t> </a:t>
                      </a:r>
                      <a:r>
                        <a:rPr sz="1100" i="1" spc="-10">
                          <a:latin typeface="Times New Roman"/>
                          <a:cs typeface="Times New Roman"/>
                        </a:rPr>
                        <a:t>S</a:t>
                      </a:r>
                      <a:endParaRPr/>
                    </a:p>
                  </a:txBody>
                  <a:tcPr marL="0" marR="0" marT="12700" marB="0">
                    <a:lnL/>
                    <a:lnR/>
                    <a:lnT/>
                    <a:lnB/>
                  </a:tcPr>
                </a:tc>
              </a:tr>
              <a:tr h="1214120">
                <a:tc>
                  <a:txBody>
                    <a:bodyPr/>
                    <a:p>
                      <a:pPr marL="145415" marR="615315"/>
                      <a:r>
                        <a:rPr sz="950" spc="-5">
                          <a:latin typeface="Times New Roman"/>
                          <a:cs typeface="Times New Roman"/>
                        </a:rPr>
                        <a:t>Symbols</a:t>
                      </a:r>
                      <a:endParaRPr/>
                    </a:p>
                  </a:txBody>
                  <a:tcPr anchor="ctr" marL="0" marR="0" marT="0" marB="0">
                    <a:lnL/>
                    <a:lnR/>
                    <a:lnT/>
                    <a:lnB/>
                  </a:tcPr>
                </a:tc>
                <a:tc>
                  <a:txBody>
                    <a:bodyPr/>
                    <a:p>
                      <a:pPr marL="493395" marR="1212850">
                        <a:spcBef>
                          <a:spcPts val="500"/>
                        </a:spcBef>
                      </a:pPr>
                      <a:r>
                        <a:rPr sz="950" i="1">
                          <a:latin typeface="Times New Roman"/>
                          <a:cs typeface="Times New Roman"/>
                        </a:rPr>
                        <a:t>x</a:t>
                      </a:r>
                      <a:r>
                        <a:rPr sz="900" i="1" baseline="-40000">
                          <a:latin typeface="Times New Roman"/>
                          <a:cs typeface="Times New Roman"/>
                        </a:rPr>
                        <a:t>ij</a:t>
                      </a:r>
                      <a:r>
                        <a:rPr sz="900" i="1">
                          <a:latin typeface="Times New Roman"/>
                          <a:cs typeface="Times New Roman"/>
                        </a:rPr>
                        <a:t> </a:t>
                      </a:r>
                      <a:r>
                        <a:rPr sz="950">
                          <a:latin typeface="Times New Roman"/>
                          <a:cs typeface="Times New Roman"/>
                        </a:rPr>
                        <a:t>– the value of </a:t>
                      </a:r>
                      <a:r>
                        <a:rPr sz="950" i="1">
                          <a:latin typeface="Times New Roman"/>
                          <a:cs typeface="Times New Roman"/>
                        </a:rPr>
                        <a:t>j-</a:t>
                      </a:r>
                      <a:r>
                        <a:rPr sz="950">
                          <a:latin typeface="Times New Roman"/>
                          <a:cs typeface="Times New Roman"/>
                        </a:rPr>
                        <a:t>th criteria for the </a:t>
                      </a:r>
                      <a:r>
                        <a:rPr sz="950" i="1">
                          <a:latin typeface="Times New Roman"/>
                          <a:cs typeface="Times New Roman"/>
                        </a:rPr>
                        <a:t>i-</a:t>
                      </a:r>
                      <a:r>
                        <a:rPr sz="950">
                          <a:latin typeface="Times New Roman"/>
                          <a:cs typeface="Times New Roman"/>
                        </a:rPr>
                        <a:t>th alternative;</a:t>
                      </a:r>
                      <a:endParaRPr/>
                    </a:p>
                    <a:p>
                      <a:pPr marL="493395" marR="646430"/>
                      <a:r>
                        <a:rPr sz="950" i="1">
                          <a:latin typeface="Times New Roman"/>
                          <a:cs typeface="Times New Roman"/>
                        </a:rPr>
                        <a:t>r</a:t>
                      </a:r>
                      <a:r>
                        <a:rPr sz="900" i="1" baseline="-40000">
                          <a:latin typeface="Times New Roman"/>
                          <a:cs typeface="Times New Roman"/>
                        </a:rPr>
                        <a:t>ij</a:t>
                      </a:r>
                      <a:r>
                        <a:rPr sz="900" i="1">
                          <a:latin typeface="Times New Roman"/>
                          <a:cs typeface="Times New Roman"/>
                        </a:rPr>
                        <a:t> </a:t>
                      </a:r>
                      <a:r>
                        <a:rPr sz="950">
                          <a:latin typeface="Times New Roman"/>
                          <a:cs typeface="Times New Roman"/>
                        </a:rPr>
                        <a:t>– the normalized value of </a:t>
                      </a:r>
                      <a:r>
                        <a:rPr sz="950" i="1">
                          <a:latin typeface="Times New Roman"/>
                          <a:cs typeface="Times New Roman"/>
                        </a:rPr>
                        <a:t>j-</a:t>
                      </a:r>
                      <a:r>
                        <a:rPr sz="950">
                          <a:latin typeface="Times New Roman"/>
                          <a:cs typeface="Times New Roman"/>
                        </a:rPr>
                        <a:t>th criteria for the </a:t>
                      </a:r>
                      <a:r>
                        <a:rPr sz="950" i="1">
                          <a:latin typeface="Times New Roman"/>
                          <a:cs typeface="Times New Roman"/>
                        </a:rPr>
                        <a:t>i-</a:t>
                      </a:r>
                      <a:r>
                        <a:rPr sz="950">
                          <a:latin typeface="Times New Roman"/>
                          <a:cs typeface="Times New Roman"/>
                        </a:rPr>
                        <a:t>th alternative;</a:t>
                      </a:r>
                      <a:endParaRPr/>
                    </a:p>
                    <a:p>
                      <a:pPr marL="493395" marR="2046605">
                        <a:lnSpc>
                          <a:spcPts val="1120"/>
                        </a:lnSpc>
                      </a:pPr>
                      <a:r>
                        <a:rPr sz="950" i="1">
                          <a:latin typeface="Times New Roman"/>
                          <a:cs typeface="Times New Roman"/>
                        </a:rPr>
                        <a:t>w</a:t>
                      </a:r>
                      <a:r>
                        <a:rPr sz="900" i="1" baseline="-40000">
                          <a:latin typeface="Times New Roman"/>
                          <a:cs typeface="Times New Roman"/>
                        </a:rPr>
                        <a:t>j</a:t>
                      </a:r>
                      <a:r>
                        <a:rPr sz="900" i="1">
                          <a:latin typeface="Times New Roman"/>
                          <a:cs typeface="Times New Roman"/>
                        </a:rPr>
                        <a:t> </a:t>
                      </a:r>
                      <a:r>
                        <a:rPr sz="950">
                          <a:latin typeface="Times New Roman"/>
                          <a:cs typeface="Times New Roman"/>
                        </a:rPr>
                        <a:t>– the weight of the </a:t>
                      </a:r>
                      <a:r>
                        <a:rPr sz="950" i="1">
                          <a:latin typeface="Times New Roman"/>
                          <a:cs typeface="Times New Roman"/>
                        </a:rPr>
                        <a:t>j</a:t>
                      </a:r>
                      <a:r>
                        <a:rPr sz="950">
                          <a:latin typeface="Times New Roman"/>
                          <a:cs typeface="Times New Roman"/>
                        </a:rPr>
                        <a:t>-th criteria;</a:t>
                      </a:r>
                      <a:endParaRPr/>
                    </a:p>
                    <a:p>
                      <a:pPr marL="493395" marR="2471420">
                        <a:lnSpc>
                          <a:spcPts val="1085"/>
                        </a:lnSpc>
                      </a:pPr>
                      <a:r>
                        <a:rPr sz="950" i="1" spc="-5">
                          <a:latin typeface="Times New Roman"/>
                          <a:cs typeface="Times New Roman"/>
                        </a:rPr>
                        <a:t>J</a:t>
                      </a:r>
                      <a:r>
                        <a:rPr sz="900" i="1" spc="-5" baseline="-40000">
                          <a:latin typeface="Times New Roman"/>
                          <a:cs typeface="Times New Roman"/>
                        </a:rPr>
                        <a:t>S</a:t>
                      </a:r>
                      <a:r>
                        <a:rPr sz="900" i="1" spc="-5">
                          <a:latin typeface="Times New Roman"/>
                          <a:cs typeface="Times New Roman"/>
                        </a:rPr>
                        <a:t> </a:t>
                      </a:r>
                      <a:r>
                        <a:rPr sz="950" spc="-5">
                          <a:latin typeface="Times New Roman"/>
                          <a:cs typeface="Times New Roman"/>
                        </a:rPr>
                        <a:t>– the set of stimulants;</a:t>
                      </a:r>
                      <a:endParaRPr/>
                    </a:p>
                    <a:p>
                      <a:pPr marL="493395" marR="2339975">
                        <a:lnSpc>
                          <a:spcPts val="1090"/>
                        </a:lnSpc>
                      </a:pPr>
                      <a:r>
                        <a:rPr sz="950" i="1" spc="-5">
                          <a:latin typeface="Times New Roman"/>
                          <a:cs typeface="Times New Roman"/>
                        </a:rPr>
                        <a:t>J</a:t>
                      </a:r>
                      <a:r>
                        <a:rPr sz="900" i="1" spc="-5" baseline="-40000">
                          <a:latin typeface="Times New Roman"/>
                          <a:cs typeface="Times New Roman"/>
                        </a:rPr>
                        <a:t>D</a:t>
                      </a:r>
                      <a:r>
                        <a:rPr sz="900" i="1" spc="-5">
                          <a:latin typeface="Times New Roman"/>
                          <a:cs typeface="Times New Roman"/>
                        </a:rPr>
                        <a:t> </a:t>
                      </a:r>
                      <a:r>
                        <a:rPr sz="950" spc="-5">
                          <a:latin typeface="Times New Roman"/>
                          <a:cs typeface="Times New Roman"/>
                        </a:rPr>
                        <a:t>– the set of destimulants;</a:t>
                      </a:r>
                      <a:endParaRPr/>
                    </a:p>
                    <a:p>
                      <a:pPr marL="493395" marR="34290" algn="just">
                        <a:lnSpc>
                          <a:spcPts val="1085"/>
                        </a:lnSpc>
                      </a:pPr>
                      <a:r>
                        <a:rPr sz="950" spc="-5">
                          <a:latin typeface="Times New Roman"/>
                          <a:cs typeface="Times New Roman"/>
                        </a:rPr>
                        <a:t>S</a:t>
                      </a:r>
                      <a:r>
                        <a:rPr sz="900" spc="-5" baseline="53888">
                          <a:latin typeface="Times New Roman"/>
                          <a:cs typeface="Times New Roman"/>
                        </a:rPr>
                        <a:t>+</a:t>
                      </a:r>
                      <a:r>
                        <a:rPr sz="1350" spc="-7" baseline="9259">
                          <a:latin typeface="Times New Roman"/>
                          <a:cs typeface="Times New Roman"/>
                        </a:rPr>
                        <a:t> </a:t>
                      </a:r>
                      <a:r>
                        <a:rPr sz="950" spc="-5">
                          <a:latin typeface="Times New Roman"/>
                          <a:cs typeface="Times New Roman"/>
                        </a:rPr>
                        <a:t>– the distance between the </a:t>
                      </a:r>
                      <a:r>
                        <a:rPr sz="950" i="1" spc="-5">
                          <a:latin typeface="Times New Roman"/>
                          <a:cs typeface="Times New Roman"/>
                        </a:rPr>
                        <a:t>i-</a:t>
                      </a:r>
                      <a:r>
                        <a:rPr sz="950" spc="-5">
                          <a:latin typeface="Times New Roman"/>
                          <a:cs typeface="Times New Roman"/>
                        </a:rPr>
                        <a:t>th alternative and the positive ideal solution;</a:t>
                      </a:r>
                      <a:endParaRPr/>
                    </a:p>
                    <a:p>
                      <a:pPr marL="493395" marR="25400" algn="just">
                        <a:lnSpc>
                          <a:spcPts val="1105"/>
                        </a:lnSpc>
                      </a:pPr>
                      <a:r>
                        <a:rPr sz="950" spc="-5">
                          <a:latin typeface="Times New Roman"/>
                          <a:cs typeface="Times New Roman"/>
                        </a:rPr>
                        <a:t>S</a:t>
                      </a:r>
                      <a:r>
                        <a:rPr sz="900" spc="-5" baseline="53888">
                          <a:latin typeface="Times New Roman"/>
                          <a:cs typeface="Times New Roman"/>
                        </a:rPr>
                        <a:t>-</a:t>
                      </a:r>
                      <a:r>
                        <a:rPr sz="1350" spc="-7" baseline="9259">
                          <a:latin typeface="Times New Roman"/>
                          <a:cs typeface="Times New Roman"/>
                        </a:rPr>
                        <a:t> </a:t>
                      </a:r>
                      <a:r>
                        <a:rPr sz="950" spc="-5">
                          <a:latin typeface="Times New Roman"/>
                          <a:cs typeface="Times New Roman"/>
                        </a:rPr>
                        <a:t>– the distance between the </a:t>
                      </a:r>
                      <a:r>
                        <a:rPr sz="950" i="1" spc="-5">
                          <a:latin typeface="Times New Roman"/>
                          <a:cs typeface="Times New Roman"/>
                        </a:rPr>
                        <a:t>i-</a:t>
                      </a:r>
                      <a:r>
                        <a:rPr sz="950" spc="-5">
                          <a:latin typeface="Times New Roman"/>
                          <a:cs typeface="Times New Roman"/>
                        </a:rPr>
                        <a:t>th alternative and the negative ideal solution;</a:t>
                      </a:r>
                      <a:endParaRPr/>
                    </a:p>
                    <a:p>
                      <a:pPr marL="493395" marR="955675" algn="just">
                        <a:lnSpc>
                          <a:spcPts val="1085"/>
                        </a:lnSpc>
                      </a:pPr>
                      <a:r>
                        <a:rPr sz="950" i="1">
                          <a:latin typeface="Times New Roman"/>
                          <a:cs typeface="Times New Roman"/>
                        </a:rPr>
                        <a:t>SI</a:t>
                      </a:r>
                      <a:r>
                        <a:rPr sz="900" i="1" spc="-5" baseline="-40000">
                          <a:latin typeface="Times New Roman"/>
                          <a:cs typeface="Times New Roman"/>
                        </a:rPr>
                        <a:t>i</a:t>
                      </a:r>
                      <a:r>
                        <a:rPr sz="900" i="1" spc="-5">
                          <a:latin typeface="Times New Roman"/>
                          <a:cs typeface="Times New Roman"/>
                        </a:rPr>
                        <a:t> </a:t>
                      </a:r>
                      <a:r>
                        <a:rPr sz="950" spc="-5">
                          <a:latin typeface="Times New Roman"/>
                          <a:cs typeface="Times New Roman"/>
                        </a:rPr>
                        <a:t>– synthetic indicator calculated for the </a:t>
                      </a:r>
                      <a:r>
                        <a:rPr sz="950" i="1" spc="-5">
                          <a:latin typeface="Times New Roman"/>
                          <a:cs typeface="Times New Roman"/>
                        </a:rPr>
                        <a:t>i</a:t>
                      </a:r>
                      <a:r>
                        <a:rPr sz="950" spc="-5">
                          <a:latin typeface="Times New Roman"/>
                          <a:cs typeface="Times New Roman"/>
                        </a:rPr>
                        <a:t>-th alternative</a:t>
                      </a:r>
                      <a:endParaRPr/>
                    </a:p>
                  </a:txBody>
                  <a:tcPr marL="0" marR="0" marT="63500" marB="0">
                    <a:lnL/>
                    <a:lnR/>
                    <a:lnT/>
                    <a:lnB/>
                  </a:tcPr>
                </a:tc>
              </a:tr>
            </a:tbl>
          </a:graphicData>
        </a:graphic>
      </p:graphicFrame>
      <p:grpSp>
        <p:nvGrpSpPr>
          <p:cNvPr id="73" name="shape 73"/>
          <p:cNvGrpSpPr/>
          <p:nvPr/>
        </p:nvGrpSpPr>
        <p:grpSpPr>
          <a:xfrm>
            <a:off x="2627969" y="2714772"/>
            <a:ext cx="433671" cy="31232"/>
            <a:chOff x="0" y="0"/>
            <a:chExt cx="433670" cy="31231"/>
          </a:xfrm>
        </p:grpSpPr>
        <p:sp>
          <p:nvSpPr>
            <p:cNvPr id="74" name="shape 74"/>
            <p:cNvSpPr/>
            <p:nvPr/>
          </p:nvSpPr>
          <p:spPr>
            <a:xfrm>
              <a:off x="97003" y="24800"/>
              <a:ext cx="323920" cy="6432"/>
            </a:xfrm>
            <a:custGeom>
              <a:pathLst>
                <a:path w="323919" h="6431">
                  <a:moveTo>
                    <a:pt x="0" y="3215"/>
                  </a:moveTo>
                  <a:lnTo>
                    <a:pt x="323919" y="3215"/>
                  </a:lnTo>
                </a:path>
              </a:pathLst>
            </a:custGeom>
            <a:ln w="6480" cap="flat">
              <a:solidFill>
                <a:srgbClr val="000000"/>
              </a:solidFill>
              <a:prstDash val="solid"/>
              <a:round/>
            </a:ln>
          </p:spPr>
        </p:sp>
        <p:sp>
          <p:nvSpPr>
            <p:cNvPr id="75" name="shape 75"/>
            <p:cNvSpPr/>
            <p:nvPr/>
          </p:nvSpPr>
          <p:spPr>
            <a:xfrm>
              <a:off x="0" y="0"/>
              <a:ext cx="433671" cy="6432"/>
            </a:xfrm>
            <a:custGeom>
              <a:pathLst>
                <a:path w="433670" h="6431">
                  <a:moveTo>
                    <a:pt x="0" y="3215"/>
                  </a:moveTo>
                  <a:lnTo>
                    <a:pt x="433670" y="3215"/>
                  </a:lnTo>
                </a:path>
              </a:pathLst>
            </a:custGeom>
            <a:ln w="6480" cap="flat">
              <a:solidFill>
                <a:srgbClr val="000000"/>
              </a:solidFill>
              <a:prstDash val="solid"/>
              <a:round/>
            </a:ln>
          </p:spPr>
        </p:sp>
      </p:grpSp>
      <p:sp>
        <p:nvSpPr>
          <p:cNvPr id="76" name="shape 76"/>
          <p:cNvSpPr/>
          <p:nvPr/>
        </p:nvSpPr>
        <p:spPr>
          <a:xfrm>
            <a:off x="1499870" y="2505710"/>
            <a:ext cx="6097" cy="6096"/>
          </a:xfrm>
          <a:prstGeom prst="rect">
            <a:avLst/>
          </a:prstGeom>
          <a:solidFill>
            <a:srgbClr val="000000"/>
          </a:solidFill>
        </p:spPr>
      </p:sp>
      <p:sp>
        <p:nvSpPr>
          <p:cNvPr id="77" name="shape 77"/>
          <p:cNvSpPr/>
          <p:nvPr/>
        </p:nvSpPr>
        <p:spPr>
          <a:xfrm>
            <a:off x="1499870" y="3135122"/>
            <a:ext cx="6097" cy="6096"/>
          </a:xfrm>
          <a:prstGeom prst="rect">
            <a:avLst/>
          </a:prstGeom>
          <a:solidFill>
            <a:srgbClr val="000000"/>
          </a:solidFill>
        </p:spPr>
      </p:sp>
      <p:sp>
        <p:nvSpPr>
          <p:cNvPr id="78" name="shape 78"/>
          <p:cNvSpPr/>
          <p:nvPr/>
        </p:nvSpPr>
        <p:spPr>
          <a:xfrm>
            <a:off x="4906484" y="3612507"/>
            <a:ext cx="6200" cy="168565"/>
          </a:xfrm>
          <a:custGeom>
            <a:pathLst>
              <a:path w="6199" h="168564">
                <a:moveTo>
                  <a:pt x="3099" y="0"/>
                </a:moveTo>
                <a:lnTo>
                  <a:pt x="3099" y="168564"/>
                </a:lnTo>
              </a:path>
            </a:pathLst>
          </a:custGeom>
          <a:ln w="6131" cap="flat">
            <a:solidFill>
              <a:srgbClr val="000000"/>
            </a:solidFill>
            <a:prstDash val="solid"/>
            <a:round/>
          </a:ln>
        </p:spPr>
      </p:sp>
      <p:grpSp>
        <p:nvGrpSpPr>
          <p:cNvPr id="79" name="shape 79"/>
          <p:cNvGrpSpPr/>
          <p:nvPr/>
        </p:nvGrpSpPr>
        <p:grpSpPr>
          <a:xfrm>
            <a:off x="4015322" y="3560051"/>
            <a:ext cx="33206" cy="618190"/>
            <a:chOff x="0" y="0"/>
            <a:chExt cx="33206" cy="618190"/>
          </a:xfrm>
        </p:grpSpPr>
        <p:sp>
          <p:nvSpPr>
            <p:cNvPr id="80" name="shape 80"/>
            <p:cNvSpPr/>
            <p:nvPr/>
          </p:nvSpPr>
          <p:spPr>
            <a:xfrm>
              <a:off x="0" y="0"/>
              <a:ext cx="6199" cy="273471"/>
            </a:xfrm>
            <a:custGeom>
              <a:pathLst>
                <a:path w="6198" h="273470">
                  <a:moveTo>
                    <a:pt x="3099" y="0"/>
                  </a:moveTo>
                  <a:lnTo>
                    <a:pt x="3099" y="273470"/>
                  </a:lnTo>
                </a:path>
              </a:pathLst>
            </a:custGeom>
            <a:ln w="6131" cap="flat">
              <a:solidFill>
                <a:srgbClr val="000000"/>
              </a:solidFill>
              <a:prstDash val="solid"/>
              <a:round/>
            </a:ln>
          </p:spPr>
        </p:sp>
        <p:sp>
          <p:nvSpPr>
            <p:cNvPr id="81" name="shape 81"/>
            <p:cNvSpPr/>
            <p:nvPr/>
          </p:nvSpPr>
          <p:spPr>
            <a:xfrm>
              <a:off x="26686" y="341089"/>
              <a:ext cx="6521" cy="277101"/>
            </a:xfrm>
            <a:custGeom>
              <a:pathLst>
                <a:path w="6520" h="277100">
                  <a:moveTo>
                    <a:pt x="3260" y="0"/>
                  </a:moveTo>
                  <a:lnTo>
                    <a:pt x="3260" y="277100"/>
                  </a:lnTo>
                </a:path>
              </a:pathLst>
            </a:custGeom>
            <a:ln w="6443" cap="flat">
              <a:solidFill>
                <a:srgbClr val="000000"/>
              </a:solidFill>
              <a:prstDash val="solid"/>
              <a:round/>
            </a:ln>
          </p:spPr>
        </p:sp>
      </p:grpSp>
      <p:sp>
        <p:nvSpPr>
          <p:cNvPr id="82" name="shape 82"/>
          <p:cNvSpPr/>
          <p:nvPr/>
        </p:nvSpPr>
        <p:spPr>
          <a:xfrm>
            <a:off x="4959069" y="3955408"/>
            <a:ext cx="6521" cy="168565"/>
          </a:xfrm>
          <a:custGeom>
            <a:pathLst>
              <a:path w="6520" h="168564">
                <a:moveTo>
                  <a:pt x="3260" y="0"/>
                </a:moveTo>
                <a:lnTo>
                  <a:pt x="3260" y="168564"/>
                </a:lnTo>
              </a:path>
            </a:pathLst>
          </a:custGeom>
          <a:ln w="6443" cap="flat">
            <a:solidFill>
              <a:srgbClr val="000000"/>
            </a:solidFill>
            <a:prstDash val="solid"/>
            <a:round/>
          </a:ln>
        </p:spPr>
      </p:sp>
      <p:sp>
        <p:nvSpPr>
          <p:cNvPr id="83" name="shape 83"/>
          <p:cNvSpPr txBox="1"/>
          <p:nvPr/>
        </p:nvSpPr>
        <p:spPr>
          <a:xfrm>
            <a:off x="2350998" y="3686007"/>
            <a:ext cx="3117215" cy="432435"/>
          </a:xfrm>
          <a:prstGeom prst="rect"/>
          <a:noFill/>
        </p:spPr>
        <p:txBody>
          <a:bodyPr vertOverflow="overflow" horzOverflow="overflow" numCol="1" wrap="square" lIns="0" tIns="0" rIns="0" bIns="0">
            <a:spAutoFit/>
          </a:bodyPr>
          <a:p>
            <a:pPr marL="405765">
              <a:tabLst>
                <a:tab pos="936625" algn="l"/>
                <a:tab pos="1291590" algn="l"/>
                <a:tab pos="1597025" algn="l"/>
                <a:tab pos="1969135" algn="l"/>
                <a:tab pos="2176145" algn="l"/>
                <a:tab pos="2861310" algn="l"/>
              </a:tabLst>
            </a:pPr>
            <a:r>
              <a:rPr sz="900" baseline="27777">
                <a:latin typeface="Times New Roman"/>
                <a:cs typeface="Times New Roman"/>
              </a:rPr>
              <a:t>1</a:t>
            </a:r>
            <a:r>
              <a:rPr sz="900" spc="1454" baseline="27777">
                <a:latin typeface="Times New Roman"/>
                <a:cs typeface="Times New Roman"/>
              </a:rPr>
              <a:t>  </a:t>
            </a:r>
            <a:r>
              <a:rPr sz="900" baseline="27777">
                <a:latin typeface="Times New Roman"/>
                <a:cs typeface="Times New Roman"/>
              </a:rPr>
              <a:t>2</a:t>
            </a:r>
            <a:r>
              <a:rPr sz="900" baseline="27777">
                <a:latin typeface="Times New Roman"/>
                <a:cs typeface="Times New Roman"/>
              </a:rPr>
              <a:t>	</a:t>
            </a:r>
            <a:r>
              <a:rPr sz="900" i="1" baseline="27777">
                <a:latin typeface="Times New Roman"/>
                <a:cs typeface="Times New Roman"/>
              </a:rPr>
              <a:t>n</a:t>
            </a:r>
            <a:r>
              <a:rPr sz="900" i="1" baseline="27777">
                <a:latin typeface="Times New Roman"/>
                <a:cs typeface="Times New Roman"/>
              </a:rPr>
              <a:t>	</a:t>
            </a:r>
            <a:r>
              <a:rPr sz="900" baseline="-4629">
                <a:latin typeface="Symbol"/>
                <a:cs typeface="Symbol"/>
              </a:rPr>
              <a:t></a:t>
            </a:r>
            <a:r>
              <a:rPr sz="900" baseline="-4629">
                <a:latin typeface="Symbol"/>
                <a:cs typeface="Symbol"/>
              </a:rPr>
              <a:t>	</a:t>
            </a:r>
            <a:r>
              <a:rPr sz="900" i="1" spc="-45" baseline="27777">
                <a:latin typeface="Times New Roman"/>
                <a:cs typeface="Times New Roman"/>
              </a:rPr>
              <a:t>ij</a:t>
            </a:r>
            <a:r>
              <a:rPr sz="900" i="1" spc="-45" baseline="27777">
                <a:latin typeface="Times New Roman"/>
                <a:cs typeface="Times New Roman"/>
              </a:rPr>
              <a:t>	</a:t>
            </a:r>
            <a:r>
              <a:rPr sz="900" i="1" baseline="27777">
                <a:latin typeface="Times New Roman"/>
                <a:cs typeface="Times New Roman"/>
              </a:rPr>
              <a:t>S</a:t>
            </a:r>
            <a:r>
              <a:rPr sz="900" i="1" baseline="27777">
                <a:latin typeface="Times New Roman"/>
                <a:cs typeface="Times New Roman"/>
              </a:rPr>
              <a:t>	</a:t>
            </a:r>
            <a:r>
              <a:rPr sz="600" i="1">
                <a:latin typeface="Times New Roman"/>
                <a:cs typeface="Times New Roman"/>
              </a:rPr>
              <a:t>i</a:t>
            </a:r>
            <a:r>
              <a:rPr sz="600">
                <a:latin typeface="Symbol"/>
                <a:cs typeface="Symbol"/>
              </a:rPr>
              <a:t></a:t>
            </a:r>
            <a:r>
              <a:rPr sz="600">
                <a:latin typeface="Times New Roman"/>
                <a:cs typeface="Times New Roman"/>
              </a:rPr>
              <a:t>1,..,</a:t>
            </a:r>
            <a:r>
              <a:rPr sz="600" i="1">
                <a:latin typeface="Times New Roman"/>
                <a:cs typeface="Times New Roman"/>
              </a:rPr>
              <a:t>m</a:t>
            </a:r>
            <a:r>
              <a:rPr sz="600" i="1" spc="475">
                <a:latin typeface="Times New Roman"/>
                <a:cs typeface="Times New Roman"/>
              </a:rPr>
              <a:t> </a:t>
            </a:r>
            <a:r>
              <a:rPr sz="900" i="1" spc="-45" baseline="27777">
                <a:latin typeface="Times New Roman"/>
                <a:cs typeface="Times New Roman"/>
              </a:rPr>
              <a:t>ij</a:t>
            </a:r>
            <a:r>
              <a:rPr sz="900" i="1" spc="-45" baseline="27777">
                <a:latin typeface="Times New Roman"/>
                <a:cs typeface="Times New Roman"/>
              </a:rPr>
              <a:t>	</a:t>
            </a:r>
            <a:r>
              <a:rPr sz="900" i="1" baseline="27777">
                <a:latin typeface="Times New Roman"/>
                <a:cs typeface="Times New Roman"/>
              </a:rPr>
              <a:t>D</a:t>
            </a:r>
            <a:endParaRPr/>
          </a:p>
          <a:p>
            <a:pPr marL="12700">
              <a:spcBef>
                <a:spcPts val="1200"/>
              </a:spcBef>
              <a:tabLst>
                <a:tab pos="1733550" algn="l"/>
                <a:tab pos="2650490" algn="l"/>
                <a:tab pos="2996565" algn="l"/>
              </a:tabLst>
            </a:pP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Symbol"/>
                <a:cs typeface="Symbol"/>
              </a:rPr>
              <a:t> </a:t>
            </a:r>
            <a:r>
              <a:rPr sz="1100">
                <a:latin typeface="Times New Roman"/>
                <a:cs typeface="Times New Roman"/>
              </a:rPr>
              <a:t>(</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i="1">
                <a:latin typeface="Times New Roman"/>
                <a:cs typeface="Times New Roman"/>
              </a:rPr>
              <a:t>a</a:t>
            </a:r>
            <a:r>
              <a:rPr sz="900" baseline="63148">
                <a:latin typeface="Symbol"/>
                <a:cs typeface="Symbol"/>
              </a:rPr>
              <a:t></a:t>
            </a:r>
            <a:r>
              <a:rPr sz="1350" baseline="15432">
                <a:latin typeface="Symbol"/>
                <a:cs typeface="Symbol"/>
              </a:rPr>
              <a:t> </a:t>
            </a:r>
            <a:r>
              <a:rPr sz="1100">
                <a:latin typeface="Times New Roman"/>
                <a:cs typeface="Times New Roman"/>
              </a:rPr>
              <a:t>) :</a:t>
            </a:r>
            <a:r>
              <a:rPr sz="1100">
                <a:latin typeface="Symbol"/>
                <a:cs typeface="Symbol"/>
              </a:rPr>
              <a:t> </a:t>
            </a:r>
            <a:r>
              <a:rPr sz="1100">
                <a:latin typeface="Times New Roman"/>
                <a:cs typeface="Times New Roman"/>
              </a:rPr>
              <a:t>{min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  </a:t>
            </a:r>
            <a:r>
              <a:rPr sz="1100" spc="-20">
                <a:latin typeface="Times New Roman"/>
                <a:cs typeface="Times New Roman"/>
              </a:rPr>
              <a:t>), </a:t>
            </a:r>
            <a:r>
              <a:rPr sz="1100">
                <a:latin typeface="Times New Roman"/>
                <a:cs typeface="Times New Roman"/>
              </a:rPr>
              <a:t>(max </a:t>
            </a:r>
            <a:r>
              <a:rPr sz="1100" i="1">
                <a:latin typeface="Times New Roman"/>
                <a:cs typeface="Times New Roman"/>
              </a:rPr>
              <a:t>v</a:t>
            </a:r>
            <a:r>
              <a:rPr sz="1100" i="1">
                <a:latin typeface="Times New Roman"/>
                <a:cs typeface="Times New Roman"/>
              </a:rPr>
              <a:t>	</a:t>
            </a:r>
            <a:r>
              <a:rPr sz="1100" i="1">
                <a:latin typeface="Times New Roman"/>
                <a:cs typeface="Times New Roman"/>
              </a:rPr>
              <a:t>j </a:t>
            </a:r>
            <a:r>
              <a:rPr sz="1100">
                <a:latin typeface="Symbol"/>
                <a:cs typeface="Symbol"/>
              </a:rPr>
              <a:t> </a:t>
            </a:r>
            <a:r>
              <a:rPr sz="1100" i="1">
                <a:latin typeface="Times New Roman"/>
                <a:cs typeface="Times New Roman"/>
              </a:rPr>
              <a:t>J</a:t>
            </a:r>
            <a:r>
              <a:rPr sz="1100" i="1">
                <a:latin typeface="Times New Roman"/>
                <a:cs typeface="Times New Roman"/>
              </a:rPr>
              <a:t>	</a:t>
            </a:r>
            <a:r>
              <a:rPr sz="1100">
                <a:latin typeface="Times New Roman"/>
                <a:cs typeface="Times New Roman"/>
              </a:rPr>
              <a:t>)}</a:t>
            </a:r>
            <a:endParaRPr/>
          </a:p>
        </p:txBody>
      </p:sp>
      <p:sp>
        <p:nvSpPr>
          <p:cNvPr id="84" name="shape 84"/>
          <p:cNvSpPr/>
          <p:nvPr/>
        </p:nvSpPr>
        <p:spPr>
          <a:xfrm>
            <a:off x="1499870" y="3522599"/>
            <a:ext cx="6097" cy="6096"/>
          </a:xfrm>
          <a:prstGeom prst="rect">
            <a:avLst/>
          </a:prstGeom>
          <a:solidFill>
            <a:srgbClr val="000000"/>
          </a:solidFill>
        </p:spPr>
      </p:sp>
      <p:sp>
        <p:nvSpPr>
          <p:cNvPr id="85" name="shape 85"/>
          <p:cNvSpPr/>
          <p:nvPr/>
        </p:nvSpPr>
        <p:spPr>
          <a:xfrm>
            <a:off x="2674640" y="4470771"/>
            <a:ext cx="20948" cy="15348"/>
          </a:xfrm>
          <a:custGeom>
            <a:pathLst>
              <a:path w="20947" h="15347">
                <a:moveTo>
                  <a:pt x="1664" y="12688"/>
                </a:moveTo>
                <a:lnTo>
                  <a:pt x="19282" y="2659"/>
                </a:lnTo>
              </a:path>
            </a:pathLst>
          </a:custGeom>
          <a:ln w="6344" cap="flat">
            <a:solidFill>
              <a:srgbClr val="000000"/>
            </a:solidFill>
            <a:prstDash val="solid"/>
            <a:round/>
          </a:ln>
        </p:spPr>
      </p:sp>
      <p:grpSp>
        <p:nvGrpSpPr>
          <p:cNvPr id="86" name="shape 86"/>
          <p:cNvGrpSpPr/>
          <p:nvPr/>
        </p:nvGrpSpPr>
        <p:grpSpPr>
          <a:xfrm>
            <a:off x="2719154" y="4251792"/>
            <a:ext cx="780474" cy="355243"/>
            <a:chOff x="0" y="0"/>
            <a:chExt cx="780474" cy="355242"/>
          </a:xfrm>
        </p:grpSpPr>
        <p:sp>
          <p:nvSpPr>
            <p:cNvPr id="87" name="shape 87"/>
            <p:cNvSpPr/>
            <p:nvPr/>
          </p:nvSpPr>
          <p:spPr>
            <a:xfrm>
              <a:off x="0" y="2807"/>
              <a:ext cx="41109" cy="352435"/>
            </a:xfrm>
            <a:custGeom>
              <a:pathLst>
                <a:path w="41108" h="352434">
                  <a:moveTo>
                    <a:pt x="3233" y="352145"/>
                  </a:moveTo>
                  <a:lnTo>
                    <a:pt x="37875" y="289"/>
                  </a:lnTo>
                </a:path>
              </a:pathLst>
            </a:custGeom>
            <a:ln w="6344" cap="flat">
              <a:solidFill>
                <a:srgbClr val="000000"/>
              </a:solidFill>
              <a:prstDash val="solid"/>
              <a:round/>
            </a:ln>
          </p:spPr>
        </p:sp>
        <p:sp>
          <p:nvSpPr>
            <p:cNvPr id="88" name="shape 88"/>
            <p:cNvSpPr/>
            <p:nvPr/>
          </p:nvSpPr>
          <p:spPr>
            <a:xfrm>
              <a:off x="37875" y="0"/>
              <a:ext cx="742599" cy="6194"/>
            </a:xfrm>
            <a:custGeom>
              <a:pathLst>
                <a:path w="742598" h="6193">
                  <a:moveTo>
                    <a:pt x="0" y="3097"/>
                  </a:moveTo>
                  <a:lnTo>
                    <a:pt x="742598" y="3097"/>
                  </a:lnTo>
                </a:path>
              </a:pathLst>
            </a:custGeom>
            <a:ln w="6344" cap="flat">
              <a:solidFill>
                <a:srgbClr val="000000"/>
              </a:solidFill>
              <a:prstDash val="solid"/>
              <a:round/>
            </a:ln>
          </p:spPr>
        </p:sp>
      </p:grpSp>
      <p:sp>
        <p:nvSpPr>
          <p:cNvPr id="89" name="shape 89"/>
          <p:cNvSpPr/>
          <p:nvPr/>
        </p:nvSpPr>
        <p:spPr>
          <a:xfrm>
            <a:off x="2672741" y="4889997"/>
            <a:ext cx="20832" cy="15096"/>
          </a:xfrm>
          <a:custGeom>
            <a:pathLst>
              <a:path w="20831" h="15095">
                <a:moveTo>
                  <a:pt x="1587" y="12562"/>
                </a:moveTo>
                <a:lnTo>
                  <a:pt x="19244" y="2533"/>
                </a:lnTo>
              </a:path>
            </a:pathLst>
          </a:custGeom>
          <a:ln w="6047" cap="flat">
            <a:solidFill>
              <a:srgbClr val="000000"/>
            </a:solidFill>
            <a:prstDash val="solid"/>
            <a:round/>
          </a:ln>
        </p:spPr>
      </p:sp>
      <p:sp>
        <p:nvSpPr>
          <p:cNvPr id="90" name="shape 90"/>
          <p:cNvSpPr/>
          <p:nvPr/>
        </p:nvSpPr>
        <p:spPr>
          <a:xfrm>
            <a:off x="2754871" y="4671040"/>
            <a:ext cx="740008" cy="5899"/>
          </a:xfrm>
          <a:custGeom>
            <a:pathLst>
              <a:path w="740007" h="5898">
                <a:moveTo>
                  <a:pt x="0" y="2949"/>
                </a:moveTo>
                <a:lnTo>
                  <a:pt x="740007" y="2949"/>
                </a:lnTo>
              </a:path>
            </a:pathLst>
          </a:custGeom>
          <a:ln w="6047" cap="flat">
            <a:solidFill>
              <a:srgbClr val="000000"/>
            </a:solidFill>
            <a:prstDash val="solid"/>
            <a:round/>
          </a:ln>
        </p:spPr>
      </p:sp>
      <p:sp>
        <p:nvSpPr>
          <p:cNvPr id="91" name="shape 91"/>
          <p:cNvSpPr/>
          <p:nvPr/>
        </p:nvSpPr>
        <p:spPr>
          <a:xfrm>
            <a:off x="1499870" y="4214495"/>
            <a:ext cx="6097" cy="6097"/>
          </a:xfrm>
          <a:prstGeom prst="rect">
            <a:avLst/>
          </a:prstGeom>
          <a:solidFill>
            <a:srgbClr val="000000"/>
          </a:solidFill>
        </p:spPr>
      </p:sp>
      <p:sp>
        <p:nvSpPr>
          <p:cNvPr id="92" name="shape 92"/>
          <p:cNvSpPr/>
          <p:nvPr/>
        </p:nvSpPr>
        <p:spPr>
          <a:xfrm>
            <a:off x="2698255" y="5284588"/>
            <a:ext cx="480327" cy="6485"/>
          </a:xfrm>
          <a:custGeom>
            <a:pathLst>
              <a:path w="480326" h="6484">
                <a:moveTo>
                  <a:pt x="0" y="3242"/>
                </a:moveTo>
                <a:lnTo>
                  <a:pt x="480326" y="3242"/>
                </a:lnTo>
              </a:path>
            </a:pathLst>
          </a:custGeom>
          <a:ln w="6515" cap="flat">
            <a:solidFill>
              <a:srgbClr val="000000"/>
            </a:solidFill>
            <a:prstDash val="solid"/>
            <a:round/>
          </a:ln>
        </p:spPr>
      </p:sp>
      <p:sp>
        <p:nvSpPr>
          <p:cNvPr id="93" name="shape 93"/>
          <p:cNvSpPr/>
          <p:nvPr/>
        </p:nvSpPr>
        <p:spPr>
          <a:xfrm>
            <a:off x="1499870" y="5060315"/>
            <a:ext cx="6097" cy="6097"/>
          </a:xfrm>
          <a:prstGeom prst="rect">
            <a:avLst/>
          </a:prstGeom>
          <a:solidFill>
            <a:srgbClr val="000000"/>
          </a:solidFill>
        </p:spPr>
      </p:sp>
      <p:sp>
        <p:nvSpPr>
          <p:cNvPr id="94" name="shape 94"/>
          <p:cNvSpPr/>
          <p:nvPr/>
        </p:nvSpPr>
        <p:spPr>
          <a:xfrm>
            <a:off x="1499870" y="5504053"/>
            <a:ext cx="6097" cy="6097"/>
          </a:xfrm>
          <a:prstGeom prst="rect">
            <a:avLst/>
          </a:prstGeom>
          <a:solidFill>
            <a:srgbClr val="000000"/>
          </a:solidFill>
        </p:spPr>
      </p:sp>
      <p:sp>
        <p:nvSpPr>
          <p:cNvPr id="95" name="shape 95"/>
          <p:cNvSpPr/>
          <p:nvPr/>
        </p:nvSpPr>
        <p:spPr>
          <a:xfrm>
            <a:off x="1490726" y="6621145"/>
            <a:ext cx="6097" cy="6096"/>
          </a:xfrm>
          <a:prstGeom prst="rect">
            <a:avLst/>
          </a:prstGeom>
          <a:solidFill>
            <a:srgbClr val="000000"/>
          </a:solidFill>
        </p:spPr>
      </p:sp>
      <p:sp>
        <p:nvSpPr>
          <p:cNvPr id="96" name="shape 96"/>
          <p:cNvSpPr txBox="1"/>
          <p:nvPr/>
        </p:nvSpPr>
        <p:spPr>
          <a:xfrm>
            <a:off x="1691809" y="8038481"/>
            <a:ext cx="64136" cy="110490"/>
          </a:xfrm>
          <a:prstGeom prst="rect"/>
          <a:noFill/>
        </p:spPr>
        <p:txBody>
          <a:bodyPr vertOverflow="overflow" horzOverflow="overflow" numCol="1" wrap="square" lIns="0" tIns="0" rIns="0" bIns="0">
            <a:spAutoFit/>
          </a:bodyPr>
          <a:p>
            <a:pPr marL="12700"/>
            <a:r>
              <a:rPr sz="600" i="1">
                <a:latin typeface="Times New Roman"/>
                <a:cs typeface="Times New Roman"/>
              </a:rPr>
              <a:t>n</a:t>
            </a:r>
            <a:endParaRPr/>
          </a:p>
        </p:txBody>
      </p:sp>
      <p:sp>
        <p:nvSpPr>
          <p:cNvPr id="97" name="shape 97"/>
          <p:cNvSpPr txBox="1"/>
          <p:nvPr/>
        </p:nvSpPr>
        <p:spPr>
          <a:xfrm>
            <a:off x="2525312" y="8038482"/>
            <a:ext cx="81280" cy="110490"/>
          </a:xfrm>
          <a:prstGeom prst="rect"/>
          <a:noFill/>
        </p:spPr>
        <p:txBody>
          <a:bodyPr vertOverflow="overflow" horzOverflow="overflow" numCol="1" wrap="square" lIns="0" tIns="0" rIns="0" bIns="0">
            <a:spAutoFit/>
          </a:bodyPr>
          <a:p>
            <a:pPr marL="12700"/>
            <a:r>
              <a:rPr sz="600" i="1">
                <a:latin typeface="Times New Roman"/>
                <a:cs typeface="Times New Roman"/>
              </a:rPr>
              <a:t>m</a:t>
            </a:r>
            <a:endParaRPr/>
          </a:p>
        </p:txBody>
      </p:sp>
      <p:sp>
        <p:nvSpPr>
          <p:cNvPr id="98" name="shape 98"/>
          <p:cNvSpPr txBox="1"/>
          <p:nvPr/>
        </p:nvSpPr>
        <p:spPr>
          <a:xfrm>
            <a:off x="2954213" y="8211150"/>
            <a:ext cx="81280" cy="110490"/>
          </a:xfrm>
          <a:prstGeom prst="rect"/>
          <a:noFill/>
        </p:spPr>
        <p:txBody>
          <a:bodyPr vertOverflow="overflow" horzOverflow="overflow" numCol="1" wrap="square" lIns="0" tIns="0" rIns="0" bIns="0">
            <a:spAutoFit/>
          </a:bodyPr>
          <a:p>
            <a:pPr marL="12700"/>
            <a:r>
              <a:rPr sz="600" i="1">
                <a:latin typeface="Times New Roman"/>
                <a:cs typeface="Times New Roman"/>
              </a:rPr>
              <a:t>m</a:t>
            </a:r>
            <a:endParaRPr/>
          </a:p>
        </p:txBody>
      </p:sp>
      <p:sp>
        <p:nvSpPr>
          <p:cNvPr id="99" name="shape 99"/>
          <p:cNvSpPr txBox="1"/>
          <p:nvPr/>
        </p:nvSpPr>
        <p:spPr>
          <a:xfrm>
            <a:off x="2453514" y="7500484"/>
            <a:ext cx="81280" cy="110490"/>
          </a:xfrm>
          <a:prstGeom prst="rect"/>
          <a:noFill/>
        </p:spPr>
        <p:txBody>
          <a:bodyPr vertOverflow="overflow" horzOverflow="overflow" numCol="1" wrap="square" lIns="0" tIns="0" rIns="0" bIns="0">
            <a:spAutoFit/>
          </a:bodyPr>
          <a:p>
            <a:pPr marL="12700"/>
            <a:r>
              <a:rPr sz="600" i="1">
                <a:latin typeface="Times New Roman"/>
                <a:cs typeface="Times New Roman"/>
              </a:rPr>
              <a:t>m</a:t>
            </a:r>
            <a:endParaRPr/>
          </a:p>
        </p:txBody>
      </p:sp>
      <p:sp>
        <p:nvSpPr>
          <p:cNvPr id="100" name="shape 100"/>
          <p:cNvSpPr txBox="1"/>
          <p:nvPr/>
        </p:nvSpPr>
        <p:spPr>
          <a:xfrm>
            <a:off x="2882465" y="7673165"/>
            <a:ext cx="81280" cy="110490"/>
          </a:xfrm>
          <a:prstGeom prst="rect"/>
          <a:noFill/>
        </p:spPr>
        <p:txBody>
          <a:bodyPr vertOverflow="overflow" horzOverflow="overflow" numCol="1" wrap="square" lIns="0" tIns="0" rIns="0" bIns="0">
            <a:spAutoFit/>
          </a:bodyPr>
          <a:p>
            <a:pPr marL="12700"/>
            <a:r>
              <a:rPr sz="600" i="1">
                <a:latin typeface="Times New Roman"/>
                <a:cs typeface="Times New Roman"/>
              </a:rPr>
              <a:t>m</a:t>
            </a:r>
            <a:endParaRPr/>
          </a:p>
        </p:txBody>
      </p:sp>
      <p:sp>
        <p:nvSpPr>
          <p:cNvPr id="101" name="shape 101"/>
          <p:cNvSpPr txBox="1"/>
          <p:nvPr/>
        </p:nvSpPr>
        <p:spPr>
          <a:xfrm>
            <a:off x="3202621" y="8114543"/>
            <a:ext cx="932815" cy="180975"/>
          </a:xfrm>
          <a:prstGeom prst="rect"/>
          <a:noFill/>
        </p:spPr>
        <p:txBody>
          <a:bodyPr vertOverflow="overflow" horzOverflow="overflow" numCol="1" wrap="square" lIns="0" tIns="0" rIns="0" bIns="0">
            <a:spAutoFit/>
          </a:bodyPr>
          <a:p>
            <a:pPr marL="273050"/>
            <a:r>
              <a:rPr sz="1100" i="1">
                <a:latin typeface="Times New Roman"/>
                <a:cs typeface="Times New Roman"/>
              </a:rPr>
              <a:t>j</a:t>
            </a:r>
            <a:endParaRPr/>
          </a:p>
        </p:txBody>
      </p:sp>
      <p:sp>
        <p:nvSpPr>
          <p:cNvPr id="102" name="shape 102"/>
          <p:cNvSpPr txBox="1"/>
          <p:nvPr/>
        </p:nvSpPr>
        <p:spPr>
          <a:xfrm>
            <a:off x="3130495" y="7576546"/>
            <a:ext cx="878840" cy="180975"/>
          </a:xfrm>
          <a:prstGeom prst="rect"/>
          <a:noFill/>
        </p:spPr>
        <p:txBody>
          <a:bodyPr vertOverflow="overflow" horzOverflow="overflow" numCol="1" wrap="square" lIns="0" tIns="0" rIns="0" bIns="0">
            <a:spAutoFit/>
          </a:bodyPr>
          <a:p>
            <a:pPr marL="219075"/>
            <a:r>
              <a:rPr sz="1100" i="1">
                <a:latin typeface="Times New Roman"/>
                <a:cs typeface="Times New Roman"/>
              </a:rPr>
              <a:t>j</a:t>
            </a:r>
            <a:endParaRPr/>
          </a:p>
        </p:txBody>
      </p:sp>
      <p:sp>
        <p:nvSpPr>
          <p:cNvPr id="103" name="shape 103"/>
          <p:cNvSpPr txBox="1"/>
          <p:nvPr/>
        </p:nvSpPr>
        <p:spPr>
          <a:xfrm>
            <a:off x="1791639" y="8114543"/>
            <a:ext cx="282575" cy="180975"/>
          </a:xfrm>
          <a:prstGeom prst="rect"/>
          <a:noFill/>
        </p:spPr>
        <p:txBody>
          <a:bodyPr vertOverflow="overflow" horzOverflow="overflow" numCol="1" wrap="square" lIns="0" tIns="0" rIns="0" bIns="0">
            <a:spAutoFit/>
          </a:bodyPr>
          <a:p>
            <a:pPr marL="12700">
              <a:tabLst>
                <a:tab pos="222250" algn="l"/>
              </a:tabLst>
            </a:pPr>
            <a:r>
              <a:rPr sz="1100">
                <a:latin typeface="Times New Roman"/>
                <a:cs typeface="Times New Roman"/>
              </a:rPr>
              <a:t>(1</a:t>
            </a:r>
            <a:r>
              <a:rPr sz="1100">
                <a:latin typeface="Times New Roman"/>
                <a:cs typeface="Times New Roman"/>
              </a:rPr>
              <a:t>	</a:t>
            </a:r>
            <a:r>
              <a:rPr sz="1100">
                <a:latin typeface="Times New Roman"/>
                <a:cs typeface="Times New Roman"/>
              </a:rPr>
              <a:t>[</a:t>
            </a:r>
            <a:endParaRPr/>
          </a:p>
        </p:txBody>
      </p:sp>
      <p:sp>
        <p:nvSpPr>
          <p:cNvPr id="104" name="shape 104"/>
          <p:cNvSpPr txBox="1"/>
          <p:nvPr/>
        </p:nvSpPr>
        <p:spPr>
          <a:xfrm>
            <a:off x="1754365" y="7576546"/>
            <a:ext cx="247650" cy="180975"/>
          </a:xfrm>
          <a:prstGeom prst="rect"/>
          <a:noFill/>
        </p:spPr>
        <p:txBody>
          <a:bodyPr vertOverflow="overflow" horzOverflow="overflow" numCol="1" wrap="square" lIns="0" tIns="0" rIns="0" bIns="0">
            <a:spAutoFit/>
          </a:bodyPr>
          <a:p>
            <a:pPr marL="12700">
              <a:tabLst>
                <a:tab pos="187960" algn="l"/>
              </a:tabLst>
            </a:pPr>
            <a:r>
              <a:rPr sz="1100">
                <a:latin typeface="Times New Roman"/>
                <a:cs typeface="Times New Roman"/>
              </a:rPr>
              <a:t>1</a:t>
            </a:r>
            <a:r>
              <a:rPr sz="1100">
                <a:latin typeface="Times New Roman"/>
                <a:cs typeface="Times New Roman"/>
              </a:rPr>
              <a:t>	</a:t>
            </a:r>
            <a:r>
              <a:rPr sz="1100">
                <a:latin typeface="Times New Roman"/>
                <a:cs typeface="Times New Roman"/>
              </a:rPr>
              <a:t>[</a:t>
            </a:r>
            <a:endParaR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aphicFrame>
        <p:nvGraphicFramePr>
          <p:cNvPr id="2" name="shape 2"/>
          <p:cNvGraphicFramePr>
            <a:graphicFrameLocks noGrp="1"/>
          </p:cNvGraphicFramePr>
          <p:nvPr/>
        </p:nvGraphicFramePr>
        <p:xfrm>
          <a:off x="576898" y="1195070"/>
          <a:ext cx="6445037" cy="7375652"/>
        </p:xfrm>
        <a:graphic>
          <a:graphicData uri="http://schemas.openxmlformats.org/drawingml/2006/table">
            <a:tbl>
              <a:tblPr>
                <a:tableStyleId>{2D5ABB26-0587-4C30-8999-92F81FD0307C}</a:tableStyleId>
              </a:tblPr>
              <a:tblGrid>
                <a:gridCol w="568960"/>
                <a:gridCol w="588645"/>
                <a:gridCol w="667385"/>
                <a:gridCol w="489585"/>
                <a:gridCol w="111760"/>
                <a:gridCol w="684530"/>
                <a:gridCol w="690880"/>
                <a:gridCol w="601980"/>
                <a:gridCol w="410210"/>
                <a:gridCol w="655955"/>
                <a:gridCol w="419100"/>
                <a:gridCol w="557530"/>
              </a:tblGrid>
              <a:tr h="151130">
                <a:tc>
                  <a:txBody>
                    <a:bodyPr/>
                    <a:p>
                      <a:pPr marL="143510" marR="153670" algn="ctr">
                        <a:lnSpc>
                          <a:spcPct val="98150"/>
                        </a:lnSpc>
                      </a:pPr>
                      <a:r>
                        <a:rPr sz="950" b="1" spc="-5">
                          <a:latin typeface="Times New Roman"/>
                          <a:cs typeface="Times New Roman"/>
                        </a:rPr>
                        <a:t>Spec.</a:t>
                      </a:r>
                      <a:endParaRPr/>
                    </a:p>
                  </a:txBody>
                  <a:tcPr anchor="ctr" marL="0" marR="0" marT="0" marB="0">
                    <a:lnL/>
                    <a:lnR/>
                    <a:lnT w="6350" cmpd="sng">
                      <a:solidFill>
                        <a:srgbClr val="000000"/>
                      </a:solidFill>
                    </a:lnT>
                    <a:lnB w="6350" cmpd="sng">
                      <a:solidFill>
                        <a:srgbClr val="000000"/>
                      </a:solidFill>
                    </a:lnB>
                  </a:tcPr>
                </a:tc>
                <a:tc>
                  <a:txBody>
                    <a:bodyPr/>
                    <a:p>
                      <a:pPr marL="106680" marR="107315" algn="ctr">
                        <a:lnSpc>
                          <a:spcPct val="98150"/>
                        </a:lnSpc>
                      </a:pPr>
                      <a:r>
                        <a:rPr sz="950" b="1" spc="-5">
                          <a:latin typeface="Times New Roman"/>
                          <a:cs typeface="Times New Roman"/>
                        </a:rPr>
                        <a:t>DivPay</a:t>
                      </a:r>
                      <a:endParaRPr/>
                    </a:p>
                  </a:txBody>
                  <a:tcPr anchor="ctr" marL="0" marR="0" marT="0" marB="0">
                    <a:lnL/>
                    <a:lnR/>
                    <a:lnT w="6350" cmpd="sng">
                      <a:solidFill>
                        <a:srgbClr val="000000"/>
                      </a:solidFill>
                    </a:lnT>
                    <a:lnB w="6350" cmpd="sng">
                      <a:solidFill>
                        <a:srgbClr val="000000"/>
                      </a:solidFill>
                    </a:lnB>
                  </a:tcPr>
                </a:tc>
                <a:tc>
                  <a:txBody>
                    <a:bodyPr/>
                    <a:p>
                      <a:pPr marL="106045" marR="106680" algn="ctr">
                        <a:lnSpc>
                          <a:spcPct val="98150"/>
                        </a:lnSpc>
                      </a:pPr>
                      <a:r>
                        <a:rPr sz="950" b="1" spc="-5">
                          <a:latin typeface="Times New Roman"/>
                          <a:cs typeface="Times New Roman"/>
                        </a:rPr>
                        <a:t>DivYield</a:t>
                      </a:r>
                      <a:endParaRPr/>
                    </a:p>
                  </a:txBody>
                  <a:tcPr anchor="ctr" marL="0" marR="0" marT="0" marB="0">
                    <a:lnL/>
                    <a:lnR/>
                    <a:lnT w="6350" cmpd="sng">
                      <a:solidFill>
                        <a:srgbClr val="000000"/>
                      </a:solidFill>
                    </a:lnT>
                    <a:lnB w="6350" cmpd="sng">
                      <a:solidFill>
                        <a:srgbClr val="000000"/>
                      </a:solidFill>
                    </a:lnB>
                  </a:tcPr>
                </a:tc>
                <a:tc gridSpan="2">
                  <a:txBody>
                    <a:bodyPr/>
                    <a:p>
                      <a:pPr marL="118745" marR="34290" algn="r">
                        <a:lnSpc>
                          <a:spcPct val="98150"/>
                        </a:lnSpc>
                      </a:pPr>
                      <a:r>
                        <a:rPr sz="950" b="1" spc="-5">
                          <a:latin typeface="Times New Roman"/>
                          <a:cs typeface="Times New Roman"/>
                        </a:rPr>
                        <a:t>ReturnE</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a:txBody>
                    <a:bodyPr/>
                    <a:p>
                      <a:pPr marL="144145" marR="85725">
                        <a:lnSpc>
                          <a:spcPct val="98150"/>
                        </a:lnSpc>
                      </a:pPr>
                      <a:r>
                        <a:rPr sz="950" b="1" spc="-5">
                          <a:latin typeface="Times New Roman"/>
                          <a:cs typeface="Times New Roman"/>
                        </a:rPr>
                        <a:t>ReturnA</a:t>
                      </a:r>
                      <a:endParaRPr/>
                    </a:p>
                  </a:txBody>
                  <a:tcPr anchor="ctr" marL="0" marR="0" marT="0" marB="0">
                    <a:lnL/>
                    <a:lnR/>
                    <a:lnT w="6350" cmpd="sng">
                      <a:solidFill>
                        <a:srgbClr val="000000"/>
                      </a:solidFill>
                    </a:lnT>
                    <a:lnB w="6350" cmpd="sng">
                      <a:solidFill>
                        <a:srgbClr val="000000"/>
                      </a:solidFill>
                    </a:lnB>
                  </a:tcPr>
                </a:tc>
                <a:tc>
                  <a:txBody>
                    <a:bodyPr/>
                    <a:p>
                      <a:pPr marL="84455" marR="139700">
                        <a:lnSpc>
                          <a:spcPct val="98150"/>
                        </a:lnSpc>
                      </a:pPr>
                      <a:r>
                        <a:rPr sz="950" b="1" spc="-5">
                          <a:latin typeface="Times New Roman"/>
                          <a:cs typeface="Times New Roman"/>
                        </a:rPr>
                        <a:t>Liquid.C</a:t>
                      </a:r>
                      <a:endParaRPr/>
                    </a:p>
                  </a:txBody>
                  <a:tcPr anchor="ctr" marL="0" marR="0" marT="0" marB="0">
                    <a:lnL/>
                    <a:lnR/>
                    <a:lnT w="6350" cmpd="sng">
                      <a:solidFill>
                        <a:srgbClr val="000000"/>
                      </a:solidFill>
                    </a:lnT>
                    <a:lnB w="6350" cmpd="sng">
                      <a:solidFill>
                        <a:srgbClr val="000000"/>
                      </a:solidFill>
                    </a:lnB>
                  </a:tcPr>
                </a:tc>
                <a:tc>
                  <a:txBody>
                    <a:bodyPr/>
                    <a:p>
                      <a:pPr marL="19685" marR="108585" algn="r">
                        <a:lnSpc>
                          <a:spcPct val="98150"/>
                        </a:lnSpc>
                      </a:pPr>
                      <a:r>
                        <a:rPr sz="950" b="1" spc="-5">
                          <a:latin typeface="Times New Roman"/>
                          <a:cs typeface="Times New Roman"/>
                        </a:rPr>
                        <a:t>Liquid.Q</a:t>
                      </a:r>
                      <a:endParaRPr/>
                    </a:p>
                  </a:txBody>
                  <a:tcPr anchor="ctr" marL="0" marR="0" marT="0" marB="0">
                    <a:lnL/>
                    <a:lnR/>
                    <a:lnT w="6350" cmpd="sng">
                      <a:solidFill>
                        <a:srgbClr val="000000"/>
                      </a:solidFill>
                    </a:lnT>
                    <a:lnB w="6350" cmpd="sng">
                      <a:solidFill>
                        <a:srgbClr val="000000"/>
                      </a:solidFill>
                    </a:lnB>
                  </a:tcPr>
                </a:tc>
                <a:tc>
                  <a:txBody>
                    <a:bodyPr/>
                    <a:p>
                      <a:pPr marL="72390" marR="90170" algn="ctr">
                        <a:lnSpc>
                          <a:spcPct val="98150"/>
                        </a:lnSpc>
                      </a:pPr>
                      <a:r>
                        <a:rPr sz="950" b="1" spc="-5">
                          <a:latin typeface="Times New Roman"/>
                          <a:cs typeface="Times New Roman"/>
                        </a:rPr>
                        <a:t>Debt</a:t>
                      </a:r>
                      <a:endParaRPr/>
                    </a:p>
                  </a:txBody>
                  <a:tcPr anchor="ctr" marL="0" marR="0" marT="0" marB="0">
                    <a:lnL/>
                    <a:lnR/>
                    <a:lnT w="6350" cmpd="sng">
                      <a:solidFill>
                        <a:srgbClr val="000000"/>
                      </a:solidFill>
                    </a:lnT>
                    <a:lnB w="6350" cmpd="sng">
                      <a:solidFill>
                        <a:srgbClr val="000000"/>
                      </a:solidFill>
                    </a:lnB>
                  </a:tcPr>
                </a:tc>
                <a:tc>
                  <a:txBody>
                    <a:bodyPr/>
                    <a:p>
                      <a:pPr marL="86995" marR="93345" algn="ctr">
                        <a:lnSpc>
                          <a:spcPct val="98150"/>
                        </a:lnSpc>
                      </a:pPr>
                      <a:r>
                        <a:rPr sz="950" b="1" spc="-5">
                          <a:latin typeface="Times New Roman"/>
                          <a:cs typeface="Times New Roman"/>
                        </a:rPr>
                        <a:t>Leverage</a:t>
                      </a:r>
                      <a:endParaRPr/>
                    </a:p>
                  </a:txBody>
                  <a:tcPr anchor="ctr" marL="0" marR="0" marT="0" marB="0">
                    <a:lnL/>
                    <a:lnR/>
                    <a:lnT w="6350" cmpd="sng">
                      <a:solidFill>
                        <a:srgbClr val="000000"/>
                      </a:solidFill>
                    </a:lnT>
                    <a:lnB w="6350" cmpd="sng">
                      <a:solidFill>
                        <a:srgbClr val="000000"/>
                      </a:solidFill>
                    </a:lnB>
                  </a:tcPr>
                </a:tc>
                <a:tc>
                  <a:txBody>
                    <a:bodyPr/>
                    <a:p>
                      <a:pPr marL="106045" marR="104775" algn="ctr">
                        <a:lnSpc>
                          <a:spcPct val="98150"/>
                        </a:lnSpc>
                      </a:pPr>
                      <a:r>
                        <a:rPr sz="950" b="1" spc="-5">
                          <a:latin typeface="Times New Roman"/>
                          <a:cs typeface="Times New Roman"/>
                        </a:rPr>
                        <a:t>Size</a:t>
                      </a:r>
                      <a:endParaRPr/>
                    </a:p>
                  </a:txBody>
                  <a:tcPr anchor="ctr" marL="0" marR="0" marT="0" marB="0">
                    <a:lnL/>
                    <a:lnR/>
                    <a:lnT w="6350" cmpd="sng">
                      <a:solidFill>
                        <a:srgbClr val="000000"/>
                      </a:solidFill>
                    </a:lnT>
                    <a:lnB w="6350" cmpd="sng">
                      <a:solidFill>
                        <a:srgbClr val="000000"/>
                      </a:solidFill>
                    </a:lnB>
                  </a:tcPr>
                </a:tc>
                <a:tc>
                  <a:txBody>
                    <a:bodyPr/>
                    <a:p>
                      <a:pPr marL="85090" marR="69850" algn="ctr">
                        <a:lnSpc>
                          <a:spcPct val="98150"/>
                        </a:lnSpc>
                      </a:pPr>
                      <a:r>
                        <a:rPr sz="950" b="1" spc="-5">
                          <a:latin typeface="Times New Roman"/>
                          <a:cs typeface="Times New Roman"/>
                        </a:rPr>
                        <a:t>Growth</a:t>
                      </a:r>
                      <a:endParaRPr/>
                    </a:p>
                  </a:txBody>
                  <a:tcPr anchor="ctr" marL="0" marR="0" marT="0" marB="0">
                    <a:lnL/>
                    <a:lnR/>
                    <a:lnT w="6350" cmpd="sng">
                      <a:solidFill>
                        <a:srgbClr val="000000"/>
                      </a:solidFill>
                    </a:lnT>
                    <a:lnB w="6350" cmpd="sng">
                      <a:solidFill>
                        <a:srgbClr val="000000"/>
                      </a:solidFill>
                    </a:lnB>
                  </a:tcPr>
                </a:tc>
              </a:tr>
              <a:tr h="151130">
                <a:tc gridSpan="3">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gridSpan="5">
                  <a:txBody>
                    <a:bodyPr/>
                    <a:p>
                      <a:pPr marL="368935" marR="191135" algn="r">
                        <a:lnSpc>
                          <a:spcPct val="98150"/>
                        </a:lnSpc>
                      </a:pPr>
                      <a:r>
                        <a:rPr sz="950" spc="-5">
                          <a:latin typeface="Times New Roman"/>
                          <a:cs typeface="Times New Roman"/>
                        </a:rPr>
                        <a:t>Panel A: Dividend payers (whole sample)</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r>
              <a:tr h="151130">
                <a:tc>
                  <a:txBody>
                    <a:bodyPr/>
                    <a:p>
                      <a:pPr marL="142240" marR="152400" algn="ctr">
                        <a:lnSpc>
                          <a:spcPct val="98150"/>
                        </a:lnSpc>
                      </a:pPr>
                      <a:r>
                        <a:rPr sz="950" spc="-10">
                          <a:latin typeface="Times New Roman"/>
                          <a:cs typeface="Times New Roman"/>
                        </a:rPr>
                        <a:t>Mean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0,64</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2,36</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1,81</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0,40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2,68</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13,17</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1,54</a:t>
                      </a:r>
                      <a:endParaRPr/>
                    </a:p>
                  </a:txBody>
                  <a:tcPr anchor="ctr" marL="0" marR="0" marT="0" marB="0">
                    <a:lnL/>
                    <a:lnR/>
                    <a:lnT w="6350" cmpd="sng">
                      <a:solidFill>
                        <a:srgbClr val="000000"/>
                      </a:solidFill>
                    </a:lnT>
                    <a:lnB w="6350" cmpd="sng">
                      <a:solidFill>
                        <a:srgbClr val="000000"/>
                      </a:solidFill>
                    </a:lnB>
                  </a:tcPr>
                </a:tc>
              </a:tr>
              <a:tr h="149860">
                <a:tc>
                  <a:txBody>
                    <a:bodyPr/>
                    <a:p>
                      <a:pPr marL="94615" marR="105410" algn="ctr">
                        <a:lnSpc>
                          <a:spcPct val="97624"/>
                        </a:lnSpc>
                      </a:pPr>
                      <a:r>
                        <a:rPr sz="950" spc="-5">
                          <a:latin typeface="Times New Roman"/>
                          <a:cs typeface="Times New Roman"/>
                        </a:rPr>
                        <a:t>Median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0,53</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1,55</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1,20</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0,40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1,59</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4"/>
                        </a:lnSpc>
                      </a:pPr>
                      <a:r>
                        <a:rPr sz="950" spc="-5">
                          <a:latin typeface="Times New Roman"/>
                          <a:cs typeface="Times New Roman"/>
                        </a:rPr>
                        <a:t>12,95</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1,18</a:t>
                      </a:r>
                      <a:endParaRPr/>
                    </a:p>
                  </a:txBody>
                  <a:tcPr anchor="ctr" marL="0" marR="0" marT="0" marB="0">
                    <a:lnL/>
                    <a:lnR/>
                    <a:lnT w="6350" cmpd="sng">
                      <a:solidFill>
                        <a:srgbClr val="000000"/>
                      </a:solidFill>
                    </a:lnT>
                    <a:lnB w="6350" cmpd="sng">
                      <a:solidFill>
                        <a:srgbClr val="000000"/>
                      </a:solidFill>
                    </a:lnB>
                  </a:tcPr>
                </a:tc>
              </a:tr>
              <a:tr h="151130">
                <a:tc>
                  <a:txBody>
                    <a:bodyPr/>
                    <a:p>
                      <a:pPr marL="178435" marR="189230" algn="ctr">
                        <a:lnSpc>
                          <a:spcPct val="98150"/>
                        </a:lnSpc>
                      </a:pPr>
                      <a:r>
                        <a:rPr sz="950" spc="-10">
                          <a:latin typeface="Times New Roman"/>
                          <a:cs typeface="Times New Roman"/>
                        </a:rPr>
                        <a:t>Min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17805" marR="19050" algn="r">
                        <a:lnSpc>
                          <a:spcPct val="98150"/>
                        </a:lnSpc>
                      </a:pPr>
                      <a:r>
                        <a:rPr sz="950">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45745" marR="186055">
                        <a:lnSpc>
                          <a:spcPct val="98150"/>
                        </a:lnSpc>
                      </a:pPr>
                      <a:r>
                        <a:rPr sz="950">
                          <a:latin typeface="Times New Roman"/>
                          <a:cs typeface="Times New Roman"/>
                        </a:rPr>
                        <a:t>-0,42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1,02</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10,08</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r>
              <a:tr h="151130">
                <a:tc>
                  <a:txBody>
                    <a:bodyPr/>
                    <a:p>
                      <a:pPr marL="168275" marR="180340" algn="ctr">
                        <a:lnSpc>
                          <a:spcPct val="98150"/>
                        </a:lnSpc>
                      </a:pPr>
                      <a:r>
                        <a:rPr sz="950" spc="-15">
                          <a:latin typeface="Times New Roman"/>
                          <a:cs typeface="Times New Roman"/>
                        </a:rPr>
                        <a:t>Max</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1,81</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0,86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0,85</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1,37</a:t>
                      </a:r>
                      <a:endParaRPr/>
                    </a:p>
                  </a:txBody>
                  <a:tcPr anchor="ctr" marL="0" marR="0" marT="0" marB="0">
                    <a:lnL/>
                    <a:lnR/>
                    <a:lnT w="6350" cmpd="sng">
                      <a:solidFill>
                        <a:srgbClr val="000000"/>
                      </a:solidFill>
                    </a:lnT>
                    <a:lnB w="6350" cmpd="sng">
                      <a:solidFill>
                        <a:srgbClr val="000000"/>
                      </a:solidFill>
                    </a:lnB>
                  </a:tcPr>
                </a:tc>
                <a:tc>
                  <a:txBody>
                    <a:bodyPr/>
                    <a:p>
                      <a:pPr marL="182245" marR="236855">
                        <a:lnSpc>
                          <a:spcPct val="98150"/>
                        </a:lnSpc>
                      </a:pPr>
                      <a:r>
                        <a:rPr sz="950" spc="-5">
                          <a:latin typeface="Times New Roman"/>
                          <a:cs typeface="Times New Roman"/>
                        </a:rPr>
                        <a:t>15,83</a:t>
                      </a:r>
                      <a:endParaRPr/>
                    </a:p>
                  </a:txBody>
                  <a:tcPr anchor="ctr" marL="0" marR="0" marT="0" marB="0">
                    <a:lnL/>
                    <a:lnR/>
                    <a:lnT w="6350" cmpd="sng">
                      <a:solidFill>
                        <a:srgbClr val="000000"/>
                      </a:solidFill>
                    </a:lnT>
                    <a:lnB w="6350" cmpd="sng">
                      <a:solidFill>
                        <a:srgbClr val="000000"/>
                      </a:solidFill>
                    </a:lnB>
                  </a:tcPr>
                </a:tc>
                <a:tc>
                  <a:txBody>
                    <a:bodyPr/>
                    <a:p>
                      <a:pPr marL="120650" marR="209550" algn="r">
                        <a:lnSpc>
                          <a:spcPct val="98150"/>
                        </a:lnSpc>
                      </a:pPr>
                      <a:r>
                        <a:rPr sz="950" spc="-5">
                          <a:latin typeface="Times New Roman"/>
                          <a:cs typeface="Times New Roman"/>
                        </a:rPr>
                        <a:t>12,52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1,54</a:t>
                      </a:r>
                      <a:endParaRPr/>
                    </a:p>
                  </a:txBody>
                  <a:tcPr anchor="ctr" marL="0" marR="0" marT="0" marB="0">
                    <a:lnL/>
                    <a:lnR/>
                    <a:lnT w="6350" cmpd="sng">
                      <a:solidFill>
                        <a:srgbClr val="000000"/>
                      </a:solidFill>
                    </a:lnT>
                    <a:lnB w="6350" cmpd="sng">
                      <a:solidFill>
                        <a:srgbClr val="000000"/>
                      </a:solidFill>
                    </a:lnB>
                  </a:tcPr>
                </a:tc>
                <a:tc>
                  <a:txBody>
                    <a:bodyPr/>
                    <a:p>
                      <a:pPr marL="189230" marR="194310" algn="ctr">
                        <a:lnSpc>
                          <a:spcPct val="98150"/>
                        </a:lnSpc>
                      </a:pPr>
                      <a:r>
                        <a:rPr sz="950" spc="-5">
                          <a:latin typeface="Times New Roman"/>
                          <a:cs typeface="Times New Roman"/>
                        </a:rPr>
                        <a:t>41,91</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20,07</a:t>
                      </a:r>
                      <a:endParaRPr/>
                    </a:p>
                  </a:txBody>
                  <a:tcPr anchor="ctr" marL="0" marR="0" marT="0" marB="0">
                    <a:lnL/>
                    <a:lnR/>
                    <a:lnT w="6350" cmpd="sng">
                      <a:solidFill>
                        <a:srgbClr val="000000"/>
                      </a:solidFill>
                    </a:lnT>
                    <a:lnB w="6350" cmpd="sng">
                      <a:solidFill>
                        <a:srgbClr val="000000"/>
                      </a:solidFill>
                    </a:lnB>
                  </a:tcPr>
                </a:tc>
                <a:tc>
                  <a:txBody>
                    <a:bodyPr/>
                    <a:p>
                      <a:pPr marL="150495" marR="134620" algn="ctr">
                        <a:lnSpc>
                          <a:spcPct val="98150"/>
                        </a:lnSpc>
                      </a:pPr>
                      <a:r>
                        <a:rPr sz="950" spc="-5">
                          <a:latin typeface="Times New Roman"/>
                          <a:cs typeface="Times New Roman"/>
                        </a:rPr>
                        <a:t>13,74</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Q1</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1,13</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0,73</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1,23</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11,81</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0,84</a:t>
                      </a:r>
                      <a:endParaRPr/>
                    </a:p>
                  </a:txBody>
                  <a:tcPr anchor="ctr" marL="0" marR="0" marT="0" marB="0">
                    <a:lnL/>
                    <a:lnR/>
                    <a:lnT w="6350" cmpd="sng">
                      <a:solidFill>
                        <a:srgbClr val="000000"/>
                      </a:solidFill>
                    </a:lnT>
                    <a:lnB w="6350" cmpd="sng">
                      <a:solidFill>
                        <a:srgbClr val="000000"/>
                      </a:solidFill>
                    </a:lnB>
                  </a:tcPr>
                </a:tc>
              </a:tr>
              <a:tr h="149860">
                <a:tc>
                  <a:txBody>
                    <a:bodyPr/>
                    <a:p>
                      <a:pPr marL="204470" marR="216535" algn="ctr">
                        <a:lnSpc>
                          <a:spcPct val="97624"/>
                        </a:lnSpc>
                      </a:pPr>
                      <a:r>
                        <a:rPr sz="950" spc="-10">
                          <a:latin typeface="Times New Roman"/>
                          <a:cs typeface="Times New Roman"/>
                        </a:rPr>
                        <a:t>Q3</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0,82</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0,11</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0,17</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2,54</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1,87</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0,51</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2,03</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4"/>
                        </a:lnSpc>
                      </a:pPr>
                      <a:r>
                        <a:rPr sz="950" spc="-5">
                          <a:latin typeface="Times New Roman"/>
                          <a:cs typeface="Times New Roman"/>
                        </a:rPr>
                        <a:t>14,04</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1,65</a:t>
                      </a:r>
                      <a:endParaRPr/>
                    </a:p>
                  </a:txBody>
                  <a:tcPr anchor="ctr" marL="0" marR="0" marT="0" marB="0">
                    <a:lnL/>
                    <a:lnR/>
                    <a:lnT w="6350" cmpd="sng">
                      <a:solidFill>
                        <a:srgbClr val="000000"/>
                      </a:solidFill>
                    </a:lnT>
                    <a:lnB w="6350" cmpd="sng">
                      <a:solidFill>
                        <a:srgbClr val="000000"/>
                      </a:solidFill>
                    </a:lnB>
                  </a:tcPr>
                </a:tc>
              </a:tr>
              <a:tr h="151130">
                <a:tc>
                  <a:txBody>
                    <a:bodyPr/>
                    <a:p>
                      <a:pPr marL="170815" marR="182880" algn="ctr">
                        <a:lnSpc>
                          <a:spcPct val="98150"/>
                        </a:lnSpc>
                      </a:pPr>
                      <a:r>
                        <a:rPr sz="950" spc="-5">
                          <a:latin typeface="Times New Roman"/>
                          <a:cs typeface="Times New Roman"/>
                        </a:rPr>
                        <a:t>S.D.</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0,12</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2,60</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2,16</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0,23</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5,20</a:t>
                      </a:r>
                      <a:endParaRPr/>
                    </a:p>
                  </a:txBody>
                  <a:tcPr anchor="ctr" marL="0" marR="0" marT="0" marB="0">
                    <a:lnL/>
                    <a:lnR/>
                    <a:lnT w="6350" cmpd="sng">
                      <a:solidFill>
                        <a:srgbClr val="000000"/>
                      </a:solidFill>
                    </a:lnT>
                    <a:lnB w="6350" cmpd="sng">
                      <a:solidFill>
                        <a:srgbClr val="000000"/>
                      </a:solidFill>
                    </a:lnB>
                  </a:tcPr>
                </a:tc>
                <a:tc>
                  <a:txBody>
                    <a:bodyPr/>
                    <a:p>
                      <a:pPr marL="104775" marR="101600" algn="ctr">
                        <a:lnSpc>
                          <a:spcPct val="98150"/>
                        </a:lnSpc>
                      </a:pPr>
                      <a:r>
                        <a:rPr sz="950" spc="-5">
                          <a:latin typeface="Times New Roman"/>
                          <a:cs typeface="Times New Roman"/>
                        </a:rPr>
                        <a:t>1,93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1,68</a:t>
                      </a:r>
                      <a:endParaRPr/>
                    </a:p>
                  </a:txBody>
                  <a:tcPr anchor="ctr" marL="0" marR="0" marT="0" marB="0">
                    <a:lnL/>
                    <a:lnR/>
                    <a:lnT w="6350" cmpd="sng">
                      <a:solidFill>
                        <a:srgbClr val="000000"/>
                      </a:solidFill>
                    </a:lnT>
                    <a:lnB w="6350" cmpd="sng">
                      <a:solidFill>
                        <a:srgbClr val="000000"/>
                      </a:solidFill>
                    </a:lnB>
                  </a:tcPr>
                </a:tc>
              </a:tr>
              <a:tr h="151130">
                <a:tc gridSpan="5">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3">
                  <a:txBody>
                    <a:bodyPr/>
                    <a:p>
                      <a:pPr marL="32385" marR="454025">
                        <a:lnSpc>
                          <a:spcPct val="98150"/>
                        </a:lnSpc>
                      </a:pPr>
                      <a:r>
                        <a:rPr sz="950" spc="-5">
                          <a:latin typeface="Times New Roman"/>
                          <a:cs typeface="Times New Roman"/>
                        </a:rPr>
                        <a:t>Panel B: Institutional investors</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gridSpan="4">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r>
              <a:tr h="151130">
                <a:tc>
                  <a:txBody>
                    <a:bodyPr/>
                    <a:p>
                      <a:pPr marL="142240" marR="152400" algn="ctr">
                        <a:lnSpc>
                          <a:spcPct val="98150"/>
                        </a:lnSpc>
                      </a:pPr>
                      <a:r>
                        <a:rPr sz="950" spc="-10">
                          <a:latin typeface="Times New Roman"/>
                          <a:cs typeface="Times New Roman"/>
                        </a:rPr>
                        <a:t>Mean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0,84</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1,38</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1,12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0,38</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2,23</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12,61</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0,63</a:t>
                      </a:r>
                      <a:endParaRPr/>
                    </a:p>
                  </a:txBody>
                  <a:tcPr anchor="ctr" marL="0" marR="0" marT="0" marB="0">
                    <a:lnL/>
                    <a:lnR/>
                    <a:lnT w="6350" cmpd="sng">
                      <a:solidFill>
                        <a:srgbClr val="000000"/>
                      </a:solidFill>
                    </a:lnT>
                    <a:lnB w="6350" cmpd="sng">
                      <a:solidFill>
                        <a:srgbClr val="000000"/>
                      </a:solidFill>
                    </a:lnB>
                  </a:tcPr>
                </a:tc>
              </a:tr>
              <a:tr h="149860">
                <a:tc>
                  <a:txBody>
                    <a:bodyPr/>
                    <a:p>
                      <a:pPr marL="94615" marR="105410" algn="ctr">
                        <a:lnSpc>
                          <a:spcPct val="97624"/>
                        </a:lnSpc>
                      </a:pPr>
                      <a:r>
                        <a:rPr sz="950" spc="-5">
                          <a:latin typeface="Times New Roman"/>
                          <a:cs typeface="Times New Roman"/>
                        </a:rPr>
                        <a:t>Median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0,57</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1,31</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0,99</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0,45</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2,01</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4"/>
                        </a:lnSpc>
                      </a:pPr>
                      <a:r>
                        <a:rPr sz="950" spc="-5">
                          <a:latin typeface="Times New Roman"/>
                          <a:cs typeface="Times New Roman"/>
                        </a:rPr>
                        <a:t>12,43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0,55</a:t>
                      </a:r>
                      <a:endParaRPr/>
                    </a:p>
                  </a:txBody>
                  <a:tcPr anchor="ctr" marL="0" marR="0" marT="0" marB="0">
                    <a:lnL/>
                    <a:lnR/>
                    <a:lnT w="6350" cmpd="sng">
                      <a:solidFill>
                        <a:srgbClr val="000000"/>
                      </a:solidFill>
                    </a:lnT>
                    <a:lnB w="6350" cmpd="sng">
                      <a:solidFill>
                        <a:srgbClr val="000000"/>
                      </a:solidFill>
                    </a:lnB>
                  </a:tcPr>
                </a:tc>
              </a:tr>
              <a:tr h="151130">
                <a:tc>
                  <a:txBody>
                    <a:bodyPr/>
                    <a:p>
                      <a:pPr marL="178435" marR="189230" algn="ctr">
                        <a:lnSpc>
                          <a:spcPct val="98150"/>
                        </a:lnSpc>
                      </a:pPr>
                      <a:r>
                        <a:rPr sz="950" spc="-10">
                          <a:latin typeface="Times New Roman"/>
                          <a:cs typeface="Times New Roman"/>
                        </a:rPr>
                        <a:t>Min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0,40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0,69</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0,37</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1,53</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11,10</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r>
              <a:tr h="151765">
                <a:tc>
                  <a:txBody>
                    <a:bodyPr/>
                    <a:p>
                      <a:pPr marL="168275" marR="180340" algn="ctr">
                        <a:lnSpc>
                          <a:spcPct val="98282"/>
                        </a:lnSpc>
                      </a:pPr>
                      <a:r>
                        <a:rPr sz="950" spc="-15">
                          <a:latin typeface="Times New Roman"/>
                          <a:cs typeface="Times New Roman"/>
                        </a:rPr>
                        <a:t>Max</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282"/>
                        </a:lnSpc>
                      </a:pPr>
                      <a:r>
                        <a:rPr sz="950" spc="-5">
                          <a:latin typeface="Times New Roman"/>
                          <a:cs typeface="Times New Roman"/>
                        </a:rPr>
                        <a:t>1,81</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282"/>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282"/>
                        </a:lnSpc>
                      </a:pPr>
                      <a:r>
                        <a:rPr sz="950" spc="-5">
                          <a:latin typeface="Times New Roman"/>
                          <a:cs typeface="Times New Roman"/>
                        </a:rPr>
                        <a:t>0,11</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282"/>
                        </a:lnSpc>
                      </a:pPr>
                      <a:r>
                        <a:rPr sz="950" spc="-5">
                          <a:latin typeface="Times New Roman"/>
                          <a:cs typeface="Times New Roman"/>
                        </a:rPr>
                        <a:t>0,25</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282"/>
                        </a:lnSpc>
                      </a:pPr>
                      <a:r>
                        <a:rPr sz="950" spc="-5">
                          <a:latin typeface="Times New Roman"/>
                          <a:cs typeface="Times New Roman"/>
                        </a:rPr>
                        <a:t>2,19</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282"/>
                        </a:lnSpc>
                      </a:pPr>
                      <a:r>
                        <a:rPr sz="950" spc="-5">
                          <a:latin typeface="Times New Roman"/>
                          <a:cs typeface="Times New Roman"/>
                        </a:rPr>
                        <a:t>2,13</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282"/>
                        </a:lnSpc>
                      </a:pPr>
                      <a:r>
                        <a:rPr sz="950" spc="-5">
                          <a:latin typeface="Times New Roman"/>
                          <a:cs typeface="Times New Roman"/>
                        </a:rPr>
                        <a:t>0,63</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282"/>
                        </a:lnSpc>
                      </a:pPr>
                      <a:r>
                        <a:rPr sz="950" spc="-5">
                          <a:latin typeface="Times New Roman"/>
                          <a:cs typeface="Times New Roman"/>
                        </a:rPr>
                        <a:t>3,37</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282"/>
                        </a:lnSpc>
                      </a:pPr>
                      <a:r>
                        <a:rPr sz="950" spc="-5">
                          <a:latin typeface="Times New Roman"/>
                          <a:cs typeface="Times New Roman"/>
                        </a:rPr>
                        <a:t>14,47</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282"/>
                        </a:lnSpc>
                      </a:pPr>
                      <a:r>
                        <a:rPr sz="950" spc="-5">
                          <a:latin typeface="Times New Roman"/>
                          <a:cs typeface="Times New Roman"/>
                        </a:rPr>
                        <a:t>1,02</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Q1</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0,50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0,97</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0,40</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1,88</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11,50</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0,45</a:t>
                      </a:r>
                      <a:endParaRPr/>
                    </a:p>
                  </a:txBody>
                  <a:tcPr anchor="ctr" marL="0" marR="0" marT="0" marB="0">
                    <a:lnL/>
                    <a:lnR/>
                    <a:lnT w="6350" cmpd="sng">
                      <a:solidFill>
                        <a:srgbClr val="000000"/>
                      </a:solidFill>
                    </a:lnT>
                    <a:lnB w="6350" cmpd="sng">
                      <a:solidFill>
                        <a:srgbClr val="000000"/>
                      </a:solidFill>
                    </a:lnB>
                  </a:tcPr>
                </a:tc>
              </a:tr>
              <a:tr h="149860">
                <a:tc>
                  <a:txBody>
                    <a:bodyPr/>
                    <a:p>
                      <a:pPr marL="204470" marR="216535" algn="ctr">
                        <a:lnSpc>
                          <a:spcPct val="97624"/>
                        </a:lnSpc>
                      </a:pPr>
                      <a:r>
                        <a:rPr sz="950" spc="-10">
                          <a:latin typeface="Times New Roman"/>
                          <a:cs typeface="Times New Roman"/>
                        </a:rPr>
                        <a:t>Q3</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0,91</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0,20</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1,72</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1,70</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0,54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2,36</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4"/>
                        </a:lnSpc>
                      </a:pPr>
                      <a:r>
                        <a:rPr sz="950" spc="-5">
                          <a:latin typeface="Times New Roman"/>
                          <a:cs typeface="Times New Roman"/>
                        </a:rPr>
                        <a:t>13,55</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0,73</a:t>
                      </a:r>
                      <a:endParaRPr/>
                    </a:p>
                  </a:txBody>
                  <a:tcPr anchor="ctr" marL="0" marR="0" marT="0" marB="0">
                    <a:lnL/>
                    <a:lnR/>
                    <a:lnT w="6350" cmpd="sng">
                      <a:solidFill>
                        <a:srgbClr val="000000"/>
                      </a:solidFill>
                    </a:lnT>
                    <a:lnB w="6350" cmpd="sng">
                      <a:solidFill>
                        <a:srgbClr val="000000"/>
                      </a:solidFill>
                    </a:lnB>
                  </a:tcPr>
                </a:tc>
              </a:tr>
              <a:tr h="151130">
                <a:tc>
                  <a:txBody>
                    <a:bodyPr/>
                    <a:p>
                      <a:pPr marL="170815" marR="182880" algn="ctr">
                        <a:lnSpc>
                          <a:spcPct val="98150"/>
                        </a:lnSpc>
                      </a:pPr>
                      <a:r>
                        <a:rPr sz="950" spc="-5">
                          <a:latin typeface="Times New Roman"/>
                          <a:cs typeface="Times New Roman"/>
                        </a:rPr>
                        <a:t>S.D.</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0,56</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0,56</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0,75</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0,69</a:t>
                      </a:r>
                      <a:endParaRPr/>
                    </a:p>
                  </a:txBody>
                  <a:tcPr anchor="ctr" marL="0" marR="0" marT="0" marB="0">
                    <a:lnL/>
                    <a:lnR/>
                    <a:lnT w="6350" cmpd="sng">
                      <a:solidFill>
                        <a:srgbClr val="000000"/>
                      </a:solidFill>
                    </a:lnT>
                    <a:lnB w="6350" cmpd="sng">
                      <a:solidFill>
                        <a:srgbClr val="000000"/>
                      </a:solidFill>
                    </a:lnB>
                  </a:tcPr>
                </a:tc>
                <a:tc>
                  <a:txBody>
                    <a:bodyPr/>
                    <a:p>
                      <a:pPr marL="104775" marR="101600" algn="ctr">
                        <a:lnSpc>
                          <a:spcPct val="98150"/>
                        </a:lnSpc>
                      </a:pPr>
                      <a:r>
                        <a:rPr sz="950" spc="-5">
                          <a:latin typeface="Times New Roman"/>
                          <a:cs typeface="Times New Roman"/>
                        </a:rPr>
                        <a:t>1,33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0,24</a:t>
                      </a:r>
                      <a:endParaRPr/>
                    </a:p>
                  </a:txBody>
                  <a:tcPr anchor="ctr" marL="0" marR="0" marT="0" marB="0">
                    <a:lnL/>
                    <a:lnR/>
                    <a:lnT w="6350" cmpd="sng">
                      <a:solidFill>
                        <a:srgbClr val="000000"/>
                      </a:solidFill>
                    </a:lnT>
                    <a:lnB w="6350" cmpd="sng">
                      <a:solidFill>
                        <a:srgbClr val="000000"/>
                      </a:solidFill>
                    </a:lnB>
                  </a:tcPr>
                </a:tc>
              </a:tr>
              <a:tr h="151130">
                <a:tc gridSpan="5">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2">
                  <a:txBody>
                    <a:bodyPr/>
                    <a:p>
                      <a:pPr marL="319405" marR="139065">
                        <a:lnSpc>
                          <a:spcPct val="98150"/>
                        </a:lnSpc>
                      </a:pPr>
                      <a:r>
                        <a:rPr sz="950" spc="-5">
                          <a:latin typeface="Times New Roman"/>
                          <a:cs typeface="Times New Roman"/>
                        </a:rPr>
                        <a:t>Panel C: Managers</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gridSpan="5">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r>
              <a:tr h="151130">
                <a:tc>
                  <a:txBody>
                    <a:bodyPr/>
                    <a:p>
                      <a:pPr marL="142240" marR="152400" algn="ctr">
                        <a:lnSpc>
                          <a:spcPct val="98150"/>
                        </a:lnSpc>
                      </a:pPr>
                      <a:r>
                        <a:rPr sz="950" spc="-10">
                          <a:latin typeface="Times New Roman"/>
                          <a:cs typeface="Times New Roman"/>
                        </a:rPr>
                        <a:t>Mean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0,49</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0,07</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2,78</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1,90</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0,38</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1,83</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12,31</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2,19</a:t>
                      </a:r>
                      <a:endParaRPr/>
                    </a:p>
                  </a:txBody>
                  <a:tcPr anchor="ctr" marL="0" marR="0" marT="0" marB="0">
                    <a:lnL/>
                    <a:lnR/>
                    <a:lnT w="6350" cmpd="sng">
                      <a:solidFill>
                        <a:srgbClr val="000000"/>
                      </a:solidFill>
                    </a:lnT>
                    <a:lnB w="6350" cmpd="sng">
                      <a:solidFill>
                        <a:srgbClr val="000000"/>
                      </a:solidFill>
                    </a:lnB>
                  </a:tcPr>
                </a:tc>
              </a:tr>
              <a:tr h="149860">
                <a:tc>
                  <a:txBody>
                    <a:bodyPr/>
                    <a:p>
                      <a:pPr marL="94615" marR="105410" algn="ctr">
                        <a:lnSpc>
                          <a:spcPct val="97624"/>
                        </a:lnSpc>
                      </a:pPr>
                      <a:r>
                        <a:rPr sz="950" spc="-5">
                          <a:latin typeface="Times New Roman"/>
                          <a:cs typeface="Times New Roman"/>
                        </a:rPr>
                        <a:t>Median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0,46</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1,82</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1,33</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0,31</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1,39</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4"/>
                        </a:lnSpc>
                      </a:pPr>
                      <a:r>
                        <a:rPr sz="950" spc="-5">
                          <a:latin typeface="Times New Roman"/>
                          <a:cs typeface="Times New Roman"/>
                        </a:rPr>
                        <a:t>12,14</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1,27</a:t>
                      </a:r>
                      <a:endParaRPr/>
                    </a:p>
                  </a:txBody>
                  <a:tcPr anchor="ctr" marL="0" marR="0" marT="0" marB="0">
                    <a:lnL/>
                    <a:lnR/>
                    <a:lnT w="6350" cmpd="sng">
                      <a:solidFill>
                        <a:srgbClr val="000000"/>
                      </a:solidFill>
                    </a:lnT>
                    <a:lnB w="6350" cmpd="sng">
                      <a:solidFill>
                        <a:srgbClr val="000000"/>
                      </a:solidFill>
                    </a:lnB>
                  </a:tcPr>
                </a:tc>
              </a:tr>
              <a:tr h="151130">
                <a:tc>
                  <a:txBody>
                    <a:bodyPr/>
                    <a:p>
                      <a:pPr marL="178435" marR="189230" algn="ctr">
                        <a:lnSpc>
                          <a:spcPct val="98150"/>
                        </a:lnSpc>
                      </a:pPr>
                      <a:r>
                        <a:rPr sz="950" spc="-10">
                          <a:latin typeface="Times New Roman"/>
                          <a:cs typeface="Times New Roman"/>
                        </a:rPr>
                        <a:t>Min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17805" marR="19050" algn="r">
                        <a:lnSpc>
                          <a:spcPct val="98150"/>
                        </a:lnSpc>
                      </a:pPr>
                      <a:r>
                        <a:rPr sz="950">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45745" marR="186055">
                        <a:lnSpc>
                          <a:spcPct val="98150"/>
                        </a:lnSpc>
                      </a:pPr>
                      <a:r>
                        <a:rPr sz="950">
                          <a:latin typeface="Times New Roman"/>
                          <a:cs typeface="Times New Roman"/>
                        </a:rPr>
                        <a:t>-0,42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1,02</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10,08</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0,44</a:t>
                      </a:r>
                      <a:endParaRPr/>
                    </a:p>
                  </a:txBody>
                  <a:tcPr anchor="ctr" marL="0" marR="0" marT="0" marB="0">
                    <a:lnL/>
                    <a:lnR/>
                    <a:lnT w="6350" cmpd="sng">
                      <a:solidFill>
                        <a:srgbClr val="000000"/>
                      </a:solidFill>
                    </a:lnT>
                    <a:lnB w="6350" cmpd="sng">
                      <a:solidFill>
                        <a:srgbClr val="000000"/>
                      </a:solidFill>
                    </a:lnB>
                  </a:tcPr>
                </a:tc>
              </a:tr>
              <a:tr h="151130">
                <a:tc>
                  <a:txBody>
                    <a:bodyPr/>
                    <a:p>
                      <a:pPr marL="168275" marR="180340" algn="ctr">
                        <a:lnSpc>
                          <a:spcPct val="98150"/>
                        </a:lnSpc>
                      </a:pPr>
                      <a:r>
                        <a:rPr sz="950" spc="-15">
                          <a:latin typeface="Times New Roman"/>
                          <a:cs typeface="Times New Roman"/>
                        </a:rPr>
                        <a:t>Max</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1,52</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0,52</a:t>
                      </a:r>
                      <a:endParaRPr/>
                    </a:p>
                  </a:txBody>
                  <a:tcPr anchor="ctr" marL="0" marR="0" marT="0" marB="0">
                    <a:lnL/>
                    <a:lnR/>
                    <a:lnT w="6350" cmpd="sng">
                      <a:solidFill>
                        <a:srgbClr val="000000"/>
                      </a:solidFill>
                    </a:lnT>
                    <a:lnB w="6350" cmpd="sng">
                      <a:solidFill>
                        <a:srgbClr val="000000"/>
                      </a:solidFill>
                    </a:lnB>
                  </a:tcPr>
                </a:tc>
                <a:tc>
                  <a:txBody>
                    <a:bodyPr/>
                    <a:p>
                      <a:pPr marL="182245" marR="236855">
                        <a:lnSpc>
                          <a:spcPct val="98150"/>
                        </a:lnSpc>
                      </a:pPr>
                      <a:r>
                        <a:rPr sz="950" spc="-5">
                          <a:latin typeface="Times New Roman"/>
                          <a:cs typeface="Times New Roman"/>
                        </a:rPr>
                        <a:t>15,83</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8,05</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1,54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9,08</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15,43</a:t>
                      </a:r>
                      <a:endParaRPr/>
                    </a:p>
                  </a:txBody>
                  <a:tcPr anchor="ctr" marL="0" marR="0" marT="0" marB="0">
                    <a:lnL/>
                    <a:lnR/>
                    <a:lnT w="6350" cmpd="sng">
                      <a:solidFill>
                        <a:srgbClr val="000000"/>
                      </a:solidFill>
                    </a:lnT>
                    <a:lnB w="6350" cmpd="sng">
                      <a:solidFill>
                        <a:srgbClr val="000000"/>
                      </a:solidFill>
                    </a:lnB>
                  </a:tcPr>
                </a:tc>
                <a:tc>
                  <a:txBody>
                    <a:bodyPr/>
                    <a:p>
                      <a:pPr marL="150495" marR="134620" algn="ctr">
                        <a:lnSpc>
                          <a:spcPct val="98150"/>
                        </a:lnSpc>
                      </a:pPr>
                      <a:r>
                        <a:rPr sz="950" spc="-5">
                          <a:latin typeface="Times New Roman"/>
                          <a:cs typeface="Times New Roman"/>
                        </a:rPr>
                        <a:t>13,74</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Q1</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1,38</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1,06</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0,22</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1,18</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11,43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0,90</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Q3</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0,69</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0,07</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0,11</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0,18</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3,14</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2,07</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0,46</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1,65</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12,86</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2,11</a:t>
                      </a:r>
                      <a:endParaRPr/>
                    </a:p>
                  </a:txBody>
                  <a:tcPr anchor="ctr" marL="0" marR="0" marT="0" marB="0">
                    <a:lnL/>
                    <a:lnR/>
                    <a:lnT w="6350" cmpd="sng">
                      <a:solidFill>
                        <a:srgbClr val="000000"/>
                      </a:solidFill>
                    </a:lnT>
                    <a:lnB w="6350" cmpd="sng">
                      <a:solidFill>
                        <a:srgbClr val="000000"/>
                      </a:solidFill>
                    </a:lnB>
                  </a:tcPr>
                </a:tc>
              </a:tr>
              <a:tr h="149860">
                <a:tc>
                  <a:txBody>
                    <a:bodyPr/>
                    <a:p>
                      <a:pPr marL="170815" marR="182880" algn="ctr">
                        <a:lnSpc>
                          <a:spcPct val="97624"/>
                        </a:lnSpc>
                      </a:pPr>
                      <a:r>
                        <a:rPr sz="950" spc="-5">
                          <a:latin typeface="Times New Roman"/>
                          <a:cs typeface="Times New Roman"/>
                        </a:rPr>
                        <a:t>S.D.</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0,32</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0,17</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2,94</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1,60</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1,62</a:t>
                      </a:r>
                      <a:endParaRPr/>
                    </a:p>
                  </a:txBody>
                  <a:tcPr anchor="ctr" marL="0" marR="0" marT="0" marB="0">
                    <a:lnL/>
                    <a:lnR/>
                    <a:lnT w="6350" cmpd="sng">
                      <a:solidFill>
                        <a:srgbClr val="000000"/>
                      </a:solidFill>
                    </a:lnT>
                    <a:lnB w="6350" cmpd="sng">
                      <a:solidFill>
                        <a:srgbClr val="000000"/>
                      </a:solidFill>
                    </a:lnB>
                  </a:tcPr>
                </a:tc>
                <a:tc>
                  <a:txBody>
                    <a:bodyPr/>
                    <a:p>
                      <a:pPr marL="104775" marR="101600" algn="ctr">
                        <a:lnSpc>
                          <a:spcPct val="97624"/>
                        </a:lnSpc>
                      </a:pPr>
                      <a:r>
                        <a:rPr sz="950" spc="-5">
                          <a:latin typeface="Times New Roman"/>
                          <a:cs typeface="Times New Roman"/>
                        </a:rPr>
                        <a:t>1,33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2,66</a:t>
                      </a:r>
                      <a:endParaRPr/>
                    </a:p>
                  </a:txBody>
                  <a:tcPr anchor="ctr" marL="0" marR="0" marT="0" marB="0">
                    <a:lnL/>
                    <a:lnR/>
                    <a:lnT w="6350" cmpd="sng">
                      <a:solidFill>
                        <a:srgbClr val="000000"/>
                      </a:solidFill>
                    </a:lnT>
                    <a:lnB w="6350" cmpd="sng">
                      <a:solidFill>
                        <a:srgbClr val="000000"/>
                      </a:solidFill>
                    </a:lnB>
                  </a:tcPr>
                </a:tc>
              </a:tr>
              <a:tr h="151130">
                <a:tc gridSpan="5">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2">
                  <a:txBody>
                    <a:bodyPr/>
                    <a:p>
                      <a:pPr marL="203200" marR="21590">
                        <a:lnSpc>
                          <a:spcPct val="98150"/>
                        </a:lnSpc>
                      </a:pPr>
                      <a:r>
                        <a:rPr sz="950" spc="-5">
                          <a:latin typeface="Times New Roman"/>
                          <a:cs typeface="Times New Roman"/>
                        </a:rPr>
                        <a:t>Panel D: State Treasury</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gridSpan="5">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r>
              <a:tr h="151130">
                <a:tc>
                  <a:txBody>
                    <a:bodyPr/>
                    <a:p>
                      <a:pPr marL="142240" marR="152400" algn="ctr">
                        <a:lnSpc>
                          <a:spcPct val="98150"/>
                        </a:lnSpc>
                      </a:pPr>
                      <a:r>
                        <a:rPr sz="950" spc="-10">
                          <a:latin typeface="Times New Roman"/>
                          <a:cs typeface="Times New Roman"/>
                        </a:rPr>
                        <a:t>Mean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0,72</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3,28</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3,01</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0,37</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4,62</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15,54</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1,16</a:t>
                      </a:r>
                      <a:endParaRPr/>
                    </a:p>
                  </a:txBody>
                  <a:tcPr anchor="ctr" marL="0" marR="0" marT="0" marB="0">
                    <a:lnL/>
                    <a:lnR/>
                    <a:lnT w="6350" cmpd="sng">
                      <a:solidFill>
                        <a:srgbClr val="000000"/>
                      </a:solidFill>
                    </a:lnT>
                    <a:lnB w="6350" cmpd="sng">
                      <a:solidFill>
                        <a:srgbClr val="000000"/>
                      </a:solidFill>
                    </a:lnB>
                  </a:tcPr>
                </a:tc>
              </a:tr>
              <a:tr h="151130">
                <a:tc>
                  <a:txBody>
                    <a:bodyPr/>
                    <a:p>
                      <a:pPr marL="94615" marR="105410" algn="ctr">
                        <a:lnSpc>
                          <a:spcPct val="98150"/>
                        </a:lnSpc>
                      </a:pPr>
                      <a:r>
                        <a:rPr sz="950" spc="-5">
                          <a:latin typeface="Times New Roman"/>
                          <a:cs typeface="Times New Roman"/>
                        </a:rPr>
                        <a:t>Median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0,72</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2,08</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1,72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0,38</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2,69</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16,34</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0,90</a:t>
                      </a:r>
                      <a:endParaRPr/>
                    </a:p>
                  </a:txBody>
                  <a:tcPr anchor="ctr" marL="0" marR="0" marT="0" marB="0">
                    <a:lnL/>
                    <a:lnR/>
                    <a:lnT w="6350" cmpd="sng">
                      <a:solidFill>
                        <a:srgbClr val="000000"/>
                      </a:solidFill>
                    </a:lnT>
                    <a:lnB w="6350" cmpd="sng">
                      <a:solidFill>
                        <a:srgbClr val="000000"/>
                      </a:solidFill>
                    </a:lnB>
                  </a:tcPr>
                </a:tc>
              </a:tr>
              <a:tr h="149860">
                <a:tc>
                  <a:txBody>
                    <a:bodyPr/>
                    <a:p>
                      <a:pPr marL="178435" marR="189230" algn="ctr">
                        <a:lnSpc>
                          <a:spcPct val="97712"/>
                        </a:lnSpc>
                      </a:pPr>
                      <a:r>
                        <a:rPr sz="950" spc="-10">
                          <a:latin typeface="Times New Roman"/>
                          <a:cs typeface="Times New Roman"/>
                        </a:rPr>
                        <a:t>Min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712"/>
                        </a:lnSpc>
                      </a:pPr>
                      <a:r>
                        <a:rPr sz="950" spc="-5">
                          <a:latin typeface="Times New Roman"/>
                          <a:cs typeface="Times New Roman"/>
                        </a:rPr>
                        <a:t>0,24</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712"/>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712"/>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712"/>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712"/>
                        </a:lnSpc>
                      </a:pPr>
                      <a:r>
                        <a:rPr sz="950" spc="-5">
                          <a:latin typeface="Times New Roman"/>
                          <a:cs typeface="Times New Roman"/>
                        </a:rPr>
                        <a:t>0,79</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712"/>
                        </a:lnSpc>
                      </a:pPr>
                      <a:r>
                        <a:rPr sz="950" spc="-5">
                          <a:latin typeface="Times New Roman"/>
                          <a:cs typeface="Times New Roman"/>
                        </a:rPr>
                        <a:t>0,62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712"/>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712"/>
                        </a:lnSpc>
                      </a:pPr>
                      <a:r>
                        <a:rPr sz="950" spc="-5">
                          <a:latin typeface="Times New Roman"/>
                          <a:cs typeface="Times New Roman"/>
                        </a:rPr>
                        <a:t>1,81</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712"/>
                        </a:lnSpc>
                      </a:pPr>
                      <a:r>
                        <a:rPr sz="950" spc="-5">
                          <a:latin typeface="Times New Roman"/>
                          <a:cs typeface="Times New Roman"/>
                        </a:rPr>
                        <a:t>10,13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712"/>
                        </a:lnSpc>
                      </a:pPr>
                      <a:r>
                        <a:rPr sz="950" spc="-5">
                          <a:latin typeface="Times New Roman"/>
                          <a:cs typeface="Times New Roman"/>
                        </a:rPr>
                        <a:t>0,53</a:t>
                      </a:r>
                      <a:endParaRPr/>
                    </a:p>
                  </a:txBody>
                  <a:tcPr anchor="ctr" marL="0" marR="0" marT="0" marB="0">
                    <a:lnL/>
                    <a:lnR/>
                    <a:lnT w="6350" cmpd="sng">
                      <a:solidFill>
                        <a:srgbClr val="000000"/>
                      </a:solidFill>
                    </a:lnT>
                    <a:lnB w="6350" cmpd="sng">
                      <a:solidFill>
                        <a:srgbClr val="000000"/>
                      </a:solidFill>
                    </a:lnB>
                  </a:tcPr>
                </a:tc>
              </a:tr>
              <a:tr h="151130">
                <a:tc>
                  <a:txBody>
                    <a:bodyPr/>
                    <a:p>
                      <a:pPr marL="168275" marR="180340" algn="ctr">
                        <a:lnSpc>
                          <a:spcPct val="98150"/>
                        </a:lnSpc>
                      </a:pPr>
                      <a:r>
                        <a:rPr sz="950" spc="-15">
                          <a:latin typeface="Times New Roman"/>
                          <a:cs typeface="Times New Roman"/>
                        </a:rPr>
                        <a:t>Max</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1,61</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182245" marR="236855">
                        <a:lnSpc>
                          <a:spcPct val="98150"/>
                        </a:lnSpc>
                      </a:pPr>
                      <a:r>
                        <a:rPr sz="950" spc="-5">
                          <a:latin typeface="Times New Roman"/>
                          <a:cs typeface="Times New Roman"/>
                        </a:rPr>
                        <a:t>12,52</a:t>
                      </a:r>
                      <a:endParaRPr/>
                    </a:p>
                  </a:txBody>
                  <a:tcPr anchor="ctr" marL="0" marR="0" marT="0" marB="0">
                    <a:lnL/>
                    <a:lnR/>
                    <a:lnT w="6350" cmpd="sng">
                      <a:solidFill>
                        <a:srgbClr val="000000"/>
                      </a:solidFill>
                    </a:lnT>
                    <a:lnB w="6350" cmpd="sng">
                      <a:solidFill>
                        <a:srgbClr val="000000"/>
                      </a:solidFill>
                    </a:lnB>
                  </a:tcPr>
                </a:tc>
                <a:tc>
                  <a:txBody>
                    <a:bodyPr/>
                    <a:p>
                      <a:pPr marL="120650" marR="209550" algn="r">
                        <a:lnSpc>
                          <a:spcPct val="98150"/>
                        </a:lnSpc>
                      </a:pPr>
                      <a:r>
                        <a:rPr sz="950" spc="-5">
                          <a:latin typeface="Times New Roman"/>
                          <a:cs typeface="Times New Roman"/>
                        </a:rPr>
                        <a:t>12,52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0,57</a:t>
                      </a:r>
                      <a:endParaRPr/>
                    </a:p>
                  </a:txBody>
                  <a:tcPr anchor="ctr" marL="0" marR="0" marT="0" marB="0">
                    <a:lnL/>
                    <a:lnR/>
                    <a:lnT w="6350" cmpd="sng">
                      <a:solidFill>
                        <a:srgbClr val="000000"/>
                      </a:solidFill>
                    </a:lnT>
                    <a:lnB w="6350" cmpd="sng">
                      <a:solidFill>
                        <a:srgbClr val="000000"/>
                      </a:solidFill>
                    </a:lnB>
                  </a:tcPr>
                </a:tc>
                <a:tc>
                  <a:txBody>
                    <a:bodyPr/>
                    <a:p>
                      <a:pPr marL="189230" marR="194310" algn="ctr">
                        <a:lnSpc>
                          <a:spcPct val="98150"/>
                        </a:lnSpc>
                      </a:pPr>
                      <a:r>
                        <a:rPr sz="950" spc="-5">
                          <a:latin typeface="Times New Roman"/>
                          <a:cs typeface="Times New Roman"/>
                        </a:rPr>
                        <a:t>19,10</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20,07</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2,44</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Q1</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0,40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1,43</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0,99</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1,96</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13,51</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0,76</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Q3</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0,82</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2,12</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1,97</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0,48</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3,38</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17,43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1,30</a:t>
                      </a:r>
                      <a:endParaRPr/>
                    </a:p>
                  </a:txBody>
                  <a:tcPr anchor="ctr" marL="0" marR="0" marT="0" marB="0">
                    <a:lnL/>
                    <a:lnR/>
                    <a:lnT w="6350" cmpd="sng">
                      <a:solidFill>
                        <a:srgbClr val="000000"/>
                      </a:solidFill>
                    </a:lnT>
                    <a:lnB w="6350" cmpd="sng">
                      <a:solidFill>
                        <a:srgbClr val="000000"/>
                      </a:solidFill>
                    </a:lnB>
                  </a:tcPr>
                </a:tc>
              </a:tr>
              <a:tr h="149860">
                <a:tc>
                  <a:txBody>
                    <a:bodyPr/>
                    <a:p>
                      <a:pPr marL="170815" marR="182880" algn="ctr">
                        <a:lnSpc>
                          <a:spcPct val="97624"/>
                        </a:lnSpc>
                      </a:pPr>
                      <a:r>
                        <a:rPr sz="950" spc="-5">
                          <a:latin typeface="Times New Roman"/>
                          <a:cs typeface="Times New Roman"/>
                        </a:rPr>
                        <a:t>S.D.</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0,40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3,48</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3,61</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5,51</a:t>
                      </a:r>
                      <a:endParaRPr/>
                    </a:p>
                  </a:txBody>
                  <a:tcPr anchor="ctr" marL="0" marR="0" marT="0" marB="0">
                    <a:lnL/>
                    <a:lnR/>
                    <a:lnT w="6350" cmpd="sng">
                      <a:solidFill>
                        <a:srgbClr val="000000"/>
                      </a:solidFill>
                    </a:lnT>
                    <a:lnB w="6350" cmpd="sng">
                      <a:solidFill>
                        <a:srgbClr val="000000"/>
                      </a:solidFill>
                    </a:lnB>
                  </a:tcPr>
                </a:tc>
                <a:tc>
                  <a:txBody>
                    <a:bodyPr/>
                    <a:p>
                      <a:pPr marL="104775" marR="101600" algn="ctr">
                        <a:lnSpc>
                          <a:spcPct val="97624"/>
                        </a:lnSpc>
                      </a:pPr>
                      <a:r>
                        <a:rPr sz="950" spc="-5">
                          <a:latin typeface="Times New Roman"/>
                          <a:cs typeface="Times New Roman"/>
                        </a:rPr>
                        <a:t>2,95</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0,60</a:t>
                      </a:r>
                      <a:endParaRPr/>
                    </a:p>
                  </a:txBody>
                  <a:tcPr anchor="ctr" marL="0" marR="0" marT="0" marB="0">
                    <a:lnL/>
                    <a:lnR/>
                    <a:lnT w="6350" cmpd="sng">
                      <a:solidFill>
                        <a:srgbClr val="000000"/>
                      </a:solidFill>
                    </a:lnT>
                    <a:lnB w="6350" cmpd="sng">
                      <a:solidFill>
                        <a:srgbClr val="000000"/>
                      </a:solidFill>
                    </a:lnB>
                  </a:tcPr>
                </a:tc>
              </a:tr>
              <a:tr h="151130">
                <a:tc gridSpan="3">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gridSpan="5">
                  <a:txBody>
                    <a:bodyPr/>
                    <a:p>
                      <a:pPr marL="259080" marR="74930" algn="r">
                        <a:lnSpc>
                          <a:spcPct val="98150"/>
                        </a:lnSpc>
                      </a:pPr>
                      <a:r>
                        <a:rPr sz="950">
                          <a:latin typeface="Times New Roman"/>
                          <a:cs typeface="Times New Roman"/>
                        </a:rPr>
                        <a:t>Panel E: Individual investors (natural persons)</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r>
              <a:tr h="151130">
                <a:tc>
                  <a:txBody>
                    <a:bodyPr/>
                    <a:p>
                      <a:pPr marL="142240" marR="152400" algn="ctr">
                        <a:lnSpc>
                          <a:spcPct val="98150"/>
                        </a:lnSpc>
                      </a:pPr>
                      <a:r>
                        <a:rPr sz="950" spc="-10">
                          <a:latin typeface="Times New Roman"/>
                          <a:cs typeface="Times New Roman"/>
                        </a:rPr>
                        <a:t>Mean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0,67</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0,14</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1,35</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1,10</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1,48</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12,52</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1,53</a:t>
                      </a:r>
                      <a:endParaRPr/>
                    </a:p>
                  </a:txBody>
                  <a:tcPr anchor="ctr" marL="0" marR="0" marT="0" marB="0">
                    <a:lnL/>
                    <a:lnR/>
                    <a:lnT w="6350" cmpd="sng">
                      <a:solidFill>
                        <a:srgbClr val="000000"/>
                      </a:solidFill>
                    </a:lnT>
                    <a:lnB w="6350" cmpd="sng">
                      <a:solidFill>
                        <a:srgbClr val="000000"/>
                      </a:solidFill>
                    </a:lnB>
                  </a:tcPr>
                </a:tc>
              </a:tr>
              <a:tr h="151130">
                <a:tc>
                  <a:txBody>
                    <a:bodyPr/>
                    <a:p>
                      <a:pPr marL="94615" marR="105410" algn="ctr">
                        <a:lnSpc>
                          <a:spcPct val="98150"/>
                        </a:lnSpc>
                      </a:pPr>
                      <a:r>
                        <a:rPr sz="950" spc="-5">
                          <a:latin typeface="Times New Roman"/>
                          <a:cs typeface="Times New Roman"/>
                        </a:rPr>
                        <a:t>Median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0,75</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0,12</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1,17</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1,02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0,44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1,42</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12,72</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1,24</a:t>
                      </a:r>
                      <a:endParaRPr/>
                    </a:p>
                  </a:txBody>
                  <a:tcPr anchor="ctr" marL="0" marR="0" marT="0" marB="0">
                    <a:lnL/>
                    <a:lnR/>
                    <a:lnT w="6350" cmpd="sng">
                      <a:solidFill>
                        <a:srgbClr val="000000"/>
                      </a:solidFill>
                    </a:lnT>
                    <a:lnB w="6350" cmpd="sng">
                      <a:solidFill>
                        <a:srgbClr val="000000"/>
                      </a:solidFill>
                    </a:lnB>
                  </a:tcPr>
                </a:tc>
              </a:tr>
              <a:tr h="149860">
                <a:tc>
                  <a:txBody>
                    <a:bodyPr/>
                    <a:p>
                      <a:pPr marL="178435" marR="189230" algn="ctr">
                        <a:lnSpc>
                          <a:spcPct val="97623"/>
                        </a:lnSpc>
                      </a:pPr>
                      <a:r>
                        <a:rPr sz="950" spc="-10">
                          <a:latin typeface="Times New Roman"/>
                          <a:cs typeface="Times New Roman"/>
                        </a:rPr>
                        <a:t>Min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3"/>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3"/>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3"/>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3"/>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3"/>
                        </a:lnSpc>
                      </a:pPr>
                      <a:r>
                        <a:rPr sz="950" spc="-5">
                          <a:latin typeface="Times New Roman"/>
                          <a:cs typeface="Times New Roman"/>
                        </a:rPr>
                        <a:t>0,57</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3"/>
                        </a:lnSpc>
                      </a:pPr>
                      <a:r>
                        <a:rPr sz="950" spc="-5">
                          <a:latin typeface="Times New Roman"/>
                          <a:cs typeface="Times New Roman"/>
                        </a:rPr>
                        <a:t>0,43</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3"/>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3"/>
                        </a:lnSpc>
                      </a:pPr>
                      <a:r>
                        <a:rPr sz="950" spc="-5">
                          <a:latin typeface="Times New Roman"/>
                          <a:cs typeface="Times New Roman"/>
                        </a:rPr>
                        <a:t>1,10</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3"/>
                        </a:lnSpc>
                      </a:pPr>
                      <a:r>
                        <a:rPr sz="950" spc="-5">
                          <a:latin typeface="Times New Roman"/>
                          <a:cs typeface="Times New Roman"/>
                        </a:rPr>
                        <a:t>10,58</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3"/>
                        </a:lnSpc>
                      </a:pPr>
                      <a:r>
                        <a:rPr sz="950" spc="-5">
                          <a:latin typeface="Times New Roman"/>
                          <a:cs typeface="Times New Roman"/>
                        </a:rPr>
                        <a:t>0,89</a:t>
                      </a:r>
                      <a:endParaRPr/>
                    </a:p>
                  </a:txBody>
                  <a:tcPr anchor="ctr" marL="0" marR="0" marT="0" marB="0">
                    <a:lnL/>
                    <a:lnR/>
                    <a:lnT w="6350" cmpd="sng">
                      <a:solidFill>
                        <a:srgbClr val="000000"/>
                      </a:solidFill>
                    </a:lnT>
                    <a:lnB w="6350" cmpd="sng">
                      <a:solidFill>
                        <a:srgbClr val="000000"/>
                      </a:solidFill>
                    </a:lnB>
                  </a:tcPr>
                </a:tc>
              </a:tr>
              <a:tr h="151130">
                <a:tc>
                  <a:txBody>
                    <a:bodyPr/>
                    <a:p>
                      <a:pPr marL="168275" marR="180340" algn="ctr">
                        <a:lnSpc>
                          <a:spcPct val="98150"/>
                        </a:lnSpc>
                      </a:pPr>
                      <a:r>
                        <a:rPr sz="950" spc="-15">
                          <a:latin typeface="Times New Roman"/>
                          <a:cs typeface="Times New Roman"/>
                        </a:rPr>
                        <a:t>Max</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0,10</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0,27</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3,14</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2,23</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0,70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2,00</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13,99</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3,45</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Q1</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0,59</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0,76</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0,67</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1,25</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12,06</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Q3</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0,83</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1,36</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1,26</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0,46</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1,66</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13,13</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1,39</a:t>
                      </a:r>
                      <a:endParaRPr/>
                    </a:p>
                  </a:txBody>
                  <a:tcPr anchor="ctr" marL="0" marR="0" marT="0" marB="0">
                    <a:lnL/>
                    <a:lnR/>
                    <a:lnT w="6350" cmpd="sng">
                      <a:solidFill>
                        <a:srgbClr val="000000"/>
                      </a:solidFill>
                    </a:lnT>
                    <a:lnB w="6350" cmpd="sng">
                      <a:solidFill>
                        <a:srgbClr val="000000"/>
                      </a:solidFill>
                    </a:lnB>
                  </a:tcPr>
                </a:tc>
              </a:tr>
              <a:tr h="149860">
                <a:tc>
                  <a:txBody>
                    <a:bodyPr/>
                    <a:p>
                      <a:pPr marL="170815" marR="182880" algn="ctr">
                        <a:lnSpc>
                          <a:spcPct val="97624"/>
                        </a:lnSpc>
                      </a:pPr>
                      <a:r>
                        <a:rPr sz="950" spc="-5">
                          <a:latin typeface="Times New Roman"/>
                          <a:cs typeface="Times New Roman"/>
                        </a:rPr>
                        <a:t>S.D.</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4"/>
                        </a:lnSpc>
                      </a:pPr>
                      <a:r>
                        <a:rPr sz="950" spc="-5">
                          <a:latin typeface="Times New Roman"/>
                          <a:cs typeface="Times New Roman"/>
                        </a:rPr>
                        <a:t>0,27</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4"/>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4"/>
                        </a:lnSpc>
                      </a:pPr>
                      <a:r>
                        <a:rPr sz="950" spc="-5">
                          <a:latin typeface="Times New Roman"/>
                          <a:cs typeface="Times New Roman"/>
                        </a:rPr>
                        <a:t>0,08</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4"/>
                        </a:lnSpc>
                      </a:pPr>
                      <a:r>
                        <a:rPr sz="950" spc="-5">
                          <a:latin typeface="Times New Roman"/>
                          <a:cs typeface="Times New Roman"/>
                        </a:rPr>
                        <a:t>0,07</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4"/>
                        </a:lnSpc>
                      </a:pPr>
                      <a:r>
                        <a:rPr sz="950" spc="-5">
                          <a:latin typeface="Times New Roman"/>
                          <a:cs typeface="Times New Roman"/>
                        </a:rPr>
                        <a:t>0,86</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4"/>
                        </a:lnSpc>
                      </a:pPr>
                      <a:r>
                        <a:rPr sz="950" spc="-5">
                          <a:latin typeface="Times New Roman"/>
                          <a:cs typeface="Times New Roman"/>
                        </a:rPr>
                        <a:t>0,59</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4"/>
                        </a:lnSpc>
                      </a:pPr>
                      <a:r>
                        <a:rPr sz="950" spc="-5">
                          <a:latin typeface="Times New Roman"/>
                          <a:cs typeface="Times New Roman"/>
                        </a:rPr>
                        <a:t>0,20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4"/>
                        </a:lnSpc>
                      </a:pPr>
                      <a:r>
                        <a:rPr sz="950" spc="-5">
                          <a:latin typeface="Times New Roman"/>
                          <a:cs typeface="Times New Roman"/>
                        </a:rPr>
                        <a:t>0,31</a:t>
                      </a:r>
                      <a:endParaRPr/>
                    </a:p>
                  </a:txBody>
                  <a:tcPr anchor="ctr" marL="0" marR="0" marT="0" marB="0">
                    <a:lnL/>
                    <a:lnR/>
                    <a:lnT w="6350" cmpd="sng">
                      <a:solidFill>
                        <a:srgbClr val="000000"/>
                      </a:solidFill>
                    </a:lnT>
                    <a:lnB w="6350" cmpd="sng">
                      <a:solidFill>
                        <a:srgbClr val="000000"/>
                      </a:solidFill>
                    </a:lnB>
                  </a:tcPr>
                </a:tc>
                <a:tc>
                  <a:txBody>
                    <a:bodyPr/>
                    <a:p>
                      <a:pPr marL="104775" marR="101600" algn="ctr">
                        <a:lnSpc>
                          <a:spcPct val="97624"/>
                        </a:lnSpc>
                      </a:pPr>
                      <a:r>
                        <a:rPr sz="950" spc="-5">
                          <a:latin typeface="Times New Roman"/>
                          <a:cs typeface="Times New Roman"/>
                        </a:rPr>
                        <a:t>1,08</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4"/>
                        </a:lnSpc>
                      </a:pPr>
                      <a:r>
                        <a:rPr sz="950" spc="-5">
                          <a:latin typeface="Times New Roman"/>
                          <a:cs typeface="Times New Roman"/>
                        </a:rPr>
                        <a:t>0,88</a:t>
                      </a:r>
                      <a:endParaRPr/>
                    </a:p>
                  </a:txBody>
                  <a:tcPr anchor="ctr" marL="0" marR="0" marT="0" marB="0">
                    <a:lnL/>
                    <a:lnR/>
                    <a:lnT w="6350" cmpd="sng">
                      <a:solidFill>
                        <a:srgbClr val="000000"/>
                      </a:solidFill>
                    </a:lnT>
                    <a:lnB w="6350" cmpd="sng">
                      <a:solidFill>
                        <a:srgbClr val="000000"/>
                      </a:solidFill>
                    </a:lnB>
                  </a:tcPr>
                </a:tc>
              </a:tr>
              <a:tr h="151130">
                <a:tc gridSpan="4">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gridSpan="4">
                  <a:txBody>
                    <a:bodyPr/>
                    <a:p>
                      <a:pPr marL="33020" marR="338455" algn="r">
                        <a:lnSpc>
                          <a:spcPct val="98150"/>
                        </a:lnSpc>
                      </a:pPr>
                      <a:r>
                        <a:rPr sz="950" spc="-5">
                          <a:latin typeface="Times New Roman"/>
                          <a:cs typeface="Times New Roman"/>
                        </a:rPr>
                        <a:t>Panel F: Companies (legal persons)</a:t>
                      </a:r>
                      <a:endParaRPr/>
                    </a:p>
                  </a:txBody>
                  <a:tcPr anchor="ct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c gridSpan="4">
                  <a:txBody>
                    <a:bodyPr/>
                    <a:p>
                      <a:pPr>
                        <a:lnSpc>
                          <a:spcPct val="100000"/>
                        </a:lnSpc>
                      </a:pPr>
                      <a:endParaRPr sz="1000"/>
                    </a:p>
                  </a:txBody>
                  <a:tcPr marL="0" marR="0" marT="0" marB="0">
                    <a:lnL/>
                    <a:lnR/>
                    <a:lnT w="6350" cmpd="sng">
                      <a:solidFill>
                        <a:srgbClr val="000000"/>
                      </a:solidFill>
                    </a:lnT>
                    <a:lnB w="6350" cmpd="sng">
                      <a:solidFill>
                        <a:srgbClr val="000000"/>
                      </a:solidFill>
                    </a:lnB>
                  </a:tcPr>
                </a:tc>
                <a:tc hMerge="1">
                  <a:txBody>
                    <a:bodyPr/>
                    <a:lstStyle/>
                    <a:p>
                      <a:endParaRPr/>
                    </a:p>
                  </a:txBody>
                  <a:tcPr/>
                </a:tc>
                <a:tc hMerge="1">
                  <a:txBody>
                    <a:bodyPr/>
                    <a:lstStyle/>
                    <a:p>
                      <a:endParaRPr/>
                    </a:p>
                  </a:txBody>
                  <a:tcPr/>
                </a:tc>
                <a:tc hMerge="1">
                  <a:txBody>
                    <a:bodyPr/>
                    <a:lstStyle/>
                    <a:p>
                      <a:endParaRPr/>
                    </a:p>
                  </a:txBody>
                  <a:tcPr/>
                </a:tc>
              </a:tr>
              <a:tr h="151130">
                <a:tc>
                  <a:txBody>
                    <a:bodyPr/>
                    <a:p>
                      <a:pPr marL="142240" marR="152400" algn="ctr">
                        <a:lnSpc>
                          <a:spcPct val="98150"/>
                        </a:lnSpc>
                      </a:pPr>
                      <a:r>
                        <a:rPr sz="950" spc="-10">
                          <a:latin typeface="Times New Roman"/>
                          <a:cs typeface="Times New Roman"/>
                        </a:rPr>
                        <a:t>Mean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0,76</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0,07</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0,18</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2,53</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2,09</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3,06</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13,37</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1,25</a:t>
                      </a:r>
                      <a:endParaRPr/>
                    </a:p>
                  </a:txBody>
                  <a:tcPr anchor="ctr" marL="0" marR="0" marT="0" marB="0">
                    <a:lnL/>
                    <a:lnR/>
                    <a:lnT w="6350" cmpd="sng">
                      <a:solidFill>
                        <a:srgbClr val="000000"/>
                      </a:solidFill>
                    </a:lnT>
                    <a:lnB w="6350" cmpd="sng">
                      <a:solidFill>
                        <a:srgbClr val="000000"/>
                      </a:solidFill>
                    </a:lnB>
                  </a:tcPr>
                </a:tc>
              </a:tr>
              <a:tr h="151765">
                <a:tc>
                  <a:txBody>
                    <a:bodyPr/>
                    <a:p>
                      <a:pPr marL="94615" marR="105410" algn="ctr">
                        <a:lnSpc>
                          <a:spcPct val="98281"/>
                        </a:lnSpc>
                      </a:pPr>
                      <a:r>
                        <a:rPr sz="950" spc="-5">
                          <a:latin typeface="Times New Roman"/>
                          <a:cs typeface="Times New Roman"/>
                        </a:rPr>
                        <a:t>Median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281"/>
                        </a:lnSpc>
                      </a:pPr>
                      <a:r>
                        <a:rPr sz="950" spc="-5">
                          <a:latin typeface="Times New Roman"/>
                          <a:cs typeface="Times New Roman"/>
                        </a:rPr>
                        <a:t>0,63</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281"/>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281"/>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281"/>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281"/>
                        </a:lnSpc>
                      </a:pPr>
                      <a:r>
                        <a:rPr sz="950" spc="-5">
                          <a:latin typeface="Times New Roman"/>
                          <a:cs typeface="Times New Roman"/>
                        </a:rPr>
                        <a:t>1,44</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281"/>
                        </a:lnSpc>
                      </a:pPr>
                      <a:r>
                        <a:rPr sz="950" spc="-5">
                          <a:latin typeface="Times New Roman"/>
                          <a:cs typeface="Times New Roman"/>
                        </a:rPr>
                        <a:t>1,03</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281"/>
                        </a:lnSpc>
                      </a:pPr>
                      <a:r>
                        <a:rPr sz="950" spc="-5">
                          <a:latin typeface="Times New Roman"/>
                          <a:cs typeface="Times New Roman"/>
                        </a:rPr>
                        <a:t>0,47</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281"/>
                        </a:lnSpc>
                      </a:pPr>
                      <a:r>
                        <a:rPr sz="950" spc="-5">
                          <a:latin typeface="Times New Roman"/>
                          <a:cs typeface="Times New Roman"/>
                        </a:rPr>
                        <a:t>1,41</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281"/>
                        </a:lnSpc>
                      </a:pPr>
                      <a:r>
                        <a:rPr sz="950" spc="-5">
                          <a:latin typeface="Times New Roman"/>
                          <a:cs typeface="Times New Roman"/>
                        </a:rPr>
                        <a:t>13,36</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281"/>
                        </a:lnSpc>
                      </a:pPr>
                      <a:r>
                        <a:rPr sz="950" spc="-5">
                          <a:latin typeface="Times New Roman"/>
                          <a:cs typeface="Times New Roman"/>
                        </a:rPr>
                        <a:t>1,17</a:t>
                      </a:r>
                      <a:endParaRPr/>
                    </a:p>
                  </a:txBody>
                  <a:tcPr anchor="ctr" marL="0" marR="0" marT="0" marB="0">
                    <a:lnL/>
                    <a:lnR/>
                    <a:lnT w="6350" cmpd="sng">
                      <a:solidFill>
                        <a:srgbClr val="000000"/>
                      </a:solidFill>
                    </a:lnT>
                    <a:lnB w="6350" cmpd="sng">
                      <a:solidFill>
                        <a:srgbClr val="000000"/>
                      </a:solidFill>
                    </a:lnB>
                  </a:tcPr>
                </a:tc>
              </a:tr>
              <a:tr h="149860">
                <a:tc>
                  <a:txBody>
                    <a:bodyPr/>
                    <a:p>
                      <a:pPr marL="178435" marR="189230" algn="ctr">
                        <a:lnSpc>
                          <a:spcPct val="97623"/>
                        </a:lnSpc>
                      </a:pPr>
                      <a:r>
                        <a:rPr sz="950" spc="-10">
                          <a:latin typeface="Times New Roman"/>
                          <a:cs typeface="Times New Roman"/>
                        </a:rPr>
                        <a:t>Min</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3"/>
                        </a:lnSpc>
                      </a:pPr>
                      <a:r>
                        <a:rPr sz="950" spc="-5">
                          <a:latin typeface="Times New Roman"/>
                          <a:cs typeface="Times New Roman"/>
                        </a:rPr>
                        <a:t>0,14</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3"/>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3"/>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3"/>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3"/>
                        </a:lnSpc>
                      </a:pPr>
                      <a:r>
                        <a:rPr sz="950"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3"/>
                        </a:lnSpc>
                      </a:pPr>
                      <a:r>
                        <a:rPr sz="950" spc="-5">
                          <a:latin typeface="Times New Roman"/>
                          <a:cs typeface="Times New Roman"/>
                        </a:rPr>
                        <a:t>0,34</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3"/>
                        </a:lnSpc>
                      </a:pPr>
                      <a:r>
                        <a:rPr sz="950" spc="-5">
                          <a:latin typeface="Times New Roman"/>
                          <a:cs typeface="Times New Roman"/>
                        </a:rPr>
                        <a:t>0,00</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3"/>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7623"/>
                        </a:lnSpc>
                      </a:pPr>
                      <a:r>
                        <a:rPr sz="950" spc="-5">
                          <a:latin typeface="Times New Roman"/>
                          <a:cs typeface="Times New Roman"/>
                        </a:rPr>
                        <a:t>11,12</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3"/>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r>
              <a:tr h="151130">
                <a:tc>
                  <a:txBody>
                    <a:bodyPr/>
                    <a:p>
                      <a:pPr marL="168275" marR="180340" algn="ctr">
                        <a:lnSpc>
                          <a:spcPct val="98150"/>
                        </a:lnSpc>
                      </a:pPr>
                      <a:r>
                        <a:rPr sz="950" spc="-15">
                          <a:latin typeface="Times New Roman"/>
                          <a:cs typeface="Times New Roman"/>
                        </a:rPr>
                        <a:t>Max</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2,23</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0,86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0,85</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1,37</a:t>
                      </a:r>
                      <a:endParaRPr/>
                    </a:p>
                  </a:txBody>
                  <a:tcPr anchor="ctr" marL="0" marR="0" marT="0" marB="0">
                    <a:lnL/>
                    <a:lnR/>
                    <a:lnT w="6350" cmpd="sng">
                      <a:solidFill>
                        <a:srgbClr val="000000"/>
                      </a:solidFill>
                    </a:lnT>
                    <a:lnB w="6350" cmpd="sng">
                      <a:solidFill>
                        <a:srgbClr val="000000"/>
                      </a:solidFill>
                    </a:lnB>
                  </a:tcPr>
                </a:tc>
                <a:tc>
                  <a:txBody>
                    <a:bodyPr/>
                    <a:p>
                      <a:pPr marL="182245" marR="236855">
                        <a:lnSpc>
                          <a:spcPct val="98150"/>
                        </a:lnSpc>
                      </a:pPr>
                      <a:r>
                        <a:rPr sz="950" spc="-5">
                          <a:latin typeface="Times New Roman"/>
                          <a:cs typeface="Times New Roman"/>
                        </a:rPr>
                        <a:t>16,82</a:t>
                      </a:r>
                      <a:endParaRPr/>
                    </a:p>
                  </a:txBody>
                  <a:tcPr anchor="ctr" marL="0" marR="0" marT="0" marB="0">
                    <a:lnL/>
                    <a:lnR/>
                    <a:lnT w="6350" cmpd="sng">
                      <a:solidFill>
                        <a:srgbClr val="000000"/>
                      </a:solidFill>
                    </a:lnT>
                    <a:lnB w="6350" cmpd="sng">
                      <a:solidFill>
                        <a:srgbClr val="000000"/>
                      </a:solidFill>
                    </a:lnB>
                  </a:tcPr>
                </a:tc>
                <a:tc>
                  <a:txBody>
                    <a:bodyPr/>
                    <a:p>
                      <a:pPr marL="120650" marR="209550" algn="r">
                        <a:lnSpc>
                          <a:spcPct val="98150"/>
                        </a:lnSpc>
                      </a:pPr>
                      <a:r>
                        <a:rPr sz="950" spc="-5">
                          <a:latin typeface="Times New Roman"/>
                          <a:cs typeface="Times New Roman"/>
                        </a:rPr>
                        <a:t>16,82</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0,88</a:t>
                      </a:r>
                      <a:endParaRPr/>
                    </a:p>
                  </a:txBody>
                  <a:tcPr anchor="ctr" marL="0" marR="0" marT="0" marB="0">
                    <a:lnL/>
                    <a:lnR/>
                    <a:lnT w="6350" cmpd="sng">
                      <a:solidFill>
                        <a:srgbClr val="000000"/>
                      </a:solidFill>
                    </a:lnT>
                    <a:lnB w="6350" cmpd="sng">
                      <a:solidFill>
                        <a:srgbClr val="000000"/>
                      </a:solidFill>
                    </a:lnB>
                  </a:tcPr>
                </a:tc>
                <a:tc>
                  <a:txBody>
                    <a:bodyPr/>
                    <a:p>
                      <a:pPr marL="189230" marR="194310" algn="ctr">
                        <a:lnSpc>
                          <a:spcPct val="98150"/>
                        </a:lnSpc>
                      </a:pPr>
                      <a:r>
                        <a:rPr sz="950" spc="-5">
                          <a:latin typeface="Times New Roman"/>
                          <a:cs typeface="Times New Roman"/>
                        </a:rPr>
                        <a:t>41,91</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16,96</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3,04</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Q1</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0,43</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0,03</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0,04</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1,06</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0,69</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0,24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1,20</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12,05</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0,86</a:t>
                      </a:r>
                      <a:endParaRPr/>
                    </a:p>
                  </a:txBody>
                  <a:tcPr anchor="ctr" marL="0" marR="0" marT="0" marB="0">
                    <a:lnL/>
                    <a:lnR/>
                    <a:lnT w="6350" cmpd="sng">
                      <a:solidFill>
                        <a:srgbClr val="000000"/>
                      </a:solidFill>
                    </a:lnT>
                    <a:lnB w="6350" cmpd="sng">
                      <a:solidFill>
                        <a:srgbClr val="000000"/>
                      </a:solidFill>
                    </a:lnB>
                  </a:tcPr>
                </a:tc>
              </a:tr>
              <a:tr h="151130">
                <a:tc>
                  <a:txBody>
                    <a:bodyPr/>
                    <a:p>
                      <a:pPr marL="204470" marR="216535" algn="ctr">
                        <a:lnSpc>
                          <a:spcPct val="98150"/>
                        </a:lnSpc>
                      </a:pPr>
                      <a:r>
                        <a:rPr sz="950" spc="-10">
                          <a:latin typeface="Times New Roman"/>
                          <a:cs typeface="Times New Roman"/>
                        </a:rPr>
                        <a:t>Q3</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8150"/>
                        </a:lnSpc>
                      </a:pPr>
                      <a:r>
                        <a:rPr sz="950" spc="-5">
                          <a:latin typeface="Times New Roman"/>
                          <a:cs typeface="Times New Roman"/>
                        </a:rPr>
                        <a:t>0,11</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8150"/>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8150"/>
                        </a:lnSpc>
                      </a:pPr>
                      <a:r>
                        <a:rPr sz="950" spc="-5">
                          <a:latin typeface="Times New Roman"/>
                          <a:cs typeface="Times New Roman"/>
                        </a:rPr>
                        <a:t>2,34</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8150"/>
                        </a:lnSpc>
                      </a:pPr>
                      <a:r>
                        <a:rPr sz="950" spc="-5">
                          <a:latin typeface="Times New Roman"/>
                          <a:cs typeface="Times New Roman"/>
                        </a:rPr>
                        <a:t>1,84</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8150"/>
                        </a:lnSpc>
                      </a:pPr>
                      <a:r>
                        <a:rPr sz="950" spc="-5">
                          <a:latin typeface="Times New Roman"/>
                          <a:cs typeface="Times New Roman"/>
                        </a:rPr>
                        <a:t>0,54</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8150"/>
                        </a:lnSpc>
                      </a:pPr>
                      <a:r>
                        <a:rPr sz="950" spc="-5">
                          <a:latin typeface="Times New Roman"/>
                          <a:cs typeface="Times New Roman"/>
                        </a:rPr>
                        <a:t>2,05</a:t>
                      </a:r>
                      <a:endParaRPr/>
                    </a:p>
                  </a:txBody>
                  <a:tcPr anchor="ctr" marL="0" marR="0" marT="0" marB="0">
                    <a:lnL/>
                    <a:lnR/>
                    <a:lnT w="6350" cmpd="sng">
                      <a:solidFill>
                        <a:srgbClr val="000000"/>
                      </a:solidFill>
                    </a:lnT>
                    <a:lnB w="6350" cmpd="sng">
                      <a:solidFill>
                        <a:srgbClr val="000000"/>
                      </a:solidFill>
                    </a:lnB>
                  </a:tcPr>
                </a:tc>
                <a:tc>
                  <a:txBody>
                    <a:bodyPr/>
                    <a:p>
                      <a:pPr marL="74295" marR="72390" algn="ctr">
                        <a:lnSpc>
                          <a:spcPct val="98150"/>
                        </a:lnSpc>
                      </a:pPr>
                      <a:r>
                        <a:rPr sz="950" spc="-5">
                          <a:latin typeface="Times New Roman"/>
                          <a:cs typeface="Times New Roman"/>
                        </a:rPr>
                        <a:t>14,17</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8150"/>
                        </a:lnSpc>
                      </a:pPr>
                      <a:r>
                        <a:rPr sz="950" spc="-5">
                          <a:latin typeface="Times New Roman"/>
                          <a:cs typeface="Times New Roman"/>
                        </a:rPr>
                        <a:t>1,51</a:t>
                      </a:r>
                      <a:endParaRPr/>
                    </a:p>
                  </a:txBody>
                  <a:tcPr anchor="ctr" marL="0" marR="0" marT="0" marB="0">
                    <a:lnL/>
                    <a:lnR/>
                    <a:lnT w="6350" cmpd="sng">
                      <a:solidFill>
                        <a:srgbClr val="000000"/>
                      </a:solidFill>
                    </a:lnT>
                    <a:lnB w="6350" cmpd="sng">
                      <a:solidFill>
                        <a:srgbClr val="000000"/>
                      </a:solidFill>
                    </a:lnB>
                  </a:tcPr>
                </a:tc>
              </a:tr>
              <a:tr h="149860">
                <a:tc>
                  <a:txBody>
                    <a:bodyPr/>
                    <a:p>
                      <a:pPr marL="170815" marR="182880" algn="ctr">
                        <a:lnSpc>
                          <a:spcPct val="97623"/>
                        </a:lnSpc>
                      </a:pPr>
                      <a:r>
                        <a:rPr sz="950" spc="-5">
                          <a:latin typeface="Times New Roman"/>
                          <a:cs typeface="Times New Roman"/>
                        </a:rPr>
                        <a:t>S.D.</a:t>
                      </a:r>
                      <a:endParaRPr/>
                    </a:p>
                  </a:txBody>
                  <a:tcPr anchor="ctr" marL="0" marR="0" marT="0" marB="0">
                    <a:lnL/>
                    <a:lnR/>
                    <a:lnT w="6350" cmpd="sng">
                      <a:solidFill>
                        <a:srgbClr val="000000"/>
                      </a:solidFill>
                    </a:lnT>
                    <a:lnB w="6350" cmpd="sng">
                      <a:solidFill>
                        <a:srgbClr val="000000"/>
                      </a:solidFill>
                    </a:lnB>
                  </a:tcPr>
                </a:tc>
                <a:tc>
                  <a:txBody>
                    <a:bodyPr/>
                    <a:p>
                      <a:pPr marL="187325" marR="188595" algn="ctr">
                        <a:lnSpc>
                          <a:spcPct val="97623"/>
                        </a:lnSpc>
                      </a:pPr>
                      <a:r>
                        <a:rPr sz="950" spc="-5">
                          <a:latin typeface="Times New Roman"/>
                          <a:cs typeface="Times New Roman"/>
                        </a:rPr>
                        <a:t>0,47</a:t>
                      </a:r>
                      <a:endParaRPr/>
                    </a:p>
                  </a:txBody>
                  <a:tcPr anchor="ctr" marL="0" marR="0" marT="0" marB="0">
                    <a:lnL/>
                    <a:lnR/>
                    <a:lnT w="6350" cmpd="sng">
                      <a:solidFill>
                        <a:srgbClr val="000000"/>
                      </a:solidFill>
                    </a:lnT>
                    <a:lnB w="6350" cmpd="sng">
                      <a:solidFill>
                        <a:srgbClr val="000000"/>
                      </a:solidFill>
                    </a:lnB>
                  </a:tcPr>
                </a:tc>
                <a:tc>
                  <a:txBody>
                    <a:bodyPr/>
                    <a:p>
                      <a:pPr marL="227965" marR="226695" algn="ctr">
                        <a:lnSpc>
                          <a:spcPct val="97623"/>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237490" marR="39370" algn="r">
                        <a:lnSpc>
                          <a:spcPct val="97623"/>
                        </a:lnSpc>
                      </a:pPr>
                      <a:r>
                        <a:rPr sz="950" spc="-5">
                          <a:latin typeface="Times New Roman"/>
                          <a:cs typeface="Times New Roman"/>
                        </a:rPr>
                        <a:t>0,14</a:t>
                      </a:r>
                      <a:endParaRPr/>
                    </a:p>
                  </a:txBody>
                  <a:tcPr anchor="ctr" marL="0" marR="0" marT="0" marB="0">
                    <a:lnL/>
                    <a:lnR/>
                    <a:lnT w="6350" cmpd="sng">
                      <a:solidFill>
                        <a:srgbClr val="000000"/>
                      </a:solidFill>
                    </a:lnT>
                    <a:lnB w="6350" cmpd="sng">
                      <a:solidFill>
                        <a:srgbClr val="000000"/>
                      </a:solidFill>
                    </a:lnB>
                  </a:tcPr>
                </a:tc>
                <a:tc>
                  <a:txBody>
                    <a:bodyPr/>
                    <a:p>
                      <a:pPr>
                        <a:lnSpc>
                          <a:spcPct val="100000"/>
                        </a:lnSpc>
                      </a:pPr>
                      <a:endParaRPr sz="1000"/>
                    </a:p>
                  </a:txBody>
                  <a:tcPr marL="0" marR="0" marT="0" marB="0">
                    <a:lnL/>
                    <a:lnR/>
                    <a:lnT w="6350" cmpd="sng">
                      <a:solidFill>
                        <a:srgbClr val="000000"/>
                      </a:solidFill>
                    </a:lnT>
                    <a:lnB w="6350" cmpd="sng">
                      <a:solidFill>
                        <a:srgbClr val="000000"/>
                      </a:solidFill>
                    </a:lnB>
                  </a:tcPr>
                </a:tc>
                <a:tc>
                  <a:txBody>
                    <a:bodyPr/>
                    <a:p>
                      <a:pPr marL="266065" marR="205740">
                        <a:lnSpc>
                          <a:spcPct val="97623"/>
                        </a:lnSpc>
                      </a:pPr>
                      <a:r>
                        <a:rPr sz="950"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12725" marR="265430">
                        <a:lnSpc>
                          <a:spcPct val="97623"/>
                        </a:lnSpc>
                      </a:pPr>
                      <a:r>
                        <a:rPr sz="950" spc="-5">
                          <a:latin typeface="Times New Roman"/>
                          <a:cs typeface="Times New Roman"/>
                        </a:rPr>
                        <a:t>3,33</a:t>
                      </a:r>
                      <a:endParaRPr/>
                    </a:p>
                  </a:txBody>
                  <a:tcPr anchor="ctr" marL="0" marR="0" marT="0" marB="0">
                    <a:lnL/>
                    <a:lnR/>
                    <a:lnT w="6350" cmpd="sng">
                      <a:solidFill>
                        <a:srgbClr val="000000"/>
                      </a:solidFill>
                    </a:lnT>
                    <a:lnB w="6350" cmpd="sng">
                      <a:solidFill>
                        <a:srgbClr val="000000"/>
                      </a:solidFill>
                    </a:lnB>
                  </a:tcPr>
                </a:tc>
                <a:tc>
                  <a:txBody>
                    <a:bodyPr/>
                    <a:p>
                      <a:pPr marL="151130" marR="238125" algn="r">
                        <a:lnSpc>
                          <a:spcPct val="97623"/>
                        </a:lnSpc>
                      </a:pPr>
                      <a:r>
                        <a:rPr sz="950" spc="-5">
                          <a:latin typeface="Times New Roman"/>
                          <a:cs typeface="Times New Roman"/>
                        </a:rPr>
                        <a:t>3,36</a:t>
                      </a:r>
                      <a:endParaRPr/>
                    </a:p>
                  </a:txBody>
                  <a:tcPr anchor="ctr" marL="0" marR="0" marT="0" marB="0">
                    <a:lnL/>
                    <a:lnR/>
                    <a:lnT w="6350" cmpd="sng">
                      <a:solidFill>
                        <a:srgbClr val="000000"/>
                      </a:solidFill>
                    </a:lnT>
                    <a:lnB w="6350" cmpd="sng">
                      <a:solidFill>
                        <a:srgbClr val="000000"/>
                      </a:solidFill>
                    </a:lnB>
                  </a:tcPr>
                </a:tc>
                <a:tc>
                  <a:txBody>
                    <a:bodyPr/>
                    <a:p>
                      <a:pPr marL="90170" marR="107315" algn="ctr">
                        <a:lnSpc>
                          <a:spcPct val="97623"/>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219710" marR="223520" algn="ctr">
                        <a:lnSpc>
                          <a:spcPct val="97623"/>
                        </a:lnSpc>
                      </a:pPr>
                      <a:r>
                        <a:rPr sz="950" spc="-5">
                          <a:latin typeface="Times New Roman"/>
                          <a:cs typeface="Times New Roman"/>
                        </a:rPr>
                        <a:t>7,14</a:t>
                      </a:r>
                      <a:endParaRPr/>
                    </a:p>
                  </a:txBody>
                  <a:tcPr anchor="ctr" marL="0" marR="0" marT="0" marB="0">
                    <a:lnL/>
                    <a:lnR/>
                    <a:lnT w="6350" cmpd="sng">
                      <a:solidFill>
                        <a:srgbClr val="000000"/>
                      </a:solidFill>
                    </a:lnT>
                    <a:lnB w="6350" cmpd="sng">
                      <a:solidFill>
                        <a:srgbClr val="000000"/>
                      </a:solidFill>
                    </a:lnB>
                  </a:tcPr>
                </a:tc>
                <a:tc>
                  <a:txBody>
                    <a:bodyPr/>
                    <a:p>
                      <a:pPr marL="104775" marR="101600" algn="ctr">
                        <a:lnSpc>
                          <a:spcPct val="97623"/>
                        </a:lnSpc>
                      </a:pPr>
                      <a:r>
                        <a:rPr sz="950" spc="-5">
                          <a:latin typeface="Times New Roman"/>
                          <a:cs typeface="Times New Roman"/>
                        </a:rPr>
                        <a:t>1,47</a:t>
                      </a:r>
                      <a:endParaRPr/>
                    </a:p>
                  </a:txBody>
                  <a:tcPr anchor="ctr" marL="0" marR="0" marT="0" marB="0">
                    <a:lnL/>
                    <a:lnR/>
                    <a:lnT w="6350" cmpd="sng">
                      <a:solidFill>
                        <a:srgbClr val="000000"/>
                      </a:solidFill>
                    </a:lnT>
                    <a:lnB w="6350" cmpd="sng">
                      <a:solidFill>
                        <a:srgbClr val="000000"/>
                      </a:solidFill>
                    </a:lnB>
                  </a:tcPr>
                </a:tc>
                <a:tc>
                  <a:txBody>
                    <a:bodyPr/>
                    <a:p>
                      <a:pPr marL="179705" marR="165100" algn="ctr">
                        <a:lnSpc>
                          <a:spcPct val="97623"/>
                        </a:lnSpc>
                      </a:pPr>
                      <a:r>
                        <a:rPr sz="950" spc="-5">
                          <a:latin typeface="Times New Roman"/>
                          <a:cs typeface="Times New Roman"/>
                        </a:rPr>
                        <a:t>0,61</a:t>
                      </a:r>
                      <a:endParaRPr/>
                    </a:p>
                  </a:txBody>
                  <a:tcPr anchor="ctr" marL="0" marR="0" marT="0" marB="0">
                    <a:lnL/>
                    <a:lnR/>
                    <a:lnT w="6350" cmpd="sng">
                      <a:solidFill>
                        <a:srgbClr val="000000"/>
                      </a:solidFill>
                    </a:lnT>
                    <a:lnB w="6350" cmpd="sng">
                      <a:solidFill>
                        <a:srgbClr val="000000"/>
                      </a:solidFill>
                    </a:lnB>
                  </a:tcPr>
                </a:tc>
              </a:tr>
            </a:tbl>
          </a:graphicData>
        </a:graphic>
      </p:graphicFrame>
      <p:sp>
        <p:nvSpPr>
          <p:cNvPr id="3" name="shape 3"/>
          <p:cNvSpPr txBox="1"/>
          <p:nvPr/>
        </p:nvSpPr>
        <p:spPr>
          <a:xfrm>
            <a:off x="3265805" y="528320"/>
            <a:ext cx="3769995" cy="152400"/>
          </a:xfrm>
          <a:prstGeom prst="rect"/>
          <a:noFill/>
        </p:spPr>
        <p:txBody>
          <a:bodyPr vertOverflow="overflow" horzOverflow="overflow" numCol="1" wrap="square" lIns="0" tIns="0" rIns="0" bIns="0">
            <a:spAutoFit/>
          </a:bodyPr>
          <a:p>
            <a:pPr marL="12700"/>
            <a:r>
              <a:rPr sz="1000" i="1">
                <a:latin typeface="Times New Roman"/>
                <a:cs typeface="Times New Roman"/>
              </a:rPr>
              <a:t>A.Pieloch-Babiarz / Public Policy and Accounting, Vol. 1 (3), 20</a:t>
            </a:r>
            <a:r>
              <a:rPr sz="1000" i="1" spc="5">
                <a:latin typeface="Times New Roman"/>
                <a:cs typeface="Times New Roman"/>
              </a:rPr>
              <a:t>21</a:t>
            </a:r>
            <a:r>
              <a:rPr sz="1000" i="1">
                <a:latin typeface="Times New Roman"/>
                <a:cs typeface="Times New Roman"/>
              </a:rPr>
              <a:t>, 3–</a:t>
            </a:r>
            <a:r>
              <a:rPr sz="1000" i="1" spc="-5">
                <a:latin typeface="Times New Roman"/>
                <a:cs typeface="Times New Roman"/>
              </a:rPr>
              <a:t>11</a:t>
            </a:r>
            <a:endParaRPr/>
          </a:p>
        </p:txBody>
      </p:sp>
      <p:sp>
        <p:nvSpPr>
          <p:cNvPr id="4" name="shape 4"/>
          <p:cNvSpPr txBox="1"/>
          <p:nvPr/>
        </p:nvSpPr>
        <p:spPr>
          <a:xfrm>
            <a:off x="528320" y="887984"/>
            <a:ext cx="6506846" cy="303531"/>
          </a:xfrm>
          <a:prstGeom prst="rect"/>
          <a:noFill/>
        </p:spPr>
        <p:txBody>
          <a:bodyPr vertOverflow="overflow" horzOverflow="overflow" numCol="1" wrap="square" lIns="0" tIns="0" rIns="0" bIns="0">
            <a:spAutoFit/>
          </a:bodyPr>
          <a:p>
            <a:pPr marL="12700"/>
            <a:r>
              <a:rPr sz="1000" spc="15">
                <a:latin typeface="Times New Roman"/>
                <a:cs typeface="Times New Roman"/>
              </a:rPr>
              <a:t>Ta</a:t>
            </a:r>
            <a:r>
              <a:rPr sz="1000">
                <a:latin typeface="Times New Roman"/>
                <a:cs typeface="Times New Roman"/>
              </a:rPr>
              <a:t>ble 3</a:t>
            </a:r>
            <a:endParaRPr/>
          </a:p>
          <a:p>
            <a:pPr marL="12700">
              <a:lnSpc>
                <a:spcPts val="1190"/>
              </a:lnSpc>
            </a:pPr>
            <a:r>
              <a:rPr sz="1000">
                <a:latin typeface="Times New Roman"/>
                <a:cs typeface="Times New Roman"/>
              </a:rPr>
              <a:t>Descriptive statistics by types of the first-largest shareholder</a:t>
            </a:r>
            <a:endParaRPr/>
          </a:p>
        </p:txBody>
      </p:sp>
      <p:sp>
        <p:nvSpPr>
          <p:cNvPr id="5" name="shape 5"/>
          <p:cNvSpPr txBox="1"/>
          <p:nvPr/>
        </p:nvSpPr>
        <p:spPr>
          <a:xfrm>
            <a:off x="528320" y="8563610"/>
            <a:ext cx="6505575" cy="1285748"/>
          </a:xfrm>
          <a:prstGeom prst="rect"/>
          <a:noFill/>
        </p:spPr>
        <p:txBody>
          <a:bodyPr vertOverflow="overflow" horzOverflow="overflow" numCol="1" wrap="square" lIns="0" tIns="0" rIns="0" bIns="0">
            <a:spAutoFit/>
          </a:bodyPr>
          <a:p>
            <a:pPr marL="12700"/>
            <a:r>
              <a:rPr sz="800">
                <a:latin typeface="Times New Roman"/>
                <a:cs typeface="Times New Roman"/>
              </a:rPr>
              <a:t>Source: Own calculations on the basis of data from the websites of the surveyed companies and Stock Market Yearbooks</a:t>
            </a:r>
            <a:endParaRPr/>
          </a:p>
          <a:p>
            <a:pPr marL="12700" marR="12700" indent="179705" algn="just">
              <a:lnSpc>
                <a:spcPct val="96355"/>
              </a:lnSpc>
              <a:spcBef>
                <a:spcPts val="1100"/>
              </a:spcBef>
            </a:pPr>
            <a:r>
              <a:rPr sz="1000">
                <a:latin typeface="Times New Roman"/>
                <a:cs typeface="Times New Roman"/>
              </a:rPr>
              <a:t>The results of the analysis of companies in which the first-largest shareholder was an individual investor showed that these companies paid out the highest dividends. The average dividend payout ratio was 0,84, which means that in these companies on average 84 % of net profit was transferred to their shareholders. This value was higher than the average value of the dividend payment in the entire research group, for which the average </a:t>
            </a:r>
            <a:r>
              <a:rPr sz="1000" i="1">
                <a:latin typeface="Times New Roman"/>
                <a:cs typeface="Times New Roman"/>
              </a:rPr>
              <a:t>DivPay </a:t>
            </a:r>
            <a:r>
              <a:rPr sz="1000">
                <a:latin typeface="Times New Roman"/>
                <a:cs typeface="Times New Roman"/>
              </a:rPr>
              <a:t>was 64 %. Moreover, also the median, minimum and maximum value, as well as the value of the first and third quartiles of that indicator were higher in relation to the whole research group and amounted to 40 %, 181 % (the highest observed value), 50 % and 91 %, respectively. It should be noted that in the case of companies with an institutional investor held the most shares, the dividend yield was the lowest in the entire</a:t>
            </a:r>
            <a:endParaRPr/>
          </a:p>
        </p:txBody>
      </p:sp>
      <p:sp>
        <p:nvSpPr>
          <p:cNvPr id="6" name="shape 6"/>
          <p:cNvSpPr txBox="1"/>
          <p:nvPr/>
        </p:nvSpPr>
        <p:spPr>
          <a:xfrm>
            <a:off x="528320" y="9993884"/>
            <a:ext cx="88900" cy="152400"/>
          </a:xfrm>
          <a:prstGeom prst="rect"/>
          <a:noFill/>
        </p:spPr>
        <p:txBody>
          <a:bodyPr vertOverflow="overflow" horzOverflow="overflow" numCol="1" wrap="square" lIns="0" tIns="0" rIns="0" bIns="0">
            <a:spAutoFit/>
          </a:bodyPr>
          <a:p>
            <a:pPr marL="12700"/>
            <a:r>
              <a:rPr sz="1000" i="1">
                <a:latin typeface="Times New Roman"/>
                <a:cs typeface="Times New Roman"/>
              </a:rPr>
              <a:t>8</a:t>
            </a:r>
            <a:endParaR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aphicFrame>
        <p:nvGraphicFramePr>
          <p:cNvPr id="2" name="shape 2"/>
          <p:cNvGraphicFramePr>
            <a:graphicFrameLocks noGrp="1"/>
          </p:cNvGraphicFramePr>
          <p:nvPr/>
        </p:nvGraphicFramePr>
        <p:xfrm>
          <a:off x="544733" y="7183501"/>
          <a:ext cx="6450591" cy="1656969"/>
        </p:xfrm>
        <a:graphic>
          <a:graphicData uri="http://schemas.openxmlformats.org/drawingml/2006/table">
            <a:tbl>
              <a:tblPr>
                <a:tableStyleId>{2D5ABB26-0587-4C30-8999-92F81FD0307C}</a:tableStyleId>
              </a:tblPr>
              <a:tblGrid>
                <a:gridCol w="598170"/>
                <a:gridCol w="559435"/>
                <a:gridCol w="609600"/>
                <a:gridCol w="585470"/>
                <a:gridCol w="584200"/>
                <a:gridCol w="593725"/>
                <a:gridCol w="648335"/>
                <a:gridCol w="478155"/>
                <a:gridCol w="702945"/>
                <a:gridCol w="490855"/>
                <a:gridCol w="601980"/>
              </a:tblGrid>
              <a:tr h="151130">
                <a:tc>
                  <a:txBody>
                    <a:bodyPr/>
                    <a:p>
                      <a:pPr marL="154940" marR="172085" algn="ctr">
                        <a:lnSpc>
                          <a:spcPct val="98150"/>
                        </a:lnSpc>
                      </a:pPr>
                      <a:r>
                        <a:rPr sz="950" b="1" spc="-5">
                          <a:latin typeface="Times New Roman"/>
                          <a:cs typeface="Times New Roman"/>
                        </a:rPr>
                        <a:t>Spec.</a:t>
                      </a:r>
                      <a:endParaRPr/>
                    </a:p>
                  </a:txBody>
                  <a:tcPr anchor="ctr" marL="0" marR="0" marT="0" marB="0">
                    <a:lnL/>
                    <a:lnR/>
                    <a:lnT w="6350" cmpd="sng">
                      <a:solidFill>
                        <a:srgbClr val="000000"/>
                      </a:solidFill>
                    </a:lnT>
                    <a:lnB w="6350" cmpd="sng">
                      <a:solidFill>
                        <a:srgbClr val="000000"/>
                      </a:solidFill>
                    </a:lnB>
                  </a:tcPr>
                </a:tc>
                <a:tc>
                  <a:txBody>
                    <a:bodyPr/>
                    <a:p>
                      <a:pPr marL="99060" marR="98425" algn="ctr">
                        <a:lnSpc>
                          <a:spcPct val="98150"/>
                        </a:lnSpc>
                      </a:pPr>
                      <a:r>
                        <a:rPr sz="950" i="1" spc="-5">
                          <a:latin typeface="Times New Roman"/>
                          <a:cs typeface="Times New Roman"/>
                        </a:rPr>
                        <a:t>DivPay</a:t>
                      </a:r>
                      <a:endParaRPr/>
                    </a:p>
                  </a:txBody>
                  <a:tcPr anchor="ctr" marL="0" marR="0" marT="0" marB="0">
                    <a:lnL/>
                    <a:lnR/>
                    <a:lnT w="6350" cmpd="sng">
                      <a:solidFill>
                        <a:srgbClr val="000000"/>
                      </a:solidFill>
                    </a:lnT>
                    <a:lnB w="6350" cmpd="sng">
                      <a:solidFill>
                        <a:srgbClr val="000000"/>
                      </a:solidFill>
                    </a:lnB>
                  </a:tcPr>
                </a:tc>
                <a:tc>
                  <a:txBody>
                    <a:bodyPr/>
                    <a:p>
                      <a:pPr marL="99060" marR="88900" algn="ctr">
                        <a:lnSpc>
                          <a:spcPct val="98150"/>
                        </a:lnSpc>
                      </a:pPr>
                      <a:r>
                        <a:rPr sz="950" i="1" spc="-5">
                          <a:latin typeface="Times New Roman"/>
                          <a:cs typeface="Times New Roman"/>
                        </a:rPr>
                        <a:t>DivYield</a:t>
                      </a:r>
                      <a:endParaRPr/>
                    </a:p>
                  </a:txBody>
                  <a:tcPr anchor="ctr" marL="0" marR="0" marT="0" marB="0">
                    <a:lnL/>
                    <a:lnR/>
                    <a:lnT w="6350" cmpd="sng">
                      <a:solidFill>
                        <a:srgbClr val="000000"/>
                      </a:solidFill>
                    </a:lnT>
                    <a:lnB w="6350" cmpd="sng">
                      <a:solidFill>
                        <a:srgbClr val="000000"/>
                      </a:solidFill>
                    </a:lnB>
                  </a:tcPr>
                </a:tc>
                <a:tc>
                  <a:txBody>
                    <a:bodyPr/>
                    <a:p>
                      <a:pPr marL="88900" marR="93980" algn="ctr">
                        <a:lnSpc>
                          <a:spcPct val="98150"/>
                        </a:lnSpc>
                      </a:pPr>
                      <a:r>
                        <a:rPr sz="950" i="1" spc="-5">
                          <a:latin typeface="Times New Roman"/>
                          <a:cs typeface="Times New Roman"/>
                        </a:rPr>
                        <a:t>ReturnE</a:t>
                      </a:r>
                      <a:endParaRPr/>
                    </a:p>
                  </a:txBody>
                  <a:tcPr anchor="ctr" marL="0" marR="0" marT="0" marB="0">
                    <a:lnL/>
                    <a:lnR/>
                    <a:lnT w="6350" cmpd="sng">
                      <a:solidFill>
                        <a:srgbClr val="000000"/>
                      </a:solidFill>
                    </a:lnT>
                    <a:lnB w="6350" cmpd="sng">
                      <a:solidFill>
                        <a:srgbClr val="000000"/>
                      </a:solidFill>
                    </a:lnB>
                  </a:tcPr>
                </a:tc>
                <a:tc>
                  <a:txBody>
                    <a:bodyPr/>
                    <a:p>
                      <a:pPr marL="92710" marR="88265" algn="ctr">
                        <a:lnSpc>
                          <a:spcPct val="98150"/>
                        </a:lnSpc>
                      </a:pPr>
                      <a:r>
                        <a:rPr sz="950" i="1" spc="-5">
                          <a:latin typeface="Times New Roman"/>
                          <a:cs typeface="Times New Roman"/>
                        </a:rPr>
                        <a:t>ReturnA</a:t>
                      </a:r>
                      <a:endParaRPr/>
                    </a:p>
                  </a:txBody>
                  <a:tcPr anchor="ctr" marL="0" marR="0" marT="0" marB="0">
                    <a:lnL/>
                    <a:lnR/>
                    <a:lnT w="6350" cmpd="sng">
                      <a:solidFill>
                        <a:srgbClr val="000000"/>
                      </a:solidFill>
                    </a:lnT>
                    <a:lnB w="6350" cmpd="sng">
                      <a:solidFill>
                        <a:srgbClr val="000000"/>
                      </a:solidFill>
                    </a:lnB>
                  </a:tcPr>
                </a:tc>
                <a:tc>
                  <a:txBody>
                    <a:bodyPr/>
                    <a:p>
                      <a:pPr marL="86360" marR="80010" algn="ctr">
                        <a:lnSpc>
                          <a:spcPct val="98150"/>
                        </a:lnSpc>
                      </a:pPr>
                      <a:r>
                        <a:rPr sz="950" i="1" spc="-5">
                          <a:latin typeface="Times New Roman"/>
                          <a:cs typeface="Times New Roman"/>
                        </a:rPr>
                        <a:t>Liquid.C</a:t>
                      </a:r>
                      <a:endParaRPr/>
                    </a:p>
                  </a:txBody>
                  <a:tcPr anchor="ctr" marL="0" marR="0" marT="0" marB="0">
                    <a:lnL/>
                    <a:lnR/>
                    <a:lnT w="6350" cmpd="sng">
                      <a:solidFill>
                        <a:srgbClr val="000000"/>
                      </a:solidFill>
                    </a:lnT>
                    <a:lnB w="6350" cmpd="sng">
                      <a:solidFill>
                        <a:srgbClr val="000000"/>
                      </a:solidFill>
                    </a:lnB>
                  </a:tcPr>
                </a:tc>
                <a:tc>
                  <a:txBody>
                    <a:bodyPr/>
                    <a:p>
                      <a:pPr marL="78105" marR="135255" algn="r">
                        <a:lnSpc>
                          <a:spcPct val="98150"/>
                        </a:lnSpc>
                      </a:pPr>
                      <a:r>
                        <a:rPr sz="950" i="1">
                          <a:latin typeface="Times New Roman"/>
                          <a:cs typeface="Times New Roman"/>
                        </a:rPr>
                        <a:t>Liquid.Q</a:t>
                      </a:r>
                      <a:endParaRPr/>
                    </a:p>
                  </a:txBody>
                  <a:tcPr anchor="ctr" marL="0" marR="0" marT="0" marB="0">
                    <a:lnL/>
                    <a:lnR/>
                    <a:lnT w="6350" cmpd="sng">
                      <a:solidFill>
                        <a:srgbClr val="000000"/>
                      </a:solidFill>
                    </a:lnT>
                    <a:lnB w="6350" cmpd="sng">
                      <a:solidFill>
                        <a:srgbClr val="000000"/>
                      </a:solidFill>
                    </a:lnB>
                  </a:tcPr>
                </a:tc>
                <a:tc>
                  <a:txBody>
                    <a:bodyPr/>
                    <a:p>
                      <a:pPr marL="118745" marR="124460" algn="ctr">
                        <a:lnSpc>
                          <a:spcPct val="98150"/>
                        </a:lnSpc>
                      </a:pPr>
                      <a:r>
                        <a:rPr sz="950" i="1" spc="-5">
                          <a:latin typeface="Times New Roman"/>
                          <a:cs typeface="Times New Roman"/>
                        </a:rPr>
                        <a:t>Debt</a:t>
                      </a:r>
                      <a:endParaRPr/>
                    </a:p>
                  </a:txBody>
                  <a:tcPr anchor="ctr" marL="0" marR="0" marT="0" marB="0">
                    <a:lnL/>
                    <a:lnR/>
                    <a:lnT w="6350" cmpd="sng">
                      <a:solidFill>
                        <a:srgbClr val="000000"/>
                      </a:solidFill>
                    </a:lnT>
                    <a:lnB w="6350" cmpd="sng">
                      <a:solidFill>
                        <a:srgbClr val="000000"/>
                      </a:solidFill>
                    </a:lnB>
                  </a:tcPr>
                </a:tc>
                <a:tc>
                  <a:txBody>
                    <a:bodyPr/>
                    <a:p>
                      <a:pPr marL="120650" marR="132080" algn="ctr">
                        <a:lnSpc>
                          <a:spcPct val="98150"/>
                        </a:lnSpc>
                      </a:pPr>
                      <a:r>
                        <a:rPr sz="950" i="1" spc="-5">
                          <a:latin typeface="Times New Roman"/>
                          <a:cs typeface="Times New Roman"/>
                        </a:rPr>
                        <a:t>Leverage</a:t>
                      </a:r>
                      <a:endParaRPr/>
                    </a:p>
                  </a:txBody>
                  <a:tcPr anchor="ctr" marL="0" marR="0" marT="0" marB="0">
                    <a:lnL/>
                    <a:lnR/>
                    <a:lnT w="6350" cmpd="sng">
                      <a:solidFill>
                        <a:srgbClr val="000000"/>
                      </a:solidFill>
                    </a:lnT>
                    <a:lnB w="6350" cmpd="sng">
                      <a:solidFill>
                        <a:srgbClr val="000000"/>
                      </a:solidFill>
                    </a:lnB>
                  </a:tcPr>
                </a:tc>
                <a:tc>
                  <a:txBody>
                    <a:bodyPr/>
                    <a:p>
                      <a:pPr marL="135890" marR="159385" algn="ctr">
                        <a:lnSpc>
                          <a:spcPct val="98150"/>
                        </a:lnSpc>
                      </a:pPr>
                      <a:r>
                        <a:rPr sz="950" i="1" spc="-5">
                          <a:latin typeface="Times New Roman"/>
                          <a:cs typeface="Times New Roman"/>
                        </a:rPr>
                        <a:t>Size</a:t>
                      </a:r>
                      <a:endParaRPr/>
                    </a:p>
                  </a:txBody>
                  <a:tcPr anchor="ctr" marL="0" marR="0" marT="0" marB="0">
                    <a:lnL/>
                    <a:lnR/>
                    <a:lnT w="6350" cmpd="sng">
                      <a:solidFill>
                        <a:srgbClr val="000000"/>
                      </a:solidFill>
                    </a:lnT>
                    <a:lnB w="6350" cmpd="sng">
                      <a:solidFill>
                        <a:srgbClr val="000000"/>
                      </a:solidFill>
                    </a:lnB>
                  </a:tcPr>
                </a:tc>
                <a:tc>
                  <a:txBody>
                    <a:bodyPr/>
                    <a:p>
                      <a:pPr marL="147955" marR="83820" algn="r">
                        <a:lnSpc>
                          <a:spcPct val="98150"/>
                        </a:lnSpc>
                      </a:pPr>
                      <a:r>
                        <a:rPr sz="950" i="1" spc="-5">
                          <a:latin typeface="Times New Roman"/>
                          <a:cs typeface="Times New Roman"/>
                        </a:rPr>
                        <a:t>Growth</a:t>
                      </a:r>
                      <a:endParaRPr/>
                    </a:p>
                  </a:txBody>
                  <a:tcPr anchor="ctr" marL="0" marR="0" marT="0" marB="0">
                    <a:lnL/>
                    <a:lnR/>
                    <a:lnT w="6350" cmpd="sng">
                      <a:solidFill>
                        <a:srgbClr val="000000"/>
                      </a:solidFill>
                    </a:lnT>
                    <a:lnB w="6350" cmpd="sng">
                      <a:solidFill>
                        <a:srgbClr val="000000"/>
                      </a:solidFill>
                    </a:lnB>
                  </a:tcPr>
                </a:tc>
              </a:tr>
              <a:tr h="151130">
                <a:tc>
                  <a:txBody>
                    <a:bodyPr/>
                    <a:p>
                      <a:pPr marL="108585" marR="127635" algn="ctr">
                        <a:lnSpc>
                          <a:spcPct val="98150"/>
                        </a:lnSpc>
                      </a:pPr>
                      <a:r>
                        <a:rPr sz="950" i="1" spc="-5">
                          <a:latin typeface="Times New Roman"/>
                          <a:cs typeface="Times New Roman"/>
                        </a:rPr>
                        <a:t>DivPay</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b="1" spc="-5">
                          <a:latin typeface="Times New Roman"/>
                          <a:cs typeface="Times New Roman"/>
                        </a:rPr>
                        <a:t>0,45</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0,26</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b="1" spc="-5">
                          <a:latin typeface="Times New Roman"/>
                          <a:cs typeface="Times New Roman"/>
                        </a:rPr>
                        <a:t>0,32</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0,32</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r>
              <a:tr h="151130">
                <a:tc>
                  <a:txBody>
                    <a:bodyPr/>
                    <a:p>
                      <a:pPr marL="78105" marR="97790" algn="ctr">
                        <a:lnSpc>
                          <a:spcPct val="98150"/>
                        </a:lnSpc>
                      </a:pPr>
                      <a:r>
                        <a:rPr sz="950" i="1" spc="-5">
                          <a:latin typeface="Times New Roman"/>
                          <a:cs typeface="Times New Roman"/>
                        </a:rPr>
                        <a:t>DivYield</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b="1" spc="-5">
                          <a:latin typeface="Times New Roman"/>
                          <a:cs typeface="Times New Roman"/>
                        </a:rPr>
                        <a:t>0,45</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0,74</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0,68</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b="1" spc="-5">
                          <a:latin typeface="Times New Roman"/>
                          <a:cs typeface="Times New Roman"/>
                        </a:rPr>
                        <a:t>0,54</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b="1" spc="-5">
                          <a:latin typeface="Times New Roman"/>
                          <a:cs typeface="Times New Roman"/>
                        </a:rPr>
                        <a:t>0,56</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b="1" spc="-5">
                          <a:latin typeface="Times New Roman"/>
                          <a:cs typeface="Times New Roman"/>
                        </a:rPr>
                        <a:t>0,47</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0,60</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spc="-5">
                          <a:latin typeface="Times New Roman"/>
                          <a:cs typeface="Times New Roman"/>
                        </a:rPr>
                        <a:t>0,23</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b="1" spc="-5">
                          <a:latin typeface="Times New Roman"/>
                          <a:cs typeface="Times New Roman"/>
                        </a:rPr>
                        <a:t>0,66</a:t>
                      </a:r>
                      <a:endParaRPr/>
                    </a:p>
                  </a:txBody>
                  <a:tcPr anchor="ctr" marL="0" marR="0" marT="0" marB="0">
                    <a:lnL/>
                    <a:lnR/>
                    <a:lnT w="6350" cmpd="sng">
                      <a:solidFill>
                        <a:srgbClr val="000000"/>
                      </a:solidFill>
                    </a:lnT>
                    <a:lnB w="6350" cmpd="sng">
                      <a:solidFill>
                        <a:srgbClr val="000000"/>
                      </a:solidFill>
                    </a:lnB>
                  </a:tcPr>
                </a:tc>
              </a:tr>
              <a:tr h="149860">
                <a:tc>
                  <a:txBody>
                    <a:bodyPr/>
                    <a:p>
                      <a:pPr marL="88900" marR="106045" algn="ctr">
                        <a:lnSpc>
                          <a:spcPct val="97755"/>
                        </a:lnSpc>
                      </a:pPr>
                      <a:r>
                        <a:rPr sz="950" i="1" spc="-5">
                          <a:latin typeface="Times New Roman"/>
                          <a:cs typeface="Times New Roman"/>
                        </a:rPr>
                        <a:t>ReturnE</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7755"/>
                        </a:lnSpc>
                      </a:pPr>
                      <a:r>
                        <a:rPr sz="950" spc="-5">
                          <a:latin typeface="Times New Roman"/>
                          <a:cs typeface="Times New Roman"/>
                        </a:rPr>
                        <a:t>0,21</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7755"/>
                        </a:lnSpc>
                      </a:pPr>
                      <a:r>
                        <a:rPr sz="950" b="1" spc="-5">
                          <a:latin typeface="Times New Roman"/>
                          <a:cs typeface="Times New Roman"/>
                        </a:rPr>
                        <a:t>0,74</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7755"/>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7755"/>
                        </a:lnSpc>
                      </a:pPr>
                      <a:r>
                        <a:rPr sz="950" b="1" spc="-5">
                          <a:latin typeface="Times New Roman"/>
                          <a:cs typeface="Times New Roman"/>
                        </a:rPr>
                        <a:t>0,87</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7755"/>
                        </a:lnSpc>
                      </a:pPr>
                      <a:r>
                        <a:rPr sz="950" b="1" spc="-5">
                          <a:latin typeface="Times New Roman"/>
                          <a:cs typeface="Times New Roman"/>
                        </a:rPr>
                        <a:t>0,54</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7755"/>
                        </a:lnSpc>
                      </a:pPr>
                      <a:r>
                        <a:rPr sz="950" b="1" spc="-5">
                          <a:latin typeface="Times New Roman"/>
                          <a:cs typeface="Times New Roman"/>
                        </a:rPr>
                        <a:t>0,56</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7755"/>
                        </a:lnSpc>
                      </a:pPr>
                      <a:r>
                        <a:rPr sz="950" b="1" spc="-5">
                          <a:latin typeface="Times New Roman"/>
                          <a:cs typeface="Times New Roman"/>
                        </a:rPr>
                        <a:t>0,33</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7755"/>
                        </a:lnSpc>
                      </a:pPr>
                      <a:r>
                        <a:rPr sz="950" b="1" spc="-5">
                          <a:latin typeface="Times New Roman"/>
                          <a:cs typeface="Times New Roman"/>
                        </a:rPr>
                        <a:t>0,47</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7755"/>
                        </a:lnSpc>
                      </a:pPr>
                      <a:r>
                        <a:rPr sz="950" b="1"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7755"/>
                        </a:lnSpc>
                      </a:pPr>
                      <a:r>
                        <a:rPr sz="950" b="1" spc="-5">
                          <a:latin typeface="Times New Roman"/>
                          <a:cs typeface="Times New Roman"/>
                        </a:rPr>
                        <a:t>0,64</a:t>
                      </a:r>
                      <a:endParaRPr/>
                    </a:p>
                  </a:txBody>
                  <a:tcPr anchor="ctr" marL="0" marR="0" marT="0" marB="0">
                    <a:lnL/>
                    <a:lnR/>
                    <a:lnT w="6350" cmpd="sng">
                      <a:solidFill>
                        <a:srgbClr val="000000"/>
                      </a:solidFill>
                    </a:lnT>
                    <a:lnB w="6350" cmpd="sng">
                      <a:solidFill>
                        <a:srgbClr val="000000"/>
                      </a:solidFill>
                    </a:lnB>
                  </a:tcPr>
                </a:tc>
              </a:tr>
              <a:tr h="151130">
                <a:tc>
                  <a:txBody>
                    <a:bodyPr/>
                    <a:p>
                      <a:pPr marL="88900" marR="106045" algn="ctr">
                        <a:lnSpc>
                          <a:spcPct val="98150"/>
                        </a:lnSpc>
                      </a:pPr>
                      <a:r>
                        <a:rPr sz="950" i="1" spc="-5">
                          <a:latin typeface="Times New Roman"/>
                          <a:cs typeface="Times New Roman"/>
                        </a:rPr>
                        <a:t>ReturnA</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b="1" spc="-5">
                          <a:latin typeface="Times New Roman"/>
                          <a:cs typeface="Times New Roman"/>
                        </a:rPr>
                        <a:t>0,26</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b="1" spc="-5">
                          <a:latin typeface="Times New Roman"/>
                          <a:cs typeface="Times New Roman"/>
                        </a:rPr>
                        <a:t>0,68</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0,87</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b="1"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b="1"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b="1" spc="-5">
                          <a:latin typeface="Times New Roman"/>
                          <a:cs typeface="Times New Roman"/>
                        </a:rPr>
                        <a:t>0,48</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b="1" spc="-5">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b="1" spc="-5">
                          <a:latin typeface="Times New Roman"/>
                          <a:cs typeface="Times New Roman"/>
                        </a:rPr>
                        <a:t>0,59</a:t>
                      </a:r>
                      <a:endParaRPr/>
                    </a:p>
                  </a:txBody>
                  <a:tcPr anchor="ctr" marL="0" marR="0" marT="0" marB="0">
                    <a:lnL/>
                    <a:lnR/>
                    <a:lnT w="6350" cmpd="sng">
                      <a:solidFill>
                        <a:srgbClr val="000000"/>
                      </a:solidFill>
                    </a:lnT>
                    <a:lnB w="6350" cmpd="sng">
                      <a:solidFill>
                        <a:srgbClr val="000000"/>
                      </a:solidFill>
                    </a:lnB>
                  </a:tcPr>
                </a:tc>
              </a:tr>
              <a:tr h="151130">
                <a:tc>
                  <a:txBody>
                    <a:bodyPr/>
                    <a:p>
                      <a:pPr marL="76835" marR="94615" algn="ctr">
                        <a:lnSpc>
                          <a:spcPct val="98150"/>
                        </a:lnSpc>
                      </a:pPr>
                      <a:r>
                        <a:rPr sz="950" i="1" spc="-5">
                          <a:latin typeface="Times New Roman"/>
                          <a:cs typeface="Times New Roman"/>
                        </a:rPr>
                        <a:t>Liquid.C</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spc="-5">
                          <a:latin typeface="Times New Roman"/>
                          <a:cs typeface="Times New Roman"/>
                        </a:rPr>
                        <a:t>0,09</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b="1" spc="-5">
                          <a:latin typeface="Times New Roman"/>
                          <a:cs typeface="Times New Roman"/>
                        </a:rPr>
                        <a:t>0,54</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0,54</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b="1" spc="-5">
                          <a:latin typeface="Times New Roman"/>
                          <a:cs typeface="Times New Roman"/>
                        </a:rPr>
                        <a:t>0,94</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0,35</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b="1"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r>
              <a:tr h="151130">
                <a:tc>
                  <a:txBody>
                    <a:bodyPr/>
                    <a:p>
                      <a:pPr marL="73660" marR="89535" algn="ctr">
                        <a:lnSpc>
                          <a:spcPct val="98150"/>
                        </a:lnSpc>
                      </a:pPr>
                      <a:r>
                        <a:rPr sz="950" i="1">
                          <a:latin typeface="Times New Roman"/>
                          <a:cs typeface="Times New Roman"/>
                        </a:rPr>
                        <a:t>Liquid.Q</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spc="-5">
                          <a:latin typeface="Times New Roman"/>
                          <a:cs typeface="Times New Roman"/>
                        </a:rPr>
                        <a:t>0,06</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b="1" spc="-5">
                          <a:latin typeface="Times New Roman"/>
                          <a:cs typeface="Times New Roman"/>
                        </a:rPr>
                        <a:t>0,56</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0,56</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b="1" spc="-5">
                          <a:latin typeface="Times New Roman"/>
                          <a:cs typeface="Times New Roman"/>
                        </a:rPr>
                        <a:t>0,94</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b="1" spc="-5">
                          <a:latin typeface="Times New Roman"/>
                          <a:cs typeface="Times New Roman"/>
                        </a:rPr>
                        <a:t>0,44</a:t>
                      </a:r>
                      <a:endParaRPr/>
                    </a:p>
                  </a:txBody>
                  <a:tcPr anchor="ctr" marL="0" marR="0" marT="0" marB="0">
                    <a:lnL/>
                    <a:lnR/>
                    <a:lnT w="6350" cmpd="sng">
                      <a:solidFill>
                        <a:srgbClr val="000000"/>
                      </a:solidFill>
                    </a:lnT>
                    <a:lnB w="6350" cmpd="sng">
                      <a:solidFill>
                        <a:srgbClr val="000000"/>
                      </a:solidFill>
                    </a:lnB>
                  </a:tcPr>
                </a:tc>
              </a:tr>
              <a:tr h="149860">
                <a:tc>
                  <a:txBody>
                    <a:bodyPr/>
                    <a:p>
                      <a:pPr marL="172720" marR="189865" algn="ctr">
                        <a:lnSpc>
                          <a:spcPct val="97623"/>
                        </a:lnSpc>
                      </a:pPr>
                      <a:r>
                        <a:rPr sz="950" i="1" spc="-5">
                          <a:latin typeface="Times New Roman"/>
                          <a:cs typeface="Times New Roman"/>
                        </a:rPr>
                        <a:t>Debt</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7623"/>
                        </a:lnSpc>
                      </a:pPr>
                      <a:r>
                        <a:rPr sz="950" b="1" spc="-5">
                          <a:latin typeface="Times New Roman"/>
                          <a:cs typeface="Times New Roman"/>
                        </a:rPr>
                        <a:t>0,32</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7623"/>
                        </a:lnSpc>
                      </a:pPr>
                      <a:r>
                        <a:rPr sz="950" b="1" spc="-5">
                          <a:latin typeface="Times New Roman"/>
                          <a:cs typeface="Times New Roman"/>
                        </a:rPr>
                        <a:t>0,47</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7623"/>
                        </a:lnSpc>
                      </a:pPr>
                      <a:r>
                        <a:rPr sz="950" b="1" spc="-5">
                          <a:latin typeface="Times New Roman"/>
                          <a:cs typeface="Times New Roman"/>
                        </a:rPr>
                        <a:t>0,33</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7623"/>
                        </a:lnSpc>
                      </a:pPr>
                      <a:r>
                        <a:rPr sz="950" b="1" spc="-5">
                          <a:latin typeface="Times New Roman"/>
                          <a:cs typeface="Times New Roman"/>
                        </a:rPr>
                        <a:t>0,48</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7623"/>
                        </a:lnSpc>
                      </a:pPr>
                      <a:r>
                        <a:rPr sz="950" spc="-5">
                          <a:latin typeface="Times New Roman"/>
                          <a:cs typeface="Times New Roman"/>
                        </a:rPr>
                        <a:t>0,01</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7623"/>
                        </a:lnSpc>
                      </a:pPr>
                      <a:r>
                        <a:rPr sz="950" spc="-5">
                          <a:latin typeface="Times New Roman"/>
                          <a:cs typeface="Times New Roman"/>
                        </a:rPr>
                        <a:t>0,02</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7623"/>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7623"/>
                        </a:lnSpc>
                      </a:pPr>
                      <a:r>
                        <a:rPr sz="950" b="1" spc="-5">
                          <a:latin typeface="Times New Roman"/>
                          <a:cs typeface="Times New Roman"/>
                        </a:rPr>
                        <a:t>0,33</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7623"/>
                        </a:lnSpc>
                      </a:pPr>
                      <a:r>
                        <a:rPr sz="950" b="1"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7623"/>
                        </a:lnSpc>
                      </a:pPr>
                      <a:r>
                        <a:rPr sz="950" b="1" spc="-5">
                          <a:latin typeface="Times New Roman"/>
                          <a:cs typeface="Times New Roman"/>
                        </a:rPr>
                        <a:t>0,31</a:t>
                      </a:r>
                      <a:endParaRPr/>
                    </a:p>
                  </a:txBody>
                  <a:tcPr anchor="ctr" marL="0" marR="0" marT="0" marB="0">
                    <a:lnL/>
                    <a:lnR/>
                    <a:lnT w="6350" cmpd="sng">
                      <a:solidFill>
                        <a:srgbClr val="000000"/>
                      </a:solidFill>
                    </a:lnT>
                    <a:lnB w="6350" cmpd="sng">
                      <a:solidFill>
                        <a:srgbClr val="000000"/>
                      </a:solidFill>
                    </a:lnB>
                  </a:tcPr>
                </a:tc>
              </a:tr>
              <a:tr h="151130">
                <a:tc>
                  <a:txBody>
                    <a:bodyPr/>
                    <a:p>
                      <a:pPr marL="64770" marR="83820" algn="ctr">
                        <a:lnSpc>
                          <a:spcPct val="98150"/>
                        </a:lnSpc>
                      </a:pPr>
                      <a:r>
                        <a:rPr sz="950" i="1" spc="-5">
                          <a:latin typeface="Times New Roman"/>
                          <a:cs typeface="Times New Roman"/>
                        </a:rPr>
                        <a:t>Leverage</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b="1" spc="-5">
                          <a:latin typeface="Times New Roman"/>
                          <a:cs typeface="Times New Roman"/>
                        </a:rPr>
                        <a:t>0,32</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b="1" spc="-5">
                          <a:latin typeface="Times New Roman"/>
                          <a:cs typeface="Times New Roman"/>
                        </a:rPr>
                        <a:t>0,60</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0,47</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b="1" spc="-5">
                          <a:latin typeface="Times New Roman"/>
                          <a:cs typeface="Times New Roman"/>
                        </a:rPr>
                        <a:t>0,35</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b="1"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b="1" spc="-5">
                          <a:latin typeface="Times New Roman"/>
                          <a:cs typeface="Times New Roman"/>
                        </a:rPr>
                        <a:t>0,33</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b="1" spc="-5">
                          <a:latin typeface="Times New Roman"/>
                          <a:cs typeface="Times New Roman"/>
                        </a:rPr>
                        <a:t>0,31</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b="1"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r>
              <a:tr h="151130">
                <a:tc>
                  <a:txBody>
                    <a:bodyPr/>
                    <a:p>
                      <a:pPr marL="193040" marR="209550" algn="ctr">
                        <a:lnSpc>
                          <a:spcPct val="98150"/>
                        </a:lnSpc>
                      </a:pPr>
                      <a:r>
                        <a:rPr sz="950" i="1" spc="-5">
                          <a:latin typeface="Times New Roman"/>
                          <a:cs typeface="Times New Roman"/>
                        </a:rPr>
                        <a:t>Size</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spc="-5">
                          <a:latin typeface="Times New Roman"/>
                          <a:cs typeface="Times New Roman"/>
                        </a:rPr>
                        <a:t>0,23</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0,29</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spc="-5">
                          <a:latin typeface="Times New Roman"/>
                          <a:cs typeface="Times New Roman"/>
                        </a:rPr>
                        <a:t>0,13</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spc="-5">
                          <a:latin typeface="Times New Roman"/>
                          <a:cs typeface="Times New Roman"/>
                        </a:rPr>
                        <a:t>0,15</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b="1" spc="-5">
                          <a:latin typeface="Times New Roman"/>
                          <a:cs typeface="Times New Roman"/>
                        </a:rPr>
                        <a:t>0,28</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0,31</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r>
              <a:tr h="151130">
                <a:tc>
                  <a:txBody>
                    <a:bodyPr/>
                    <a:p>
                      <a:pPr marL="105410" marR="122555" algn="ctr">
                        <a:lnSpc>
                          <a:spcPct val="98150"/>
                        </a:lnSpc>
                      </a:pPr>
                      <a:r>
                        <a:rPr sz="950" i="1" spc="-5">
                          <a:latin typeface="Times New Roman"/>
                          <a:cs typeface="Times New Roman"/>
                        </a:rPr>
                        <a:t>Growth</a:t>
                      </a:r>
                      <a:endParaRPr/>
                    </a:p>
                  </a:txBody>
                  <a:tcPr anchor="ctr" marL="0" marR="0" marT="0" marB="0">
                    <a:lnL/>
                    <a:lnR/>
                    <a:lnT w="6350" cmpd="sng">
                      <a:solidFill>
                        <a:srgbClr val="000000"/>
                      </a:solidFill>
                    </a:lnT>
                    <a:lnB w="6350" cmpd="sng">
                      <a:solidFill>
                        <a:srgbClr val="000000"/>
                      </a:solidFill>
                    </a:lnB>
                  </a:tcPr>
                </a:tc>
                <a:tc>
                  <a:txBody>
                    <a:bodyPr/>
                    <a:p>
                      <a:pPr marL="173990" marR="172720" algn="ctr">
                        <a:lnSpc>
                          <a:spcPct val="98150"/>
                        </a:lnSpc>
                      </a:pPr>
                      <a:r>
                        <a:rPr sz="950" spc="-5">
                          <a:latin typeface="Times New Roman"/>
                          <a:cs typeface="Times New Roman"/>
                        </a:rPr>
                        <a:t>0,05</a:t>
                      </a:r>
                      <a:endParaRPr/>
                    </a:p>
                  </a:txBody>
                  <a:tcPr anchor="ctr" marL="0" marR="0" marT="0" marB="0">
                    <a:lnL/>
                    <a:lnR/>
                    <a:lnT w="6350" cmpd="sng">
                      <a:solidFill>
                        <a:srgbClr val="000000"/>
                      </a:solidFill>
                    </a:lnT>
                    <a:lnB w="6350" cmpd="sng">
                      <a:solidFill>
                        <a:srgbClr val="000000"/>
                      </a:solidFill>
                    </a:lnB>
                  </a:tcPr>
                </a:tc>
                <a:tc>
                  <a:txBody>
                    <a:bodyPr/>
                    <a:p>
                      <a:pPr marL="203835" marR="193040" algn="ctr">
                        <a:lnSpc>
                          <a:spcPct val="98150"/>
                        </a:lnSpc>
                      </a:pPr>
                      <a:r>
                        <a:rPr sz="950" b="1" spc="-5">
                          <a:latin typeface="Times New Roman"/>
                          <a:cs typeface="Times New Roman"/>
                        </a:rPr>
                        <a:t>0,66</a:t>
                      </a:r>
                      <a:endParaRPr/>
                    </a:p>
                  </a:txBody>
                  <a:tcPr anchor="ctr" marL="0" marR="0" marT="0" marB="0">
                    <a:lnL/>
                    <a:lnR/>
                    <a:lnT w="6350" cmpd="sng">
                      <a:solidFill>
                        <a:srgbClr val="000000"/>
                      </a:solidFill>
                    </a:lnT>
                    <a:lnB w="6350" cmpd="sng">
                      <a:solidFill>
                        <a:srgbClr val="000000"/>
                      </a:solidFill>
                    </a:lnB>
                  </a:tcPr>
                </a:tc>
                <a:tc>
                  <a:txBody>
                    <a:bodyPr/>
                    <a:p>
                      <a:pPr marL="182880" marR="189865" algn="ctr">
                        <a:lnSpc>
                          <a:spcPct val="98150"/>
                        </a:lnSpc>
                      </a:pPr>
                      <a:r>
                        <a:rPr sz="950" b="1" spc="-5">
                          <a:latin typeface="Times New Roman"/>
                          <a:cs typeface="Times New Roman"/>
                        </a:rPr>
                        <a:t>0,64</a:t>
                      </a:r>
                      <a:endParaRPr/>
                    </a:p>
                  </a:txBody>
                  <a:tcPr anchor="ctr" marL="0" marR="0" marT="0" marB="0">
                    <a:lnL/>
                    <a:lnR/>
                    <a:lnT w="6350" cmpd="sng">
                      <a:solidFill>
                        <a:srgbClr val="000000"/>
                      </a:solidFill>
                    </a:lnT>
                    <a:lnB w="6350" cmpd="sng">
                      <a:solidFill>
                        <a:srgbClr val="000000"/>
                      </a:solidFill>
                    </a:lnB>
                  </a:tcPr>
                </a:tc>
                <a:tc>
                  <a:txBody>
                    <a:bodyPr/>
                    <a:p>
                      <a:pPr marL="187325" marR="184150" algn="ctr">
                        <a:lnSpc>
                          <a:spcPct val="98150"/>
                        </a:lnSpc>
                      </a:pPr>
                      <a:r>
                        <a:rPr sz="950" b="1" spc="-5">
                          <a:latin typeface="Times New Roman"/>
                          <a:cs typeface="Times New Roman"/>
                        </a:rPr>
                        <a:t>0,59</a:t>
                      </a:r>
                      <a:endParaRPr/>
                    </a:p>
                  </a:txBody>
                  <a:tcPr anchor="ctr" marL="0" marR="0" marT="0" marB="0">
                    <a:lnL/>
                    <a:lnR/>
                    <a:lnT w="6350" cmpd="sng">
                      <a:solidFill>
                        <a:srgbClr val="000000"/>
                      </a:solidFill>
                    </a:lnT>
                    <a:lnB w="6350" cmpd="sng">
                      <a:solidFill>
                        <a:srgbClr val="000000"/>
                      </a:solidFill>
                    </a:lnB>
                  </a:tcPr>
                </a:tc>
                <a:tc>
                  <a:txBody>
                    <a:bodyPr/>
                    <a:p>
                      <a:pPr marL="193040" marR="187960" algn="ctr">
                        <a:lnSpc>
                          <a:spcPct val="98150"/>
                        </a:lnSpc>
                      </a:pPr>
                      <a:r>
                        <a:rPr sz="950" b="1" spc="-5">
                          <a:latin typeface="Times New Roman"/>
                          <a:cs typeface="Times New Roman"/>
                        </a:rPr>
                        <a:t>0,41</a:t>
                      </a:r>
                      <a:endParaRPr/>
                    </a:p>
                  </a:txBody>
                  <a:tcPr anchor="ctr" marL="0" marR="0" marT="0" marB="0">
                    <a:lnL/>
                    <a:lnR/>
                    <a:lnT w="6350" cmpd="sng">
                      <a:solidFill>
                        <a:srgbClr val="000000"/>
                      </a:solidFill>
                    </a:lnT>
                    <a:lnB w="6350" cmpd="sng">
                      <a:solidFill>
                        <a:srgbClr val="000000"/>
                      </a:solidFill>
                    </a:lnB>
                  </a:tcPr>
                </a:tc>
                <a:tc>
                  <a:txBody>
                    <a:bodyPr/>
                    <a:p>
                      <a:pPr marL="187960" marR="247650" algn="r">
                        <a:lnSpc>
                          <a:spcPct val="98150"/>
                        </a:lnSpc>
                      </a:pPr>
                      <a:r>
                        <a:rPr sz="950" b="1" spc="-5">
                          <a:latin typeface="Times New Roman"/>
                          <a:cs typeface="Times New Roman"/>
                        </a:rPr>
                        <a:t>0,44</a:t>
                      </a:r>
                      <a:endParaRPr/>
                    </a:p>
                  </a:txBody>
                  <a:tcPr anchor="ctr" marL="0" marR="0" marT="0" marB="0">
                    <a:lnL/>
                    <a:lnR/>
                    <a:lnT w="6350" cmpd="sng">
                      <a:solidFill>
                        <a:srgbClr val="000000"/>
                      </a:solidFill>
                    </a:lnT>
                    <a:lnB w="6350" cmpd="sng">
                      <a:solidFill>
                        <a:srgbClr val="000000"/>
                      </a:solidFill>
                    </a:lnB>
                  </a:tcPr>
                </a:tc>
                <a:tc>
                  <a:txBody>
                    <a:bodyPr/>
                    <a:p>
                      <a:pPr marL="129540" marR="135890" algn="ctr">
                        <a:lnSpc>
                          <a:spcPct val="98150"/>
                        </a:lnSpc>
                      </a:pPr>
                      <a:r>
                        <a:rPr sz="950" b="1" spc="-5">
                          <a:latin typeface="Times New Roman"/>
                          <a:cs typeface="Times New Roman"/>
                        </a:rPr>
                        <a:t>0,31</a:t>
                      </a:r>
                      <a:endParaRPr/>
                    </a:p>
                  </a:txBody>
                  <a:tcPr anchor="ctr" marL="0" marR="0" marT="0" marB="0">
                    <a:lnL/>
                    <a:lnR/>
                    <a:lnT w="6350" cmpd="sng">
                      <a:solidFill>
                        <a:srgbClr val="000000"/>
                      </a:solidFill>
                    </a:lnT>
                    <a:lnB w="6350" cmpd="sng">
                      <a:solidFill>
                        <a:srgbClr val="000000"/>
                      </a:solidFill>
                    </a:lnB>
                  </a:tcPr>
                </a:tc>
                <a:tc>
                  <a:txBody>
                    <a:bodyPr/>
                    <a:p>
                      <a:pPr marL="240030" marR="250190" algn="ctr">
                        <a:lnSpc>
                          <a:spcPct val="98150"/>
                        </a:lnSpc>
                      </a:pPr>
                      <a:r>
                        <a:rPr sz="950" b="1" spc="-5">
                          <a:latin typeface="Times New Roman"/>
                          <a:cs typeface="Times New Roman"/>
                        </a:rPr>
                        <a:t>0,39</a:t>
                      </a:r>
                      <a:endParaRPr/>
                    </a:p>
                  </a:txBody>
                  <a:tcPr anchor="ctr" marL="0" marR="0" marT="0" marB="0">
                    <a:lnL/>
                    <a:lnR/>
                    <a:lnT w="6350" cmpd="sng">
                      <a:solidFill>
                        <a:srgbClr val="000000"/>
                      </a:solidFill>
                    </a:lnT>
                    <a:lnB w="6350" cmpd="sng">
                      <a:solidFill>
                        <a:srgbClr val="000000"/>
                      </a:solidFill>
                    </a:lnB>
                  </a:tcPr>
                </a:tc>
                <a:tc>
                  <a:txBody>
                    <a:bodyPr/>
                    <a:p>
                      <a:pPr marL="126365" marR="151765" algn="ctr">
                        <a:lnSpc>
                          <a:spcPct val="98150"/>
                        </a:lnSpc>
                      </a:pPr>
                      <a:r>
                        <a:rPr sz="950" spc="-5">
                          <a:latin typeface="Times New Roman"/>
                          <a:cs typeface="Times New Roman"/>
                        </a:rPr>
                        <a:t>0,16</a:t>
                      </a:r>
                      <a:endParaRPr/>
                    </a:p>
                  </a:txBody>
                  <a:tcPr anchor="ctr" marL="0" marR="0" marT="0" marB="0">
                    <a:lnL/>
                    <a:lnR/>
                    <a:lnT w="6350" cmpd="sng">
                      <a:solidFill>
                        <a:srgbClr val="000000"/>
                      </a:solidFill>
                    </a:lnT>
                    <a:lnB w="6350" cmpd="sng">
                      <a:solidFill>
                        <a:srgbClr val="000000"/>
                      </a:solidFill>
                    </a:lnB>
                  </a:tcPr>
                </a:tc>
                <a:tc>
                  <a:txBody>
                    <a:bodyPr/>
                    <a:p>
                      <a:pPr marL="226060" marR="163195" algn="r">
                        <a:lnSpc>
                          <a:spcPct val="98150"/>
                        </a:lnSpc>
                      </a:pPr>
                      <a:r>
                        <a:rPr sz="950" spc="-5">
                          <a:latin typeface="Times New Roman"/>
                          <a:cs typeface="Times New Roman"/>
                        </a:rPr>
                        <a:t>1,00</a:t>
                      </a:r>
                      <a:endParaRPr/>
                    </a:p>
                  </a:txBody>
                  <a:tcPr anchor="ctr" marL="0" marR="0" marT="0" marB="0">
                    <a:lnL/>
                    <a:lnR/>
                    <a:lnT w="6350" cmpd="sng">
                      <a:solidFill>
                        <a:srgbClr val="000000"/>
                      </a:solidFill>
                    </a:lnT>
                    <a:lnB w="6350" cmpd="sng">
                      <a:solidFill>
                        <a:srgbClr val="000000"/>
                      </a:solidFill>
                    </a:lnB>
                  </a:tcPr>
                </a:tc>
              </a:tr>
            </a:tbl>
          </a:graphicData>
        </a:graphic>
      </p:graphicFrame>
      <p:sp>
        <p:nvSpPr>
          <p:cNvPr id="3" name="shape 3"/>
          <p:cNvSpPr txBox="1"/>
          <p:nvPr/>
        </p:nvSpPr>
        <p:spPr>
          <a:xfrm>
            <a:off x="528320" y="528320"/>
            <a:ext cx="862966" cy="152400"/>
          </a:xfrm>
          <a:prstGeom prst="rect"/>
          <a:noFill/>
        </p:spPr>
        <p:txBody>
          <a:bodyPr vertOverflow="overflow" horzOverflow="overflow" numCol="1" wrap="square" lIns="0" tIns="0" rIns="0" bIns="0">
            <a:spAutoFit/>
          </a:bodyPr>
          <a:p>
            <a:pPr marL="12700"/>
            <a:r>
              <a:rPr sz="1000" i="1">
                <a:latin typeface="Times New Roman"/>
                <a:cs typeface="Times New Roman"/>
              </a:rPr>
              <a:t>ISSN 2707-9325</a:t>
            </a:r>
            <a:endParaRPr/>
          </a:p>
        </p:txBody>
      </p:sp>
      <p:sp>
        <p:nvSpPr>
          <p:cNvPr id="4" name="shape 4"/>
          <p:cNvSpPr txBox="1"/>
          <p:nvPr/>
        </p:nvSpPr>
        <p:spPr>
          <a:xfrm>
            <a:off x="528320" y="893064"/>
            <a:ext cx="6508115" cy="6284213"/>
          </a:xfrm>
          <a:prstGeom prst="rect"/>
          <a:noFill/>
        </p:spPr>
        <p:txBody>
          <a:bodyPr vertOverflow="overflow" horzOverflow="overflow" numCol="1" wrap="square" lIns="0" tIns="0" rIns="0" bIns="0">
            <a:spAutoFit/>
          </a:bodyPr>
          <a:p>
            <a:pPr marL="12700" marR="15240" algn="just">
              <a:lnSpc>
                <a:spcPct val="96385"/>
              </a:lnSpc>
            </a:pPr>
            <a:r>
              <a:rPr sz="1000">
                <a:latin typeface="Times New Roman"/>
                <a:cs typeface="Times New Roman"/>
              </a:rPr>
              <a:t>group – both the average and the median amounted to 3 %, which means that high dividend was accompanied with high market share price of such companies. Also profitability and financial liquidity were below average (however, it is worth adding that the value of these ratios was high, and in the case of liquidity, they were even higher than the reference values (1,38 and 1,12, respectively). A positive feature of these companies – from the point of view of investing in dividends – were lower than average debt ratios (</a:t>
            </a:r>
            <a:r>
              <a:rPr sz="1000" i="1">
                <a:latin typeface="Times New Roman"/>
                <a:cs typeface="Times New Roman"/>
              </a:rPr>
              <a:t>Debt </a:t>
            </a:r>
            <a:r>
              <a:rPr sz="1000">
                <a:latin typeface="Times New Roman"/>
                <a:cs typeface="Times New Roman"/>
              </a:rPr>
              <a:t>was 0,38, and </a:t>
            </a:r>
            <a:r>
              <a:rPr sz="1000" i="1">
                <a:latin typeface="Times New Roman"/>
                <a:cs typeface="Times New Roman"/>
              </a:rPr>
              <a:t>Leverage </a:t>
            </a:r>
            <a:r>
              <a:rPr sz="1000">
                <a:latin typeface="Times New Roman"/>
                <a:cs typeface="Times New Roman"/>
              </a:rPr>
              <a:t>was 2,23) and growth ratio (average </a:t>
            </a:r>
            <a:r>
              <a:rPr sz="1000" i="1">
                <a:latin typeface="Times New Roman"/>
                <a:cs typeface="Times New Roman"/>
              </a:rPr>
              <a:t>Growth </a:t>
            </a:r>
            <a:r>
              <a:rPr sz="1000">
                <a:latin typeface="Times New Roman"/>
                <a:cs typeface="Times New Roman"/>
              </a:rPr>
              <a:t>was 0,63 and was the lowest in the research group).</a:t>
            </a:r>
            <a:endParaRPr/>
          </a:p>
          <a:p>
            <a:pPr marL="192405" algn="just">
              <a:lnSpc>
                <a:spcPts val="1190"/>
              </a:lnSpc>
            </a:pPr>
            <a:r>
              <a:rPr sz="1000">
                <a:latin typeface="Times New Roman"/>
                <a:cs typeface="Times New Roman"/>
              </a:rPr>
              <a:t>The lowest average value of the dividend payout was observed in the case of companies where the main shareholder was a</a:t>
            </a:r>
            <a:endParaRPr/>
          </a:p>
          <a:p>
            <a:pPr marL="12700" algn="just">
              <a:lnSpc>
                <a:spcPts val="1140"/>
              </a:lnSpc>
            </a:pPr>
            <a:r>
              <a:rPr sz="1000">
                <a:latin typeface="Times New Roman"/>
                <a:cs typeface="Times New Roman"/>
              </a:rPr>
              <a:t>manager. In this case, all descriptive statistics were lower than those calculated for all studied companies. The average value of</a:t>
            </a:r>
            <a:endParaRPr/>
          </a:p>
          <a:p>
            <a:pPr marL="12700" algn="just">
              <a:lnSpc>
                <a:spcPts val="1140"/>
              </a:lnSpc>
            </a:pPr>
            <a:r>
              <a:rPr sz="1000" spc="-5">
                <a:latin typeface="Times New Roman"/>
                <a:cs typeface="Times New Roman"/>
              </a:rPr>
              <a:t>dividend</a:t>
            </a:r>
            <a:r>
              <a:rPr sz="1000" spc="95">
                <a:latin typeface="Times New Roman"/>
                <a:cs typeface="Times New Roman"/>
              </a:rPr>
              <a:t> </a:t>
            </a:r>
            <a:r>
              <a:rPr sz="1000" spc="-5">
                <a:latin typeface="Times New Roman"/>
                <a:cs typeface="Times New Roman"/>
              </a:rPr>
              <a:t>payout</a:t>
            </a:r>
            <a:r>
              <a:rPr sz="1000" spc="90">
                <a:latin typeface="Times New Roman"/>
                <a:cs typeface="Times New Roman"/>
              </a:rPr>
              <a:t> </a:t>
            </a:r>
            <a:r>
              <a:rPr sz="1000" spc="-5">
                <a:latin typeface="Times New Roman"/>
                <a:cs typeface="Times New Roman"/>
              </a:rPr>
              <a:t>ratio</a:t>
            </a:r>
            <a:r>
              <a:rPr sz="1000" spc="11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49  %,</a:t>
            </a:r>
            <a:r>
              <a:rPr sz="1000" spc="95">
                <a:latin typeface="Times New Roman"/>
                <a:cs typeface="Times New Roman"/>
              </a:rPr>
              <a:t> </a:t>
            </a:r>
            <a:r>
              <a:rPr sz="1000" spc="-5">
                <a:latin typeface="Times New Roman"/>
                <a:cs typeface="Times New Roman"/>
              </a:rPr>
              <a:t>and</a:t>
            </a:r>
            <a:r>
              <a:rPr sz="1000" spc="95">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median</a:t>
            </a:r>
            <a:r>
              <a:rPr sz="1000" spc="10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46</a:t>
            </a:r>
            <a:r>
              <a:rPr sz="1000" spc="110">
                <a:latin typeface="Times New Roman"/>
                <a:cs typeface="Times New Roman"/>
              </a:rPr>
              <a:t> </a:t>
            </a:r>
            <a:r>
              <a:rPr sz="1000" spc="-5">
                <a:latin typeface="Times New Roman"/>
                <a:cs typeface="Times New Roman"/>
              </a:rPr>
              <a:t>%.</a:t>
            </a:r>
            <a:r>
              <a:rPr sz="1000" spc="95">
                <a:latin typeface="Times New Roman"/>
                <a:cs typeface="Times New Roman"/>
              </a:rPr>
              <a:t> </a:t>
            </a:r>
            <a:r>
              <a:rPr sz="1000" spc="-5">
                <a:latin typeface="Times New Roman"/>
                <a:cs typeface="Times New Roman"/>
              </a:rPr>
              <a:t>The</a:t>
            </a:r>
            <a:r>
              <a:rPr sz="1000" spc="95">
                <a:latin typeface="Times New Roman"/>
                <a:cs typeface="Times New Roman"/>
              </a:rPr>
              <a:t> </a:t>
            </a:r>
            <a:r>
              <a:rPr sz="1000" spc="-5">
                <a:latin typeface="Times New Roman"/>
                <a:cs typeface="Times New Roman"/>
              </a:rPr>
              <a:t>average</a:t>
            </a:r>
            <a:r>
              <a:rPr sz="1000" spc="95">
                <a:latin typeface="Times New Roman"/>
                <a:cs typeface="Times New Roman"/>
              </a:rPr>
              <a:t> </a:t>
            </a:r>
            <a:r>
              <a:rPr sz="1000" spc="-5">
                <a:latin typeface="Times New Roman"/>
                <a:cs typeface="Times New Roman"/>
              </a:rPr>
              <a:t>dividend</a:t>
            </a:r>
            <a:r>
              <a:rPr sz="1000" spc="110">
                <a:latin typeface="Times New Roman"/>
                <a:cs typeface="Times New Roman"/>
              </a:rPr>
              <a:t> </a:t>
            </a:r>
            <a:r>
              <a:rPr sz="1000" spc="-5">
                <a:latin typeface="Times New Roman"/>
                <a:cs typeface="Times New Roman"/>
              </a:rPr>
              <a:t>yield</a:t>
            </a:r>
            <a:r>
              <a:rPr sz="1000" spc="11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5  %</a:t>
            </a:r>
            <a:r>
              <a:rPr sz="1000" spc="90">
                <a:latin typeface="Times New Roman"/>
                <a:cs typeface="Times New Roman"/>
              </a:rPr>
              <a:t> </a:t>
            </a:r>
            <a:r>
              <a:rPr sz="1000" spc="-5">
                <a:latin typeface="Times New Roman"/>
                <a:cs typeface="Times New Roman"/>
              </a:rPr>
              <a:t>and</a:t>
            </a:r>
            <a:r>
              <a:rPr sz="1000" spc="95">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median</a:t>
            </a:r>
            <a:r>
              <a:rPr sz="1000" spc="11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3 %.</a:t>
            </a:r>
            <a:endParaRPr/>
          </a:p>
          <a:p>
            <a:pPr marL="12700" algn="just">
              <a:lnSpc>
                <a:spcPts val="1155"/>
              </a:lnSpc>
            </a:pPr>
            <a:r>
              <a:rPr sz="1000">
                <a:latin typeface="Times New Roman"/>
                <a:cs typeface="Times New Roman"/>
              </a:rPr>
              <a:t>These</a:t>
            </a:r>
            <a:r>
              <a:rPr sz="1000" spc="75">
                <a:latin typeface="Times New Roman"/>
                <a:cs typeface="Times New Roman"/>
              </a:rPr>
              <a:t> </a:t>
            </a:r>
            <a:r>
              <a:rPr sz="1000">
                <a:latin typeface="Times New Roman"/>
                <a:cs typeface="Times New Roman"/>
              </a:rPr>
              <a:t>companies</a:t>
            </a:r>
            <a:r>
              <a:rPr sz="1000" spc="80">
                <a:latin typeface="Times New Roman"/>
                <a:cs typeface="Times New Roman"/>
              </a:rPr>
              <a:t> </a:t>
            </a:r>
            <a:r>
              <a:rPr sz="1000">
                <a:latin typeface="Times New Roman"/>
                <a:cs typeface="Times New Roman"/>
              </a:rPr>
              <a:t>were</a:t>
            </a:r>
            <a:r>
              <a:rPr sz="1000" spc="85">
                <a:latin typeface="Times New Roman"/>
                <a:cs typeface="Times New Roman"/>
              </a:rPr>
              <a:t> </a:t>
            </a:r>
            <a:r>
              <a:rPr sz="1000">
                <a:latin typeface="Times New Roman"/>
                <a:cs typeface="Times New Roman"/>
              </a:rPr>
              <a:t>profitable</a:t>
            </a:r>
            <a:r>
              <a:rPr sz="1000" spc="75">
                <a:latin typeface="Times New Roman"/>
                <a:cs typeface="Times New Roman"/>
              </a:rPr>
              <a:t> </a:t>
            </a:r>
            <a:r>
              <a:rPr sz="1000">
                <a:latin typeface="Times New Roman"/>
                <a:cs typeface="Times New Roman"/>
              </a:rPr>
              <a:t>and</a:t>
            </a:r>
            <a:r>
              <a:rPr sz="1000" spc="80">
                <a:latin typeface="Times New Roman"/>
                <a:cs typeface="Times New Roman"/>
              </a:rPr>
              <a:t> </a:t>
            </a:r>
            <a:r>
              <a:rPr sz="1000">
                <a:latin typeface="Times New Roman"/>
                <a:cs typeface="Times New Roman"/>
              </a:rPr>
              <a:t>liquid</a:t>
            </a:r>
            <a:r>
              <a:rPr sz="1000" spc="75">
                <a:latin typeface="Times New Roman"/>
                <a:cs typeface="Times New Roman"/>
              </a:rPr>
              <a:t> </a:t>
            </a:r>
            <a:r>
              <a:rPr sz="1000">
                <a:latin typeface="Times New Roman"/>
                <a:cs typeface="Times New Roman"/>
              </a:rPr>
              <a:t>(liquidity</a:t>
            </a:r>
            <a:r>
              <a:rPr sz="1000" spc="65">
                <a:latin typeface="Times New Roman"/>
                <a:cs typeface="Times New Roman"/>
              </a:rPr>
              <a:t> </a:t>
            </a:r>
            <a:r>
              <a:rPr sz="1000">
                <a:latin typeface="Times New Roman"/>
                <a:cs typeface="Times New Roman"/>
              </a:rPr>
              <a:t>ratios</a:t>
            </a:r>
            <a:r>
              <a:rPr sz="1000" spc="80">
                <a:latin typeface="Times New Roman"/>
                <a:cs typeface="Times New Roman"/>
              </a:rPr>
              <a:t> </a:t>
            </a:r>
            <a:r>
              <a:rPr sz="1000">
                <a:latin typeface="Times New Roman"/>
                <a:cs typeface="Times New Roman"/>
              </a:rPr>
              <a:t>exceeded</a:t>
            </a:r>
            <a:r>
              <a:rPr sz="1000" spc="80">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reference</a:t>
            </a:r>
            <a:r>
              <a:rPr sz="1000" spc="90">
                <a:latin typeface="Times New Roman"/>
                <a:cs typeface="Times New Roman"/>
              </a:rPr>
              <a:t> </a:t>
            </a:r>
            <a:r>
              <a:rPr sz="1000">
                <a:latin typeface="Times New Roman"/>
                <a:cs typeface="Times New Roman"/>
              </a:rPr>
              <a:t>values</a:t>
            </a:r>
            <a:r>
              <a:rPr sz="1000" spc="70">
                <a:latin typeface="Times New Roman"/>
                <a:cs typeface="Times New Roman"/>
              </a:rPr>
              <a:t> </a:t>
            </a:r>
            <a:r>
              <a:rPr sz="1000">
                <a:latin typeface="Times New Roman"/>
                <a:cs typeface="Times New Roman"/>
              </a:rPr>
              <a:t>and</a:t>
            </a:r>
            <a:r>
              <a:rPr sz="1000" spc="90">
                <a:latin typeface="Times New Roman"/>
                <a:cs typeface="Times New Roman"/>
              </a:rPr>
              <a:t> </a:t>
            </a:r>
            <a:r>
              <a:rPr sz="1000">
                <a:latin typeface="Times New Roman"/>
                <a:cs typeface="Times New Roman"/>
              </a:rPr>
              <a:t>were</a:t>
            </a:r>
            <a:r>
              <a:rPr sz="1000" spc="85">
                <a:latin typeface="Times New Roman"/>
                <a:cs typeface="Times New Roman"/>
              </a:rPr>
              <a:t> </a:t>
            </a:r>
            <a:r>
              <a:rPr sz="1000">
                <a:latin typeface="Times New Roman"/>
                <a:cs typeface="Times New Roman"/>
              </a:rPr>
              <a:t>higher</a:t>
            </a:r>
            <a:r>
              <a:rPr sz="1000" spc="90">
                <a:latin typeface="Times New Roman"/>
                <a:cs typeface="Times New Roman"/>
              </a:rPr>
              <a:t> </a:t>
            </a:r>
            <a:r>
              <a:rPr sz="1000">
                <a:latin typeface="Times New Roman"/>
                <a:cs typeface="Times New Roman"/>
              </a:rPr>
              <a:t>than</a:t>
            </a:r>
            <a:r>
              <a:rPr sz="1000" spc="65">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average</a:t>
            </a:r>
            <a:endParaRPr/>
          </a:p>
          <a:p>
            <a:pPr marL="12700" algn="just">
              <a:lnSpc>
                <a:spcPts val="1150"/>
              </a:lnSpc>
            </a:pPr>
            <a:r>
              <a:rPr sz="1000">
                <a:latin typeface="Times New Roman"/>
                <a:cs typeface="Times New Roman"/>
              </a:rPr>
              <a:t>for the research group). The average debt of</a:t>
            </a:r>
            <a:r>
              <a:rPr sz="1000" spc="75">
                <a:latin typeface="Times New Roman"/>
                <a:cs typeface="Times New Roman"/>
              </a:rPr>
              <a:t> </a:t>
            </a:r>
            <a:r>
              <a:rPr sz="1000">
                <a:latin typeface="Times New Roman"/>
                <a:cs typeface="Times New Roman"/>
              </a:rPr>
              <a:t>these companies was lower than in the case of the average debt calculated for all</a:t>
            </a:r>
            <a:endParaRPr/>
          </a:p>
          <a:p>
            <a:pPr marL="12700" algn="just">
              <a:lnSpc>
                <a:spcPts val="1155"/>
              </a:lnSpc>
            </a:pPr>
            <a:r>
              <a:rPr sz="1000">
                <a:latin typeface="Times New Roman"/>
                <a:cs typeface="Times New Roman"/>
              </a:rPr>
              <a:t>the</a:t>
            </a:r>
            <a:r>
              <a:rPr sz="1000" spc="195">
                <a:latin typeface="Times New Roman"/>
                <a:cs typeface="Times New Roman"/>
              </a:rPr>
              <a:t> </a:t>
            </a:r>
            <a:r>
              <a:rPr sz="1000">
                <a:latin typeface="Times New Roman"/>
                <a:cs typeface="Times New Roman"/>
              </a:rPr>
              <a:t>surveyed</a:t>
            </a:r>
            <a:r>
              <a:rPr sz="1000" spc="200">
                <a:latin typeface="Times New Roman"/>
                <a:cs typeface="Times New Roman"/>
              </a:rPr>
              <a:t> </a:t>
            </a:r>
            <a:r>
              <a:rPr sz="1000">
                <a:latin typeface="Times New Roman"/>
                <a:cs typeface="Times New Roman"/>
              </a:rPr>
              <a:t>companies</a:t>
            </a:r>
            <a:r>
              <a:rPr sz="1000" spc="190">
                <a:latin typeface="Times New Roman"/>
                <a:cs typeface="Times New Roman"/>
              </a:rPr>
              <a:t> </a:t>
            </a:r>
            <a:r>
              <a:rPr sz="1000">
                <a:latin typeface="Times New Roman"/>
                <a:cs typeface="Times New Roman"/>
              </a:rPr>
              <a:t>(</a:t>
            </a:r>
            <a:r>
              <a:rPr sz="1000" i="1">
                <a:latin typeface="Times New Roman"/>
                <a:cs typeface="Times New Roman"/>
              </a:rPr>
              <a:t>Debt</a:t>
            </a:r>
            <a:r>
              <a:rPr sz="1000" i="1" spc="209">
                <a:latin typeface="Times New Roman"/>
                <a:cs typeface="Times New Roman"/>
              </a:rPr>
              <a:t> </a:t>
            </a:r>
            <a:r>
              <a:rPr sz="1000">
                <a:latin typeface="Times New Roman"/>
                <a:cs typeface="Times New Roman"/>
              </a:rPr>
              <a:t>was</a:t>
            </a:r>
            <a:r>
              <a:rPr sz="1000" spc="190">
                <a:latin typeface="Times New Roman"/>
                <a:cs typeface="Times New Roman"/>
              </a:rPr>
              <a:t> </a:t>
            </a:r>
            <a:r>
              <a:rPr sz="1000">
                <a:latin typeface="Times New Roman"/>
                <a:cs typeface="Times New Roman"/>
              </a:rPr>
              <a:t>0,38,</a:t>
            </a:r>
            <a:r>
              <a:rPr sz="1000" spc="195">
                <a:latin typeface="Times New Roman"/>
                <a:cs typeface="Times New Roman"/>
              </a:rPr>
              <a:t> </a:t>
            </a:r>
            <a:r>
              <a:rPr sz="1000">
                <a:latin typeface="Times New Roman"/>
                <a:cs typeface="Times New Roman"/>
              </a:rPr>
              <a:t>and</a:t>
            </a:r>
            <a:r>
              <a:rPr sz="1000" spc="195">
                <a:latin typeface="Times New Roman"/>
                <a:cs typeface="Times New Roman"/>
              </a:rPr>
              <a:t> </a:t>
            </a:r>
            <a:r>
              <a:rPr sz="1000" i="1">
                <a:latin typeface="Times New Roman"/>
                <a:cs typeface="Times New Roman"/>
              </a:rPr>
              <a:t>Leverage</a:t>
            </a:r>
            <a:r>
              <a:rPr sz="1000" i="1" spc="190">
                <a:latin typeface="Times New Roman"/>
                <a:cs typeface="Times New Roman"/>
              </a:rPr>
              <a:t> </a:t>
            </a:r>
            <a:r>
              <a:rPr sz="1000">
                <a:latin typeface="Times New Roman"/>
                <a:cs typeface="Times New Roman"/>
              </a:rPr>
              <a:t>was</a:t>
            </a:r>
            <a:r>
              <a:rPr sz="1000" spc="190">
                <a:latin typeface="Times New Roman"/>
                <a:cs typeface="Times New Roman"/>
              </a:rPr>
              <a:t> </a:t>
            </a:r>
            <a:r>
              <a:rPr sz="1000">
                <a:latin typeface="Times New Roman"/>
                <a:cs typeface="Times New Roman"/>
              </a:rPr>
              <a:t>1,83).</a:t>
            </a:r>
            <a:r>
              <a:rPr sz="1000" spc="185">
                <a:latin typeface="Times New Roman"/>
                <a:cs typeface="Times New Roman"/>
              </a:rPr>
              <a:t> </a:t>
            </a:r>
            <a:r>
              <a:rPr sz="1000">
                <a:latin typeface="Times New Roman"/>
                <a:cs typeface="Times New Roman"/>
              </a:rPr>
              <a:t>Moreover,</a:t>
            </a:r>
            <a:r>
              <a:rPr sz="1000" spc="195">
                <a:latin typeface="Times New Roman"/>
                <a:cs typeface="Times New Roman"/>
              </a:rPr>
              <a:t> </a:t>
            </a:r>
            <a:r>
              <a:rPr sz="1000">
                <a:latin typeface="Times New Roman"/>
                <a:cs typeface="Times New Roman"/>
              </a:rPr>
              <a:t>these</a:t>
            </a:r>
            <a:r>
              <a:rPr sz="1000" spc="195">
                <a:latin typeface="Times New Roman"/>
                <a:cs typeface="Times New Roman"/>
              </a:rPr>
              <a:t> </a:t>
            </a:r>
            <a:r>
              <a:rPr sz="1000">
                <a:latin typeface="Times New Roman"/>
                <a:cs typeface="Times New Roman"/>
              </a:rPr>
              <a:t>companies</a:t>
            </a:r>
            <a:r>
              <a:rPr sz="1000" spc="200">
                <a:latin typeface="Times New Roman"/>
                <a:cs typeface="Times New Roman"/>
              </a:rPr>
              <a:t> </a:t>
            </a:r>
            <a:r>
              <a:rPr sz="1000">
                <a:latin typeface="Times New Roman"/>
                <a:cs typeface="Times New Roman"/>
              </a:rPr>
              <a:t>were</a:t>
            </a:r>
            <a:r>
              <a:rPr sz="1000" spc="195">
                <a:latin typeface="Times New Roman"/>
                <a:cs typeface="Times New Roman"/>
              </a:rPr>
              <a:t> </a:t>
            </a:r>
            <a:r>
              <a:rPr sz="1000">
                <a:latin typeface="Times New Roman"/>
                <a:cs typeface="Times New Roman"/>
              </a:rPr>
              <a:t>characterized</a:t>
            </a:r>
            <a:r>
              <a:rPr sz="1000" spc="200">
                <a:latin typeface="Times New Roman"/>
                <a:cs typeface="Times New Roman"/>
              </a:rPr>
              <a:t> </a:t>
            </a:r>
            <a:r>
              <a:rPr sz="1000">
                <a:latin typeface="Times New Roman"/>
                <a:cs typeface="Times New Roman"/>
              </a:rPr>
              <a:t>by</a:t>
            </a:r>
            <a:r>
              <a:rPr sz="1000" spc="175">
                <a:latin typeface="Times New Roman"/>
                <a:cs typeface="Times New Roman"/>
              </a:rPr>
              <a:t> </a:t>
            </a:r>
            <a:r>
              <a:rPr sz="1000">
                <a:latin typeface="Times New Roman"/>
                <a:cs typeface="Times New Roman"/>
              </a:rPr>
              <a:t>the</a:t>
            </a:r>
            <a:endParaRPr/>
          </a:p>
          <a:p>
            <a:pPr marL="12700" algn="just">
              <a:lnSpc>
                <a:spcPts val="1150"/>
              </a:lnSpc>
            </a:pPr>
            <a:r>
              <a:rPr sz="1000">
                <a:latin typeface="Times New Roman"/>
                <a:cs typeface="Times New Roman"/>
              </a:rPr>
              <a:t>highest growth potential in the entire group (</a:t>
            </a:r>
            <a:r>
              <a:rPr sz="1000" i="1">
                <a:latin typeface="Times New Roman"/>
                <a:cs typeface="Times New Roman"/>
              </a:rPr>
              <a:t>Growth </a:t>
            </a:r>
            <a:r>
              <a:rPr sz="1000">
                <a:latin typeface="Times New Roman"/>
                <a:cs typeface="Times New Roman"/>
              </a:rPr>
              <a:t>was at the level of 2,19).</a:t>
            </a:r>
            <a:endParaRPr/>
          </a:p>
          <a:p>
            <a:pPr marL="192405" algn="just">
              <a:lnSpc>
                <a:spcPts val="1150"/>
              </a:lnSpc>
            </a:pPr>
            <a:r>
              <a:rPr sz="1000">
                <a:latin typeface="Times New Roman"/>
                <a:cs typeface="Times New Roman"/>
              </a:rPr>
              <a:t>In</a:t>
            </a:r>
            <a:r>
              <a:rPr sz="1000" spc="115">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case</a:t>
            </a:r>
            <a:r>
              <a:rPr sz="1000" spc="125">
                <a:latin typeface="Times New Roman"/>
                <a:cs typeface="Times New Roman"/>
              </a:rPr>
              <a:t> </a:t>
            </a:r>
            <a:r>
              <a:rPr sz="1000">
                <a:latin typeface="Times New Roman"/>
                <a:cs typeface="Times New Roman"/>
              </a:rPr>
              <a:t>of</a:t>
            </a:r>
            <a:r>
              <a:rPr sz="1000" spc="115">
                <a:latin typeface="Times New Roman"/>
                <a:cs typeface="Times New Roman"/>
              </a:rPr>
              <a:t> </a:t>
            </a:r>
            <a:r>
              <a:rPr sz="1000">
                <a:latin typeface="Times New Roman"/>
                <a:cs typeface="Times New Roman"/>
              </a:rPr>
              <a:t>companies</a:t>
            </a:r>
            <a:r>
              <a:rPr sz="1000" spc="120">
                <a:latin typeface="Times New Roman"/>
                <a:cs typeface="Times New Roman"/>
              </a:rPr>
              <a:t> </a:t>
            </a:r>
            <a:r>
              <a:rPr sz="1000">
                <a:latin typeface="Times New Roman"/>
                <a:cs typeface="Times New Roman"/>
              </a:rPr>
              <a:t>in</a:t>
            </a:r>
            <a:r>
              <a:rPr sz="1000" spc="125">
                <a:latin typeface="Times New Roman"/>
                <a:cs typeface="Times New Roman"/>
              </a:rPr>
              <a:t> </a:t>
            </a:r>
            <a:r>
              <a:rPr sz="1000">
                <a:latin typeface="Times New Roman"/>
                <a:cs typeface="Times New Roman"/>
              </a:rPr>
              <a:t>which</a:t>
            </a:r>
            <a:r>
              <a:rPr sz="1000" spc="115">
                <a:latin typeface="Times New Roman"/>
                <a:cs typeface="Times New Roman"/>
              </a:rPr>
              <a:t> </a:t>
            </a:r>
            <a:r>
              <a:rPr sz="1000">
                <a:latin typeface="Times New Roman"/>
                <a:cs typeface="Times New Roman"/>
              </a:rPr>
              <a:t>the</a:t>
            </a:r>
            <a:r>
              <a:rPr sz="1000" spc="135">
                <a:latin typeface="Times New Roman"/>
                <a:cs typeface="Times New Roman"/>
              </a:rPr>
              <a:t> </a:t>
            </a:r>
            <a:r>
              <a:rPr sz="1000">
                <a:latin typeface="Times New Roman"/>
                <a:cs typeface="Times New Roman"/>
              </a:rPr>
              <a:t>main</a:t>
            </a:r>
            <a:r>
              <a:rPr sz="1000" spc="125">
                <a:latin typeface="Times New Roman"/>
                <a:cs typeface="Times New Roman"/>
              </a:rPr>
              <a:t> </a:t>
            </a:r>
            <a:r>
              <a:rPr sz="1000">
                <a:latin typeface="Times New Roman"/>
                <a:cs typeface="Times New Roman"/>
              </a:rPr>
              <a:t>shareholder</a:t>
            </a:r>
            <a:r>
              <a:rPr sz="1000" spc="125">
                <a:latin typeface="Times New Roman"/>
                <a:cs typeface="Times New Roman"/>
              </a:rPr>
              <a:t> </a:t>
            </a:r>
            <a:r>
              <a:rPr sz="1000">
                <a:latin typeface="Times New Roman"/>
                <a:cs typeface="Times New Roman"/>
              </a:rPr>
              <a:t>was</a:t>
            </a:r>
            <a:r>
              <a:rPr sz="1000" spc="120">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State</a:t>
            </a:r>
            <a:r>
              <a:rPr sz="1000" spc="120">
                <a:latin typeface="Times New Roman"/>
                <a:cs typeface="Times New Roman"/>
              </a:rPr>
              <a:t> </a:t>
            </a:r>
            <a:r>
              <a:rPr sz="1000">
                <a:latin typeface="Times New Roman"/>
                <a:cs typeface="Times New Roman"/>
              </a:rPr>
              <a:t>Treasury,</a:t>
            </a:r>
            <a:r>
              <a:rPr sz="1000" spc="135">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average</a:t>
            </a:r>
            <a:r>
              <a:rPr sz="1000" spc="125">
                <a:latin typeface="Times New Roman"/>
                <a:cs typeface="Times New Roman"/>
              </a:rPr>
              <a:t> </a:t>
            </a:r>
            <a:r>
              <a:rPr sz="1000">
                <a:latin typeface="Times New Roman"/>
                <a:cs typeface="Times New Roman"/>
              </a:rPr>
              <a:t>dividend</a:t>
            </a:r>
            <a:r>
              <a:rPr sz="1000" spc="125">
                <a:latin typeface="Times New Roman"/>
                <a:cs typeface="Times New Roman"/>
              </a:rPr>
              <a:t> </a:t>
            </a:r>
            <a:r>
              <a:rPr sz="1000">
                <a:latin typeface="Times New Roman"/>
                <a:cs typeface="Times New Roman"/>
              </a:rPr>
              <a:t>payout</a:t>
            </a:r>
            <a:r>
              <a:rPr sz="1000" spc="120">
                <a:latin typeface="Times New Roman"/>
                <a:cs typeface="Times New Roman"/>
              </a:rPr>
              <a:t> </a:t>
            </a:r>
            <a:r>
              <a:rPr sz="1000">
                <a:latin typeface="Times New Roman"/>
                <a:cs typeface="Times New Roman"/>
              </a:rPr>
              <a:t>ratio</a:t>
            </a:r>
            <a:r>
              <a:rPr sz="1000" spc="140">
                <a:latin typeface="Times New Roman"/>
                <a:cs typeface="Times New Roman"/>
              </a:rPr>
              <a:t> </a:t>
            </a:r>
            <a:r>
              <a:rPr sz="1000">
                <a:latin typeface="Times New Roman"/>
                <a:cs typeface="Times New Roman"/>
              </a:rPr>
              <a:t>was</a:t>
            </a:r>
            <a:endParaRPr/>
          </a:p>
          <a:p>
            <a:pPr marL="12700" algn="just">
              <a:lnSpc>
                <a:spcPts val="1140"/>
              </a:lnSpc>
            </a:pPr>
            <a:r>
              <a:rPr sz="1000">
                <a:latin typeface="Times New Roman"/>
                <a:cs typeface="Times New Roman"/>
              </a:rPr>
              <a:t>higher</a:t>
            </a:r>
            <a:r>
              <a:rPr sz="1000" spc="65">
                <a:latin typeface="Times New Roman"/>
                <a:cs typeface="Times New Roman"/>
              </a:rPr>
              <a:t> </a:t>
            </a:r>
            <a:r>
              <a:rPr sz="1000">
                <a:latin typeface="Times New Roman"/>
                <a:cs typeface="Times New Roman"/>
              </a:rPr>
              <a:t>than the</a:t>
            </a:r>
            <a:r>
              <a:rPr sz="1000" spc="65">
                <a:latin typeface="Times New Roman"/>
                <a:cs typeface="Times New Roman"/>
              </a:rPr>
              <a:t> </a:t>
            </a:r>
            <a:r>
              <a:rPr sz="1000">
                <a:latin typeface="Times New Roman"/>
                <a:cs typeface="Times New Roman"/>
              </a:rPr>
              <a:t>average</a:t>
            </a:r>
            <a:r>
              <a:rPr sz="1000" spc="65">
                <a:latin typeface="Times New Roman"/>
                <a:cs typeface="Times New Roman"/>
              </a:rPr>
              <a:t> </a:t>
            </a:r>
            <a:r>
              <a:rPr sz="1000">
                <a:latin typeface="Times New Roman"/>
                <a:cs typeface="Times New Roman"/>
              </a:rPr>
              <a:t>value</a:t>
            </a:r>
            <a:r>
              <a:rPr sz="1000" spc="75">
                <a:latin typeface="Times New Roman"/>
                <a:cs typeface="Times New Roman"/>
              </a:rPr>
              <a:t> </a:t>
            </a:r>
            <a:r>
              <a:rPr sz="1000">
                <a:latin typeface="Times New Roman"/>
                <a:cs typeface="Times New Roman"/>
              </a:rPr>
              <a:t>calculated</a:t>
            </a:r>
            <a:r>
              <a:rPr sz="1000" spc="70">
                <a:latin typeface="Times New Roman"/>
                <a:cs typeface="Times New Roman"/>
              </a:rPr>
              <a:t> </a:t>
            </a:r>
            <a:r>
              <a:rPr sz="1000">
                <a:latin typeface="Times New Roman"/>
                <a:cs typeface="Times New Roman"/>
              </a:rPr>
              <a:t>for</a:t>
            </a:r>
            <a:r>
              <a:rPr sz="1000" spc="65">
                <a:latin typeface="Times New Roman"/>
                <a:cs typeface="Times New Roman"/>
              </a:rPr>
              <a:t> </a:t>
            </a:r>
            <a:r>
              <a:rPr sz="1000">
                <a:latin typeface="Times New Roman"/>
                <a:cs typeface="Times New Roman"/>
              </a:rPr>
              <a:t>the</a:t>
            </a:r>
            <a:r>
              <a:rPr sz="1000" spc="65">
                <a:latin typeface="Times New Roman"/>
                <a:cs typeface="Times New Roman"/>
              </a:rPr>
              <a:t> </a:t>
            </a:r>
            <a:r>
              <a:rPr sz="1000">
                <a:latin typeface="Times New Roman"/>
                <a:cs typeface="Times New Roman"/>
              </a:rPr>
              <a:t>research group</a:t>
            </a:r>
            <a:r>
              <a:rPr sz="1000" spc="100">
                <a:latin typeface="Times New Roman"/>
                <a:cs typeface="Times New Roman"/>
              </a:rPr>
              <a:t> </a:t>
            </a:r>
            <a:r>
              <a:rPr sz="1000">
                <a:latin typeface="Times New Roman"/>
                <a:cs typeface="Times New Roman"/>
              </a:rPr>
              <a:t>(mean and</a:t>
            </a:r>
            <a:r>
              <a:rPr sz="1000" spc="80">
                <a:latin typeface="Times New Roman"/>
                <a:cs typeface="Times New Roman"/>
              </a:rPr>
              <a:t> </a:t>
            </a:r>
            <a:r>
              <a:rPr sz="1000">
                <a:latin typeface="Times New Roman"/>
                <a:cs typeface="Times New Roman"/>
              </a:rPr>
              <a:t>median</a:t>
            </a:r>
            <a:r>
              <a:rPr sz="1000" spc="70">
                <a:latin typeface="Times New Roman"/>
                <a:cs typeface="Times New Roman"/>
              </a:rPr>
              <a:t> </a:t>
            </a:r>
            <a:r>
              <a:rPr sz="1000">
                <a:latin typeface="Times New Roman"/>
                <a:cs typeface="Times New Roman"/>
              </a:rPr>
              <a:t>were</a:t>
            </a:r>
            <a:r>
              <a:rPr sz="1000" spc="65">
                <a:latin typeface="Times New Roman"/>
                <a:cs typeface="Times New Roman"/>
              </a:rPr>
              <a:t> </a:t>
            </a:r>
            <a:r>
              <a:rPr sz="1000">
                <a:latin typeface="Times New Roman"/>
                <a:cs typeface="Times New Roman"/>
              </a:rPr>
              <a:t>72</a:t>
            </a:r>
            <a:r>
              <a:rPr sz="1000" spc="80">
                <a:latin typeface="Times New Roman"/>
                <a:cs typeface="Times New Roman"/>
              </a:rPr>
              <a:t> </a:t>
            </a:r>
            <a:r>
              <a:rPr sz="1000">
                <a:latin typeface="Times New Roman"/>
                <a:cs typeface="Times New Roman"/>
              </a:rPr>
              <a:t>%), a</a:t>
            </a:r>
            <a:r>
              <a:rPr sz="1000" spc="-5">
                <a:latin typeface="Times New Roman"/>
                <a:cs typeface="Times New Roman"/>
              </a:rPr>
              <a:t>nd</a:t>
            </a:r>
            <a:r>
              <a:rPr sz="1000" spc="80">
                <a:latin typeface="Times New Roman"/>
                <a:cs typeface="Times New Roman"/>
              </a:rPr>
              <a:t> </a:t>
            </a:r>
            <a:r>
              <a:rPr sz="1000">
                <a:latin typeface="Times New Roman"/>
                <a:cs typeface="Times New Roman"/>
              </a:rPr>
              <a:t>dividend</a:t>
            </a:r>
            <a:r>
              <a:rPr sz="1000" spc="65">
                <a:latin typeface="Times New Roman"/>
                <a:cs typeface="Times New Roman"/>
              </a:rPr>
              <a:t> </a:t>
            </a:r>
            <a:r>
              <a:rPr sz="1000">
                <a:latin typeface="Times New Roman"/>
                <a:cs typeface="Times New Roman"/>
              </a:rPr>
              <a:t>yield</a:t>
            </a:r>
            <a:r>
              <a:rPr sz="1000" spc="85">
                <a:latin typeface="Times New Roman"/>
                <a:cs typeface="Times New Roman"/>
              </a:rPr>
              <a:t> </a:t>
            </a:r>
            <a:r>
              <a:rPr sz="1000">
                <a:latin typeface="Times New Roman"/>
                <a:cs typeface="Times New Roman"/>
              </a:rPr>
              <a:t>was lower</a:t>
            </a:r>
            <a:endParaRPr/>
          </a:p>
          <a:p>
            <a:pPr marL="12700" algn="just">
              <a:lnSpc>
                <a:spcPts val="1155"/>
              </a:lnSpc>
            </a:pPr>
            <a:r>
              <a:rPr sz="1000">
                <a:latin typeface="Times New Roman"/>
                <a:cs typeface="Times New Roman"/>
              </a:rPr>
              <a:t>than</a:t>
            </a:r>
            <a:r>
              <a:rPr sz="1000" spc="115">
                <a:latin typeface="Times New Roman"/>
                <a:cs typeface="Times New Roman"/>
              </a:rPr>
              <a:t> </a:t>
            </a:r>
            <a:r>
              <a:rPr sz="1000">
                <a:latin typeface="Times New Roman"/>
                <a:cs typeface="Times New Roman"/>
              </a:rPr>
              <a:t>average</a:t>
            </a:r>
            <a:r>
              <a:rPr sz="1000" spc="130">
                <a:latin typeface="Times New Roman"/>
                <a:cs typeface="Times New Roman"/>
              </a:rPr>
              <a:t> </a:t>
            </a:r>
            <a:r>
              <a:rPr sz="1000">
                <a:latin typeface="Times New Roman"/>
                <a:cs typeface="Times New Roman"/>
              </a:rPr>
              <a:t>(mean</a:t>
            </a:r>
            <a:r>
              <a:rPr sz="1000" spc="115">
                <a:latin typeface="Times New Roman"/>
                <a:cs typeface="Times New Roman"/>
              </a:rPr>
              <a:t> </a:t>
            </a:r>
            <a:r>
              <a:rPr sz="1000">
                <a:latin typeface="Times New Roman"/>
                <a:cs typeface="Times New Roman"/>
              </a:rPr>
              <a:t>5</a:t>
            </a:r>
            <a:r>
              <a:rPr sz="1000" spc="130">
                <a:latin typeface="Times New Roman"/>
                <a:cs typeface="Times New Roman"/>
              </a:rPr>
              <a:t> </a:t>
            </a:r>
            <a:r>
              <a:rPr sz="1000">
                <a:latin typeface="Times New Roman"/>
                <a:cs typeface="Times New Roman"/>
              </a:rPr>
              <a:t>%,</a:t>
            </a:r>
            <a:r>
              <a:rPr sz="1000" spc="135">
                <a:latin typeface="Times New Roman"/>
                <a:cs typeface="Times New Roman"/>
              </a:rPr>
              <a:t> </a:t>
            </a:r>
            <a:r>
              <a:rPr sz="1000">
                <a:latin typeface="Times New Roman"/>
                <a:cs typeface="Times New Roman"/>
              </a:rPr>
              <a:t>median</a:t>
            </a:r>
            <a:r>
              <a:rPr sz="1000" spc="115">
                <a:latin typeface="Times New Roman"/>
                <a:cs typeface="Times New Roman"/>
              </a:rPr>
              <a:t> </a:t>
            </a:r>
            <a:r>
              <a:rPr sz="1000">
                <a:latin typeface="Times New Roman"/>
                <a:cs typeface="Times New Roman"/>
              </a:rPr>
              <a:t>3</a:t>
            </a:r>
            <a:r>
              <a:rPr sz="1000" spc="135">
                <a:latin typeface="Times New Roman"/>
                <a:cs typeface="Times New Roman"/>
              </a:rPr>
              <a:t> </a:t>
            </a:r>
            <a:r>
              <a:rPr sz="1000">
                <a:latin typeface="Times New Roman"/>
                <a:cs typeface="Times New Roman"/>
              </a:rPr>
              <a:t>%).</a:t>
            </a:r>
            <a:r>
              <a:rPr sz="1000" spc="130">
                <a:latin typeface="Times New Roman"/>
                <a:cs typeface="Times New Roman"/>
              </a:rPr>
              <a:t> </a:t>
            </a:r>
            <a:r>
              <a:rPr sz="1000">
                <a:latin typeface="Times New Roman"/>
                <a:cs typeface="Times New Roman"/>
              </a:rPr>
              <a:t>It</a:t>
            </a:r>
            <a:r>
              <a:rPr sz="1000" spc="120">
                <a:latin typeface="Times New Roman"/>
                <a:cs typeface="Times New Roman"/>
              </a:rPr>
              <a:t> </a:t>
            </a:r>
            <a:r>
              <a:rPr sz="1000">
                <a:latin typeface="Times New Roman"/>
                <a:cs typeface="Times New Roman"/>
              </a:rPr>
              <a:t>is</a:t>
            </a:r>
            <a:r>
              <a:rPr sz="1000" spc="130">
                <a:latin typeface="Times New Roman"/>
                <a:cs typeface="Times New Roman"/>
              </a:rPr>
              <a:t> </a:t>
            </a:r>
            <a:r>
              <a:rPr sz="1000">
                <a:latin typeface="Times New Roman"/>
                <a:cs typeface="Times New Roman"/>
              </a:rPr>
              <a:t>worth</a:t>
            </a:r>
            <a:r>
              <a:rPr sz="1000" spc="125">
                <a:latin typeface="Times New Roman"/>
                <a:cs typeface="Times New Roman"/>
              </a:rPr>
              <a:t> </a:t>
            </a:r>
            <a:r>
              <a:rPr sz="1000">
                <a:latin typeface="Times New Roman"/>
                <a:cs typeface="Times New Roman"/>
              </a:rPr>
              <a:t>noting</a:t>
            </a:r>
            <a:r>
              <a:rPr sz="1000" spc="125">
                <a:latin typeface="Times New Roman"/>
                <a:cs typeface="Times New Roman"/>
              </a:rPr>
              <a:t> </a:t>
            </a:r>
            <a:r>
              <a:rPr sz="1000">
                <a:latin typeface="Times New Roman"/>
                <a:cs typeface="Times New Roman"/>
              </a:rPr>
              <a:t>that</a:t>
            </a:r>
            <a:r>
              <a:rPr sz="1000" spc="120">
                <a:latin typeface="Times New Roman"/>
                <a:cs typeface="Times New Roman"/>
              </a:rPr>
              <a:t> </a:t>
            </a:r>
            <a:r>
              <a:rPr sz="1000">
                <a:latin typeface="Times New Roman"/>
                <a:cs typeface="Times New Roman"/>
              </a:rPr>
              <a:t>these</a:t>
            </a:r>
            <a:r>
              <a:rPr sz="1000" spc="125">
                <a:latin typeface="Times New Roman"/>
                <a:cs typeface="Times New Roman"/>
              </a:rPr>
              <a:t> </a:t>
            </a:r>
            <a:r>
              <a:rPr sz="1000">
                <a:latin typeface="Times New Roman"/>
                <a:cs typeface="Times New Roman"/>
              </a:rPr>
              <a:t>companies</a:t>
            </a:r>
            <a:r>
              <a:rPr sz="1000" spc="130">
                <a:latin typeface="Times New Roman"/>
                <a:cs typeface="Times New Roman"/>
              </a:rPr>
              <a:t> </a:t>
            </a:r>
            <a:r>
              <a:rPr sz="1000">
                <a:latin typeface="Times New Roman"/>
                <a:cs typeface="Times New Roman"/>
              </a:rPr>
              <a:t>were</a:t>
            </a:r>
            <a:r>
              <a:rPr sz="1000" spc="125">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least</a:t>
            </a:r>
            <a:r>
              <a:rPr sz="1000" spc="120">
                <a:latin typeface="Times New Roman"/>
                <a:cs typeface="Times New Roman"/>
              </a:rPr>
              <a:t> </a:t>
            </a:r>
            <a:r>
              <a:rPr sz="1000">
                <a:latin typeface="Times New Roman"/>
                <a:cs typeface="Times New Roman"/>
              </a:rPr>
              <a:t>profitable</a:t>
            </a:r>
            <a:r>
              <a:rPr sz="1000" spc="120">
                <a:latin typeface="Times New Roman"/>
                <a:cs typeface="Times New Roman"/>
              </a:rPr>
              <a:t> </a:t>
            </a:r>
            <a:r>
              <a:rPr sz="1000">
                <a:latin typeface="Times New Roman"/>
                <a:cs typeface="Times New Roman"/>
              </a:rPr>
              <a:t>entities</a:t>
            </a:r>
            <a:r>
              <a:rPr sz="1000" spc="120">
                <a:latin typeface="Times New Roman"/>
                <a:cs typeface="Times New Roman"/>
              </a:rPr>
              <a:t> </a:t>
            </a:r>
            <a:r>
              <a:rPr sz="1000">
                <a:latin typeface="Times New Roman"/>
                <a:cs typeface="Times New Roman"/>
              </a:rPr>
              <a:t>(return</a:t>
            </a:r>
            <a:r>
              <a:rPr sz="1000" spc="115">
                <a:latin typeface="Times New Roman"/>
                <a:cs typeface="Times New Roman"/>
              </a:rPr>
              <a:t> </a:t>
            </a:r>
            <a:r>
              <a:rPr sz="1000">
                <a:latin typeface="Times New Roman"/>
                <a:cs typeface="Times New Roman"/>
              </a:rPr>
              <a:t>on</a:t>
            </a:r>
            <a:endParaRPr/>
          </a:p>
          <a:p>
            <a:pPr marL="12700" algn="just">
              <a:lnSpc>
                <a:spcPts val="1155"/>
              </a:lnSpc>
            </a:pPr>
            <a:r>
              <a:rPr sz="1000">
                <a:latin typeface="Times New Roman"/>
                <a:cs typeface="Times New Roman"/>
              </a:rPr>
              <a:t>equity</a:t>
            </a:r>
            <a:r>
              <a:rPr sz="1000" spc="65">
                <a:latin typeface="Times New Roman"/>
                <a:cs typeface="Times New Roman"/>
              </a:rPr>
              <a:t> </a:t>
            </a:r>
            <a:r>
              <a:rPr sz="1000">
                <a:latin typeface="Times New Roman"/>
                <a:cs typeface="Times New Roman"/>
              </a:rPr>
              <a:t>was</a:t>
            </a:r>
            <a:r>
              <a:rPr sz="1000" spc="70">
                <a:latin typeface="Times New Roman"/>
                <a:cs typeface="Times New Roman"/>
              </a:rPr>
              <a:t> </a:t>
            </a:r>
            <a:r>
              <a:rPr sz="1000">
                <a:latin typeface="Times New Roman"/>
                <a:cs typeface="Times New Roman"/>
              </a:rPr>
              <a:t>5</a:t>
            </a:r>
            <a:r>
              <a:rPr sz="1000" spc="85">
                <a:latin typeface="Times New Roman"/>
                <a:cs typeface="Times New Roman"/>
              </a:rPr>
              <a:t> </a:t>
            </a:r>
            <a:r>
              <a:rPr sz="1000">
                <a:latin typeface="Times New Roman"/>
                <a:cs typeface="Times New Roman"/>
              </a:rPr>
              <a:t>%,</a:t>
            </a:r>
            <a:r>
              <a:rPr sz="1000" spc="75">
                <a:latin typeface="Times New Roman"/>
                <a:cs typeface="Times New Roman"/>
              </a:rPr>
              <a:t> </a:t>
            </a:r>
            <a:r>
              <a:rPr sz="1000">
                <a:latin typeface="Times New Roman"/>
                <a:cs typeface="Times New Roman"/>
              </a:rPr>
              <a:t>and</a:t>
            </a:r>
            <a:r>
              <a:rPr sz="1000" spc="80">
                <a:latin typeface="Times New Roman"/>
                <a:cs typeface="Times New Roman"/>
              </a:rPr>
              <a:t> </a:t>
            </a:r>
            <a:r>
              <a:rPr sz="1000">
                <a:latin typeface="Times New Roman"/>
                <a:cs typeface="Times New Roman"/>
              </a:rPr>
              <a:t>return</a:t>
            </a:r>
            <a:r>
              <a:rPr sz="1000" spc="65">
                <a:latin typeface="Times New Roman"/>
                <a:cs typeface="Times New Roman"/>
              </a:rPr>
              <a:t> </a:t>
            </a:r>
            <a:r>
              <a:rPr sz="1000">
                <a:latin typeface="Times New Roman"/>
                <a:cs typeface="Times New Roman"/>
              </a:rPr>
              <a:t>on</a:t>
            </a:r>
            <a:r>
              <a:rPr sz="1000" spc="65">
                <a:latin typeface="Times New Roman"/>
                <a:cs typeface="Times New Roman"/>
              </a:rPr>
              <a:t> </a:t>
            </a:r>
            <a:r>
              <a:rPr sz="1000">
                <a:latin typeface="Times New Roman"/>
                <a:cs typeface="Times New Roman"/>
              </a:rPr>
              <a:t>assets</a:t>
            </a:r>
            <a:r>
              <a:rPr sz="1000" spc="85">
                <a:latin typeface="Times New Roman"/>
                <a:cs typeface="Times New Roman"/>
              </a:rPr>
              <a:t> </a:t>
            </a:r>
            <a:r>
              <a:rPr sz="1000">
                <a:latin typeface="Times New Roman"/>
                <a:cs typeface="Times New Roman"/>
              </a:rPr>
              <a:t>was</a:t>
            </a:r>
            <a:r>
              <a:rPr sz="1000" spc="70">
                <a:latin typeface="Times New Roman"/>
                <a:cs typeface="Times New Roman"/>
              </a:rPr>
              <a:t> </a:t>
            </a:r>
            <a:r>
              <a:rPr sz="1000">
                <a:latin typeface="Times New Roman"/>
                <a:cs typeface="Times New Roman"/>
              </a:rPr>
              <a:t>8</a:t>
            </a:r>
            <a:r>
              <a:rPr sz="1000" spc="95">
                <a:latin typeface="Times New Roman"/>
                <a:cs typeface="Times New Roman"/>
              </a:rPr>
              <a:t> </a:t>
            </a:r>
            <a:r>
              <a:rPr sz="1000">
                <a:latin typeface="Times New Roman"/>
                <a:cs typeface="Times New Roman"/>
              </a:rPr>
              <a:t>%)</a:t>
            </a:r>
            <a:r>
              <a:rPr sz="1000" spc="75">
                <a:latin typeface="Times New Roman"/>
                <a:cs typeface="Times New Roman"/>
              </a:rPr>
              <a:t> </a:t>
            </a:r>
            <a:r>
              <a:rPr sz="1000">
                <a:latin typeface="Times New Roman"/>
                <a:cs typeface="Times New Roman"/>
              </a:rPr>
              <a:t>and</a:t>
            </a:r>
            <a:r>
              <a:rPr sz="1000" spc="80">
                <a:latin typeface="Times New Roman"/>
                <a:cs typeface="Times New Roman"/>
              </a:rPr>
              <a:t> </a:t>
            </a:r>
            <a:r>
              <a:rPr sz="1000">
                <a:latin typeface="Times New Roman"/>
                <a:cs typeface="Times New Roman"/>
              </a:rPr>
              <a:t>over</a:t>
            </a:r>
            <a:r>
              <a:rPr sz="1000" spc="85">
                <a:latin typeface="Times New Roman"/>
                <a:cs typeface="Times New Roman"/>
              </a:rPr>
              <a:t> </a:t>
            </a:r>
            <a:r>
              <a:rPr sz="1000">
                <a:latin typeface="Times New Roman"/>
                <a:cs typeface="Times New Roman"/>
              </a:rPr>
              <a:t>liquid</a:t>
            </a:r>
            <a:r>
              <a:rPr sz="1000" spc="75">
                <a:latin typeface="Times New Roman"/>
                <a:cs typeface="Times New Roman"/>
              </a:rPr>
              <a:t> </a:t>
            </a:r>
            <a:r>
              <a:rPr sz="1000">
                <a:latin typeface="Times New Roman"/>
                <a:cs typeface="Times New Roman"/>
              </a:rPr>
              <a:t>(average</a:t>
            </a:r>
            <a:r>
              <a:rPr sz="1000" spc="75">
                <a:latin typeface="Times New Roman"/>
                <a:cs typeface="Times New Roman"/>
              </a:rPr>
              <a:t> </a:t>
            </a:r>
            <a:r>
              <a:rPr sz="1000">
                <a:latin typeface="Times New Roman"/>
                <a:cs typeface="Times New Roman"/>
              </a:rPr>
              <a:t>liquidity ratios</a:t>
            </a:r>
            <a:r>
              <a:rPr sz="1000" spc="80">
                <a:latin typeface="Times New Roman"/>
                <a:cs typeface="Times New Roman"/>
              </a:rPr>
              <a:t> </a:t>
            </a:r>
            <a:r>
              <a:rPr sz="1000">
                <a:latin typeface="Times New Roman"/>
                <a:cs typeface="Times New Roman"/>
              </a:rPr>
              <a:t>were</a:t>
            </a:r>
            <a:r>
              <a:rPr sz="1000" spc="7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highest</a:t>
            </a:r>
            <a:r>
              <a:rPr sz="1000" spc="85">
                <a:latin typeface="Times New Roman"/>
                <a:cs typeface="Times New Roman"/>
              </a:rPr>
              <a:t> </a:t>
            </a:r>
            <a:r>
              <a:rPr sz="1000">
                <a:latin typeface="Times New Roman"/>
                <a:cs typeface="Times New Roman"/>
              </a:rPr>
              <a:t>in</a:t>
            </a:r>
            <a:r>
              <a:rPr sz="1000" spc="6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entire</a:t>
            </a:r>
            <a:r>
              <a:rPr sz="1000" spc="90">
                <a:latin typeface="Times New Roman"/>
                <a:cs typeface="Times New Roman"/>
              </a:rPr>
              <a:t> </a:t>
            </a:r>
            <a:r>
              <a:rPr sz="1000">
                <a:latin typeface="Times New Roman"/>
                <a:cs typeface="Times New Roman"/>
              </a:rPr>
              <a:t>group;</a:t>
            </a:r>
            <a:endParaRPr/>
          </a:p>
          <a:p>
            <a:pPr marL="12700" algn="just">
              <a:lnSpc>
                <a:spcPts val="1150"/>
              </a:lnSpc>
            </a:pPr>
            <a:r>
              <a:rPr sz="1000">
                <a:latin typeface="Times New Roman"/>
                <a:cs typeface="Times New Roman"/>
              </a:rPr>
              <a:t>current ratio was 3,28, and quick ratio was 3,01). These companies were also highly indebted. The average debt-to-equity ratio</a:t>
            </a:r>
            <a:endParaRPr/>
          </a:p>
          <a:p>
            <a:pPr marL="12700" algn="just">
              <a:lnSpc>
                <a:spcPts val="1155"/>
              </a:lnSpc>
            </a:pPr>
            <a:r>
              <a:rPr sz="1000">
                <a:latin typeface="Times New Roman"/>
                <a:cs typeface="Times New Roman"/>
              </a:rPr>
              <a:t>was</a:t>
            </a:r>
            <a:r>
              <a:rPr sz="1000" spc="180">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highest</a:t>
            </a:r>
            <a:r>
              <a:rPr sz="1000" spc="190">
                <a:latin typeface="Times New Roman"/>
                <a:cs typeface="Times New Roman"/>
              </a:rPr>
              <a:t> </a:t>
            </a:r>
            <a:r>
              <a:rPr sz="1000">
                <a:latin typeface="Times New Roman"/>
                <a:cs typeface="Times New Roman"/>
              </a:rPr>
              <a:t>in</a:t>
            </a:r>
            <a:r>
              <a:rPr sz="1000" spc="185">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group</a:t>
            </a:r>
            <a:r>
              <a:rPr sz="1000" spc="200">
                <a:latin typeface="Times New Roman"/>
                <a:cs typeface="Times New Roman"/>
              </a:rPr>
              <a:t> </a:t>
            </a:r>
            <a:r>
              <a:rPr sz="1000">
                <a:latin typeface="Times New Roman"/>
                <a:cs typeface="Times New Roman"/>
              </a:rPr>
              <a:t>and</a:t>
            </a:r>
            <a:r>
              <a:rPr sz="1000" spc="185">
                <a:latin typeface="Times New Roman"/>
                <a:cs typeface="Times New Roman"/>
              </a:rPr>
              <a:t> </a:t>
            </a:r>
            <a:r>
              <a:rPr sz="1000">
                <a:latin typeface="Times New Roman"/>
                <a:cs typeface="Times New Roman"/>
              </a:rPr>
              <a:t>equal</a:t>
            </a:r>
            <a:r>
              <a:rPr sz="1000" spc="180">
                <a:latin typeface="Times New Roman"/>
                <a:cs typeface="Times New Roman"/>
              </a:rPr>
              <a:t> </a:t>
            </a:r>
            <a:r>
              <a:rPr sz="1000">
                <a:latin typeface="Times New Roman"/>
                <a:cs typeface="Times New Roman"/>
              </a:rPr>
              <a:t>to</a:t>
            </a:r>
            <a:r>
              <a:rPr sz="1000" spc="185">
                <a:latin typeface="Times New Roman"/>
                <a:cs typeface="Times New Roman"/>
              </a:rPr>
              <a:t> </a:t>
            </a:r>
            <a:r>
              <a:rPr sz="1000">
                <a:latin typeface="Times New Roman"/>
                <a:cs typeface="Times New Roman"/>
              </a:rPr>
              <a:t>4,62.</a:t>
            </a:r>
            <a:r>
              <a:rPr sz="1000" spc="185">
                <a:latin typeface="Times New Roman"/>
                <a:cs typeface="Times New Roman"/>
              </a:rPr>
              <a:t> </a:t>
            </a:r>
            <a:r>
              <a:rPr sz="1000">
                <a:latin typeface="Times New Roman"/>
                <a:cs typeface="Times New Roman"/>
              </a:rPr>
              <a:t>Moreover,</a:t>
            </a:r>
            <a:r>
              <a:rPr sz="1000" spc="185">
                <a:latin typeface="Times New Roman"/>
                <a:cs typeface="Times New Roman"/>
              </a:rPr>
              <a:t> </a:t>
            </a:r>
            <a:r>
              <a:rPr sz="1000">
                <a:latin typeface="Times New Roman"/>
                <a:cs typeface="Times New Roman"/>
              </a:rPr>
              <a:t>these</a:t>
            </a:r>
            <a:r>
              <a:rPr sz="1000" spc="180">
                <a:latin typeface="Times New Roman"/>
                <a:cs typeface="Times New Roman"/>
              </a:rPr>
              <a:t> </a:t>
            </a:r>
            <a:r>
              <a:rPr sz="1000">
                <a:latin typeface="Times New Roman"/>
                <a:cs typeface="Times New Roman"/>
              </a:rPr>
              <a:t>companies</a:t>
            </a:r>
            <a:r>
              <a:rPr sz="1000" spc="200">
                <a:latin typeface="Times New Roman"/>
                <a:cs typeface="Times New Roman"/>
              </a:rPr>
              <a:t> </a:t>
            </a:r>
            <a:r>
              <a:rPr sz="1000">
                <a:latin typeface="Times New Roman"/>
                <a:cs typeface="Times New Roman"/>
              </a:rPr>
              <a:t>were</a:t>
            </a:r>
            <a:r>
              <a:rPr sz="1000" spc="185">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largest</a:t>
            </a:r>
            <a:r>
              <a:rPr sz="1000" spc="180">
                <a:latin typeface="Times New Roman"/>
                <a:cs typeface="Times New Roman"/>
              </a:rPr>
              <a:t> </a:t>
            </a:r>
            <a:r>
              <a:rPr sz="1000">
                <a:latin typeface="Times New Roman"/>
                <a:cs typeface="Times New Roman"/>
              </a:rPr>
              <a:t>(</a:t>
            </a:r>
            <a:r>
              <a:rPr sz="1000" i="1">
                <a:latin typeface="Times New Roman"/>
                <a:cs typeface="Times New Roman"/>
              </a:rPr>
              <a:t>Size</a:t>
            </a:r>
            <a:r>
              <a:rPr sz="1000" i="1" spc="209">
                <a:latin typeface="Times New Roman"/>
                <a:cs typeface="Times New Roman"/>
              </a:rPr>
              <a:t> </a:t>
            </a:r>
            <a:r>
              <a:rPr sz="1000">
                <a:latin typeface="Times New Roman"/>
                <a:cs typeface="Times New Roman"/>
              </a:rPr>
              <a:t>was</a:t>
            </a:r>
            <a:r>
              <a:rPr sz="1000" spc="180">
                <a:latin typeface="Times New Roman"/>
                <a:cs typeface="Times New Roman"/>
              </a:rPr>
              <a:t> </a:t>
            </a:r>
            <a:r>
              <a:rPr sz="1000">
                <a:latin typeface="Times New Roman"/>
                <a:cs typeface="Times New Roman"/>
              </a:rPr>
              <a:t>15,54),</a:t>
            </a:r>
            <a:r>
              <a:rPr sz="1000" spc="185">
                <a:latin typeface="Times New Roman"/>
                <a:cs typeface="Times New Roman"/>
              </a:rPr>
              <a:t> </a:t>
            </a:r>
            <a:r>
              <a:rPr sz="1000">
                <a:latin typeface="Times New Roman"/>
                <a:cs typeface="Times New Roman"/>
              </a:rPr>
              <a:t>and</a:t>
            </a:r>
            <a:r>
              <a:rPr sz="1000" spc="185">
                <a:latin typeface="Times New Roman"/>
                <a:cs typeface="Times New Roman"/>
              </a:rPr>
              <a:t> </a:t>
            </a:r>
            <a:r>
              <a:rPr sz="1000">
                <a:latin typeface="Times New Roman"/>
                <a:cs typeface="Times New Roman"/>
              </a:rPr>
              <a:t>their</a:t>
            </a:r>
            <a:endParaRPr/>
          </a:p>
          <a:p>
            <a:pPr marL="12700" algn="just">
              <a:lnSpc>
                <a:spcPts val="1150"/>
              </a:lnSpc>
            </a:pPr>
            <a:r>
              <a:rPr sz="1000">
                <a:latin typeface="Times New Roman"/>
                <a:cs typeface="Times New Roman"/>
              </a:rPr>
              <a:t>development opportunities were lower than the average calculated for the study group.</a:t>
            </a:r>
            <a:endParaRPr/>
          </a:p>
          <a:p>
            <a:pPr marL="192405" algn="just">
              <a:lnSpc>
                <a:spcPts val="1140"/>
              </a:lnSpc>
            </a:pPr>
            <a:r>
              <a:rPr sz="1000">
                <a:latin typeface="Times New Roman"/>
                <a:cs typeface="Times New Roman"/>
              </a:rPr>
              <a:t>The</a:t>
            </a:r>
            <a:r>
              <a:rPr sz="1000" spc="145">
                <a:latin typeface="Times New Roman"/>
                <a:cs typeface="Times New Roman"/>
              </a:rPr>
              <a:t> </a:t>
            </a:r>
            <a:r>
              <a:rPr sz="1000">
                <a:latin typeface="Times New Roman"/>
                <a:cs typeface="Times New Roman"/>
              </a:rPr>
              <a:t>analysis</a:t>
            </a:r>
            <a:r>
              <a:rPr sz="1000" spc="140">
                <a:latin typeface="Times New Roman"/>
                <a:cs typeface="Times New Roman"/>
              </a:rPr>
              <a:t> </a:t>
            </a:r>
            <a:r>
              <a:rPr sz="1000">
                <a:latin typeface="Times New Roman"/>
                <a:cs typeface="Times New Roman"/>
              </a:rPr>
              <a:t>of</a:t>
            </a:r>
            <a:r>
              <a:rPr sz="1000" spc="135">
                <a:latin typeface="Times New Roman"/>
                <a:cs typeface="Times New Roman"/>
              </a:rPr>
              <a:t> </a:t>
            </a:r>
            <a:r>
              <a:rPr sz="1000">
                <a:latin typeface="Times New Roman"/>
                <a:cs typeface="Times New Roman"/>
              </a:rPr>
              <a:t>companies</a:t>
            </a:r>
            <a:r>
              <a:rPr sz="1000" spc="155">
                <a:latin typeface="Times New Roman"/>
                <a:cs typeface="Times New Roman"/>
              </a:rPr>
              <a:t> </a:t>
            </a:r>
            <a:r>
              <a:rPr sz="1000">
                <a:latin typeface="Times New Roman"/>
                <a:cs typeface="Times New Roman"/>
              </a:rPr>
              <a:t>in</a:t>
            </a:r>
            <a:r>
              <a:rPr sz="1000" spc="160">
                <a:latin typeface="Times New Roman"/>
                <a:cs typeface="Times New Roman"/>
              </a:rPr>
              <a:t> </a:t>
            </a:r>
            <a:r>
              <a:rPr sz="1000">
                <a:latin typeface="Times New Roman"/>
                <a:cs typeface="Times New Roman"/>
              </a:rPr>
              <a:t>which</a:t>
            </a:r>
            <a:r>
              <a:rPr sz="1000" spc="140">
                <a:latin typeface="Times New Roman"/>
                <a:cs typeface="Times New Roman"/>
              </a:rPr>
              <a:t> </a:t>
            </a:r>
            <a:r>
              <a:rPr sz="1000">
                <a:latin typeface="Times New Roman"/>
                <a:cs typeface="Times New Roman"/>
              </a:rPr>
              <a:t>the</a:t>
            </a:r>
            <a:r>
              <a:rPr sz="1000" spc="160">
                <a:latin typeface="Times New Roman"/>
                <a:cs typeface="Times New Roman"/>
              </a:rPr>
              <a:t> </a:t>
            </a:r>
            <a:r>
              <a:rPr sz="1000">
                <a:latin typeface="Times New Roman"/>
                <a:cs typeface="Times New Roman"/>
              </a:rPr>
              <a:t>main</a:t>
            </a:r>
            <a:r>
              <a:rPr sz="1000" spc="140">
                <a:latin typeface="Times New Roman"/>
                <a:cs typeface="Times New Roman"/>
              </a:rPr>
              <a:t> </a:t>
            </a:r>
            <a:r>
              <a:rPr sz="1000">
                <a:latin typeface="Times New Roman"/>
                <a:cs typeface="Times New Roman"/>
              </a:rPr>
              <a:t>shareholder</a:t>
            </a:r>
            <a:r>
              <a:rPr sz="1000" spc="200">
                <a:latin typeface="Times New Roman"/>
                <a:cs typeface="Times New Roman"/>
              </a:rPr>
              <a:t> </a:t>
            </a:r>
            <a:r>
              <a:rPr sz="1000">
                <a:latin typeface="Times New Roman"/>
                <a:cs typeface="Times New Roman"/>
              </a:rPr>
              <a:t>was</a:t>
            </a:r>
            <a:r>
              <a:rPr sz="1000" spc="145">
                <a:latin typeface="Times New Roman"/>
                <a:cs typeface="Times New Roman"/>
              </a:rPr>
              <a:t> </a:t>
            </a:r>
            <a:r>
              <a:rPr sz="1000">
                <a:latin typeface="Times New Roman"/>
                <a:cs typeface="Times New Roman"/>
              </a:rPr>
              <a:t>an</a:t>
            </a:r>
            <a:r>
              <a:rPr sz="1000" spc="140">
                <a:latin typeface="Times New Roman"/>
                <a:cs typeface="Times New Roman"/>
              </a:rPr>
              <a:t> </a:t>
            </a:r>
            <a:r>
              <a:rPr sz="1000">
                <a:latin typeface="Times New Roman"/>
                <a:cs typeface="Times New Roman"/>
              </a:rPr>
              <a:t>individual</a:t>
            </a:r>
            <a:r>
              <a:rPr sz="1000" spc="145">
                <a:latin typeface="Times New Roman"/>
                <a:cs typeface="Times New Roman"/>
              </a:rPr>
              <a:t> </a:t>
            </a:r>
            <a:r>
              <a:rPr sz="1000">
                <a:latin typeface="Times New Roman"/>
                <a:cs typeface="Times New Roman"/>
              </a:rPr>
              <a:t>investor</a:t>
            </a:r>
            <a:r>
              <a:rPr sz="1000" spc="150">
                <a:latin typeface="Times New Roman"/>
                <a:cs typeface="Times New Roman"/>
              </a:rPr>
              <a:t> </a:t>
            </a:r>
            <a:r>
              <a:rPr sz="1000">
                <a:latin typeface="Times New Roman"/>
                <a:cs typeface="Times New Roman"/>
              </a:rPr>
              <a:t>showed</a:t>
            </a:r>
            <a:r>
              <a:rPr sz="1000" spc="150">
                <a:latin typeface="Times New Roman"/>
                <a:cs typeface="Times New Roman"/>
              </a:rPr>
              <a:t> </a:t>
            </a:r>
            <a:r>
              <a:rPr sz="1000">
                <a:latin typeface="Times New Roman"/>
                <a:cs typeface="Times New Roman"/>
              </a:rPr>
              <a:t>that</a:t>
            </a:r>
            <a:r>
              <a:rPr sz="1000" spc="155">
                <a:latin typeface="Times New Roman"/>
                <a:cs typeface="Times New Roman"/>
              </a:rPr>
              <a:t> </a:t>
            </a:r>
            <a:r>
              <a:rPr sz="1000">
                <a:latin typeface="Times New Roman"/>
                <a:cs typeface="Times New Roman"/>
              </a:rPr>
              <a:t>the</a:t>
            </a:r>
            <a:r>
              <a:rPr sz="1000" spc="160">
                <a:latin typeface="Times New Roman"/>
                <a:cs typeface="Times New Roman"/>
              </a:rPr>
              <a:t> </a:t>
            </a:r>
            <a:r>
              <a:rPr sz="1000">
                <a:latin typeface="Times New Roman"/>
                <a:cs typeface="Times New Roman"/>
              </a:rPr>
              <a:t>average</a:t>
            </a:r>
            <a:r>
              <a:rPr sz="1000" spc="145">
                <a:latin typeface="Times New Roman"/>
                <a:cs typeface="Times New Roman"/>
              </a:rPr>
              <a:t> </a:t>
            </a:r>
            <a:r>
              <a:rPr sz="1000">
                <a:latin typeface="Times New Roman"/>
                <a:cs typeface="Times New Roman"/>
              </a:rPr>
              <a:t>level</a:t>
            </a:r>
            <a:r>
              <a:rPr sz="1000" spc="155">
                <a:latin typeface="Times New Roman"/>
                <a:cs typeface="Times New Roman"/>
              </a:rPr>
              <a:t> </a:t>
            </a:r>
            <a:r>
              <a:rPr sz="1000">
                <a:latin typeface="Times New Roman"/>
                <a:cs typeface="Times New Roman"/>
              </a:rPr>
              <a:t>of</a:t>
            </a:r>
            <a:endParaRPr/>
          </a:p>
          <a:p>
            <a:pPr marL="12700" algn="just">
              <a:lnSpc>
                <a:spcPts val="1155"/>
              </a:lnSpc>
            </a:pPr>
            <a:r>
              <a:rPr sz="1000">
                <a:latin typeface="Times New Roman"/>
                <a:cs typeface="Times New Roman"/>
              </a:rPr>
              <a:t>dividend</a:t>
            </a:r>
            <a:r>
              <a:rPr sz="1000" spc="115">
                <a:latin typeface="Times New Roman"/>
                <a:cs typeface="Times New Roman"/>
              </a:rPr>
              <a:t> </a:t>
            </a:r>
            <a:r>
              <a:rPr sz="1000">
                <a:latin typeface="Times New Roman"/>
                <a:cs typeface="Times New Roman"/>
              </a:rPr>
              <a:t>payment</a:t>
            </a:r>
            <a:r>
              <a:rPr sz="1000" spc="110">
                <a:latin typeface="Times New Roman"/>
                <a:cs typeface="Times New Roman"/>
              </a:rPr>
              <a:t> </a:t>
            </a:r>
            <a:r>
              <a:rPr sz="1000">
                <a:latin typeface="Times New Roman"/>
                <a:cs typeface="Times New Roman"/>
              </a:rPr>
              <a:t>is</a:t>
            </a:r>
            <a:r>
              <a:rPr sz="1000" spc="104">
                <a:latin typeface="Times New Roman"/>
                <a:cs typeface="Times New Roman"/>
              </a:rPr>
              <a:t> </a:t>
            </a:r>
            <a:r>
              <a:rPr sz="1000">
                <a:latin typeface="Times New Roman"/>
                <a:cs typeface="Times New Roman"/>
              </a:rPr>
              <a:t>slightly</a:t>
            </a:r>
            <a:r>
              <a:rPr sz="1000" spc="104">
                <a:latin typeface="Times New Roman"/>
                <a:cs typeface="Times New Roman"/>
              </a:rPr>
              <a:t> </a:t>
            </a:r>
            <a:r>
              <a:rPr sz="1000">
                <a:latin typeface="Times New Roman"/>
                <a:cs typeface="Times New Roman"/>
              </a:rPr>
              <a:t>higher</a:t>
            </a:r>
            <a:r>
              <a:rPr sz="1000" spc="135">
                <a:latin typeface="Times New Roman"/>
                <a:cs typeface="Times New Roman"/>
              </a:rPr>
              <a:t> </a:t>
            </a:r>
            <a:r>
              <a:rPr sz="1000">
                <a:latin typeface="Times New Roman"/>
                <a:cs typeface="Times New Roman"/>
              </a:rPr>
              <a:t>for</a:t>
            </a:r>
            <a:r>
              <a:rPr sz="1000" spc="110">
                <a:latin typeface="Times New Roman"/>
                <a:cs typeface="Times New Roman"/>
              </a:rPr>
              <a:t> </a:t>
            </a:r>
            <a:r>
              <a:rPr sz="1000">
                <a:latin typeface="Times New Roman"/>
                <a:cs typeface="Times New Roman"/>
              </a:rPr>
              <a:t>them</a:t>
            </a:r>
            <a:r>
              <a:rPr sz="1000" spc="110">
                <a:latin typeface="Times New Roman"/>
                <a:cs typeface="Times New Roman"/>
              </a:rPr>
              <a:t> </a:t>
            </a:r>
            <a:r>
              <a:rPr sz="1000">
                <a:latin typeface="Times New Roman"/>
                <a:cs typeface="Times New Roman"/>
              </a:rPr>
              <a:t>than</a:t>
            </a:r>
            <a:r>
              <a:rPr sz="1000" spc="104">
                <a:latin typeface="Times New Roman"/>
                <a:cs typeface="Times New Roman"/>
              </a:rPr>
              <a:t> </a:t>
            </a:r>
            <a:r>
              <a:rPr sz="1000">
                <a:latin typeface="Times New Roman"/>
                <a:cs typeface="Times New Roman"/>
              </a:rPr>
              <a:t>for</a:t>
            </a:r>
            <a:r>
              <a:rPr sz="1000" spc="110">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entire</a:t>
            </a:r>
            <a:r>
              <a:rPr sz="1000" spc="125">
                <a:latin typeface="Times New Roman"/>
                <a:cs typeface="Times New Roman"/>
              </a:rPr>
              <a:t> </a:t>
            </a:r>
            <a:r>
              <a:rPr sz="1000">
                <a:latin typeface="Times New Roman"/>
                <a:cs typeface="Times New Roman"/>
              </a:rPr>
              <a:t>research</a:t>
            </a:r>
            <a:r>
              <a:rPr sz="1000" spc="104">
                <a:latin typeface="Times New Roman"/>
                <a:cs typeface="Times New Roman"/>
              </a:rPr>
              <a:t> </a:t>
            </a:r>
            <a:r>
              <a:rPr sz="1000">
                <a:latin typeface="Times New Roman"/>
                <a:cs typeface="Times New Roman"/>
              </a:rPr>
              <a:t>sample.</a:t>
            </a:r>
            <a:r>
              <a:rPr sz="1000" spc="120">
                <a:latin typeface="Times New Roman"/>
                <a:cs typeface="Times New Roman"/>
              </a:rPr>
              <a:t> </a:t>
            </a:r>
            <a:r>
              <a:rPr sz="1000">
                <a:latin typeface="Times New Roman"/>
                <a:cs typeface="Times New Roman"/>
              </a:rPr>
              <a:t>The</a:t>
            </a:r>
            <a:r>
              <a:rPr sz="1000" spc="110">
                <a:latin typeface="Times New Roman"/>
                <a:cs typeface="Times New Roman"/>
              </a:rPr>
              <a:t> </a:t>
            </a:r>
            <a:r>
              <a:rPr sz="1000">
                <a:latin typeface="Times New Roman"/>
                <a:cs typeface="Times New Roman"/>
              </a:rPr>
              <a:t>average</a:t>
            </a:r>
            <a:r>
              <a:rPr sz="1000" spc="110">
                <a:latin typeface="Times New Roman"/>
                <a:cs typeface="Times New Roman"/>
              </a:rPr>
              <a:t> </a:t>
            </a:r>
            <a:r>
              <a:rPr sz="1000">
                <a:latin typeface="Times New Roman"/>
                <a:cs typeface="Times New Roman"/>
              </a:rPr>
              <a:t>value</a:t>
            </a:r>
            <a:r>
              <a:rPr sz="1000" spc="110">
                <a:latin typeface="Times New Roman"/>
                <a:cs typeface="Times New Roman"/>
              </a:rPr>
              <a:t> </a:t>
            </a:r>
            <a:r>
              <a:rPr sz="1000">
                <a:latin typeface="Times New Roman"/>
                <a:cs typeface="Times New Roman"/>
              </a:rPr>
              <a:t>of</a:t>
            </a:r>
            <a:r>
              <a:rPr sz="1000" spc="100">
                <a:latin typeface="Times New Roman"/>
                <a:cs typeface="Times New Roman"/>
              </a:rPr>
              <a:t> </a:t>
            </a:r>
            <a:r>
              <a:rPr sz="1000">
                <a:latin typeface="Times New Roman"/>
                <a:cs typeface="Times New Roman"/>
              </a:rPr>
              <a:t>the</a:t>
            </a:r>
            <a:r>
              <a:rPr sz="1000" spc="110">
                <a:latin typeface="Times New Roman"/>
                <a:cs typeface="Times New Roman"/>
              </a:rPr>
              <a:t> </a:t>
            </a:r>
            <a:r>
              <a:rPr sz="1000">
                <a:latin typeface="Times New Roman"/>
                <a:cs typeface="Times New Roman"/>
              </a:rPr>
              <a:t>dividend</a:t>
            </a:r>
            <a:r>
              <a:rPr sz="1000" spc="115">
                <a:latin typeface="Times New Roman"/>
                <a:cs typeface="Times New Roman"/>
              </a:rPr>
              <a:t> </a:t>
            </a:r>
            <a:r>
              <a:rPr sz="1000">
                <a:latin typeface="Times New Roman"/>
                <a:cs typeface="Times New Roman"/>
              </a:rPr>
              <a:t>payout</a:t>
            </a:r>
            <a:endParaRPr/>
          </a:p>
          <a:p>
            <a:pPr marL="12700" algn="just">
              <a:lnSpc>
                <a:spcPts val="1150"/>
              </a:lnSpc>
            </a:pPr>
            <a:r>
              <a:rPr sz="1000" spc="-5">
                <a:latin typeface="Times New Roman"/>
                <a:cs typeface="Times New Roman"/>
              </a:rPr>
              <a:t>ratio</a:t>
            </a:r>
            <a:r>
              <a:rPr sz="1000" spc="11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67</a:t>
            </a:r>
            <a:r>
              <a:rPr sz="1000" spc="104">
                <a:latin typeface="Times New Roman"/>
                <a:cs typeface="Times New Roman"/>
              </a:rPr>
              <a:t> </a:t>
            </a:r>
            <a:r>
              <a:rPr sz="1000" spc="-5">
                <a:latin typeface="Times New Roman"/>
                <a:cs typeface="Times New Roman"/>
              </a:rPr>
              <a:t>%,</a:t>
            </a:r>
            <a:r>
              <a:rPr sz="1000" spc="95">
                <a:latin typeface="Times New Roman"/>
                <a:cs typeface="Times New Roman"/>
              </a:rPr>
              <a:t> </a:t>
            </a:r>
            <a:r>
              <a:rPr sz="1000" spc="-5">
                <a:latin typeface="Times New Roman"/>
                <a:cs typeface="Times New Roman"/>
              </a:rPr>
              <a:t>and</a:t>
            </a:r>
            <a:r>
              <a:rPr sz="1000" spc="95">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median</a:t>
            </a:r>
            <a:r>
              <a:rPr sz="1000" spc="10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75</a:t>
            </a:r>
            <a:r>
              <a:rPr sz="1000" spc="110">
                <a:latin typeface="Times New Roman"/>
                <a:cs typeface="Times New Roman"/>
              </a:rPr>
              <a:t> </a:t>
            </a:r>
            <a:r>
              <a:rPr sz="1000" spc="-5">
                <a:latin typeface="Times New Roman"/>
                <a:cs typeface="Times New Roman"/>
              </a:rPr>
              <a:t>%.</a:t>
            </a:r>
            <a:r>
              <a:rPr sz="1000" spc="95">
                <a:latin typeface="Times New Roman"/>
                <a:cs typeface="Times New Roman"/>
              </a:rPr>
              <a:t> </a:t>
            </a:r>
            <a:r>
              <a:rPr sz="1000" spc="-5">
                <a:latin typeface="Times New Roman"/>
                <a:cs typeface="Times New Roman"/>
              </a:rPr>
              <a:t>On</a:t>
            </a:r>
            <a:r>
              <a:rPr sz="1000" spc="85">
                <a:latin typeface="Times New Roman"/>
                <a:cs typeface="Times New Roman"/>
              </a:rPr>
              <a:t> </a:t>
            </a:r>
            <a:r>
              <a:rPr sz="1000" spc="-5">
                <a:latin typeface="Times New Roman"/>
                <a:cs typeface="Times New Roman"/>
              </a:rPr>
              <a:t>the</a:t>
            </a:r>
            <a:r>
              <a:rPr sz="1000" spc="95">
                <a:latin typeface="Times New Roman"/>
                <a:cs typeface="Times New Roman"/>
              </a:rPr>
              <a:t> </a:t>
            </a:r>
            <a:r>
              <a:rPr sz="1000" spc="-5">
                <a:latin typeface="Times New Roman"/>
                <a:cs typeface="Times New Roman"/>
              </a:rPr>
              <a:t>other</a:t>
            </a:r>
            <a:r>
              <a:rPr sz="1000" spc="95">
                <a:latin typeface="Times New Roman"/>
                <a:cs typeface="Times New Roman"/>
              </a:rPr>
              <a:t> </a:t>
            </a:r>
            <a:r>
              <a:rPr sz="1000" spc="-5">
                <a:latin typeface="Times New Roman"/>
                <a:cs typeface="Times New Roman"/>
              </a:rPr>
              <a:t>hand,</a:t>
            </a:r>
            <a:r>
              <a:rPr sz="1000" spc="95">
                <a:latin typeface="Times New Roman"/>
                <a:cs typeface="Times New Roman"/>
              </a:rPr>
              <a:t> </a:t>
            </a:r>
            <a:r>
              <a:rPr sz="1000" spc="-5">
                <a:latin typeface="Times New Roman"/>
                <a:cs typeface="Times New Roman"/>
              </a:rPr>
              <a:t>the</a:t>
            </a:r>
            <a:r>
              <a:rPr sz="1000" spc="95">
                <a:latin typeface="Times New Roman"/>
                <a:cs typeface="Times New Roman"/>
              </a:rPr>
              <a:t> </a:t>
            </a:r>
            <a:r>
              <a:rPr sz="1000" spc="-5">
                <a:latin typeface="Times New Roman"/>
                <a:cs typeface="Times New Roman"/>
              </a:rPr>
              <a:t>average</a:t>
            </a:r>
            <a:r>
              <a:rPr sz="1000" spc="95">
                <a:latin typeface="Times New Roman"/>
                <a:cs typeface="Times New Roman"/>
              </a:rPr>
              <a:t> </a:t>
            </a:r>
            <a:r>
              <a:rPr sz="1000" spc="-5">
                <a:latin typeface="Times New Roman"/>
                <a:cs typeface="Times New Roman"/>
              </a:rPr>
              <a:t>value</a:t>
            </a:r>
            <a:r>
              <a:rPr sz="1000" spc="95">
                <a:latin typeface="Times New Roman"/>
                <a:cs typeface="Times New Roman"/>
              </a:rPr>
              <a:t> </a:t>
            </a:r>
            <a:r>
              <a:rPr sz="1000" spc="-5">
                <a:latin typeface="Times New Roman"/>
                <a:cs typeface="Times New Roman"/>
              </a:rPr>
              <a:t>of</a:t>
            </a:r>
            <a:r>
              <a:rPr sz="1000" spc="85">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dividend</a:t>
            </a:r>
            <a:r>
              <a:rPr sz="1000" spc="110">
                <a:latin typeface="Times New Roman"/>
                <a:cs typeface="Times New Roman"/>
              </a:rPr>
              <a:t> </a:t>
            </a:r>
            <a:r>
              <a:rPr sz="1000" spc="-5">
                <a:latin typeface="Times New Roman"/>
                <a:cs typeface="Times New Roman"/>
              </a:rPr>
              <a:t>yield</a:t>
            </a:r>
            <a:r>
              <a:rPr sz="1000" spc="110">
                <a:latin typeface="Times New Roman"/>
                <a:cs typeface="Times New Roman"/>
              </a:rPr>
              <a:t> </a:t>
            </a:r>
            <a:r>
              <a:rPr sz="1000" spc="-5">
                <a:latin typeface="Times New Roman"/>
                <a:cs typeface="Times New Roman"/>
              </a:rPr>
              <a:t>was</a:t>
            </a:r>
            <a:r>
              <a:rPr sz="1000" spc="90">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same</a:t>
            </a:r>
            <a:r>
              <a:rPr sz="1000" spc="104">
                <a:latin typeface="Times New Roman"/>
                <a:cs typeface="Times New Roman"/>
              </a:rPr>
              <a:t> </a:t>
            </a:r>
            <a:r>
              <a:rPr sz="1000" spc="-5">
                <a:latin typeface="Times New Roman"/>
                <a:cs typeface="Times New Roman"/>
              </a:rPr>
              <a:t>as</a:t>
            </a:r>
            <a:r>
              <a:rPr sz="1000" spc="90">
                <a:latin typeface="Times New Roman"/>
                <a:cs typeface="Times New Roman"/>
              </a:rPr>
              <a:t> </a:t>
            </a:r>
            <a:r>
              <a:rPr sz="1000" spc="-5">
                <a:latin typeface="Times New Roman"/>
                <a:cs typeface="Times New Roman"/>
              </a:rPr>
              <a:t>the</a:t>
            </a:r>
            <a:endParaRPr/>
          </a:p>
          <a:p>
            <a:pPr marL="12700" algn="just">
              <a:lnSpc>
                <a:spcPts val="1150"/>
              </a:lnSpc>
            </a:pPr>
            <a:r>
              <a:rPr sz="1000">
                <a:latin typeface="Times New Roman"/>
                <a:cs typeface="Times New Roman"/>
              </a:rPr>
              <a:t>average</a:t>
            </a:r>
            <a:r>
              <a:rPr sz="1000" spc="170">
                <a:latin typeface="Times New Roman"/>
                <a:cs typeface="Times New Roman"/>
              </a:rPr>
              <a:t> </a:t>
            </a:r>
            <a:r>
              <a:rPr sz="1000">
                <a:latin typeface="Times New Roman"/>
                <a:cs typeface="Times New Roman"/>
              </a:rPr>
              <a:t>in</a:t>
            </a:r>
            <a:r>
              <a:rPr sz="1000" spc="165">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research</a:t>
            </a:r>
            <a:r>
              <a:rPr sz="1000" spc="165">
                <a:latin typeface="Times New Roman"/>
                <a:cs typeface="Times New Roman"/>
              </a:rPr>
              <a:t> </a:t>
            </a:r>
            <a:r>
              <a:rPr sz="1000">
                <a:latin typeface="Times New Roman"/>
                <a:cs typeface="Times New Roman"/>
              </a:rPr>
              <a:t>sample</a:t>
            </a:r>
            <a:r>
              <a:rPr sz="1000" spc="170">
                <a:latin typeface="Times New Roman"/>
                <a:cs typeface="Times New Roman"/>
              </a:rPr>
              <a:t> </a:t>
            </a:r>
            <a:r>
              <a:rPr sz="1000">
                <a:latin typeface="Times New Roman"/>
                <a:cs typeface="Times New Roman"/>
              </a:rPr>
              <a:t>and</a:t>
            </a:r>
            <a:r>
              <a:rPr sz="1000" spc="175">
                <a:latin typeface="Times New Roman"/>
                <a:cs typeface="Times New Roman"/>
              </a:rPr>
              <a:t> </a:t>
            </a:r>
            <a:r>
              <a:rPr sz="1000">
                <a:latin typeface="Times New Roman"/>
                <a:cs typeface="Times New Roman"/>
              </a:rPr>
              <a:t>equal</a:t>
            </a:r>
            <a:r>
              <a:rPr sz="1000" spc="170">
                <a:latin typeface="Times New Roman"/>
                <a:cs typeface="Times New Roman"/>
              </a:rPr>
              <a:t> </a:t>
            </a:r>
            <a:r>
              <a:rPr sz="1000">
                <a:latin typeface="Times New Roman"/>
                <a:cs typeface="Times New Roman"/>
              </a:rPr>
              <a:t>to</a:t>
            </a:r>
            <a:r>
              <a:rPr sz="1000" spc="175">
                <a:latin typeface="Times New Roman"/>
                <a:cs typeface="Times New Roman"/>
              </a:rPr>
              <a:t> </a:t>
            </a:r>
            <a:r>
              <a:rPr sz="1000">
                <a:latin typeface="Times New Roman"/>
                <a:cs typeface="Times New Roman"/>
              </a:rPr>
              <a:t>6</a:t>
            </a:r>
            <a:r>
              <a:rPr sz="1000" spc="195">
                <a:latin typeface="Times New Roman"/>
                <a:cs typeface="Times New Roman"/>
              </a:rPr>
              <a:t> </a:t>
            </a:r>
            <a:r>
              <a:rPr sz="1000">
                <a:latin typeface="Times New Roman"/>
                <a:cs typeface="Times New Roman"/>
              </a:rPr>
              <a:t>%.</a:t>
            </a:r>
            <a:r>
              <a:rPr sz="1000" spc="170">
                <a:latin typeface="Times New Roman"/>
                <a:cs typeface="Times New Roman"/>
              </a:rPr>
              <a:t> </a:t>
            </a:r>
            <a:r>
              <a:rPr sz="1000">
                <a:latin typeface="Times New Roman"/>
                <a:cs typeface="Times New Roman"/>
              </a:rPr>
              <a:t>Furthermore,</a:t>
            </a:r>
            <a:r>
              <a:rPr sz="1000" spc="175">
                <a:latin typeface="Times New Roman"/>
                <a:cs typeface="Times New Roman"/>
              </a:rPr>
              <a:t> </a:t>
            </a:r>
            <a:r>
              <a:rPr sz="1000">
                <a:latin typeface="Times New Roman"/>
                <a:cs typeface="Times New Roman"/>
              </a:rPr>
              <a:t>they</a:t>
            </a:r>
            <a:r>
              <a:rPr sz="1000" spc="175">
                <a:latin typeface="Times New Roman"/>
                <a:cs typeface="Times New Roman"/>
              </a:rPr>
              <a:t> </a:t>
            </a:r>
            <a:r>
              <a:rPr sz="1000">
                <a:latin typeface="Times New Roman"/>
                <a:cs typeface="Times New Roman"/>
              </a:rPr>
              <a:t>were</a:t>
            </a:r>
            <a:r>
              <a:rPr sz="1000" spc="170">
                <a:latin typeface="Times New Roman"/>
                <a:cs typeface="Times New Roman"/>
              </a:rPr>
              <a:t> </a:t>
            </a:r>
            <a:r>
              <a:rPr sz="1000">
                <a:latin typeface="Times New Roman"/>
                <a:cs typeface="Times New Roman"/>
              </a:rPr>
              <a:t>profitable</a:t>
            </a:r>
            <a:r>
              <a:rPr sz="1000" spc="170">
                <a:latin typeface="Times New Roman"/>
                <a:cs typeface="Times New Roman"/>
              </a:rPr>
              <a:t> </a:t>
            </a:r>
            <a:r>
              <a:rPr sz="1000">
                <a:latin typeface="Times New Roman"/>
                <a:cs typeface="Times New Roman"/>
              </a:rPr>
              <a:t>and</a:t>
            </a:r>
            <a:r>
              <a:rPr sz="1000" spc="175">
                <a:latin typeface="Times New Roman"/>
                <a:cs typeface="Times New Roman"/>
              </a:rPr>
              <a:t> </a:t>
            </a:r>
            <a:r>
              <a:rPr sz="1000">
                <a:latin typeface="Times New Roman"/>
                <a:cs typeface="Times New Roman"/>
              </a:rPr>
              <a:t>liquid</a:t>
            </a:r>
            <a:r>
              <a:rPr sz="1000" spc="175">
                <a:latin typeface="Times New Roman"/>
                <a:cs typeface="Times New Roman"/>
              </a:rPr>
              <a:t> </a:t>
            </a:r>
            <a:r>
              <a:rPr sz="1000">
                <a:latin typeface="Times New Roman"/>
                <a:cs typeface="Times New Roman"/>
              </a:rPr>
              <a:t>companies.</a:t>
            </a:r>
            <a:r>
              <a:rPr sz="1000" spc="170">
                <a:latin typeface="Times New Roman"/>
                <a:cs typeface="Times New Roman"/>
              </a:rPr>
              <a:t> </a:t>
            </a:r>
            <a:r>
              <a:rPr sz="1000">
                <a:latin typeface="Times New Roman"/>
                <a:cs typeface="Times New Roman"/>
              </a:rPr>
              <a:t>However,</a:t>
            </a:r>
            <a:r>
              <a:rPr sz="1000" spc="170">
                <a:latin typeface="Times New Roman"/>
                <a:cs typeface="Times New Roman"/>
              </a:rPr>
              <a:t> </a:t>
            </a:r>
            <a:r>
              <a:rPr sz="1000">
                <a:latin typeface="Times New Roman"/>
                <a:cs typeface="Times New Roman"/>
              </a:rPr>
              <a:t>the</a:t>
            </a:r>
            <a:endParaRPr/>
          </a:p>
          <a:p>
            <a:pPr marL="12700" algn="just">
              <a:lnSpc>
                <a:spcPts val="1155"/>
              </a:lnSpc>
            </a:pPr>
            <a:r>
              <a:rPr sz="1000">
                <a:latin typeface="Times New Roman"/>
                <a:cs typeface="Times New Roman"/>
              </a:rPr>
              <a:t>average</a:t>
            </a:r>
            <a:r>
              <a:rPr sz="1000" spc="460">
                <a:latin typeface="Times New Roman"/>
                <a:cs typeface="Times New Roman"/>
              </a:rPr>
              <a:t> </a:t>
            </a:r>
            <a:r>
              <a:rPr sz="1000">
                <a:latin typeface="Times New Roman"/>
                <a:cs typeface="Times New Roman"/>
              </a:rPr>
              <a:t>liquidity</a:t>
            </a:r>
            <a:r>
              <a:rPr sz="1000" spc="450">
                <a:latin typeface="Times New Roman"/>
                <a:cs typeface="Times New Roman"/>
              </a:rPr>
              <a:t> </a:t>
            </a:r>
            <a:r>
              <a:rPr sz="1000">
                <a:latin typeface="Times New Roman"/>
                <a:cs typeface="Times New Roman"/>
              </a:rPr>
              <a:t>was</a:t>
            </a:r>
            <a:r>
              <a:rPr sz="1000" spc="455">
                <a:latin typeface="Times New Roman"/>
                <a:cs typeface="Times New Roman"/>
              </a:rPr>
              <a:t> </a:t>
            </a:r>
            <a:r>
              <a:rPr sz="1000">
                <a:latin typeface="Times New Roman"/>
                <a:cs typeface="Times New Roman"/>
              </a:rPr>
              <a:t>lower</a:t>
            </a:r>
            <a:r>
              <a:rPr sz="1000" spc="460">
                <a:latin typeface="Times New Roman"/>
                <a:cs typeface="Times New Roman"/>
              </a:rPr>
              <a:t> </a:t>
            </a:r>
            <a:r>
              <a:rPr sz="1000">
                <a:latin typeface="Times New Roman"/>
                <a:cs typeface="Times New Roman"/>
              </a:rPr>
              <a:t>than</a:t>
            </a:r>
            <a:r>
              <a:rPr sz="1000" spc="455">
                <a:latin typeface="Times New Roman"/>
                <a:cs typeface="Times New Roman"/>
              </a:rPr>
              <a:t> </a:t>
            </a:r>
            <a:r>
              <a:rPr sz="1000">
                <a:latin typeface="Times New Roman"/>
                <a:cs typeface="Times New Roman"/>
              </a:rPr>
              <a:t>in</a:t>
            </a:r>
            <a:r>
              <a:rPr sz="1000" spc="450">
                <a:latin typeface="Times New Roman"/>
                <a:cs typeface="Times New Roman"/>
              </a:rPr>
              <a:t> </a:t>
            </a:r>
            <a:r>
              <a:rPr sz="1000">
                <a:latin typeface="Times New Roman"/>
                <a:cs typeface="Times New Roman"/>
              </a:rPr>
              <a:t>the</a:t>
            </a:r>
            <a:r>
              <a:rPr sz="1000" spc="460">
                <a:latin typeface="Times New Roman"/>
                <a:cs typeface="Times New Roman"/>
              </a:rPr>
              <a:t> </a:t>
            </a:r>
            <a:r>
              <a:rPr sz="1000">
                <a:latin typeface="Times New Roman"/>
                <a:cs typeface="Times New Roman"/>
              </a:rPr>
              <a:t>research</a:t>
            </a:r>
            <a:r>
              <a:rPr sz="1000" spc="465">
                <a:latin typeface="Times New Roman"/>
                <a:cs typeface="Times New Roman"/>
              </a:rPr>
              <a:t> </a:t>
            </a:r>
            <a:r>
              <a:rPr sz="1000">
                <a:latin typeface="Times New Roman"/>
                <a:cs typeface="Times New Roman"/>
              </a:rPr>
              <a:t>group.</a:t>
            </a:r>
            <a:r>
              <a:rPr sz="1000" spc="460">
                <a:latin typeface="Times New Roman"/>
                <a:cs typeface="Times New Roman"/>
              </a:rPr>
              <a:t> </a:t>
            </a:r>
            <a:r>
              <a:rPr sz="1000">
                <a:latin typeface="Times New Roman"/>
                <a:cs typeface="Times New Roman"/>
              </a:rPr>
              <a:t>Moreover,</a:t>
            </a:r>
            <a:r>
              <a:rPr sz="1000" spc="460">
                <a:latin typeface="Times New Roman"/>
                <a:cs typeface="Times New Roman"/>
              </a:rPr>
              <a:t> </a:t>
            </a:r>
            <a:r>
              <a:rPr sz="1000">
                <a:latin typeface="Times New Roman"/>
                <a:cs typeface="Times New Roman"/>
              </a:rPr>
              <a:t>they</a:t>
            </a:r>
            <a:r>
              <a:rPr sz="1000" spc="450">
                <a:latin typeface="Times New Roman"/>
                <a:cs typeface="Times New Roman"/>
              </a:rPr>
              <a:t> </a:t>
            </a:r>
            <a:r>
              <a:rPr sz="1000">
                <a:latin typeface="Times New Roman"/>
                <a:cs typeface="Times New Roman"/>
              </a:rPr>
              <a:t>were</a:t>
            </a:r>
            <a:r>
              <a:rPr sz="1000" spc="460">
                <a:latin typeface="Times New Roman"/>
                <a:cs typeface="Times New Roman"/>
              </a:rPr>
              <a:t> </a:t>
            </a:r>
            <a:r>
              <a:rPr sz="1000">
                <a:latin typeface="Times New Roman"/>
                <a:cs typeface="Times New Roman"/>
              </a:rPr>
              <a:t>relatively</a:t>
            </a:r>
            <a:r>
              <a:rPr sz="1000" spc="450">
                <a:latin typeface="Times New Roman"/>
                <a:cs typeface="Times New Roman"/>
              </a:rPr>
              <a:t> </a:t>
            </a:r>
            <a:r>
              <a:rPr sz="1000">
                <a:latin typeface="Times New Roman"/>
                <a:cs typeface="Times New Roman"/>
              </a:rPr>
              <a:t>low-indebted</a:t>
            </a:r>
            <a:r>
              <a:rPr sz="1000" spc="465">
                <a:latin typeface="Times New Roman"/>
                <a:cs typeface="Times New Roman"/>
              </a:rPr>
              <a:t> </a:t>
            </a:r>
            <a:r>
              <a:rPr sz="1000">
                <a:latin typeface="Times New Roman"/>
                <a:cs typeface="Times New Roman"/>
              </a:rPr>
              <a:t>companies</a:t>
            </a:r>
            <a:endParaRPr/>
          </a:p>
          <a:p>
            <a:pPr marL="12700" algn="just">
              <a:lnSpc>
                <a:spcPts val="1135"/>
              </a:lnSpc>
            </a:pPr>
            <a:r>
              <a:rPr sz="1000">
                <a:latin typeface="Times New Roman"/>
                <a:cs typeface="Times New Roman"/>
              </a:rPr>
              <a:t>(</a:t>
            </a:r>
            <a:r>
              <a:rPr sz="1000" i="1">
                <a:latin typeface="Times New Roman"/>
                <a:cs typeface="Times New Roman"/>
              </a:rPr>
              <a:t>Debt </a:t>
            </a:r>
            <a:r>
              <a:rPr sz="1000">
                <a:latin typeface="Times New Roman"/>
                <a:cs typeface="Times New Roman"/>
              </a:rPr>
              <a:t>was 0,38, and </a:t>
            </a:r>
            <a:r>
              <a:rPr sz="1000" i="1">
                <a:latin typeface="Times New Roman"/>
                <a:cs typeface="Times New Roman"/>
              </a:rPr>
              <a:t>Leverage </a:t>
            </a:r>
            <a:r>
              <a:rPr sz="1000">
                <a:latin typeface="Times New Roman"/>
                <a:cs typeface="Times New Roman"/>
              </a:rPr>
              <a:t>1,48), smaller (</a:t>
            </a:r>
            <a:r>
              <a:rPr sz="1000" i="1">
                <a:latin typeface="Times New Roman"/>
                <a:cs typeface="Times New Roman"/>
              </a:rPr>
              <a:t>Size </a:t>
            </a:r>
            <a:r>
              <a:rPr sz="1000">
                <a:latin typeface="Times New Roman"/>
                <a:cs typeface="Times New Roman"/>
              </a:rPr>
              <a:t>was 12,57) and with average growth potential (</a:t>
            </a:r>
            <a:r>
              <a:rPr sz="1000" i="1">
                <a:latin typeface="Times New Roman"/>
                <a:cs typeface="Times New Roman"/>
              </a:rPr>
              <a:t>Growth </a:t>
            </a:r>
            <a:r>
              <a:rPr sz="1000">
                <a:latin typeface="Times New Roman"/>
                <a:cs typeface="Times New Roman"/>
              </a:rPr>
              <a:t>was 1,53).</a:t>
            </a:r>
            <a:endParaRPr/>
          </a:p>
          <a:p>
            <a:pPr marL="192405" algn="just">
              <a:lnSpc>
                <a:spcPts val="1155"/>
              </a:lnSpc>
            </a:pPr>
            <a:r>
              <a:rPr sz="1000">
                <a:latin typeface="Times New Roman"/>
                <a:cs typeface="Times New Roman"/>
              </a:rPr>
              <a:t>The</a:t>
            </a:r>
            <a:r>
              <a:rPr sz="1000" spc="230">
                <a:latin typeface="Times New Roman"/>
                <a:cs typeface="Times New Roman"/>
              </a:rPr>
              <a:t> </a:t>
            </a:r>
            <a:r>
              <a:rPr sz="1000">
                <a:latin typeface="Times New Roman"/>
                <a:cs typeface="Times New Roman"/>
              </a:rPr>
              <a:t>last</a:t>
            </a:r>
            <a:r>
              <a:rPr sz="1000" spc="225">
                <a:latin typeface="Times New Roman"/>
                <a:cs typeface="Times New Roman"/>
              </a:rPr>
              <a:t> </a:t>
            </a:r>
            <a:r>
              <a:rPr sz="1000">
                <a:latin typeface="Times New Roman"/>
                <a:cs typeface="Times New Roman"/>
              </a:rPr>
              <a:t>analyzed</a:t>
            </a:r>
            <a:r>
              <a:rPr sz="1000" spc="245">
                <a:latin typeface="Times New Roman"/>
                <a:cs typeface="Times New Roman"/>
              </a:rPr>
              <a:t> </a:t>
            </a:r>
            <a:r>
              <a:rPr sz="1000">
                <a:latin typeface="Times New Roman"/>
                <a:cs typeface="Times New Roman"/>
              </a:rPr>
              <a:t>group</a:t>
            </a:r>
            <a:r>
              <a:rPr sz="1000" spc="245">
                <a:latin typeface="Times New Roman"/>
                <a:cs typeface="Times New Roman"/>
              </a:rPr>
              <a:t> </a:t>
            </a:r>
            <a:r>
              <a:rPr sz="1000">
                <a:latin typeface="Times New Roman"/>
                <a:cs typeface="Times New Roman"/>
              </a:rPr>
              <a:t>were</a:t>
            </a:r>
            <a:r>
              <a:rPr sz="1000" spc="230">
                <a:latin typeface="Times New Roman"/>
                <a:cs typeface="Times New Roman"/>
              </a:rPr>
              <a:t> </a:t>
            </a:r>
            <a:r>
              <a:rPr sz="1000">
                <a:latin typeface="Times New Roman"/>
                <a:cs typeface="Times New Roman"/>
              </a:rPr>
              <a:t>companies</a:t>
            </a:r>
            <a:r>
              <a:rPr sz="1000" spc="225">
                <a:latin typeface="Times New Roman"/>
                <a:cs typeface="Times New Roman"/>
              </a:rPr>
              <a:t> </a:t>
            </a:r>
            <a:r>
              <a:rPr sz="1000">
                <a:latin typeface="Times New Roman"/>
                <a:cs typeface="Times New Roman"/>
              </a:rPr>
              <a:t>in</a:t>
            </a:r>
            <a:r>
              <a:rPr sz="1000" spc="234">
                <a:latin typeface="Times New Roman"/>
                <a:cs typeface="Times New Roman"/>
              </a:rPr>
              <a:t> </a:t>
            </a:r>
            <a:r>
              <a:rPr sz="1000">
                <a:latin typeface="Times New Roman"/>
                <a:cs typeface="Times New Roman"/>
              </a:rPr>
              <a:t>which</a:t>
            </a:r>
            <a:r>
              <a:rPr sz="1000" spc="234">
                <a:latin typeface="Times New Roman"/>
                <a:cs typeface="Times New Roman"/>
              </a:rPr>
              <a:t> </a:t>
            </a:r>
            <a:r>
              <a:rPr sz="1000">
                <a:latin typeface="Times New Roman"/>
                <a:cs typeface="Times New Roman"/>
              </a:rPr>
              <a:t>the</a:t>
            </a:r>
            <a:r>
              <a:rPr sz="1000" spc="240">
                <a:latin typeface="Times New Roman"/>
                <a:cs typeface="Times New Roman"/>
              </a:rPr>
              <a:t> </a:t>
            </a:r>
            <a:r>
              <a:rPr sz="1000">
                <a:latin typeface="Times New Roman"/>
                <a:cs typeface="Times New Roman"/>
              </a:rPr>
              <a:t>first-largest</a:t>
            </a:r>
            <a:r>
              <a:rPr sz="1000" spc="240">
                <a:latin typeface="Times New Roman"/>
                <a:cs typeface="Times New Roman"/>
              </a:rPr>
              <a:t> </a:t>
            </a:r>
            <a:r>
              <a:rPr sz="1000">
                <a:latin typeface="Times New Roman"/>
                <a:cs typeface="Times New Roman"/>
              </a:rPr>
              <a:t>shareholder</a:t>
            </a:r>
            <a:r>
              <a:rPr sz="1000" spc="245">
                <a:latin typeface="Times New Roman"/>
                <a:cs typeface="Times New Roman"/>
              </a:rPr>
              <a:t> </a:t>
            </a:r>
            <a:r>
              <a:rPr sz="1000">
                <a:latin typeface="Times New Roman"/>
                <a:cs typeface="Times New Roman"/>
              </a:rPr>
              <a:t>were</a:t>
            </a:r>
            <a:r>
              <a:rPr sz="1000" spc="230">
                <a:latin typeface="Times New Roman"/>
                <a:cs typeface="Times New Roman"/>
              </a:rPr>
              <a:t> </a:t>
            </a:r>
            <a:r>
              <a:rPr sz="1000">
                <a:latin typeface="Times New Roman"/>
                <a:cs typeface="Times New Roman"/>
              </a:rPr>
              <a:t>legal</a:t>
            </a:r>
            <a:r>
              <a:rPr sz="1000" spc="230">
                <a:latin typeface="Times New Roman"/>
                <a:cs typeface="Times New Roman"/>
              </a:rPr>
              <a:t> </a:t>
            </a:r>
            <a:r>
              <a:rPr sz="1000">
                <a:latin typeface="Times New Roman"/>
                <a:cs typeface="Times New Roman"/>
              </a:rPr>
              <a:t>persons.</a:t>
            </a:r>
            <a:r>
              <a:rPr sz="1000" spc="230">
                <a:latin typeface="Times New Roman"/>
                <a:cs typeface="Times New Roman"/>
              </a:rPr>
              <a:t> </a:t>
            </a:r>
            <a:r>
              <a:rPr sz="1000">
                <a:latin typeface="Times New Roman"/>
                <a:cs typeface="Times New Roman"/>
              </a:rPr>
              <a:t>In</a:t>
            </a:r>
            <a:r>
              <a:rPr sz="1000" spc="234">
                <a:latin typeface="Times New Roman"/>
                <a:cs typeface="Times New Roman"/>
              </a:rPr>
              <a:t> </a:t>
            </a:r>
            <a:r>
              <a:rPr sz="1000">
                <a:latin typeface="Times New Roman"/>
                <a:cs typeface="Times New Roman"/>
              </a:rPr>
              <a:t>this</a:t>
            </a:r>
            <a:r>
              <a:rPr sz="1000" spc="240">
                <a:latin typeface="Times New Roman"/>
                <a:cs typeface="Times New Roman"/>
              </a:rPr>
              <a:t> </a:t>
            </a:r>
            <a:r>
              <a:rPr sz="1000">
                <a:latin typeface="Times New Roman"/>
                <a:cs typeface="Times New Roman"/>
              </a:rPr>
              <a:t>group</a:t>
            </a:r>
            <a:r>
              <a:rPr sz="1000" spc="245">
                <a:latin typeface="Times New Roman"/>
                <a:cs typeface="Times New Roman"/>
              </a:rPr>
              <a:t> </a:t>
            </a:r>
            <a:r>
              <a:rPr sz="1000">
                <a:latin typeface="Times New Roman"/>
                <a:cs typeface="Times New Roman"/>
              </a:rPr>
              <a:t>of</a:t>
            </a:r>
            <a:endParaRPr/>
          </a:p>
          <a:p>
            <a:pPr marL="12700" algn="just">
              <a:lnSpc>
                <a:spcPts val="1155"/>
              </a:lnSpc>
            </a:pPr>
            <a:r>
              <a:rPr sz="1000" spc="-5">
                <a:latin typeface="Times New Roman"/>
                <a:cs typeface="Times New Roman"/>
              </a:rPr>
              <a:t>companies,</a:t>
            </a:r>
            <a:r>
              <a:rPr sz="1000" spc="80">
                <a:latin typeface="Times New Roman"/>
                <a:cs typeface="Times New Roman"/>
              </a:rPr>
              <a:t> </a:t>
            </a:r>
            <a:r>
              <a:rPr sz="1000" spc="-5">
                <a:latin typeface="Times New Roman"/>
                <a:cs typeface="Times New Roman"/>
              </a:rPr>
              <a:t>it</a:t>
            </a:r>
            <a:r>
              <a:rPr sz="1000" spc="90">
                <a:latin typeface="Times New Roman"/>
                <a:cs typeface="Times New Roman"/>
              </a:rPr>
              <a:t> </a:t>
            </a:r>
            <a:r>
              <a:rPr sz="1000" spc="-5">
                <a:latin typeface="Times New Roman"/>
                <a:cs typeface="Times New Roman"/>
              </a:rPr>
              <a:t>was</a:t>
            </a:r>
            <a:r>
              <a:rPr sz="1000" spc="80">
                <a:latin typeface="Times New Roman"/>
                <a:cs typeface="Times New Roman"/>
              </a:rPr>
              <a:t> </a:t>
            </a:r>
            <a:r>
              <a:rPr sz="1000" spc="-5">
                <a:latin typeface="Times New Roman"/>
                <a:cs typeface="Times New Roman"/>
              </a:rPr>
              <a:t>observed</a:t>
            </a:r>
            <a:r>
              <a:rPr sz="1000" spc="85">
                <a:latin typeface="Times New Roman"/>
                <a:cs typeface="Times New Roman"/>
              </a:rPr>
              <a:t> </a:t>
            </a:r>
            <a:r>
              <a:rPr sz="1000" spc="-5">
                <a:latin typeface="Times New Roman"/>
                <a:cs typeface="Times New Roman"/>
              </a:rPr>
              <a:t>that</a:t>
            </a:r>
            <a:r>
              <a:rPr sz="1000" spc="95">
                <a:latin typeface="Times New Roman"/>
                <a:cs typeface="Times New Roman"/>
              </a:rPr>
              <a:t> </a:t>
            </a:r>
            <a:r>
              <a:rPr sz="1000" spc="-5">
                <a:latin typeface="Times New Roman"/>
                <a:cs typeface="Times New Roman"/>
              </a:rPr>
              <a:t>most</a:t>
            </a:r>
            <a:r>
              <a:rPr sz="1000" spc="80">
                <a:latin typeface="Times New Roman"/>
                <a:cs typeface="Times New Roman"/>
              </a:rPr>
              <a:t> </a:t>
            </a:r>
            <a:r>
              <a:rPr sz="1000" spc="-5">
                <a:latin typeface="Times New Roman"/>
                <a:cs typeface="Times New Roman"/>
              </a:rPr>
              <a:t>of</a:t>
            </a:r>
            <a:r>
              <a:rPr sz="1000" spc="70">
                <a:latin typeface="Times New Roman"/>
                <a:cs typeface="Times New Roman"/>
              </a:rPr>
              <a:t> </a:t>
            </a:r>
            <a:r>
              <a:rPr sz="1000" spc="-5">
                <a:latin typeface="Times New Roman"/>
                <a:cs typeface="Times New Roman"/>
              </a:rPr>
              <a:t>the</a:t>
            </a:r>
            <a:r>
              <a:rPr sz="1000" spc="80">
                <a:latin typeface="Times New Roman"/>
                <a:cs typeface="Times New Roman"/>
              </a:rPr>
              <a:t> </a:t>
            </a:r>
            <a:r>
              <a:rPr sz="1000" spc="-5">
                <a:latin typeface="Times New Roman"/>
                <a:cs typeface="Times New Roman"/>
              </a:rPr>
              <a:t>analyzed</a:t>
            </a:r>
            <a:r>
              <a:rPr sz="1000" spc="85">
                <a:latin typeface="Times New Roman"/>
                <a:cs typeface="Times New Roman"/>
              </a:rPr>
              <a:t> </a:t>
            </a:r>
            <a:r>
              <a:rPr sz="1000" spc="-5">
                <a:latin typeface="Times New Roman"/>
                <a:cs typeface="Times New Roman"/>
              </a:rPr>
              <a:t>financial</a:t>
            </a:r>
            <a:r>
              <a:rPr sz="1000" spc="80">
                <a:latin typeface="Times New Roman"/>
                <a:cs typeface="Times New Roman"/>
              </a:rPr>
              <a:t> </a:t>
            </a:r>
            <a:r>
              <a:rPr sz="1000" spc="-5">
                <a:latin typeface="Times New Roman"/>
                <a:cs typeface="Times New Roman"/>
              </a:rPr>
              <a:t>ratios</a:t>
            </a:r>
            <a:r>
              <a:rPr sz="1000" spc="75">
                <a:latin typeface="Times New Roman"/>
                <a:cs typeface="Times New Roman"/>
              </a:rPr>
              <a:t> </a:t>
            </a:r>
            <a:r>
              <a:rPr sz="1000" spc="-5">
                <a:latin typeface="Times New Roman"/>
                <a:cs typeface="Times New Roman"/>
              </a:rPr>
              <a:t>(except</a:t>
            </a:r>
            <a:r>
              <a:rPr sz="1000" spc="80">
                <a:latin typeface="Times New Roman"/>
                <a:cs typeface="Times New Roman"/>
              </a:rPr>
              <a:t> </a:t>
            </a:r>
            <a:r>
              <a:rPr sz="1000" spc="-5">
                <a:latin typeface="Times New Roman"/>
                <a:cs typeface="Times New Roman"/>
              </a:rPr>
              <a:t>for</a:t>
            </a:r>
            <a:r>
              <a:rPr sz="1000" spc="85">
                <a:latin typeface="Times New Roman"/>
                <a:cs typeface="Times New Roman"/>
              </a:rPr>
              <a:t> </a:t>
            </a:r>
            <a:r>
              <a:rPr sz="1000" spc="-5">
                <a:latin typeface="Times New Roman"/>
                <a:cs typeface="Times New Roman"/>
              </a:rPr>
              <a:t>the</a:t>
            </a:r>
            <a:r>
              <a:rPr sz="1000" spc="130">
                <a:latin typeface="Times New Roman"/>
                <a:cs typeface="Times New Roman"/>
              </a:rPr>
              <a:t> </a:t>
            </a:r>
            <a:r>
              <a:rPr sz="1000" i="1" spc="-5">
                <a:latin typeface="Times New Roman"/>
                <a:cs typeface="Times New Roman"/>
              </a:rPr>
              <a:t>Growth</a:t>
            </a:r>
            <a:r>
              <a:rPr sz="1000" i="1" spc="90">
                <a:latin typeface="Times New Roman"/>
                <a:cs typeface="Times New Roman"/>
              </a:rPr>
              <a:t> </a:t>
            </a:r>
            <a:r>
              <a:rPr sz="1000" spc="-5">
                <a:latin typeface="Times New Roman"/>
                <a:cs typeface="Times New Roman"/>
              </a:rPr>
              <a:t>indicator)</a:t>
            </a:r>
            <a:r>
              <a:rPr sz="1000" spc="85">
                <a:latin typeface="Times New Roman"/>
                <a:cs typeface="Times New Roman"/>
              </a:rPr>
              <a:t> </a:t>
            </a:r>
            <a:r>
              <a:rPr sz="1000" spc="-5">
                <a:latin typeface="Times New Roman"/>
                <a:cs typeface="Times New Roman"/>
              </a:rPr>
              <a:t>were</a:t>
            </a:r>
            <a:r>
              <a:rPr sz="1000" spc="80">
                <a:latin typeface="Times New Roman"/>
                <a:cs typeface="Times New Roman"/>
              </a:rPr>
              <a:t> </a:t>
            </a:r>
            <a:r>
              <a:rPr sz="1000" spc="-5">
                <a:latin typeface="Times New Roman"/>
                <a:cs typeface="Times New Roman"/>
              </a:rPr>
              <a:t>higher</a:t>
            </a:r>
            <a:r>
              <a:rPr sz="1000" spc="85">
                <a:latin typeface="Times New Roman"/>
                <a:cs typeface="Times New Roman"/>
              </a:rPr>
              <a:t> </a:t>
            </a:r>
            <a:r>
              <a:rPr sz="1000" spc="-5">
                <a:latin typeface="Times New Roman"/>
                <a:cs typeface="Times New Roman"/>
              </a:rPr>
              <a:t>than</a:t>
            </a:r>
            <a:r>
              <a:rPr sz="1000" spc="75">
                <a:latin typeface="Times New Roman"/>
                <a:cs typeface="Times New Roman"/>
              </a:rPr>
              <a:t> </a:t>
            </a:r>
            <a:r>
              <a:rPr sz="1000" spc="-5">
                <a:latin typeface="Times New Roman"/>
                <a:cs typeface="Times New Roman"/>
              </a:rPr>
              <a:t>the</a:t>
            </a:r>
            <a:endParaRPr/>
          </a:p>
          <a:p>
            <a:pPr marL="12700" algn="just">
              <a:lnSpc>
                <a:spcPts val="1150"/>
              </a:lnSpc>
            </a:pPr>
            <a:r>
              <a:rPr sz="1000">
                <a:latin typeface="Times New Roman"/>
                <a:cs typeface="Times New Roman"/>
              </a:rPr>
              <a:t>average</a:t>
            </a:r>
            <a:r>
              <a:rPr sz="1000" spc="160">
                <a:latin typeface="Times New Roman"/>
                <a:cs typeface="Times New Roman"/>
              </a:rPr>
              <a:t> </a:t>
            </a:r>
            <a:r>
              <a:rPr sz="1000">
                <a:latin typeface="Times New Roman"/>
                <a:cs typeface="Times New Roman"/>
              </a:rPr>
              <a:t>values.</a:t>
            </a:r>
            <a:r>
              <a:rPr sz="1000" spc="145">
                <a:latin typeface="Times New Roman"/>
                <a:cs typeface="Times New Roman"/>
              </a:rPr>
              <a:t> </a:t>
            </a:r>
            <a:r>
              <a:rPr sz="1000">
                <a:latin typeface="Times New Roman"/>
                <a:cs typeface="Times New Roman"/>
              </a:rPr>
              <a:t>These</a:t>
            </a:r>
            <a:r>
              <a:rPr sz="1000" spc="155">
                <a:latin typeface="Times New Roman"/>
                <a:cs typeface="Times New Roman"/>
              </a:rPr>
              <a:t> </a:t>
            </a:r>
            <a:r>
              <a:rPr sz="1000">
                <a:latin typeface="Times New Roman"/>
                <a:cs typeface="Times New Roman"/>
              </a:rPr>
              <a:t>companies</a:t>
            </a:r>
            <a:r>
              <a:rPr sz="1000" spc="155">
                <a:latin typeface="Times New Roman"/>
                <a:cs typeface="Times New Roman"/>
              </a:rPr>
              <a:t> </a:t>
            </a:r>
            <a:r>
              <a:rPr sz="1000">
                <a:latin typeface="Times New Roman"/>
                <a:cs typeface="Times New Roman"/>
              </a:rPr>
              <a:t>paid</a:t>
            </a:r>
            <a:r>
              <a:rPr sz="1000" spc="150">
                <a:latin typeface="Times New Roman"/>
                <a:cs typeface="Times New Roman"/>
              </a:rPr>
              <a:t> </a:t>
            </a:r>
            <a:r>
              <a:rPr sz="1000">
                <a:latin typeface="Times New Roman"/>
                <a:cs typeface="Times New Roman"/>
              </a:rPr>
              <a:t>out</a:t>
            </a:r>
            <a:r>
              <a:rPr sz="1000" spc="145">
                <a:latin typeface="Times New Roman"/>
                <a:cs typeface="Times New Roman"/>
              </a:rPr>
              <a:t> </a:t>
            </a:r>
            <a:r>
              <a:rPr sz="1000">
                <a:latin typeface="Times New Roman"/>
                <a:cs typeface="Times New Roman"/>
              </a:rPr>
              <a:t>dividend</a:t>
            </a:r>
            <a:r>
              <a:rPr sz="1000" spc="150">
                <a:latin typeface="Times New Roman"/>
                <a:cs typeface="Times New Roman"/>
              </a:rPr>
              <a:t> </a:t>
            </a:r>
            <a:r>
              <a:rPr sz="1000">
                <a:latin typeface="Times New Roman"/>
                <a:cs typeface="Times New Roman"/>
              </a:rPr>
              <a:t>representing</a:t>
            </a:r>
            <a:r>
              <a:rPr sz="1000" spc="150">
                <a:latin typeface="Times New Roman"/>
                <a:cs typeface="Times New Roman"/>
              </a:rPr>
              <a:t> </a:t>
            </a:r>
            <a:r>
              <a:rPr sz="1000">
                <a:latin typeface="Times New Roman"/>
                <a:cs typeface="Times New Roman"/>
              </a:rPr>
              <a:t>an</a:t>
            </a:r>
            <a:r>
              <a:rPr sz="1000" spc="150">
                <a:latin typeface="Times New Roman"/>
                <a:cs typeface="Times New Roman"/>
              </a:rPr>
              <a:t> </a:t>
            </a:r>
            <a:r>
              <a:rPr sz="1000">
                <a:latin typeface="Times New Roman"/>
                <a:cs typeface="Times New Roman"/>
              </a:rPr>
              <a:t>average</a:t>
            </a:r>
            <a:r>
              <a:rPr sz="1000" spc="145">
                <a:latin typeface="Times New Roman"/>
                <a:cs typeface="Times New Roman"/>
              </a:rPr>
              <a:t> </a:t>
            </a:r>
            <a:r>
              <a:rPr sz="1000">
                <a:latin typeface="Times New Roman"/>
                <a:cs typeface="Times New Roman"/>
              </a:rPr>
              <a:t>of</a:t>
            </a:r>
            <a:r>
              <a:rPr sz="1000" spc="150">
                <a:latin typeface="Times New Roman"/>
                <a:cs typeface="Times New Roman"/>
              </a:rPr>
              <a:t> </a:t>
            </a:r>
            <a:r>
              <a:rPr sz="1000">
                <a:latin typeface="Times New Roman"/>
                <a:cs typeface="Times New Roman"/>
              </a:rPr>
              <a:t>76</a:t>
            </a:r>
            <a:r>
              <a:rPr sz="1000" spc="195">
                <a:latin typeface="Times New Roman"/>
                <a:cs typeface="Times New Roman"/>
              </a:rPr>
              <a:t> </a:t>
            </a:r>
            <a:r>
              <a:rPr sz="1000">
                <a:latin typeface="Times New Roman"/>
                <a:cs typeface="Times New Roman"/>
              </a:rPr>
              <a:t>%</a:t>
            </a:r>
            <a:r>
              <a:rPr sz="1000" spc="145">
                <a:latin typeface="Times New Roman"/>
                <a:cs typeface="Times New Roman"/>
              </a:rPr>
              <a:t> </a:t>
            </a:r>
            <a:r>
              <a:rPr sz="1000">
                <a:latin typeface="Times New Roman"/>
                <a:cs typeface="Times New Roman"/>
              </a:rPr>
              <a:t>of</a:t>
            </a:r>
            <a:r>
              <a:rPr sz="1000" spc="150">
                <a:latin typeface="Times New Roman"/>
                <a:cs typeface="Times New Roman"/>
              </a:rPr>
              <a:t> </a:t>
            </a:r>
            <a:r>
              <a:rPr sz="1000">
                <a:latin typeface="Times New Roman"/>
                <a:cs typeface="Times New Roman"/>
              </a:rPr>
              <a:t>net</a:t>
            </a:r>
            <a:r>
              <a:rPr sz="1000" spc="145">
                <a:latin typeface="Times New Roman"/>
                <a:cs typeface="Times New Roman"/>
              </a:rPr>
              <a:t> </a:t>
            </a:r>
            <a:r>
              <a:rPr sz="1000">
                <a:latin typeface="Times New Roman"/>
                <a:cs typeface="Times New Roman"/>
              </a:rPr>
              <a:t>profit,</a:t>
            </a:r>
            <a:r>
              <a:rPr sz="1000" spc="145">
                <a:latin typeface="Times New Roman"/>
                <a:cs typeface="Times New Roman"/>
              </a:rPr>
              <a:t> </a:t>
            </a:r>
            <a:r>
              <a:rPr sz="1000">
                <a:latin typeface="Times New Roman"/>
                <a:cs typeface="Times New Roman"/>
              </a:rPr>
              <a:t>and</a:t>
            </a:r>
            <a:r>
              <a:rPr sz="1000" spc="150">
                <a:latin typeface="Times New Roman"/>
                <a:cs typeface="Times New Roman"/>
              </a:rPr>
              <a:t> </a:t>
            </a:r>
            <a:r>
              <a:rPr sz="1000">
                <a:latin typeface="Times New Roman"/>
                <a:cs typeface="Times New Roman"/>
              </a:rPr>
              <a:t>the</a:t>
            </a:r>
            <a:r>
              <a:rPr sz="1000" spc="145">
                <a:latin typeface="Times New Roman"/>
                <a:cs typeface="Times New Roman"/>
              </a:rPr>
              <a:t> </a:t>
            </a:r>
            <a:r>
              <a:rPr sz="1000">
                <a:latin typeface="Times New Roman"/>
                <a:cs typeface="Times New Roman"/>
              </a:rPr>
              <a:t>dividend</a:t>
            </a:r>
            <a:r>
              <a:rPr sz="1000" spc="175">
                <a:latin typeface="Times New Roman"/>
                <a:cs typeface="Times New Roman"/>
              </a:rPr>
              <a:t> </a:t>
            </a:r>
            <a:r>
              <a:rPr sz="1000">
                <a:latin typeface="Times New Roman"/>
                <a:cs typeface="Times New Roman"/>
              </a:rPr>
              <a:t>yield</a:t>
            </a:r>
            <a:endParaRPr/>
          </a:p>
          <a:p>
            <a:pPr marL="12700" algn="just">
              <a:lnSpc>
                <a:spcPts val="1150"/>
              </a:lnSpc>
            </a:pPr>
            <a:r>
              <a:rPr sz="1000">
                <a:latin typeface="Times New Roman"/>
                <a:cs typeface="Times New Roman"/>
              </a:rPr>
              <a:t>was 7 %. These companies were profitable (return on equity was 9 % and return on assets was very high – amounting to 18 %)</a:t>
            </a:r>
            <a:endParaRPr/>
          </a:p>
          <a:p>
            <a:pPr marL="12700" algn="just">
              <a:lnSpc>
                <a:spcPts val="1155"/>
              </a:lnSpc>
            </a:pPr>
            <a:r>
              <a:rPr sz="1000">
                <a:latin typeface="Times New Roman"/>
                <a:cs typeface="Times New Roman"/>
              </a:rPr>
              <a:t>and over liquid (current ratio was 2,53 and quick ratio was 2,09). These companies were characterized by above-average debt</a:t>
            </a:r>
            <a:endParaRPr/>
          </a:p>
          <a:p>
            <a:pPr marL="12700" algn="just">
              <a:lnSpc>
                <a:spcPts val="1140"/>
              </a:lnSpc>
            </a:pPr>
            <a:r>
              <a:rPr sz="1000">
                <a:latin typeface="Times New Roman"/>
                <a:cs typeface="Times New Roman"/>
              </a:rPr>
              <a:t>(debt ratio was 0,41, and debt-to-equity ratio</a:t>
            </a:r>
            <a:r>
              <a:rPr sz="1000" spc="65">
                <a:latin typeface="Times New Roman"/>
                <a:cs typeface="Times New Roman"/>
              </a:rPr>
              <a:t> </a:t>
            </a:r>
            <a:r>
              <a:rPr sz="1000">
                <a:latin typeface="Times New Roman"/>
                <a:cs typeface="Times New Roman"/>
              </a:rPr>
              <a:t>was 3,06). Moreover, they were large companies (</a:t>
            </a:r>
            <a:r>
              <a:rPr sz="1000" i="1">
                <a:latin typeface="Times New Roman"/>
                <a:cs typeface="Times New Roman"/>
              </a:rPr>
              <a:t>Size </a:t>
            </a:r>
            <a:r>
              <a:rPr sz="1000">
                <a:latin typeface="Times New Roman"/>
                <a:cs typeface="Times New Roman"/>
              </a:rPr>
              <a:t>amounted to 13,37), with</a:t>
            </a:r>
            <a:endParaRPr/>
          </a:p>
          <a:p>
            <a:pPr marL="12700" algn="just">
              <a:lnSpc>
                <a:spcPts val="1155"/>
              </a:lnSpc>
            </a:pPr>
            <a:r>
              <a:rPr sz="1000">
                <a:latin typeface="Times New Roman"/>
                <a:cs typeface="Times New Roman"/>
              </a:rPr>
              <a:t>lower than average growth opportunities (</a:t>
            </a:r>
            <a:r>
              <a:rPr sz="1000" i="1">
                <a:latin typeface="Times New Roman"/>
                <a:cs typeface="Times New Roman"/>
              </a:rPr>
              <a:t>Growth </a:t>
            </a:r>
            <a:r>
              <a:rPr sz="1000">
                <a:latin typeface="Times New Roman"/>
                <a:cs typeface="Times New Roman"/>
              </a:rPr>
              <a:t>was at the level of 1,25).</a:t>
            </a:r>
            <a:endParaRPr/>
          </a:p>
          <a:p>
            <a:pPr marL="192405" algn="just">
              <a:lnSpc>
                <a:spcPts val="1150"/>
              </a:lnSpc>
            </a:pPr>
            <a:r>
              <a:rPr sz="1000">
                <a:latin typeface="Times New Roman"/>
                <a:cs typeface="Times New Roman"/>
              </a:rPr>
              <a:t>The</a:t>
            </a:r>
            <a:r>
              <a:rPr sz="1000" spc="65">
                <a:latin typeface="Times New Roman"/>
                <a:cs typeface="Times New Roman"/>
              </a:rPr>
              <a:t> </a:t>
            </a:r>
            <a:r>
              <a:rPr sz="1000">
                <a:latin typeface="Times New Roman"/>
                <a:cs typeface="Times New Roman"/>
              </a:rPr>
              <a:t>applicability of technique</a:t>
            </a:r>
            <a:r>
              <a:rPr sz="1000" spc="75">
                <a:latin typeface="Times New Roman"/>
                <a:cs typeface="Times New Roman"/>
              </a:rPr>
              <a:t> </a:t>
            </a:r>
            <a:r>
              <a:rPr sz="1000">
                <a:latin typeface="Times New Roman"/>
                <a:cs typeface="Times New Roman"/>
              </a:rPr>
              <a:t>for</a:t>
            </a:r>
            <a:r>
              <a:rPr sz="1000" spc="65">
                <a:latin typeface="Times New Roman"/>
                <a:cs typeface="Times New Roman"/>
              </a:rPr>
              <a:t> </a:t>
            </a:r>
            <a:r>
              <a:rPr sz="1000">
                <a:latin typeface="Times New Roman"/>
                <a:cs typeface="Times New Roman"/>
              </a:rPr>
              <a:t>order</a:t>
            </a:r>
            <a:r>
              <a:rPr sz="1000" spc="65">
                <a:latin typeface="Times New Roman"/>
                <a:cs typeface="Times New Roman"/>
              </a:rPr>
              <a:t> </a:t>
            </a:r>
            <a:r>
              <a:rPr sz="1000">
                <a:latin typeface="Times New Roman"/>
                <a:cs typeface="Times New Roman"/>
              </a:rPr>
              <a:t>of preference</a:t>
            </a:r>
            <a:r>
              <a:rPr sz="1000" spc="65">
                <a:latin typeface="Times New Roman"/>
                <a:cs typeface="Times New Roman"/>
              </a:rPr>
              <a:t> </a:t>
            </a:r>
            <a:r>
              <a:rPr sz="1000">
                <a:latin typeface="Times New Roman"/>
                <a:cs typeface="Times New Roman"/>
              </a:rPr>
              <a:t>by similarity to</a:t>
            </a:r>
            <a:r>
              <a:rPr sz="1000" spc="65">
                <a:latin typeface="Times New Roman"/>
                <a:cs typeface="Times New Roman"/>
              </a:rPr>
              <a:t> </a:t>
            </a:r>
            <a:r>
              <a:rPr sz="1000">
                <a:latin typeface="Times New Roman"/>
                <a:cs typeface="Times New Roman"/>
              </a:rPr>
              <a:t>ideal solution</a:t>
            </a:r>
            <a:r>
              <a:rPr sz="1000" spc="100">
                <a:latin typeface="Times New Roman"/>
                <a:cs typeface="Times New Roman"/>
              </a:rPr>
              <a:t> </a:t>
            </a:r>
            <a:r>
              <a:rPr sz="1000">
                <a:latin typeface="Times New Roman"/>
                <a:cs typeface="Times New Roman"/>
              </a:rPr>
              <a:t>requires the</a:t>
            </a:r>
            <a:r>
              <a:rPr sz="1000" spc="65">
                <a:latin typeface="Times New Roman"/>
                <a:cs typeface="Times New Roman"/>
              </a:rPr>
              <a:t> </a:t>
            </a:r>
            <a:r>
              <a:rPr sz="1000">
                <a:latin typeface="Times New Roman"/>
                <a:cs typeface="Times New Roman"/>
              </a:rPr>
              <a:t>calculation of correlation</a:t>
            </a:r>
            <a:endParaRPr/>
          </a:p>
          <a:p>
            <a:pPr marL="12700" algn="just">
              <a:lnSpc>
                <a:spcPts val="1150"/>
              </a:lnSpc>
            </a:pPr>
            <a:r>
              <a:rPr sz="1000">
                <a:latin typeface="Times New Roman"/>
                <a:cs typeface="Times New Roman"/>
              </a:rPr>
              <a:t>between the studied</a:t>
            </a:r>
            <a:r>
              <a:rPr sz="1000" spc="65">
                <a:latin typeface="Times New Roman"/>
                <a:cs typeface="Times New Roman"/>
              </a:rPr>
              <a:t> </a:t>
            </a:r>
            <a:r>
              <a:rPr sz="1000">
                <a:latin typeface="Times New Roman"/>
                <a:cs typeface="Times New Roman"/>
              </a:rPr>
              <a:t>variables. Therefore, table 4</a:t>
            </a:r>
            <a:r>
              <a:rPr sz="1000" spc="365">
                <a:latin typeface="Times New Roman"/>
                <a:cs typeface="Times New Roman"/>
              </a:rPr>
              <a:t> </a:t>
            </a:r>
            <a:r>
              <a:rPr sz="1000">
                <a:latin typeface="Times New Roman"/>
                <a:cs typeface="Times New Roman"/>
              </a:rPr>
              <a:t>presents the Pearson correlation matrix,</a:t>
            </a:r>
            <a:r>
              <a:rPr sz="1000" spc="65">
                <a:latin typeface="Times New Roman"/>
                <a:cs typeface="Times New Roman"/>
              </a:rPr>
              <a:t> </a:t>
            </a:r>
            <a:r>
              <a:rPr sz="1000">
                <a:latin typeface="Times New Roman"/>
                <a:cs typeface="Times New Roman"/>
              </a:rPr>
              <a:t>i.e., it shows the</a:t>
            </a:r>
            <a:r>
              <a:rPr sz="1000" spc="80">
                <a:latin typeface="Times New Roman"/>
                <a:cs typeface="Times New Roman"/>
              </a:rPr>
              <a:t> </a:t>
            </a:r>
            <a:r>
              <a:rPr sz="1000">
                <a:latin typeface="Times New Roman"/>
                <a:cs typeface="Times New Roman"/>
              </a:rPr>
              <a:t>coefficients of the</a:t>
            </a:r>
            <a:endParaRPr/>
          </a:p>
          <a:p>
            <a:pPr marL="12700" algn="just">
              <a:lnSpc>
                <a:spcPts val="1155"/>
              </a:lnSpc>
            </a:pPr>
            <a:r>
              <a:rPr sz="1000">
                <a:latin typeface="Times New Roman"/>
                <a:cs typeface="Times New Roman"/>
              </a:rPr>
              <a:t>pairwise</a:t>
            </a:r>
            <a:r>
              <a:rPr sz="1000" spc="555">
                <a:latin typeface="Times New Roman"/>
                <a:cs typeface="Times New Roman"/>
              </a:rPr>
              <a:t> </a:t>
            </a:r>
            <a:r>
              <a:rPr sz="1000">
                <a:latin typeface="Times New Roman"/>
                <a:cs typeface="Times New Roman"/>
              </a:rPr>
              <a:t>correlation</a:t>
            </a:r>
            <a:r>
              <a:rPr sz="1000" spc="150">
                <a:latin typeface="Times New Roman"/>
                <a:cs typeface="Times New Roman"/>
              </a:rPr>
              <a:t> </a:t>
            </a:r>
            <a:r>
              <a:rPr sz="1000">
                <a:latin typeface="Times New Roman"/>
                <a:cs typeface="Times New Roman"/>
              </a:rPr>
              <a:t>between</a:t>
            </a:r>
            <a:r>
              <a:rPr sz="1000" spc="150">
                <a:latin typeface="Times New Roman"/>
                <a:cs typeface="Times New Roman"/>
              </a:rPr>
              <a:t> </a:t>
            </a:r>
            <a:r>
              <a:rPr sz="1000">
                <a:latin typeface="Times New Roman"/>
                <a:cs typeface="Times New Roman"/>
              </a:rPr>
              <a:t>ten</a:t>
            </a:r>
            <a:r>
              <a:rPr sz="1000" spc="150">
                <a:latin typeface="Times New Roman"/>
                <a:cs typeface="Times New Roman"/>
              </a:rPr>
              <a:t> </a:t>
            </a:r>
            <a:r>
              <a:rPr sz="1000">
                <a:latin typeface="Times New Roman"/>
                <a:cs typeface="Times New Roman"/>
              </a:rPr>
              <a:t>variables</a:t>
            </a:r>
            <a:r>
              <a:rPr sz="1000" spc="155">
                <a:latin typeface="Times New Roman"/>
                <a:cs typeface="Times New Roman"/>
              </a:rPr>
              <a:t> </a:t>
            </a:r>
            <a:r>
              <a:rPr sz="1000">
                <a:latin typeface="Times New Roman"/>
                <a:cs typeface="Times New Roman"/>
              </a:rPr>
              <a:t>used</a:t>
            </a:r>
            <a:r>
              <a:rPr sz="1000" spc="150">
                <a:latin typeface="Times New Roman"/>
                <a:cs typeface="Times New Roman"/>
              </a:rPr>
              <a:t> </a:t>
            </a:r>
            <a:r>
              <a:rPr sz="1000">
                <a:latin typeface="Times New Roman"/>
                <a:cs typeface="Times New Roman"/>
              </a:rPr>
              <a:t>in</a:t>
            </a:r>
            <a:r>
              <a:rPr sz="1000" spc="140">
                <a:latin typeface="Times New Roman"/>
                <a:cs typeface="Times New Roman"/>
              </a:rPr>
              <a:t> </a:t>
            </a:r>
            <a:r>
              <a:rPr sz="1000">
                <a:latin typeface="Times New Roman"/>
                <a:cs typeface="Times New Roman"/>
              </a:rPr>
              <a:t>the</a:t>
            </a:r>
            <a:r>
              <a:rPr sz="1000" spc="145">
                <a:latin typeface="Times New Roman"/>
                <a:cs typeface="Times New Roman"/>
              </a:rPr>
              <a:t> </a:t>
            </a:r>
            <a:r>
              <a:rPr sz="1000">
                <a:latin typeface="Times New Roman"/>
                <a:cs typeface="Times New Roman"/>
              </a:rPr>
              <a:t>empirical</a:t>
            </a:r>
            <a:r>
              <a:rPr sz="1000" spc="145">
                <a:latin typeface="Times New Roman"/>
                <a:cs typeface="Times New Roman"/>
              </a:rPr>
              <a:t> </a:t>
            </a:r>
            <a:r>
              <a:rPr sz="1000">
                <a:latin typeface="Times New Roman"/>
                <a:cs typeface="Times New Roman"/>
              </a:rPr>
              <a:t>research.</a:t>
            </a:r>
            <a:r>
              <a:rPr sz="1000" spc="145">
                <a:latin typeface="Times New Roman"/>
                <a:cs typeface="Times New Roman"/>
              </a:rPr>
              <a:t> </a:t>
            </a:r>
            <a:r>
              <a:rPr sz="1000">
                <a:latin typeface="Times New Roman"/>
                <a:cs typeface="Times New Roman"/>
              </a:rPr>
              <a:t>The</a:t>
            </a:r>
            <a:r>
              <a:rPr sz="1000" spc="145">
                <a:latin typeface="Times New Roman"/>
                <a:cs typeface="Times New Roman"/>
              </a:rPr>
              <a:t> </a:t>
            </a:r>
            <a:r>
              <a:rPr sz="1000">
                <a:latin typeface="Times New Roman"/>
                <a:cs typeface="Times New Roman"/>
              </a:rPr>
              <a:t>highest</a:t>
            </a:r>
            <a:r>
              <a:rPr sz="1000" spc="155">
                <a:latin typeface="Times New Roman"/>
                <a:cs typeface="Times New Roman"/>
              </a:rPr>
              <a:t> </a:t>
            </a:r>
            <a:r>
              <a:rPr sz="1000">
                <a:latin typeface="Times New Roman"/>
                <a:cs typeface="Times New Roman"/>
              </a:rPr>
              <a:t>(above</a:t>
            </a:r>
            <a:r>
              <a:rPr sz="1000" spc="145">
                <a:latin typeface="Times New Roman"/>
                <a:cs typeface="Times New Roman"/>
              </a:rPr>
              <a:t> </a:t>
            </a:r>
            <a:r>
              <a:rPr sz="1000">
                <a:latin typeface="Times New Roman"/>
                <a:cs typeface="Times New Roman"/>
              </a:rPr>
              <a:t>0,75)</a:t>
            </a:r>
            <a:r>
              <a:rPr sz="1000" spc="150">
                <a:latin typeface="Times New Roman"/>
                <a:cs typeface="Times New Roman"/>
              </a:rPr>
              <a:t> </a:t>
            </a:r>
            <a:r>
              <a:rPr sz="1000">
                <a:latin typeface="Times New Roman"/>
                <a:cs typeface="Times New Roman"/>
              </a:rPr>
              <a:t>and</a:t>
            </a:r>
            <a:r>
              <a:rPr sz="1000" spc="160">
                <a:latin typeface="Times New Roman"/>
                <a:cs typeface="Times New Roman"/>
              </a:rPr>
              <a:t> </a:t>
            </a:r>
            <a:r>
              <a:rPr sz="1000">
                <a:latin typeface="Times New Roman"/>
                <a:cs typeface="Times New Roman"/>
              </a:rPr>
              <a:t>most</a:t>
            </a:r>
            <a:r>
              <a:rPr sz="1000" spc="155">
                <a:latin typeface="Times New Roman"/>
                <a:cs typeface="Times New Roman"/>
              </a:rPr>
              <a:t> </a:t>
            </a:r>
            <a:r>
              <a:rPr sz="1000">
                <a:latin typeface="Times New Roman"/>
                <a:cs typeface="Times New Roman"/>
              </a:rPr>
              <a:t>statistically</a:t>
            </a:r>
            <a:endParaRPr/>
          </a:p>
          <a:p>
            <a:pPr marL="12700" algn="just">
              <a:lnSpc>
                <a:spcPts val="1150"/>
              </a:lnSpc>
            </a:pPr>
            <a:r>
              <a:rPr sz="1000">
                <a:latin typeface="Times New Roman"/>
                <a:cs typeface="Times New Roman"/>
              </a:rPr>
              <a:t>significant</a:t>
            </a:r>
            <a:r>
              <a:rPr sz="1000" spc="70">
                <a:latin typeface="Times New Roman"/>
                <a:cs typeface="Times New Roman"/>
              </a:rPr>
              <a:t> </a:t>
            </a:r>
            <a:r>
              <a:rPr sz="1000">
                <a:latin typeface="Times New Roman"/>
                <a:cs typeface="Times New Roman"/>
              </a:rPr>
              <a:t>correlation</a:t>
            </a:r>
            <a:r>
              <a:rPr sz="1000" spc="90">
                <a:latin typeface="Times New Roman"/>
                <a:cs typeface="Times New Roman"/>
              </a:rPr>
              <a:t> </a:t>
            </a:r>
            <a:r>
              <a:rPr sz="1000">
                <a:latin typeface="Times New Roman"/>
                <a:cs typeface="Times New Roman"/>
              </a:rPr>
              <a:t>was</a:t>
            </a:r>
            <a:r>
              <a:rPr sz="1000" spc="70">
                <a:latin typeface="Times New Roman"/>
                <a:cs typeface="Times New Roman"/>
              </a:rPr>
              <a:t> </a:t>
            </a:r>
            <a:r>
              <a:rPr sz="1000">
                <a:latin typeface="Times New Roman"/>
                <a:cs typeface="Times New Roman"/>
              </a:rPr>
              <a:t>observed</a:t>
            </a:r>
            <a:r>
              <a:rPr sz="1000" spc="80">
                <a:latin typeface="Times New Roman"/>
                <a:cs typeface="Times New Roman"/>
              </a:rPr>
              <a:t> </a:t>
            </a:r>
            <a:r>
              <a:rPr sz="1000">
                <a:latin typeface="Times New Roman"/>
                <a:cs typeface="Times New Roman"/>
              </a:rPr>
              <a:t>for</a:t>
            </a:r>
            <a:r>
              <a:rPr sz="1000" spc="85">
                <a:latin typeface="Times New Roman"/>
                <a:cs typeface="Times New Roman"/>
              </a:rPr>
              <a:t> </a:t>
            </a:r>
            <a:r>
              <a:rPr sz="1000" i="1">
                <a:latin typeface="Times New Roman"/>
                <a:cs typeface="Times New Roman"/>
              </a:rPr>
              <a:t>Liquid.C</a:t>
            </a:r>
            <a:r>
              <a:rPr sz="1000" i="1" spc="75">
                <a:latin typeface="Times New Roman"/>
                <a:cs typeface="Times New Roman"/>
              </a:rPr>
              <a:t> </a:t>
            </a:r>
            <a:r>
              <a:rPr sz="1000">
                <a:latin typeface="Times New Roman"/>
                <a:cs typeface="Times New Roman"/>
              </a:rPr>
              <a:t>and</a:t>
            </a:r>
            <a:r>
              <a:rPr sz="1000" spc="80">
                <a:latin typeface="Times New Roman"/>
                <a:cs typeface="Times New Roman"/>
              </a:rPr>
              <a:t> </a:t>
            </a:r>
            <a:r>
              <a:rPr sz="1000" i="1">
                <a:latin typeface="Times New Roman"/>
                <a:cs typeface="Times New Roman"/>
              </a:rPr>
              <a:t>Liquid</a:t>
            </a:r>
            <a:r>
              <a:rPr sz="1000" i="1" spc="5">
                <a:latin typeface="Times New Roman"/>
                <a:cs typeface="Times New Roman"/>
              </a:rPr>
              <a:t>.Q</a:t>
            </a:r>
            <a:r>
              <a:rPr sz="1000" i="1" spc="70">
                <a:latin typeface="Times New Roman"/>
                <a:cs typeface="Times New Roman"/>
              </a:rPr>
              <a:t> </a:t>
            </a:r>
            <a:r>
              <a:rPr sz="1000">
                <a:latin typeface="Times New Roman"/>
                <a:cs typeface="Times New Roman"/>
              </a:rPr>
              <a:t>(</a:t>
            </a:r>
            <a:r>
              <a:rPr sz="1000" i="1">
                <a:latin typeface="Times New Roman"/>
                <a:cs typeface="Times New Roman"/>
              </a:rPr>
              <a:t>r</a:t>
            </a:r>
            <a:r>
              <a:rPr sz="1000" i="1" baseline="-40000">
                <a:latin typeface="Times New Roman"/>
                <a:cs typeface="Times New Roman"/>
              </a:rPr>
              <a:t>yx</a:t>
            </a:r>
            <a:r>
              <a:rPr sz="1000" i="1" spc="75">
                <a:latin typeface="Times New Roman"/>
                <a:cs typeface="Times New Roman"/>
              </a:rPr>
              <a:t> </a:t>
            </a:r>
            <a:r>
              <a:rPr sz="1000">
                <a:latin typeface="Times New Roman"/>
                <a:cs typeface="Times New Roman"/>
              </a:rPr>
              <a:t>=</a:t>
            </a:r>
            <a:r>
              <a:rPr sz="1000" spc="75">
                <a:latin typeface="Times New Roman"/>
                <a:cs typeface="Times New Roman"/>
              </a:rPr>
              <a:t> </a:t>
            </a:r>
            <a:r>
              <a:rPr sz="1000">
                <a:latin typeface="Times New Roman"/>
                <a:cs typeface="Times New Roman"/>
              </a:rPr>
              <a:t>0,94),</a:t>
            </a:r>
            <a:r>
              <a:rPr sz="1000" spc="75">
                <a:latin typeface="Times New Roman"/>
                <a:cs typeface="Times New Roman"/>
              </a:rPr>
              <a:t> </a:t>
            </a:r>
            <a:r>
              <a:rPr sz="1000">
                <a:latin typeface="Times New Roman"/>
                <a:cs typeface="Times New Roman"/>
              </a:rPr>
              <a:t>as</a:t>
            </a:r>
            <a:r>
              <a:rPr sz="1000" spc="85">
                <a:latin typeface="Times New Roman"/>
                <a:cs typeface="Times New Roman"/>
              </a:rPr>
              <a:t> </a:t>
            </a:r>
            <a:r>
              <a:rPr sz="1000">
                <a:latin typeface="Times New Roman"/>
                <a:cs typeface="Times New Roman"/>
              </a:rPr>
              <a:t>well</a:t>
            </a:r>
            <a:r>
              <a:rPr sz="1000" spc="75">
                <a:latin typeface="Times New Roman"/>
                <a:cs typeface="Times New Roman"/>
              </a:rPr>
              <a:t> </a:t>
            </a:r>
            <a:r>
              <a:rPr sz="1000">
                <a:latin typeface="Times New Roman"/>
                <a:cs typeface="Times New Roman"/>
              </a:rPr>
              <a:t>as</a:t>
            </a:r>
            <a:r>
              <a:rPr sz="1000" spc="95">
                <a:latin typeface="Times New Roman"/>
                <a:cs typeface="Times New Roman"/>
              </a:rPr>
              <a:t> </a:t>
            </a:r>
            <a:r>
              <a:rPr sz="1000">
                <a:latin typeface="Times New Roman"/>
                <a:cs typeface="Times New Roman"/>
              </a:rPr>
              <a:t>for</a:t>
            </a:r>
            <a:r>
              <a:rPr sz="1000" spc="80">
                <a:latin typeface="Times New Roman"/>
                <a:cs typeface="Times New Roman"/>
              </a:rPr>
              <a:t> </a:t>
            </a:r>
            <a:r>
              <a:rPr sz="1000" i="1">
                <a:latin typeface="Times New Roman"/>
                <a:cs typeface="Times New Roman"/>
              </a:rPr>
              <a:t>ReturnE</a:t>
            </a:r>
            <a:r>
              <a:rPr sz="1000" i="1" spc="80">
                <a:latin typeface="Times New Roman"/>
                <a:cs typeface="Times New Roman"/>
              </a:rPr>
              <a:t> </a:t>
            </a:r>
            <a:r>
              <a:rPr sz="1000">
                <a:latin typeface="Times New Roman"/>
                <a:cs typeface="Times New Roman"/>
              </a:rPr>
              <a:t>and</a:t>
            </a:r>
            <a:r>
              <a:rPr sz="1000" spc="80">
                <a:latin typeface="Times New Roman"/>
                <a:cs typeface="Times New Roman"/>
              </a:rPr>
              <a:t> </a:t>
            </a:r>
            <a:r>
              <a:rPr sz="1000" i="1">
                <a:latin typeface="Times New Roman"/>
                <a:cs typeface="Times New Roman"/>
              </a:rPr>
              <a:t>ReturnA</a:t>
            </a:r>
            <a:r>
              <a:rPr sz="1000" i="1" spc="80">
                <a:latin typeface="Times New Roman"/>
                <a:cs typeface="Times New Roman"/>
              </a:rPr>
              <a:t> </a:t>
            </a:r>
            <a:r>
              <a:rPr sz="1000">
                <a:latin typeface="Times New Roman"/>
                <a:cs typeface="Times New Roman"/>
              </a:rPr>
              <a:t>(</a:t>
            </a:r>
            <a:r>
              <a:rPr sz="1000" i="1">
                <a:latin typeface="Times New Roman"/>
                <a:cs typeface="Times New Roman"/>
              </a:rPr>
              <a:t>r</a:t>
            </a:r>
            <a:r>
              <a:rPr sz="1000" i="1" baseline="-40000">
                <a:latin typeface="Times New Roman"/>
                <a:cs typeface="Times New Roman"/>
              </a:rPr>
              <a:t>yx</a:t>
            </a:r>
            <a:r>
              <a:rPr sz="1000" i="1" spc="75">
                <a:latin typeface="Times New Roman"/>
                <a:cs typeface="Times New Roman"/>
              </a:rPr>
              <a:t> </a:t>
            </a:r>
            <a:r>
              <a:rPr sz="1000">
                <a:latin typeface="Times New Roman"/>
                <a:cs typeface="Times New Roman"/>
              </a:rPr>
              <a:t>=</a:t>
            </a:r>
            <a:r>
              <a:rPr sz="1000" spc="90">
                <a:latin typeface="Times New Roman"/>
                <a:cs typeface="Times New Roman"/>
              </a:rPr>
              <a:t> </a:t>
            </a:r>
            <a:r>
              <a:rPr sz="1000">
                <a:latin typeface="Times New Roman"/>
                <a:cs typeface="Times New Roman"/>
              </a:rPr>
              <a:t>0,87).</a:t>
            </a:r>
            <a:endParaRPr/>
          </a:p>
          <a:p>
            <a:pPr marL="12700" algn="just">
              <a:lnSpc>
                <a:spcPts val="1140"/>
              </a:lnSpc>
            </a:pPr>
            <a:r>
              <a:rPr sz="1000">
                <a:latin typeface="Times New Roman"/>
                <a:cs typeface="Times New Roman"/>
              </a:rPr>
              <a:t>The achieved results indicate the need to remove the most strongly correlated variables from further studies. As a result, it</a:t>
            </a:r>
            <a:r>
              <a:rPr sz="1000" spc="95">
                <a:latin typeface="Times New Roman"/>
                <a:cs typeface="Times New Roman"/>
              </a:rPr>
              <a:t> </a:t>
            </a:r>
            <a:r>
              <a:rPr sz="1000">
                <a:latin typeface="Times New Roman"/>
                <a:cs typeface="Times New Roman"/>
              </a:rPr>
              <a:t>was</a:t>
            </a:r>
            <a:endParaRPr/>
          </a:p>
          <a:p>
            <a:pPr marL="12700" algn="just">
              <a:lnSpc>
                <a:spcPts val="1155"/>
              </a:lnSpc>
            </a:pPr>
            <a:r>
              <a:rPr sz="1000">
                <a:latin typeface="Times New Roman"/>
                <a:cs typeface="Times New Roman"/>
              </a:rPr>
              <a:t>necessary to remove two variables, i.e. </a:t>
            </a:r>
            <a:r>
              <a:rPr sz="1000" i="1">
                <a:latin typeface="Times New Roman"/>
                <a:cs typeface="Times New Roman"/>
              </a:rPr>
              <a:t>Liquid.Q </a:t>
            </a:r>
            <a:r>
              <a:rPr sz="1000">
                <a:latin typeface="Times New Roman"/>
                <a:cs typeface="Times New Roman"/>
              </a:rPr>
              <a:t>and </a:t>
            </a:r>
            <a:r>
              <a:rPr sz="1000" i="1">
                <a:latin typeface="Times New Roman"/>
                <a:cs typeface="Times New Roman"/>
              </a:rPr>
              <a:t>ReturnA</a:t>
            </a:r>
            <a:r>
              <a:rPr sz="1000">
                <a:latin typeface="Times New Roman"/>
                <a:cs typeface="Times New Roman"/>
              </a:rPr>
              <a:t>, and leave eight remaining variables to conduct the study at later</a:t>
            </a:r>
            <a:endParaRPr/>
          </a:p>
          <a:p>
            <a:pPr marL="12700" algn="just">
              <a:lnSpc>
                <a:spcPts val="1150"/>
              </a:lnSpc>
            </a:pPr>
            <a:r>
              <a:rPr sz="1000">
                <a:latin typeface="Times New Roman"/>
                <a:cs typeface="Times New Roman"/>
              </a:rPr>
              <a:t>stages of computation.</a:t>
            </a:r>
            <a:endParaRPr/>
          </a:p>
          <a:p>
            <a:pPr marL="12700">
              <a:spcBef>
                <a:spcPts val="1100"/>
              </a:spcBef>
            </a:pPr>
            <a:r>
              <a:rPr sz="1000">
                <a:latin typeface="Times New Roman"/>
                <a:cs typeface="Times New Roman"/>
              </a:rPr>
              <a:t>Table 4</a:t>
            </a:r>
            <a:endParaRPr/>
          </a:p>
          <a:p>
            <a:pPr marL="12700">
              <a:lnSpc>
                <a:spcPts val="1140"/>
              </a:lnSpc>
            </a:pPr>
            <a:r>
              <a:rPr sz="1000">
                <a:latin typeface="Times New Roman"/>
                <a:cs typeface="Times New Roman"/>
              </a:rPr>
              <a:t>Pearson correlation matrix</a:t>
            </a:r>
            <a:endParaRPr/>
          </a:p>
        </p:txBody>
      </p:sp>
      <p:sp>
        <p:nvSpPr>
          <p:cNvPr id="5" name="shape 5"/>
          <p:cNvSpPr txBox="1"/>
          <p:nvPr/>
        </p:nvSpPr>
        <p:spPr>
          <a:xfrm>
            <a:off x="528320" y="8833358"/>
            <a:ext cx="6505575" cy="966216"/>
          </a:xfrm>
          <a:prstGeom prst="rect"/>
          <a:noFill/>
        </p:spPr>
        <p:txBody>
          <a:bodyPr vertOverflow="overflow" horzOverflow="overflow" numCol="1" wrap="square" lIns="0" tIns="0" rIns="0" bIns="0">
            <a:spAutoFit/>
          </a:bodyPr>
          <a:p>
            <a:pPr marL="12700"/>
            <a:r>
              <a:rPr sz="800" b="1">
                <a:latin typeface="Times New Roman"/>
                <a:cs typeface="Times New Roman"/>
              </a:rPr>
              <a:t>Bold </a:t>
            </a:r>
            <a:r>
              <a:rPr sz="800">
                <a:latin typeface="Times New Roman"/>
                <a:cs typeface="Times New Roman"/>
              </a:rPr>
              <a:t>– statistical significance at 0,05;</a:t>
            </a:r>
            <a:endParaRPr/>
          </a:p>
          <a:p>
            <a:pPr marL="12700">
              <a:lnSpc>
                <a:spcPts val="939"/>
              </a:lnSpc>
            </a:pPr>
            <a:r>
              <a:rPr sz="800">
                <a:latin typeface="Times New Roman"/>
                <a:cs typeface="Times New Roman"/>
              </a:rPr>
              <a:t>Source: Own calculations on the basis of data from the websites of the surveyed companies and Stock Market Yearbooks</a:t>
            </a:r>
            <a:endParaRPr/>
          </a:p>
          <a:p>
            <a:pPr marL="12700" marR="12700" indent="179705" algn="just">
              <a:lnSpc>
                <a:spcPct val="95674"/>
              </a:lnSpc>
              <a:spcBef>
                <a:spcPts val="1100"/>
              </a:spcBef>
            </a:pPr>
            <a:r>
              <a:rPr sz="1000">
                <a:latin typeface="Times New Roman"/>
                <a:cs typeface="Times New Roman"/>
              </a:rPr>
              <a:t>In order to answer the second research question (i.e., considering the main shareholder, owning shares of which dividend companies is most beneficial for a stock market investor?) and empirically verify the research hypothesis (i.e., when investing in dividend, the most attractive investments are those companies in which the most shares are held by institutional investors </a:t>
            </a:r>
            <a:r>
              <a:rPr sz="1000" spc="-5">
                <a:latin typeface="Times New Roman"/>
                <a:cs typeface="Times New Roman"/>
              </a:rPr>
              <a:t>and</a:t>
            </a:r>
            <a:r>
              <a:rPr sz="1000" spc="145">
                <a:latin typeface="Times New Roman"/>
                <a:cs typeface="Times New Roman"/>
              </a:rPr>
              <a:t> </a:t>
            </a:r>
            <a:r>
              <a:rPr sz="1000" spc="-5">
                <a:latin typeface="Times New Roman"/>
                <a:cs typeface="Times New Roman"/>
              </a:rPr>
              <a:t>the</a:t>
            </a:r>
            <a:r>
              <a:rPr sz="1000" spc="155">
                <a:latin typeface="Times New Roman"/>
                <a:cs typeface="Times New Roman"/>
              </a:rPr>
              <a:t> </a:t>
            </a:r>
            <a:r>
              <a:rPr sz="1000" spc="-5">
                <a:latin typeface="Times New Roman"/>
                <a:cs typeface="Times New Roman"/>
              </a:rPr>
              <a:t>State</a:t>
            </a:r>
            <a:r>
              <a:rPr sz="1000" spc="150">
                <a:latin typeface="Times New Roman"/>
                <a:cs typeface="Times New Roman"/>
              </a:rPr>
              <a:t> </a:t>
            </a:r>
            <a:r>
              <a:rPr sz="1000" spc="-5">
                <a:latin typeface="Times New Roman"/>
                <a:cs typeface="Times New Roman"/>
              </a:rPr>
              <a:t>Treasury)</a:t>
            </a:r>
            <a:r>
              <a:rPr sz="1000" spc="145">
                <a:latin typeface="Times New Roman"/>
                <a:cs typeface="Times New Roman"/>
              </a:rPr>
              <a:t> </a:t>
            </a:r>
            <a:r>
              <a:rPr sz="1000" spc="-5">
                <a:latin typeface="Times New Roman"/>
                <a:cs typeface="Times New Roman"/>
              </a:rPr>
              <a:t>the</a:t>
            </a:r>
            <a:r>
              <a:rPr sz="1000" spc="145">
                <a:latin typeface="Times New Roman"/>
                <a:cs typeface="Times New Roman"/>
              </a:rPr>
              <a:t> </a:t>
            </a:r>
            <a:r>
              <a:rPr sz="1000" spc="-5">
                <a:latin typeface="Times New Roman"/>
                <a:cs typeface="Times New Roman"/>
              </a:rPr>
              <a:t>relative</a:t>
            </a:r>
            <a:r>
              <a:rPr sz="1000" spc="140">
                <a:latin typeface="Times New Roman"/>
                <a:cs typeface="Times New Roman"/>
              </a:rPr>
              <a:t> </a:t>
            </a:r>
            <a:r>
              <a:rPr sz="1000" spc="-5">
                <a:latin typeface="Times New Roman"/>
                <a:cs typeface="Times New Roman"/>
              </a:rPr>
              <a:t>closeness</a:t>
            </a:r>
            <a:r>
              <a:rPr sz="1000" spc="150">
                <a:latin typeface="Times New Roman"/>
                <a:cs typeface="Times New Roman"/>
              </a:rPr>
              <a:t> </a:t>
            </a:r>
            <a:r>
              <a:rPr sz="1000" spc="-5">
                <a:latin typeface="Times New Roman"/>
                <a:cs typeface="Times New Roman"/>
              </a:rPr>
              <a:t>to</a:t>
            </a:r>
            <a:r>
              <a:rPr sz="1000" spc="145">
                <a:latin typeface="Times New Roman"/>
                <a:cs typeface="Times New Roman"/>
              </a:rPr>
              <a:t> </a:t>
            </a:r>
            <a:r>
              <a:rPr sz="1000" spc="-5">
                <a:latin typeface="Times New Roman"/>
                <a:cs typeface="Times New Roman"/>
              </a:rPr>
              <a:t>the</a:t>
            </a:r>
            <a:r>
              <a:rPr sz="1000" spc="155">
                <a:latin typeface="Times New Roman"/>
                <a:cs typeface="Times New Roman"/>
              </a:rPr>
              <a:t> </a:t>
            </a:r>
            <a:r>
              <a:rPr sz="1000" spc="-5">
                <a:latin typeface="Times New Roman"/>
                <a:cs typeface="Times New Roman"/>
              </a:rPr>
              <a:t>ideal</a:t>
            </a:r>
            <a:r>
              <a:rPr sz="1000" spc="150">
                <a:latin typeface="Times New Roman"/>
                <a:cs typeface="Times New Roman"/>
              </a:rPr>
              <a:t> </a:t>
            </a:r>
            <a:r>
              <a:rPr sz="1000" spc="-5">
                <a:latin typeface="Times New Roman"/>
                <a:cs typeface="Times New Roman"/>
              </a:rPr>
              <a:t>solution</a:t>
            </a:r>
            <a:r>
              <a:rPr sz="1000" spc="145">
                <a:latin typeface="Times New Roman"/>
                <a:cs typeface="Times New Roman"/>
              </a:rPr>
              <a:t> </a:t>
            </a:r>
            <a:r>
              <a:rPr sz="1000" spc="-5">
                <a:latin typeface="Times New Roman"/>
                <a:cs typeface="Times New Roman"/>
              </a:rPr>
              <a:t>for</a:t>
            </a:r>
            <a:r>
              <a:rPr sz="1000" spc="145">
                <a:latin typeface="Times New Roman"/>
                <a:cs typeface="Times New Roman"/>
              </a:rPr>
              <a:t> </a:t>
            </a:r>
            <a:r>
              <a:rPr sz="1000" spc="-5">
                <a:latin typeface="Times New Roman"/>
                <a:cs typeface="Times New Roman"/>
              </a:rPr>
              <a:t>different</a:t>
            </a:r>
            <a:r>
              <a:rPr sz="1000" spc="140">
                <a:latin typeface="Times New Roman"/>
                <a:cs typeface="Times New Roman"/>
              </a:rPr>
              <a:t> </a:t>
            </a:r>
            <a:r>
              <a:rPr sz="1000" spc="-5">
                <a:latin typeface="Times New Roman"/>
                <a:cs typeface="Times New Roman"/>
              </a:rPr>
              <a:t>types</a:t>
            </a:r>
            <a:r>
              <a:rPr sz="1000" spc="150">
                <a:latin typeface="Times New Roman"/>
                <a:cs typeface="Times New Roman"/>
              </a:rPr>
              <a:t> </a:t>
            </a:r>
            <a:r>
              <a:rPr sz="1000" spc="-5">
                <a:latin typeface="Times New Roman"/>
                <a:cs typeface="Times New Roman"/>
              </a:rPr>
              <a:t>of</a:t>
            </a:r>
            <a:r>
              <a:rPr sz="1000" spc="130">
                <a:latin typeface="Times New Roman"/>
                <a:cs typeface="Times New Roman"/>
              </a:rPr>
              <a:t> </a:t>
            </a:r>
            <a:r>
              <a:rPr sz="1000" spc="-5">
                <a:latin typeface="Times New Roman"/>
                <a:cs typeface="Times New Roman"/>
              </a:rPr>
              <a:t>the</a:t>
            </a:r>
            <a:r>
              <a:rPr sz="1000" spc="140">
                <a:latin typeface="Times New Roman"/>
                <a:cs typeface="Times New Roman"/>
              </a:rPr>
              <a:t> </a:t>
            </a:r>
            <a:r>
              <a:rPr sz="1000" spc="-5">
                <a:latin typeface="Times New Roman"/>
                <a:cs typeface="Times New Roman"/>
              </a:rPr>
              <a:t>largest</a:t>
            </a:r>
            <a:r>
              <a:rPr sz="1000" spc="150">
                <a:latin typeface="Times New Roman"/>
                <a:cs typeface="Times New Roman"/>
              </a:rPr>
              <a:t> </a:t>
            </a:r>
            <a:r>
              <a:rPr sz="1000" spc="-5">
                <a:latin typeface="Times New Roman"/>
                <a:cs typeface="Times New Roman"/>
              </a:rPr>
              <a:t>shareholder</a:t>
            </a:r>
            <a:r>
              <a:rPr sz="1000" spc="145">
                <a:latin typeface="Times New Roman"/>
                <a:cs typeface="Times New Roman"/>
              </a:rPr>
              <a:t> </a:t>
            </a:r>
            <a:r>
              <a:rPr sz="1000" spc="-5">
                <a:latin typeface="Times New Roman"/>
                <a:cs typeface="Times New Roman"/>
              </a:rPr>
              <a:t>in</a:t>
            </a:r>
            <a:r>
              <a:rPr sz="1000" spc="145">
                <a:latin typeface="Times New Roman"/>
                <a:cs typeface="Times New Roman"/>
              </a:rPr>
              <a:t> </a:t>
            </a:r>
            <a:r>
              <a:rPr sz="1000" spc="-5">
                <a:latin typeface="Times New Roman"/>
                <a:cs typeface="Times New Roman"/>
              </a:rPr>
              <a:t>regular</a:t>
            </a:r>
            <a:endParaRPr/>
          </a:p>
        </p:txBody>
      </p:sp>
      <p:sp>
        <p:nvSpPr>
          <p:cNvPr id="6" name="shape 6"/>
          <p:cNvSpPr txBox="1"/>
          <p:nvPr/>
        </p:nvSpPr>
        <p:spPr>
          <a:xfrm>
            <a:off x="6945631" y="9993884"/>
            <a:ext cx="88900" cy="152400"/>
          </a:xfrm>
          <a:prstGeom prst="rect"/>
          <a:noFill/>
        </p:spPr>
        <p:txBody>
          <a:bodyPr vertOverflow="overflow" horzOverflow="overflow" numCol="1" wrap="square" lIns="0" tIns="0" rIns="0" bIns="0">
            <a:spAutoFit/>
          </a:bodyPr>
          <a:p>
            <a:pPr marL="12700"/>
            <a:r>
              <a:rPr sz="1000" i="1">
                <a:latin typeface="Times New Roman"/>
                <a:cs typeface="Times New Roman"/>
              </a:rPr>
              <a:t>9</a:t>
            </a:r>
            <a:endParaR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p:nvPr/>
        </p:nvSpPr>
        <p:spPr>
          <a:xfrm>
            <a:off x="541020" y="1777238"/>
            <a:ext cx="2277491" cy="6096"/>
          </a:xfrm>
          <a:prstGeom prst="rect">
            <a:avLst/>
          </a:prstGeom>
          <a:solidFill>
            <a:srgbClr val="000000"/>
          </a:solidFill>
        </p:spPr>
      </p:sp>
      <p:sp>
        <p:nvSpPr>
          <p:cNvPr id="3" name="shape 3"/>
          <p:cNvSpPr/>
          <p:nvPr/>
        </p:nvSpPr>
        <p:spPr>
          <a:xfrm>
            <a:off x="5978398" y="1777238"/>
            <a:ext cx="1045769" cy="6096"/>
          </a:xfrm>
          <a:prstGeom prst="rect">
            <a:avLst/>
          </a:prstGeom>
          <a:solidFill>
            <a:srgbClr val="000000"/>
          </a:solidFill>
        </p:spPr>
      </p:sp>
      <p:sp>
        <p:nvSpPr>
          <p:cNvPr id="4" name="shape 4"/>
          <p:cNvSpPr/>
          <p:nvPr/>
        </p:nvSpPr>
        <p:spPr>
          <a:xfrm>
            <a:off x="541020" y="1929638"/>
            <a:ext cx="2277491" cy="6096"/>
          </a:xfrm>
          <a:prstGeom prst="rect">
            <a:avLst/>
          </a:prstGeom>
          <a:solidFill>
            <a:srgbClr val="000000"/>
          </a:solidFill>
        </p:spPr>
      </p:sp>
      <p:sp>
        <p:nvSpPr>
          <p:cNvPr id="5" name="shape 5"/>
          <p:cNvSpPr/>
          <p:nvPr/>
        </p:nvSpPr>
        <p:spPr>
          <a:xfrm>
            <a:off x="5978398" y="1929638"/>
            <a:ext cx="1045769" cy="6096"/>
          </a:xfrm>
          <a:prstGeom prst="rect">
            <a:avLst/>
          </a:prstGeom>
          <a:solidFill>
            <a:srgbClr val="000000"/>
          </a:solidFill>
        </p:spPr>
      </p:sp>
      <p:sp>
        <p:nvSpPr>
          <p:cNvPr id="6" name="shape 6"/>
          <p:cNvSpPr/>
          <p:nvPr/>
        </p:nvSpPr>
        <p:spPr>
          <a:xfrm>
            <a:off x="541020" y="2082038"/>
            <a:ext cx="2277491" cy="6096"/>
          </a:xfrm>
          <a:prstGeom prst="rect">
            <a:avLst/>
          </a:prstGeom>
          <a:solidFill>
            <a:srgbClr val="000000"/>
          </a:solidFill>
        </p:spPr>
      </p:sp>
      <p:sp>
        <p:nvSpPr>
          <p:cNvPr id="7" name="shape 7"/>
          <p:cNvSpPr/>
          <p:nvPr/>
        </p:nvSpPr>
        <p:spPr>
          <a:xfrm>
            <a:off x="5978398" y="2082038"/>
            <a:ext cx="1045769" cy="6096"/>
          </a:xfrm>
          <a:prstGeom prst="rect">
            <a:avLst/>
          </a:prstGeom>
          <a:solidFill>
            <a:srgbClr val="000000"/>
          </a:solidFill>
        </p:spPr>
      </p:sp>
      <p:sp>
        <p:nvSpPr>
          <p:cNvPr id="8" name="shape 8"/>
          <p:cNvSpPr/>
          <p:nvPr/>
        </p:nvSpPr>
        <p:spPr>
          <a:xfrm>
            <a:off x="541020" y="2234438"/>
            <a:ext cx="2277491" cy="6096"/>
          </a:xfrm>
          <a:prstGeom prst="rect">
            <a:avLst/>
          </a:prstGeom>
          <a:solidFill>
            <a:srgbClr val="000000"/>
          </a:solidFill>
        </p:spPr>
      </p:sp>
      <p:sp>
        <p:nvSpPr>
          <p:cNvPr id="9" name="shape 9"/>
          <p:cNvSpPr/>
          <p:nvPr/>
        </p:nvSpPr>
        <p:spPr>
          <a:xfrm>
            <a:off x="5978398" y="2234438"/>
            <a:ext cx="1045769" cy="6096"/>
          </a:xfrm>
          <a:prstGeom prst="rect">
            <a:avLst/>
          </a:prstGeom>
          <a:solidFill>
            <a:srgbClr val="000000"/>
          </a:solidFill>
        </p:spPr>
      </p:sp>
      <p:sp>
        <p:nvSpPr>
          <p:cNvPr id="10" name="shape 10"/>
          <p:cNvSpPr/>
          <p:nvPr/>
        </p:nvSpPr>
        <p:spPr>
          <a:xfrm>
            <a:off x="541020" y="2386838"/>
            <a:ext cx="2277491" cy="6096"/>
          </a:xfrm>
          <a:prstGeom prst="rect">
            <a:avLst/>
          </a:prstGeom>
          <a:solidFill>
            <a:srgbClr val="000000"/>
          </a:solidFill>
        </p:spPr>
      </p:sp>
      <p:sp>
        <p:nvSpPr>
          <p:cNvPr id="11" name="shape 11"/>
          <p:cNvSpPr/>
          <p:nvPr/>
        </p:nvSpPr>
        <p:spPr>
          <a:xfrm>
            <a:off x="5978398" y="2386838"/>
            <a:ext cx="1045769" cy="6096"/>
          </a:xfrm>
          <a:prstGeom prst="rect">
            <a:avLst/>
          </a:prstGeom>
          <a:solidFill>
            <a:srgbClr val="000000"/>
          </a:solidFill>
        </p:spPr>
      </p:sp>
      <p:sp>
        <p:nvSpPr>
          <p:cNvPr id="12" name="shape 12"/>
          <p:cNvSpPr/>
          <p:nvPr/>
        </p:nvSpPr>
        <p:spPr>
          <a:xfrm>
            <a:off x="541020" y="2539238"/>
            <a:ext cx="2277491" cy="6096"/>
          </a:xfrm>
          <a:prstGeom prst="rect">
            <a:avLst/>
          </a:prstGeom>
          <a:solidFill>
            <a:srgbClr val="000000"/>
          </a:solidFill>
        </p:spPr>
      </p:sp>
      <p:sp>
        <p:nvSpPr>
          <p:cNvPr id="13" name="shape 13"/>
          <p:cNvSpPr/>
          <p:nvPr/>
        </p:nvSpPr>
        <p:spPr>
          <a:xfrm>
            <a:off x="5978398" y="2539238"/>
            <a:ext cx="1045769" cy="6096"/>
          </a:xfrm>
          <a:prstGeom prst="rect">
            <a:avLst/>
          </a:prstGeom>
          <a:solidFill>
            <a:srgbClr val="000000"/>
          </a:solidFill>
        </p:spPr>
      </p:sp>
      <p:sp>
        <p:nvSpPr>
          <p:cNvPr id="14" name="shape 14"/>
          <p:cNvSpPr/>
          <p:nvPr/>
        </p:nvSpPr>
        <p:spPr>
          <a:xfrm>
            <a:off x="531876" y="2691638"/>
            <a:ext cx="2286635" cy="6096"/>
          </a:xfrm>
          <a:prstGeom prst="rect">
            <a:avLst/>
          </a:prstGeom>
          <a:solidFill>
            <a:srgbClr val="000000"/>
          </a:solidFill>
        </p:spPr>
      </p:sp>
      <p:sp>
        <p:nvSpPr>
          <p:cNvPr id="15" name="shape 15"/>
          <p:cNvSpPr/>
          <p:nvPr/>
        </p:nvSpPr>
        <p:spPr>
          <a:xfrm>
            <a:off x="5969254" y="2691638"/>
            <a:ext cx="1054913" cy="6096"/>
          </a:xfrm>
          <a:prstGeom prst="rect">
            <a:avLst/>
          </a:prstGeom>
          <a:solidFill>
            <a:srgbClr val="000000"/>
          </a:solidFill>
        </p:spPr>
      </p:sp>
      <p:graphicFrame>
        <p:nvGraphicFramePr>
          <p:cNvPr id="16" name="shape 16"/>
          <p:cNvGraphicFramePr>
            <a:graphicFrameLocks noGrp="1"/>
          </p:cNvGraphicFramePr>
          <p:nvPr/>
        </p:nvGraphicFramePr>
        <p:xfrm>
          <a:off x="751440" y="1750741"/>
          <a:ext cx="6049818" cy="962360"/>
        </p:xfrm>
        <a:graphic>
          <a:graphicData uri="http://schemas.openxmlformats.org/drawingml/2006/table">
            <a:tbl>
              <a:tblPr>
                <a:tableStyleId>{2D5ABB26-0587-4C30-8999-92F81FD0307C}</a:tableStyleId>
              </a:tblPr>
              <a:tblGrid>
                <a:gridCol w="2146300"/>
                <a:gridCol w="901065"/>
                <a:gridCol w="1177290"/>
                <a:gridCol w="930275"/>
                <a:gridCol w="896620"/>
              </a:tblGrid>
              <a:tr h="182245">
                <a:tc>
                  <a:txBody>
                    <a:bodyPr/>
                    <a:p>
                      <a:pPr marL="80645" marR="373380">
                        <a:lnSpc>
                          <a:spcPct val="91916"/>
                        </a:lnSpc>
                      </a:pPr>
                      <a:r>
                        <a:rPr sz="1000" b="1" spc="-5">
                          <a:latin typeface="Times New Roman"/>
                          <a:cs typeface="Times New Roman"/>
                        </a:rPr>
                        <a:t>Type of the largest shareholder</a:t>
                      </a:r>
                      <a:endParaRPr/>
                    </a:p>
                  </a:txBody>
                  <a:tcPr anchor="b" marL="0" marR="0" marT="0" marB="0">
                    <a:lnL/>
                    <a:lnR/>
                    <a:lnT/>
                    <a:lnB/>
                  </a:tcPr>
                </a:tc>
                <a:tc>
                  <a:txBody>
                    <a:bodyPr/>
                    <a:p>
                      <a:pPr marL="318770" marR="329565" algn="ctr">
                        <a:spcBef>
                          <a:spcPts val="200"/>
                        </a:spcBef>
                      </a:pPr>
                      <a:r>
                        <a:rPr sz="1000" b="1" i="1" spc="-10">
                          <a:latin typeface="Arial"/>
                          <a:cs typeface="Arial"/>
                        </a:rPr>
                        <a:t>SI</a:t>
                      </a:r>
                      <a:r>
                        <a:rPr sz="1000" b="1" spc="-10">
                          <a:latin typeface="Times New Roman"/>
                          <a:cs typeface="Times New Roman"/>
                        </a:rPr>
                        <a:t>[I]</a:t>
                      </a:r>
                      <a:endParaRPr/>
                    </a:p>
                  </a:txBody>
                  <a:tcPr marL="0" marR="0" marT="25400" marB="0">
                    <a:lnL/>
                    <a:lnR/>
                    <a:lnT/>
                    <a:lnB/>
                  </a:tcPr>
                </a:tc>
                <a:tc>
                  <a:txBody>
                    <a:bodyPr/>
                    <a:p>
                      <a:pPr marL="328930" marR="319405" algn="ctr">
                        <a:spcBef>
                          <a:spcPts val="200"/>
                        </a:spcBef>
                      </a:pPr>
                      <a:r>
                        <a:rPr sz="1000" b="1">
                          <a:latin typeface="Times New Roman"/>
                          <a:cs typeface="Times New Roman"/>
                        </a:rPr>
                        <a:t>Rank (</a:t>
                      </a:r>
                      <a:r>
                        <a:rPr sz="1000" b="1" i="1">
                          <a:latin typeface="Arial"/>
                          <a:cs typeface="Arial"/>
                        </a:rPr>
                        <a:t>R</a:t>
                      </a:r>
                      <a:r>
                        <a:rPr sz="975" b="1" i="1" baseline="-4273">
                          <a:latin typeface="Arial"/>
                          <a:cs typeface="Arial"/>
                        </a:rPr>
                        <a:t>I</a:t>
                      </a:r>
                      <a:r>
                        <a:rPr sz="1000" b="1">
                          <a:latin typeface="Times New Roman"/>
                          <a:cs typeface="Times New Roman"/>
                        </a:rPr>
                        <a:t>)</a:t>
                      </a:r>
                      <a:endParaRPr/>
                    </a:p>
                  </a:txBody>
                  <a:tcPr marL="0" marR="0" marT="25400" marB="0">
                    <a:lnL/>
                    <a:lnR/>
                    <a:lnT/>
                    <a:lnB/>
                  </a:tcPr>
                </a:tc>
                <a:tc>
                  <a:txBody>
                    <a:bodyPr/>
                    <a:p>
                      <a:pPr marL="318135" marR="310515" algn="ctr">
                        <a:spcBef>
                          <a:spcPts val="200"/>
                        </a:spcBef>
                      </a:pPr>
                      <a:r>
                        <a:rPr sz="1000" b="1" i="1" spc="-10">
                          <a:latin typeface="Arial"/>
                          <a:cs typeface="Arial"/>
                        </a:rPr>
                        <a:t>SI</a:t>
                      </a:r>
                      <a:r>
                        <a:rPr sz="1000" b="1" spc="-10">
                          <a:latin typeface="Times New Roman"/>
                          <a:cs typeface="Times New Roman"/>
                        </a:rPr>
                        <a:t>[II]</a:t>
                      </a:r>
                      <a:endParaRPr/>
                    </a:p>
                  </a:txBody>
                  <a:tcPr marL="0" marR="0" marT="25400" marB="0">
                    <a:lnL/>
                    <a:lnR/>
                    <a:lnT/>
                    <a:lnB/>
                  </a:tcPr>
                </a:tc>
                <a:tc>
                  <a:txBody>
                    <a:bodyPr/>
                    <a:p>
                      <a:pPr marL="307975" marR="27305" algn="r">
                        <a:spcBef>
                          <a:spcPts val="200"/>
                        </a:spcBef>
                      </a:pPr>
                      <a:r>
                        <a:rPr sz="1000" b="1">
                          <a:latin typeface="Times New Roman"/>
                          <a:cs typeface="Times New Roman"/>
                        </a:rPr>
                        <a:t>Rank (</a:t>
                      </a:r>
                      <a:r>
                        <a:rPr sz="1000" b="1" i="1">
                          <a:latin typeface="Arial"/>
                          <a:cs typeface="Arial"/>
                        </a:rPr>
                        <a:t>R</a:t>
                      </a:r>
                      <a:r>
                        <a:rPr sz="975" b="1" i="1" baseline="-4273">
                          <a:latin typeface="Arial"/>
                          <a:cs typeface="Arial"/>
                        </a:rPr>
                        <a:t>II</a:t>
                      </a:r>
                      <a:r>
                        <a:rPr sz="1000" b="1">
                          <a:latin typeface="Times New Roman"/>
                          <a:cs typeface="Times New Roman"/>
                        </a:rPr>
                        <a:t>)</a:t>
                      </a:r>
                      <a:endParaRPr/>
                    </a:p>
                  </a:txBody>
                  <a:tcPr marL="0" marR="0" marT="25400" marB="0">
                    <a:lnL/>
                    <a:lnR/>
                    <a:lnT/>
                    <a:lnB/>
                  </a:tcPr>
                </a:tc>
              </a:tr>
              <a:tr h="151130">
                <a:tc>
                  <a:txBody>
                    <a:bodyPr/>
                    <a:p>
                      <a:pPr marL="399415" marR="692785">
                        <a:lnSpc>
                          <a:spcPct val="95457"/>
                        </a:lnSpc>
                      </a:pPr>
                      <a:r>
                        <a:rPr sz="1000" spc="-5">
                          <a:latin typeface="Times New Roman"/>
                          <a:cs typeface="Times New Roman"/>
                        </a:rPr>
                        <a:t>Institutional investor</a:t>
                      </a:r>
                      <a:endParaRPr/>
                    </a:p>
                  </a:txBody>
                  <a:tcPr anchor="ctr" marL="0" marR="0" marT="0" marB="0">
                    <a:lnL/>
                    <a:lnR/>
                    <a:lnT/>
                    <a:lnB/>
                  </a:tcPr>
                </a:tc>
                <a:tc>
                  <a:txBody>
                    <a:bodyPr/>
                    <a:p>
                      <a:pPr marL="334010" marR="344170" algn="ctr">
                        <a:lnSpc>
                          <a:spcPct val="95457"/>
                        </a:lnSpc>
                      </a:pPr>
                      <a:r>
                        <a:rPr sz="1000" spc="-5">
                          <a:latin typeface="Times New Roman"/>
                          <a:cs typeface="Times New Roman"/>
                        </a:rPr>
                        <a:t>0,54</a:t>
                      </a:r>
                      <a:endParaRPr/>
                    </a:p>
                  </a:txBody>
                  <a:tcPr anchor="ctr" marL="0" marR="0" marT="0" marB="0">
                    <a:lnL/>
                    <a:lnR/>
                    <a:lnT/>
                    <a:lnB/>
                  </a:tcPr>
                </a:tc>
                <a:tc>
                  <a:txBody>
                    <a:bodyPr/>
                    <a:p>
                      <a:pPr marL="513715" marR="501015" algn="ctr">
                        <a:lnSpc>
                          <a:spcPct val="95457"/>
                        </a:lnSpc>
                      </a:pPr>
                      <a:r>
                        <a:rPr sz="1000" spc="-5">
                          <a:latin typeface="Times New Roman"/>
                          <a:cs typeface="Times New Roman"/>
                        </a:rPr>
                        <a:t>2/3</a:t>
                      </a:r>
                      <a:endParaRPr/>
                    </a:p>
                  </a:txBody>
                  <a:tcPr anchor="ctr" marL="0" marR="0" marT="0" marB="0">
                    <a:lnL/>
                    <a:lnR/>
                    <a:lnT/>
                    <a:lnB/>
                  </a:tcPr>
                </a:tc>
                <a:tc>
                  <a:txBody>
                    <a:bodyPr/>
                    <a:p>
                      <a:pPr marL="357505" marR="349250" algn="ctr">
                        <a:lnSpc>
                          <a:spcPct val="95457"/>
                        </a:lnSpc>
                      </a:pPr>
                      <a:r>
                        <a:rPr sz="1000" spc="-5">
                          <a:latin typeface="Times New Roman"/>
                          <a:cs typeface="Times New Roman"/>
                        </a:rPr>
                        <a:t>0,63</a:t>
                      </a:r>
                      <a:endParaRPr/>
                    </a:p>
                  </a:txBody>
                  <a:tcPr anchor="ctr" marL="0" marR="0" marT="0" marB="0">
                    <a:lnL/>
                    <a:lnR/>
                    <a:lnT/>
                    <a:lnB/>
                  </a:tcPr>
                </a:tc>
                <a:tc>
                  <a:txBody>
                    <a:bodyPr/>
                    <a:p>
                      <a:pPr marL="558165" marR="274320" algn="r">
                        <a:lnSpc>
                          <a:spcPct val="95457"/>
                        </a:lnSpc>
                      </a:pPr>
                      <a:r>
                        <a:rPr sz="1000" spc="-15">
                          <a:latin typeface="Times New Roman"/>
                          <a:cs typeface="Times New Roman"/>
                        </a:rPr>
                        <a:t>1</a:t>
                      </a:r>
                      <a:endParaRPr/>
                    </a:p>
                  </a:txBody>
                  <a:tcPr anchor="ctr" marL="0" marR="0" marT="0" marB="0">
                    <a:lnL/>
                    <a:lnR/>
                    <a:lnT/>
                    <a:lnB/>
                  </a:tcPr>
                </a:tc>
              </a:tr>
              <a:tr h="152400">
                <a:tc>
                  <a:txBody>
                    <a:bodyPr/>
                    <a:p>
                      <a:pPr marL="701040" marR="995680">
                        <a:lnSpc>
                          <a:spcPct val="95957"/>
                        </a:lnSpc>
                      </a:pPr>
                      <a:r>
                        <a:rPr sz="1000" spc="-10">
                          <a:latin typeface="Times New Roman"/>
                          <a:cs typeface="Times New Roman"/>
                        </a:rPr>
                        <a:t>Manager</a:t>
                      </a:r>
                      <a:endParaRPr/>
                    </a:p>
                  </a:txBody>
                  <a:tcPr anchor="ctr" marL="0" marR="0" marT="0" marB="0">
                    <a:lnL/>
                    <a:lnR/>
                    <a:lnT/>
                    <a:lnB/>
                  </a:tcPr>
                </a:tc>
                <a:tc>
                  <a:txBody>
                    <a:bodyPr/>
                    <a:p>
                      <a:pPr marL="334010" marR="344170" algn="ctr">
                        <a:lnSpc>
                          <a:spcPct val="95957"/>
                        </a:lnSpc>
                      </a:pPr>
                      <a:r>
                        <a:rPr sz="1000" spc="-5">
                          <a:latin typeface="Times New Roman"/>
                          <a:cs typeface="Times New Roman"/>
                        </a:rPr>
                        <a:t>0,47</a:t>
                      </a:r>
                      <a:endParaRPr/>
                    </a:p>
                  </a:txBody>
                  <a:tcPr anchor="ctr" marL="0" marR="0" marT="0" marB="0">
                    <a:lnL/>
                    <a:lnR/>
                    <a:lnT/>
                    <a:lnB/>
                  </a:tcPr>
                </a:tc>
                <a:tc>
                  <a:txBody>
                    <a:bodyPr/>
                    <a:p>
                      <a:pPr marL="561975" marR="551180" algn="ctr">
                        <a:lnSpc>
                          <a:spcPct val="95957"/>
                        </a:lnSpc>
                      </a:pPr>
                      <a:r>
                        <a:rPr sz="1000" spc="-10">
                          <a:latin typeface="Times New Roman"/>
                          <a:cs typeface="Times New Roman"/>
                        </a:rPr>
                        <a:t>4</a:t>
                      </a:r>
                      <a:endParaRPr/>
                    </a:p>
                  </a:txBody>
                  <a:tcPr anchor="ctr" marL="0" marR="0" marT="0" marB="0">
                    <a:lnL/>
                    <a:lnR/>
                    <a:lnT/>
                    <a:lnB/>
                  </a:tcPr>
                </a:tc>
                <a:tc>
                  <a:txBody>
                    <a:bodyPr/>
                    <a:p>
                      <a:pPr marL="357505" marR="349250" algn="ctr">
                        <a:lnSpc>
                          <a:spcPct val="95957"/>
                        </a:lnSpc>
                      </a:pPr>
                      <a:r>
                        <a:rPr sz="1000" spc="-5">
                          <a:latin typeface="Times New Roman"/>
                          <a:cs typeface="Times New Roman"/>
                        </a:rPr>
                        <a:t>0,52</a:t>
                      </a:r>
                      <a:endParaRPr/>
                    </a:p>
                  </a:txBody>
                  <a:tcPr anchor="ctr" marL="0" marR="0" marT="0" marB="0">
                    <a:lnL/>
                    <a:lnR/>
                    <a:lnT/>
                    <a:lnB/>
                  </a:tcPr>
                </a:tc>
                <a:tc>
                  <a:txBody>
                    <a:bodyPr/>
                    <a:p>
                      <a:pPr marL="558165" marR="274320" algn="r">
                        <a:lnSpc>
                          <a:spcPct val="95957"/>
                        </a:lnSpc>
                      </a:pPr>
                      <a:r>
                        <a:rPr sz="1000" spc="-15">
                          <a:latin typeface="Times New Roman"/>
                          <a:cs typeface="Times New Roman"/>
                        </a:rPr>
                        <a:t>4</a:t>
                      </a:r>
                      <a:endParaRPr/>
                    </a:p>
                  </a:txBody>
                  <a:tcPr anchor="ctr" marL="0" marR="0" marT="0" marB="0">
                    <a:lnL/>
                    <a:lnR/>
                    <a:lnT/>
                    <a:lnB/>
                  </a:tcPr>
                </a:tc>
              </a:tr>
              <a:tr h="152400">
                <a:tc>
                  <a:txBody>
                    <a:bodyPr/>
                    <a:p>
                      <a:pPr marL="558165" marR="850265">
                        <a:lnSpc>
                          <a:spcPct val="95957"/>
                        </a:lnSpc>
                      </a:pPr>
                      <a:r>
                        <a:rPr sz="1000" spc="-5">
                          <a:latin typeface="Times New Roman"/>
                          <a:cs typeface="Times New Roman"/>
                        </a:rPr>
                        <a:t>State Treasury</a:t>
                      </a:r>
                      <a:endParaRPr/>
                    </a:p>
                  </a:txBody>
                  <a:tcPr anchor="ctr" marL="0" marR="0" marT="0" marB="0">
                    <a:lnL/>
                    <a:lnR/>
                    <a:lnT/>
                    <a:lnB/>
                  </a:tcPr>
                </a:tc>
                <a:tc>
                  <a:txBody>
                    <a:bodyPr/>
                    <a:p>
                      <a:pPr marL="334010" marR="344170" algn="ctr">
                        <a:lnSpc>
                          <a:spcPct val="95957"/>
                        </a:lnSpc>
                      </a:pPr>
                      <a:r>
                        <a:rPr sz="1000" spc="-5">
                          <a:latin typeface="Times New Roman"/>
                          <a:cs typeface="Times New Roman"/>
                        </a:rPr>
                        <a:t>0,45</a:t>
                      </a:r>
                      <a:endParaRPr/>
                    </a:p>
                  </a:txBody>
                  <a:tcPr anchor="ctr" marL="0" marR="0" marT="0" marB="0">
                    <a:lnL/>
                    <a:lnR/>
                    <a:lnT/>
                    <a:lnB/>
                  </a:tcPr>
                </a:tc>
                <a:tc>
                  <a:txBody>
                    <a:bodyPr/>
                    <a:p>
                      <a:pPr marL="561975" marR="551180" algn="ctr">
                        <a:lnSpc>
                          <a:spcPct val="95957"/>
                        </a:lnSpc>
                      </a:pPr>
                      <a:r>
                        <a:rPr sz="1000" spc="-10">
                          <a:latin typeface="Times New Roman"/>
                          <a:cs typeface="Times New Roman"/>
                        </a:rPr>
                        <a:t>5</a:t>
                      </a:r>
                      <a:endParaRPr/>
                    </a:p>
                  </a:txBody>
                  <a:tcPr anchor="ctr" marL="0" marR="0" marT="0" marB="0">
                    <a:lnL/>
                    <a:lnR/>
                    <a:lnT/>
                    <a:lnB/>
                  </a:tcPr>
                </a:tc>
                <a:tc>
                  <a:txBody>
                    <a:bodyPr/>
                    <a:p>
                      <a:pPr marL="357505" marR="349250" algn="ctr">
                        <a:lnSpc>
                          <a:spcPct val="95957"/>
                        </a:lnSpc>
                      </a:pPr>
                      <a:r>
                        <a:rPr sz="1000" spc="-5">
                          <a:latin typeface="Times New Roman"/>
                          <a:cs typeface="Times New Roman"/>
                        </a:rPr>
                        <a:t>0,42</a:t>
                      </a:r>
                      <a:endParaRPr/>
                    </a:p>
                  </a:txBody>
                  <a:tcPr anchor="ctr" marL="0" marR="0" marT="0" marB="0">
                    <a:lnL/>
                    <a:lnR/>
                    <a:lnT/>
                    <a:lnB/>
                  </a:tcPr>
                </a:tc>
                <a:tc>
                  <a:txBody>
                    <a:bodyPr/>
                    <a:p>
                      <a:pPr marL="558165" marR="274320" algn="r">
                        <a:lnSpc>
                          <a:spcPct val="95957"/>
                        </a:lnSpc>
                      </a:pPr>
                      <a:r>
                        <a:rPr sz="1000" spc="-15">
                          <a:latin typeface="Times New Roman"/>
                          <a:cs typeface="Times New Roman"/>
                        </a:rPr>
                        <a:t>5</a:t>
                      </a:r>
                      <a:endParaRPr/>
                    </a:p>
                  </a:txBody>
                  <a:tcPr anchor="ctr" marL="0" marR="0" marT="0" marB="0">
                    <a:lnL/>
                    <a:lnR/>
                    <a:lnT/>
                    <a:lnB/>
                  </a:tcPr>
                </a:tc>
              </a:tr>
              <a:tr h="152400">
                <a:tc>
                  <a:txBody>
                    <a:bodyPr/>
                    <a:p>
                      <a:pPr marL="26035" marR="318770">
                        <a:lnSpc>
                          <a:spcPct val="95957"/>
                        </a:lnSpc>
                      </a:pPr>
                      <a:r>
                        <a:rPr sz="1000" spc="-5">
                          <a:latin typeface="Times New Roman"/>
                          <a:cs typeface="Times New Roman"/>
                        </a:rPr>
                        <a:t>Individual investor (natural person)</a:t>
                      </a:r>
                      <a:endParaRPr/>
                    </a:p>
                  </a:txBody>
                  <a:tcPr anchor="ctr" marL="0" marR="0" marT="0" marB="0">
                    <a:lnL/>
                    <a:lnR/>
                    <a:lnT/>
                    <a:lnB/>
                  </a:tcPr>
                </a:tc>
                <a:tc>
                  <a:txBody>
                    <a:bodyPr/>
                    <a:p>
                      <a:pPr marL="334010" marR="344170" algn="ctr">
                        <a:lnSpc>
                          <a:spcPct val="95957"/>
                        </a:lnSpc>
                      </a:pPr>
                      <a:r>
                        <a:rPr sz="1000" spc="-5">
                          <a:latin typeface="Times New Roman"/>
                          <a:cs typeface="Times New Roman"/>
                        </a:rPr>
                        <a:t>0,54</a:t>
                      </a:r>
                      <a:endParaRPr/>
                    </a:p>
                  </a:txBody>
                  <a:tcPr anchor="ctr" marL="0" marR="0" marT="0" marB="0">
                    <a:lnL/>
                    <a:lnR/>
                    <a:lnT/>
                    <a:lnB/>
                  </a:tcPr>
                </a:tc>
                <a:tc>
                  <a:txBody>
                    <a:bodyPr/>
                    <a:p>
                      <a:pPr marL="513715" marR="501015" algn="ctr">
                        <a:lnSpc>
                          <a:spcPct val="95957"/>
                        </a:lnSpc>
                      </a:pPr>
                      <a:r>
                        <a:rPr sz="1000" spc="-5">
                          <a:latin typeface="Times New Roman"/>
                          <a:cs typeface="Times New Roman"/>
                        </a:rPr>
                        <a:t>2/3</a:t>
                      </a:r>
                      <a:endParaRPr/>
                    </a:p>
                  </a:txBody>
                  <a:tcPr anchor="ctr" marL="0" marR="0" marT="0" marB="0">
                    <a:lnL/>
                    <a:lnR/>
                    <a:lnT/>
                    <a:lnB/>
                  </a:tcPr>
                </a:tc>
                <a:tc>
                  <a:txBody>
                    <a:bodyPr/>
                    <a:p>
                      <a:pPr marL="357505" marR="349250" algn="ctr">
                        <a:lnSpc>
                          <a:spcPct val="95957"/>
                        </a:lnSpc>
                      </a:pPr>
                      <a:r>
                        <a:rPr sz="1000" spc="-5">
                          <a:latin typeface="Times New Roman"/>
                          <a:cs typeface="Times New Roman"/>
                        </a:rPr>
                        <a:t>0,59</a:t>
                      </a:r>
                      <a:endParaRPr/>
                    </a:p>
                  </a:txBody>
                  <a:tcPr anchor="ctr" marL="0" marR="0" marT="0" marB="0">
                    <a:lnL/>
                    <a:lnR/>
                    <a:lnT/>
                    <a:lnB/>
                  </a:tcPr>
                </a:tc>
                <a:tc>
                  <a:txBody>
                    <a:bodyPr/>
                    <a:p>
                      <a:pPr marL="558165" marR="274320" algn="r">
                        <a:lnSpc>
                          <a:spcPct val="95957"/>
                        </a:lnSpc>
                      </a:pPr>
                      <a:r>
                        <a:rPr sz="1000" spc="-15">
                          <a:latin typeface="Times New Roman"/>
                          <a:cs typeface="Times New Roman"/>
                        </a:rPr>
                        <a:t>2</a:t>
                      </a:r>
                      <a:endParaRPr/>
                    </a:p>
                  </a:txBody>
                  <a:tcPr anchor="ctr" marL="0" marR="0" marT="0" marB="0">
                    <a:lnL/>
                    <a:lnR/>
                    <a:lnT/>
                    <a:lnB/>
                  </a:tcPr>
                </a:tc>
              </a:tr>
              <a:tr h="172085">
                <a:tc>
                  <a:txBody>
                    <a:bodyPr/>
                    <a:p>
                      <a:pPr marL="314325" marR="605155">
                        <a:lnSpc>
                          <a:spcPts val="1170"/>
                        </a:lnSpc>
                      </a:pPr>
                      <a:r>
                        <a:rPr sz="1000" spc="-5">
                          <a:latin typeface="Times New Roman"/>
                          <a:cs typeface="Times New Roman"/>
                        </a:rPr>
                        <a:t>Company (legal person)</a:t>
                      </a:r>
                      <a:endParaRPr/>
                    </a:p>
                  </a:txBody>
                  <a:tcPr marL="0" marR="0" marT="0" marB="0">
                    <a:lnL/>
                    <a:lnR/>
                    <a:lnT/>
                    <a:lnB/>
                  </a:tcPr>
                </a:tc>
                <a:tc>
                  <a:txBody>
                    <a:bodyPr/>
                    <a:p>
                      <a:pPr marL="334010" marR="344170" algn="ctr">
                        <a:lnSpc>
                          <a:spcPts val="1170"/>
                        </a:lnSpc>
                      </a:pPr>
                      <a:r>
                        <a:rPr sz="1000" spc="-5">
                          <a:latin typeface="Times New Roman"/>
                          <a:cs typeface="Times New Roman"/>
                        </a:rPr>
                        <a:t>0,65</a:t>
                      </a:r>
                      <a:endParaRPr/>
                    </a:p>
                  </a:txBody>
                  <a:tcPr marL="0" marR="0" marT="0" marB="0">
                    <a:lnL/>
                    <a:lnR/>
                    <a:lnT/>
                    <a:lnB/>
                  </a:tcPr>
                </a:tc>
                <a:tc>
                  <a:txBody>
                    <a:bodyPr/>
                    <a:p>
                      <a:pPr marL="561975" marR="551180" algn="ctr">
                        <a:lnSpc>
                          <a:spcPts val="1170"/>
                        </a:lnSpc>
                      </a:pPr>
                      <a:r>
                        <a:rPr sz="1000" spc="-10">
                          <a:latin typeface="Times New Roman"/>
                          <a:cs typeface="Times New Roman"/>
                        </a:rPr>
                        <a:t>1</a:t>
                      </a:r>
                      <a:endParaRPr/>
                    </a:p>
                  </a:txBody>
                  <a:tcPr marL="0" marR="0" marT="0" marB="0">
                    <a:lnL/>
                    <a:lnR/>
                    <a:lnT/>
                    <a:lnB/>
                  </a:tcPr>
                </a:tc>
                <a:tc>
                  <a:txBody>
                    <a:bodyPr/>
                    <a:p>
                      <a:pPr marL="357505" marR="349250" algn="ctr">
                        <a:lnSpc>
                          <a:spcPts val="1170"/>
                        </a:lnSpc>
                      </a:pPr>
                      <a:r>
                        <a:rPr sz="1000" spc="-5">
                          <a:latin typeface="Times New Roman"/>
                          <a:cs typeface="Times New Roman"/>
                        </a:rPr>
                        <a:t>0,57</a:t>
                      </a:r>
                      <a:endParaRPr/>
                    </a:p>
                  </a:txBody>
                  <a:tcPr marL="0" marR="0" marT="0" marB="0">
                    <a:lnL/>
                    <a:lnR/>
                    <a:lnT/>
                    <a:lnB/>
                  </a:tcPr>
                </a:tc>
                <a:tc>
                  <a:txBody>
                    <a:bodyPr/>
                    <a:p>
                      <a:pPr marL="558165" marR="274320" algn="r">
                        <a:lnSpc>
                          <a:spcPts val="1170"/>
                        </a:lnSpc>
                      </a:pPr>
                      <a:r>
                        <a:rPr sz="1000" spc="-15">
                          <a:latin typeface="Times New Roman"/>
                          <a:cs typeface="Times New Roman"/>
                        </a:rPr>
                        <a:t>3</a:t>
                      </a:r>
                      <a:endParaRPr/>
                    </a:p>
                  </a:txBody>
                  <a:tcPr marL="0" marR="0" marT="0" marB="0">
                    <a:lnL/>
                    <a:lnR/>
                    <a:lnT/>
                    <a:lnB/>
                  </a:tcPr>
                </a:tc>
              </a:tr>
            </a:tbl>
          </a:graphicData>
        </a:graphic>
      </p:graphicFrame>
      <p:sp>
        <p:nvSpPr>
          <p:cNvPr id="17" name="shape 17"/>
          <p:cNvSpPr txBox="1"/>
          <p:nvPr/>
        </p:nvSpPr>
        <p:spPr>
          <a:xfrm>
            <a:off x="3265805" y="528320"/>
            <a:ext cx="3769995" cy="152400"/>
          </a:xfrm>
          <a:prstGeom prst="rect"/>
          <a:noFill/>
        </p:spPr>
        <p:txBody>
          <a:bodyPr vertOverflow="overflow" horzOverflow="overflow" numCol="1" wrap="square" lIns="0" tIns="0" rIns="0" bIns="0">
            <a:spAutoFit/>
          </a:bodyPr>
          <a:p>
            <a:pPr marL="12700"/>
            <a:r>
              <a:rPr sz="1000" i="1">
                <a:latin typeface="Times New Roman"/>
                <a:cs typeface="Times New Roman"/>
              </a:rPr>
              <a:t>A.Pieloch-Babiarz / Public Policy and Accounting, Vol. 1 (3), 20</a:t>
            </a:r>
            <a:r>
              <a:rPr sz="1000" i="1" spc="5">
                <a:latin typeface="Times New Roman"/>
                <a:cs typeface="Times New Roman"/>
              </a:rPr>
              <a:t>21</a:t>
            </a:r>
            <a:r>
              <a:rPr sz="1000" i="1">
                <a:latin typeface="Times New Roman"/>
                <a:cs typeface="Times New Roman"/>
              </a:rPr>
              <a:t>, 3–</a:t>
            </a:r>
            <a:r>
              <a:rPr sz="1000" i="1" spc="-5">
                <a:latin typeface="Times New Roman"/>
                <a:cs typeface="Times New Roman"/>
              </a:rPr>
              <a:t>11</a:t>
            </a:r>
            <a:endParaRPr/>
          </a:p>
        </p:txBody>
      </p:sp>
      <p:sp>
        <p:nvSpPr>
          <p:cNvPr id="18" name="shape 18"/>
          <p:cNvSpPr txBox="1"/>
          <p:nvPr/>
        </p:nvSpPr>
        <p:spPr>
          <a:xfrm>
            <a:off x="528320" y="893064"/>
            <a:ext cx="6506211" cy="881253"/>
          </a:xfrm>
          <a:prstGeom prst="rect"/>
          <a:noFill/>
        </p:spPr>
        <p:txBody>
          <a:bodyPr vertOverflow="overflow" horzOverflow="overflow" numCol="1" wrap="square" lIns="0" tIns="0" rIns="0" bIns="0">
            <a:spAutoFit/>
          </a:bodyPr>
          <a:p>
            <a:pPr marL="12700" marR="17145" algn="just">
              <a:lnSpc>
                <a:spcPct val="96012"/>
              </a:lnSpc>
            </a:pPr>
            <a:r>
              <a:rPr sz="1000">
                <a:latin typeface="Times New Roman"/>
                <a:cs typeface="Times New Roman"/>
              </a:rPr>
              <a:t>dividend payers was calculated. The values of synthetic indicator (</a:t>
            </a:r>
            <a:r>
              <a:rPr sz="1000" i="1" spc="5">
                <a:latin typeface="Times New Roman"/>
                <a:cs typeface="Times New Roman"/>
              </a:rPr>
              <a:t>SI</a:t>
            </a:r>
            <a:r>
              <a:rPr sz="1000">
                <a:latin typeface="Times New Roman"/>
                <a:cs typeface="Times New Roman"/>
              </a:rPr>
              <a:t>) calculated using equal weights and weights computed using entropy method, as well as assigned ranks (</a:t>
            </a:r>
            <a:r>
              <a:rPr sz="1000" i="1">
                <a:latin typeface="Times New Roman"/>
                <a:cs typeface="Times New Roman"/>
              </a:rPr>
              <a:t>R</a:t>
            </a:r>
            <a:r>
              <a:rPr sz="1000">
                <a:latin typeface="Times New Roman"/>
                <a:cs typeface="Times New Roman"/>
              </a:rPr>
              <a:t>) were presented in table 5.</a:t>
            </a:r>
            <a:endParaRPr/>
          </a:p>
          <a:p>
            <a:pPr marL="12700" algn="just">
              <a:spcBef>
                <a:spcPts val="1100"/>
              </a:spcBef>
            </a:pPr>
            <a:r>
              <a:rPr sz="1000">
                <a:latin typeface="Times New Roman"/>
                <a:cs typeface="Times New Roman"/>
              </a:rPr>
              <a:t>Table 5</a:t>
            </a:r>
            <a:endParaRPr/>
          </a:p>
          <a:p>
            <a:pPr marL="12700" algn="just">
              <a:lnSpc>
                <a:spcPts val="1190"/>
              </a:lnSpc>
            </a:pPr>
            <a:r>
              <a:rPr sz="1000" spc="-5">
                <a:latin typeface="Times New Roman"/>
                <a:cs typeface="Times New Roman"/>
              </a:rPr>
              <a:t>Relative</a:t>
            </a:r>
            <a:r>
              <a:rPr sz="1000" spc="120">
                <a:latin typeface="Times New Roman"/>
                <a:cs typeface="Times New Roman"/>
              </a:rPr>
              <a:t> </a:t>
            </a:r>
            <a:r>
              <a:rPr sz="1000" spc="-5">
                <a:latin typeface="Times New Roman"/>
                <a:cs typeface="Times New Roman"/>
              </a:rPr>
              <a:t>closeness</a:t>
            </a:r>
            <a:r>
              <a:rPr sz="1000" spc="115">
                <a:latin typeface="Times New Roman"/>
                <a:cs typeface="Times New Roman"/>
              </a:rPr>
              <a:t> </a:t>
            </a:r>
            <a:r>
              <a:rPr sz="1000" spc="-5">
                <a:latin typeface="Times New Roman"/>
                <a:cs typeface="Times New Roman"/>
              </a:rPr>
              <a:t>to</a:t>
            </a:r>
            <a:r>
              <a:rPr sz="1000" spc="120">
                <a:latin typeface="Times New Roman"/>
                <a:cs typeface="Times New Roman"/>
              </a:rPr>
              <a:t> </a:t>
            </a:r>
            <a:r>
              <a:rPr sz="1000" spc="-5">
                <a:latin typeface="Times New Roman"/>
                <a:cs typeface="Times New Roman"/>
              </a:rPr>
              <a:t>the</a:t>
            </a:r>
            <a:r>
              <a:rPr sz="1000" spc="120">
                <a:latin typeface="Times New Roman"/>
                <a:cs typeface="Times New Roman"/>
              </a:rPr>
              <a:t> </a:t>
            </a:r>
            <a:r>
              <a:rPr sz="1000" spc="-5">
                <a:latin typeface="Times New Roman"/>
                <a:cs typeface="Times New Roman"/>
              </a:rPr>
              <a:t>ideal</a:t>
            </a:r>
            <a:r>
              <a:rPr sz="1000" spc="115">
                <a:latin typeface="Times New Roman"/>
                <a:cs typeface="Times New Roman"/>
              </a:rPr>
              <a:t> </a:t>
            </a:r>
            <a:r>
              <a:rPr sz="1000" spc="-5">
                <a:latin typeface="Times New Roman"/>
                <a:cs typeface="Times New Roman"/>
              </a:rPr>
              <a:t>solution</a:t>
            </a:r>
            <a:r>
              <a:rPr sz="1000" spc="110">
                <a:latin typeface="Times New Roman"/>
                <a:cs typeface="Times New Roman"/>
              </a:rPr>
              <a:t> </a:t>
            </a:r>
            <a:r>
              <a:rPr sz="1000" spc="-5">
                <a:latin typeface="Times New Roman"/>
                <a:cs typeface="Times New Roman"/>
              </a:rPr>
              <a:t>for</a:t>
            </a:r>
            <a:r>
              <a:rPr sz="1000" spc="120">
                <a:latin typeface="Times New Roman"/>
                <a:cs typeface="Times New Roman"/>
              </a:rPr>
              <a:t> </a:t>
            </a:r>
            <a:r>
              <a:rPr sz="1000" spc="-5">
                <a:latin typeface="Times New Roman"/>
                <a:cs typeface="Times New Roman"/>
              </a:rPr>
              <a:t>different</a:t>
            </a:r>
            <a:r>
              <a:rPr sz="1000" spc="115">
                <a:latin typeface="Times New Roman"/>
                <a:cs typeface="Times New Roman"/>
              </a:rPr>
              <a:t> </a:t>
            </a:r>
            <a:r>
              <a:rPr sz="1000" spc="-5">
                <a:latin typeface="Times New Roman"/>
                <a:cs typeface="Times New Roman"/>
              </a:rPr>
              <a:t>types</a:t>
            </a:r>
            <a:r>
              <a:rPr sz="1000" spc="125">
                <a:latin typeface="Times New Roman"/>
                <a:cs typeface="Times New Roman"/>
              </a:rPr>
              <a:t> </a:t>
            </a:r>
            <a:r>
              <a:rPr sz="1000" spc="-5">
                <a:latin typeface="Times New Roman"/>
                <a:cs typeface="Times New Roman"/>
              </a:rPr>
              <a:t>of</a:t>
            </a:r>
            <a:r>
              <a:rPr sz="1000" spc="110">
                <a:latin typeface="Times New Roman"/>
                <a:cs typeface="Times New Roman"/>
              </a:rPr>
              <a:t> </a:t>
            </a:r>
            <a:r>
              <a:rPr sz="1000" spc="-5">
                <a:latin typeface="Times New Roman"/>
                <a:cs typeface="Times New Roman"/>
              </a:rPr>
              <a:t>the</a:t>
            </a:r>
            <a:r>
              <a:rPr sz="1000" spc="120">
                <a:latin typeface="Times New Roman"/>
                <a:cs typeface="Times New Roman"/>
              </a:rPr>
              <a:t> </a:t>
            </a:r>
            <a:r>
              <a:rPr sz="1000" spc="-5">
                <a:latin typeface="Times New Roman"/>
                <a:cs typeface="Times New Roman"/>
              </a:rPr>
              <a:t>largest</a:t>
            </a:r>
            <a:r>
              <a:rPr sz="1000" spc="115">
                <a:latin typeface="Times New Roman"/>
                <a:cs typeface="Times New Roman"/>
              </a:rPr>
              <a:t> </a:t>
            </a:r>
            <a:r>
              <a:rPr sz="1000" spc="-5">
                <a:latin typeface="Times New Roman"/>
                <a:cs typeface="Times New Roman"/>
              </a:rPr>
              <a:t>shareholder</a:t>
            </a:r>
            <a:r>
              <a:rPr sz="1000" spc="120">
                <a:latin typeface="Times New Roman"/>
                <a:cs typeface="Times New Roman"/>
              </a:rPr>
              <a:t> </a:t>
            </a:r>
            <a:r>
              <a:rPr sz="1000" spc="-5">
                <a:latin typeface="Times New Roman"/>
                <a:cs typeface="Times New Roman"/>
              </a:rPr>
              <a:t>in</a:t>
            </a:r>
            <a:r>
              <a:rPr sz="1000" spc="120">
                <a:latin typeface="Times New Roman"/>
                <a:cs typeface="Times New Roman"/>
              </a:rPr>
              <a:t> </a:t>
            </a:r>
            <a:r>
              <a:rPr sz="1000" spc="-5">
                <a:latin typeface="Times New Roman"/>
                <a:cs typeface="Times New Roman"/>
              </a:rPr>
              <a:t>regular</a:t>
            </a:r>
            <a:r>
              <a:rPr sz="1000" spc="120">
                <a:latin typeface="Times New Roman"/>
                <a:cs typeface="Times New Roman"/>
              </a:rPr>
              <a:t> </a:t>
            </a:r>
            <a:r>
              <a:rPr sz="1000" spc="-5">
                <a:latin typeface="Times New Roman"/>
                <a:cs typeface="Times New Roman"/>
              </a:rPr>
              <a:t>dividend</a:t>
            </a:r>
            <a:r>
              <a:rPr sz="1000" spc="120">
                <a:latin typeface="Times New Roman"/>
                <a:cs typeface="Times New Roman"/>
              </a:rPr>
              <a:t> </a:t>
            </a:r>
            <a:r>
              <a:rPr sz="1000" spc="-5">
                <a:latin typeface="Times New Roman"/>
                <a:cs typeface="Times New Roman"/>
              </a:rPr>
              <a:t>payers</a:t>
            </a:r>
            <a:r>
              <a:rPr sz="1000" spc="175">
                <a:latin typeface="Times New Roman"/>
                <a:cs typeface="Times New Roman"/>
              </a:rPr>
              <a:t> </a:t>
            </a:r>
            <a:r>
              <a:rPr sz="1000" spc="-5">
                <a:latin typeface="Times New Roman"/>
                <a:cs typeface="Times New Roman"/>
              </a:rPr>
              <a:t>–</a:t>
            </a:r>
            <a:r>
              <a:rPr sz="1000" spc="125">
                <a:latin typeface="Times New Roman"/>
                <a:cs typeface="Times New Roman"/>
              </a:rPr>
              <a:t> </a:t>
            </a:r>
            <a:r>
              <a:rPr sz="1000" spc="-5">
                <a:latin typeface="Times New Roman"/>
                <a:cs typeface="Times New Roman"/>
              </a:rPr>
              <a:t>values</a:t>
            </a:r>
            <a:r>
              <a:rPr sz="1000" spc="115">
                <a:latin typeface="Times New Roman"/>
                <a:cs typeface="Times New Roman"/>
              </a:rPr>
              <a:t> </a:t>
            </a:r>
            <a:r>
              <a:rPr sz="1000" spc="-5">
                <a:latin typeface="Times New Roman"/>
                <a:cs typeface="Times New Roman"/>
              </a:rPr>
              <a:t>of</a:t>
            </a:r>
            <a:endParaRPr/>
          </a:p>
          <a:p>
            <a:pPr marL="12700" algn="just">
              <a:lnSpc>
                <a:spcPts val="1145"/>
              </a:lnSpc>
            </a:pPr>
            <a:r>
              <a:rPr sz="1000">
                <a:latin typeface="Times New Roman"/>
                <a:cs typeface="Times New Roman"/>
              </a:rPr>
              <a:t>synthetic indicator and ranks</a:t>
            </a:r>
            <a:endParaRPr/>
          </a:p>
        </p:txBody>
      </p:sp>
      <p:sp>
        <p:nvSpPr>
          <p:cNvPr id="19" name="shape 19"/>
          <p:cNvSpPr txBox="1"/>
          <p:nvPr/>
        </p:nvSpPr>
        <p:spPr>
          <a:xfrm>
            <a:off x="528320" y="2687574"/>
            <a:ext cx="6507481" cy="2577974"/>
          </a:xfrm>
          <a:prstGeom prst="rect"/>
          <a:noFill/>
        </p:spPr>
        <p:txBody>
          <a:bodyPr vertOverflow="overflow" horzOverflow="overflow" numCol="1" wrap="square" lIns="0" tIns="0" rIns="0" bIns="0">
            <a:spAutoFit/>
          </a:bodyPr>
          <a:p>
            <a:pPr marL="12700"/>
            <a:r>
              <a:rPr sz="800">
                <a:latin typeface="Times New Roman"/>
                <a:cs typeface="Times New Roman"/>
              </a:rPr>
              <a:t>Symbols: SI – synthetic indicator computed using method of equal weights [I], and entropy method [II];</a:t>
            </a:r>
            <a:endParaRPr/>
          </a:p>
          <a:p>
            <a:pPr marL="12700">
              <a:lnSpc>
                <a:spcPts val="955"/>
              </a:lnSpc>
            </a:pPr>
            <a:r>
              <a:rPr sz="800">
                <a:latin typeface="Times New Roman"/>
                <a:cs typeface="Times New Roman"/>
              </a:rPr>
              <a:t>Source: Own calculations on the basis of data from the websites of the surveyed companies and Stock Market Yearbooks</a:t>
            </a:r>
            <a:endParaRPr/>
          </a:p>
          <a:p>
            <a:pPr marL="12700" marR="12700" indent="179705" algn="just">
              <a:lnSpc>
                <a:spcPct val="95470"/>
              </a:lnSpc>
              <a:spcBef>
                <a:spcPts val="1100"/>
              </a:spcBef>
            </a:pPr>
            <a:r>
              <a:rPr sz="1000">
                <a:latin typeface="Times New Roman"/>
                <a:cs typeface="Times New Roman"/>
              </a:rPr>
              <a:t>On the basis of the value of synthetic indicator calculated using equal weights it can be concluded that the highest investment attractiveness is seen in those dividend payers in which companies, institutional investors and individual investors are the first-largest shareholders. For such companies, the value of synthetic indicator is equal to 0,65 in the case of dividend companies in which legal person is the first-largest shareholder and 0,54 in regular dividend payers with the largest number o</a:t>
            </a:r>
            <a:r>
              <a:rPr sz="1000" spc="5">
                <a:latin typeface="Times New Roman"/>
                <a:cs typeface="Times New Roman"/>
              </a:rPr>
              <a:t>f </a:t>
            </a:r>
            <a:r>
              <a:rPr sz="1000">
                <a:latin typeface="Times New Roman"/>
                <a:cs typeface="Times New Roman"/>
              </a:rPr>
              <a:t>shares belonging to the institutional or individual investor. In fourth place in terms of the attractiveness of investing in dividend companies were those in which the manager was the largest shareholder. In this case, the value of the synthetic indicato</a:t>
            </a:r>
            <a:r>
              <a:rPr sz="1000" spc="5">
                <a:latin typeface="Times New Roman"/>
                <a:cs typeface="Times New Roman"/>
              </a:rPr>
              <a:t>r </a:t>
            </a:r>
            <a:r>
              <a:rPr sz="1000">
                <a:latin typeface="Times New Roman"/>
                <a:cs typeface="Times New Roman"/>
              </a:rPr>
              <a:t>was 0,47. The last place in the ranking was taken by companies in which the State Treasury was the largest shareholder. In this case, the synthetic indicator was the lowest and equal to 0,45.</a:t>
            </a:r>
            <a:endParaRPr/>
          </a:p>
          <a:p>
            <a:pPr marL="12700" marR="13970" indent="179705" algn="just">
              <a:lnSpc>
                <a:spcPct val="96441"/>
              </a:lnSpc>
              <a:spcBef>
                <a:spcPts val="100"/>
              </a:spcBef>
            </a:pPr>
            <a:r>
              <a:rPr sz="1000" spc="5">
                <a:latin typeface="Times New Roman"/>
                <a:cs typeface="Times New Roman"/>
              </a:rPr>
              <a:t>If </a:t>
            </a:r>
            <a:r>
              <a:rPr sz="1000">
                <a:latin typeface="Times New Roman"/>
                <a:cs typeface="Times New Roman"/>
              </a:rPr>
              <a:t>synthetic indicator was calculated using the entropy method, the obtained values were similar. The top three included again the dividend companies dominated by individual investors, institutional investors and companies, but this time the study showed that the most attractive investments are companies in which institutional investors hold the most shares. In this case, the synthetic indicator was the highest and amounted to 0,63. For individual investors </a:t>
            </a:r>
            <a:r>
              <a:rPr sz="1000" i="1" spc="5">
                <a:latin typeface="Times New Roman"/>
                <a:cs typeface="Times New Roman"/>
              </a:rPr>
              <a:t>SI </a:t>
            </a:r>
            <a:r>
              <a:rPr sz="1000">
                <a:latin typeface="Times New Roman"/>
                <a:cs typeface="Times New Roman"/>
              </a:rPr>
              <a:t>was equal to 0,59 and for companies </a:t>
            </a:r>
            <a:r>
              <a:rPr sz="1000" spc="-5">
                <a:latin typeface="Times New Roman"/>
                <a:cs typeface="Times New Roman"/>
              </a:rPr>
              <a:t>was 0,57. As in the previous survey, the fourth position was taken by companies whose manager was the main shareholder (the </a:t>
            </a:r>
            <a:r>
              <a:rPr sz="1000">
                <a:latin typeface="Times New Roman"/>
                <a:cs typeface="Times New Roman"/>
              </a:rPr>
              <a:t>synthetic indicator was 0,52). The dividend companies in which the State Treasury held the most shares again came the last. In this case, the </a:t>
            </a:r>
            <a:r>
              <a:rPr sz="1000" i="1" spc="5">
                <a:latin typeface="Times New Roman"/>
                <a:cs typeface="Times New Roman"/>
              </a:rPr>
              <a:t>SI </a:t>
            </a:r>
            <a:r>
              <a:rPr sz="1000">
                <a:latin typeface="Times New Roman"/>
                <a:cs typeface="Times New Roman"/>
              </a:rPr>
              <a:t>was only 0,42.</a:t>
            </a:r>
            <a:endParaRPr/>
          </a:p>
        </p:txBody>
      </p:sp>
      <p:sp>
        <p:nvSpPr>
          <p:cNvPr id="20" name="shape 20"/>
          <p:cNvSpPr txBox="1"/>
          <p:nvPr/>
        </p:nvSpPr>
        <p:spPr>
          <a:xfrm>
            <a:off x="528320" y="5404485"/>
            <a:ext cx="6507481" cy="4388865"/>
          </a:xfrm>
          <a:prstGeom prst="rect"/>
          <a:noFill/>
        </p:spPr>
        <p:txBody>
          <a:bodyPr vertOverflow="overflow" horzOverflow="overflow" numCol="1" wrap="square" lIns="0" tIns="0" rIns="0" bIns="0">
            <a:spAutoFit/>
          </a:bodyPr>
          <a:p>
            <a:pPr marL="140335" indent="-127635">
              <a:tabLst>
                <a:tab pos="140335" algn="l"/>
              </a:tabLst>
            </a:pPr>
            <a:r>
              <a:rPr sz="1000" b="1">
                <a:latin typeface="Times New Roman"/>
                <a:cs typeface="Times New Roman"/>
              </a:rPr>
              <a:t>6.</a:t>
            </a:r>
            <a:r>
              <a:rPr sz="1000" b="1">
                <a:latin typeface="Times New Roman"/>
                <a:cs typeface="Times New Roman"/>
              </a:rPr>
              <a:t>	</a:t>
            </a:r>
            <a:r>
              <a:rPr sz="1000" b="1">
                <a:latin typeface="Times New Roman"/>
                <a:cs typeface="Times New Roman"/>
              </a:rPr>
              <a:t>Concluding remarks</a:t>
            </a:r>
            <a:endParaRPr/>
          </a:p>
          <a:p>
            <a:pPr marL="12700" marR="12700" indent="179705" algn="just">
              <a:lnSpc>
                <a:spcPct val="95501"/>
              </a:lnSpc>
              <a:spcBef>
                <a:spcPts val="1100"/>
              </a:spcBef>
            </a:pPr>
            <a:r>
              <a:rPr sz="1000">
                <a:latin typeface="Times New Roman"/>
                <a:cs typeface="Times New Roman"/>
              </a:rPr>
              <a:t>Research conducted on Polish listed companies that regularly paid out dividends in the years 2005–2019 in the context of </a:t>
            </a:r>
            <a:r>
              <a:rPr sz="1000" spc="5">
                <a:latin typeface="Times New Roman"/>
                <a:cs typeface="Times New Roman"/>
              </a:rPr>
              <a:t>the attractiveness of investing in dividends showed the presence of certain characteristics of companies considered according </a:t>
            </a:r>
            <a:r>
              <a:rPr sz="1000">
                <a:latin typeface="Times New Roman"/>
                <a:cs typeface="Times New Roman"/>
              </a:rPr>
              <a:t>to the types of the first- largest shareholder. The results of research allowed to answer the first research question and showed that the highest dividends were paid out by those companies in which institutional investors, as well as legal person</a:t>
            </a:r>
            <a:r>
              <a:rPr sz="1000" spc="10">
                <a:latin typeface="Times New Roman"/>
                <a:cs typeface="Times New Roman"/>
              </a:rPr>
              <a:t>s </a:t>
            </a:r>
            <a:r>
              <a:rPr sz="1000">
                <a:latin typeface="Times New Roman"/>
                <a:cs typeface="Times New Roman"/>
              </a:rPr>
              <a:t>(companies) and the State Treasury held the most shares. The obtained results are in line with the adopted research assumptions and literature, in which it is indicated that institutional investors, companies and the State Treasury, being usually long-term investors, are mainly focused on realizing long-term profits in the form of dividend. Moreover, these entities usually have a great capital involvement in the company, so they not only monitor managers but also gain real control over them and</a:t>
            </a:r>
            <a:r>
              <a:rPr sz="1000" spc="15">
                <a:latin typeface="Times New Roman"/>
                <a:cs typeface="Times New Roman"/>
              </a:rPr>
              <a:t>, </a:t>
            </a:r>
            <a:r>
              <a:rPr sz="1000">
                <a:latin typeface="Times New Roman"/>
                <a:cs typeface="Times New Roman"/>
              </a:rPr>
              <a:t>among others, strive to receive great dividend.</a:t>
            </a:r>
            <a:endParaRPr/>
          </a:p>
          <a:p>
            <a:pPr marL="192405" algn="just">
              <a:lnSpc>
                <a:spcPts val="1195"/>
              </a:lnSpc>
            </a:pPr>
            <a:r>
              <a:rPr sz="1000">
                <a:latin typeface="Times New Roman"/>
                <a:cs typeface="Times New Roman"/>
              </a:rPr>
              <a:t>Answering the</a:t>
            </a:r>
            <a:r>
              <a:rPr sz="1000" spc="65">
                <a:latin typeface="Times New Roman"/>
                <a:cs typeface="Times New Roman"/>
              </a:rPr>
              <a:t> </a:t>
            </a:r>
            <a:r>
              <a:rPr sz="1000">
                <a:latin typeface="Times New Roman"/>
                <a:cs typeface="Times New Roman"/>
              </a:rPr>
              <a:t>second research question and referring to the empirical verification of the research hypothesis, it should be</a:t>
            </a:r>
            <a:endParaRPr/>
          </a:p>
          <a:p>
            <a:pPr marL="12700" algn="just">
              <a:lnSpc>
                <a:spcPts val="1140"/>
              </a:lnSpc>
            </a:pPr>
            <a:r>
              <a:rPr sz="1000">
                <a:latin typeface="Times New Roman"/>
                <a:cs typeface="Times New Roman"/>
              </a:rPr>
              <a:t>pointed out that the</a:t>
            </a:r>
            <a:r>
              <a:rPr sz="1000" spc="65">
                <a:latin typeface="Times New Roman"/>
                <a:cs typeface="Times New Roman"/>
              </a:rPr>
              <a:t> </a:t>
            </a:r>
            <a:r>
              <a:rPr sz="1000">
                <a:latin typeface="Times New Roman"/>
                <a:cs typeface="Times New Roman"/>
              </a:rPr>
              <a:t>most attractive investments (in terms of stock market investor interested in dividend investing) turned out</a:t>
            </a:r>
            <a:endParaRPr/>
          </a:p>
          <a:p>
            <a:pPr marL="12700" algn="just">
              <a:lnSpc>
                <a:spcPts val="1155"/>
              </a:lnSpc>
            </a:pPr>
            <a:r>
              <a:rPr sz="1000">
                <a:latin typeface="Times New Roman"/>
                <a:cs typeface="Times New Roman"/>
              </a:rPr>
              <a:t>to be shares of companies in which the first-largest shareholder was an institutional investor, individual investor or legal person</a:t>
            </a:r>
            <a:endParaRPr/>
          </a:p>
          <a:p>
            <a:pPr marL="12700" algn="just">
              <a:lnSpc>
                <a:spcPts val="1150"/>
              </a:lnSpc>
            </a:pPr>
            <a:r>
              <a:rPr sz="1000">
                <a:latin typeface="Times New Roman"/>
                <a:cs typeface="Times New Roman"/>
              </a:rPr>
              <a:t>(company).</a:t>
            </a:r>
            <a:r>
              <a:rPr sz="1000" spc="75">
                <a:latin typeface="Times New Roman"/>
                <a:cs typeface="Times New Roman"/>
              </a:rPr>
              <a:t> </a:t>
            </a:r>
            <a:r>
              <a:rPr sz="1000">
                <a:latin typeface="Times New Roman"/>
                <a:cs typeface="Times New Roman"/>
              </a:rPr>
              <a:t>In all these companies, the</a:t>
            </a:r>
            <a:r>
              <a:rPr sz="1000" spc="65">
                <a:latin typeface="Times New Roman"/>
                <a:cs typeface="Times New Roman"/>
              </a:rPr>
              <a:t> </a:t>
            </a:r>
            <a:r>
              <a:rPr sz="1000">
                <a:latin typeface="Times New Roman"/>
                <a:cs typeface="Times New Roman"/>
              </a:rPr>
              <a:t>average</a:t>
            </a:r>
            <a:r>
              <a:rPr sz="1000" spc="65">
                <a:latin typeface="Times New Roman"/>
                <a:cs typeface="Times New Roman"/>
              </a:rPr>
              <a:t> </a:t>
            </a:r>
            <a:r>
              <a:rPr sz="1000">
                <a:latin typeface="Times New Roman"/>
                <a:cs typeface="Times New Roman"/>
              </a:rPr>
              <a:t>value</a:t>
            </a:r>
            <a:r>
              <a:rPr sz="1000" spc="65">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dividend</a:t>
            </a:r>
            <a:r>
              <a:rPr sz="1000" spc="65">
                <a:latin typeface="Times New Roman"/>
                <a:cs typeface="Times New Roman"/>
              </a:rPr>
              <a:t> </a:t>
            </a:r>
            <a:r>
              <a:rPr sz="1000">
                <a:latin typeface="Times New Roman"/>
                <a:cs typeface="Times New Roman"/>
              </a:rPr>
              <a:t>payout ratio</a:t>
            </a:r>
            <a:r>
              <a:rPr sz="1000" spc="80">
                <a:latin typeface="Times New Roman"/>
                <a:cs typeface="Times New Roman"/>
              </a:rPr>
              <a:t> </a:t>
            </a:r>
            <a:r>
              <a:rPr sz="1000">
                <a:latin typeface="Times New Roman"/>
                <a:cs typeface="Times New Roman"/>
              </a:rPr>
              <a:t>was higher</a:t>
            </a:r>
            <a:r>
              <a:rPr sz="1000" spc="90">
                <a:latin typeface="Times New Roman"/>
                <a:cs typeface="Times New Roman"/>
              </a:rPr>
              <a:t> </a:t>
            </a:r>
            <a:r>
              <a:rPr sz="1000">
                <a:latin typeface="Times New Roman"/>
                <a:cs typeface="Times New Roman"/>
              </a:rPr>
              <a:t>than</a:t>
            </a:r>
            <a:r>
              <a:rPr sz="1000" spc="70">
                <a:latin typeface="Times New Roman"/>
                <a:cs typeface="Times New Roman"/>
              </a:rPr>
              <a:t> </a:t>
            </a:r>
            <a:r>
              <a:rPr sz="1000">
                <a:latin typeface="Times New Roman"/>
                <a:cs typeface="Times New Roman"/>
              </a:rPr>
              <a:t>for</a:t>
            </a:r>
            <a:r>
              <a:rPr sz="1000" spc="65">
                <a:latin typeface="Times New Roman"/>
                <a:cs typeface="Times New Roman"/>
              </a:rPr>
              <a:t> </a:t>
            </a:r>
            <a:r>
              <a:rPr sz="1000">
                <a:latin typeface="Times New Roman"/>
                <a:cs typeface="Times New Roman"/>
              </a:rPr>
              <a:t>entire</a:t>
            </a:r>
            <a:r>
              <a:rPr sz="1000" spc="65">
                <a:latin typeface="Times New Roman"/>
                <a:cs typeface="Times New Roman"/>
              </a:rPr>
              <a:t> </a:t>
            </a:r>
            <a:r>
              <a:rPr sz="1000">
                <a:latin typeface="Times New Roman"/>
                <a:cs typeface="Times New Roman"/>
              </a:rPr>
              <a:t>research</a:t>
            </a:r>
            <a:r>
              <a:rPr sz="1000" spc="70">
                <a:latin typeface="Times New Roman"/>
                <a:cs typeface="Times New Roman"/>
              </a:rPr>
              <a:t> </a:t>
            </a:r>
            <a:r>
              <a:rPr sz="1000">
                <a:latin typeface="Times New Roman"/>
                <a:cs typeface="Times New Roman"/>
              </a:rPr>
              <a:t>group.</a:t>
            </a:r>
            <a:r>
              <a:rPr sz="1000" spc="80">
                <a:latin typeface="Times New Roman"/>
                <a:cs typeface="Times New Roman"/>
              </a:rPr>
              <a:t> </a:t>
            </a:r>
            <a:r>
              <a:rPr sz="1000">
                <a:latin typeface="Times New Roman"/>
                <a:cs typeface="Times New Roman"/>
              </a:rPr>
              <a:t>The</a:t>
            </a:r>
            <a:endParaRPr/>
          </a:p>
          <a:p>
            <a:pPr marL="12700" algn="just">
              <a:lnSpc>
                <a:spcPts val="1160"/>
              </a:lnSpc>
            </a:pPr>
            <a:r>
              <a:rPr sz="1000">
                <a:latin typeface="Times New Roman"/>
                <a:cs typeface="Times New Roman"/>
              </a:rPr>
              <a:t>result</a:t>
            </a:r>
            <a:r>
              <a:rPr sz="1000" spc="120">
                <a:latin typeface="Times New Roman"/>
                <a:cs typeface="Times New Roman"/>
              </a:rPr>
              <a:t> </a:t>
            </a:r>
            <a:r>
              <a:rPr sz="1000">
                <a:latin typeface="Times New Roman"/>
                <a:cs typeface="Times New Roman"/>
              </a:rPr>
              <a:t>achieved</a:t>
            </a:r>
            <a:r>
              <a:rPr sz="1000" spc="125">
                <a:latin typeface="Times New Roman"/>
                <a:cs typeface="Times New Roman"/>
              </a:rPr>
              <a:t> </a:t>
            </a:r>
            <a:r>
              <a:rPr sz="1000">
                <a:latin typeface="Times New Roman"/>
                <a:cs typeface="Times New Roman"/>
              </a:rPr>
              <a:t>by</a:t>
            </a:r>
            <a:r>
              <a:rPr sz="1000" spc="104">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companies</a:t>
            </a:r>
            <a:r>
              <a:rPr sz="1000" spc="130">
                <a:latin typeface="Times New Roman"/>
                <a:cs typeface="Times New Roman"/>
              </a:rPr>
              <a:t> </a:t>
            </a:r>
            <a:r>
              <a:rPr sz="1000">
                <a:latin typeface="Times New Roman"/>
                <a:cs typeface="Times New Roman"/>
              </a:rPr>
              <a:t>whose</a:t>
            </a:r>
            <a:r>
              <a:rPr sz="1000" spc="125">
                <a:latin typeface="Times New Roman"/>
                <a:cs typeface="Times New Roman"/>
              </a:rPr>
              <a:t> </a:t>
            </a:r>
            <a:r>
              <a:rPr sz="1000">
                <a:latin typeface="Times New Roman"/>
                <a:cs typeface="Times New Roman"/>
              </a:rPr>
              <a:t>largest</a:t>
            </a:r>
            <a:r>
              <a:rPr sz="1000" spc="120">
                <a:latin typeface="Times New Roman"/>
                <a:cs typeface="Times New Roman"/>
              </a:rPr>
              <a:t> </a:t>
            </a:r>
            <a:r>
              <a:rPr sz="1000">
                <a:latin typeface="Times New Roman"/>
                <a:cs typeface="Times New Roman"/>
              </a:rPr>
              <a:t>shareholder</a:t>
            </a:r>
            <a:r>
              <a:rPr sz="1000" spc="140">
                <a:latin typeface="Times New Roman"/>
                <a:cs typeface="Times New Roman"/>
              </a:rPr>
              <a:t> </a:t>
            </a:r>
            <a:r>
              <a:rPr sz="1000">
                <a:latin typeface="Times New Roman"/>
                <a:cs typeface="Times New Roman"/>
              </a:rPr>
              <a:t>was</a:t>
            </a:r>
            <a:r>
              <a:rPr sz="1000" spc="120">
                <a:latin typeface="Times New Roman"/>
                <a:cs typeface="Times New Roman"/>
              </a:rPr>
              <a:t> </a:t>
            </a:r>
            <a:r>
              <a:rPr sz="1000">
                <a:latin typeface="Times New Roman"/>
                <a:cs typeface="Times New Roman"/>
              </a:rPr>
              <a:t>the</a:t>
            </a:r>
            <a:r>
              <a:rPr sz="1000" spc="125">
                <a:latin typeface="Times New Roman"/>
                <a:cs typeface="Times New Roman"/>
              </a:rPr>
              <a:t> </a:t>
            </a:r>
            <a:r>
              <a:rPr sz="1000">
                <a:latin typeface="Times New Roman"/>
                <a:cs typeface="Times New Roman"/>
              </a:rPr>
              <a:t>State</a:t>
            </a:r>
            <a:r>
              <a:rPr sz="1000" spc="120">
                <a:latin typeface="Times New Roman"/>
                <a:cs typeface="Times New Roman"/>
              </a:rPr>
              <a:t> </a:t>
            </a:r>
            <a:r>
              <a:rPr sz="1000">
                <a:latin typeface="Times New Roman"/>
                <a:cs typeface="Times New Roman"/>
              </a:rPr>
              <a:t>Treasury</a:t>
            </a:r>
            <a:r>
              <a:rPr sz="1000" spc="104">
                <a:latin typeface="Times New Roman"/>
                <a:cs typeface="Times New Roman"/>
              </a:rPr>
              <a:t> </a:t>
            </a:r>
            <a:r>
              <a:rPr sz="1000">
                <a:latin typeface="Times New Roman"/>
                <a:cs typeface="Times New Roman"/>
              </a:rPr>
              <a:t>seems</a:t>
            </a:r>
            <a:r>
              <a:rPr sz="1000" spc="120">
                <a:latin typeface="Times New Roman"/>
                <a:cs typeface="Times New Roman"/>
              </a:rPr>
              <a:t> </a:t>
            </a:r>
            <a:r>
              <a:rPr sz="1000">
                <a:latin typeface="Times New Roman"/>
                <a:cs typeface="Times New Roman"/>
              </a:rPr>
              <a:t>to</a:t>
            </a:r>
            <a:r>
              <a:rPr sz="1000" spc="125">
                <a:latin typeface="Times New Roman"/>
                <a:cs typeface="Times New Roman"/>
              </a:rPr>
              <a:t> </a:t>
            </a:r>
            <a:r>
              <a:rPr sz="1000">
                <a:latin typeface="Times New Roman"/>
                <a:cs typeface="Times New Roman"/>
              </a:rPr>
              <a:t>be</a:t>
            </a:r>
            <a:r>
              <a:rPr sz="1000" spc="125">
                <a:latin typeface="Times New Roman"/>
                <a:cs typeface="Times New Roman"/>
              </a:rPr>
              <a:t> </a:t>
            </a:r>
            <a:r>
              <a:rPr sz="1000">
                <a:latin typeface="Times New Roman"/>
                <a:cs typeface="Times New Roman"/>
              </a:rPr>
              <a:t>a</a:t>
            </a:r>
            <a:r>
              <a:rPr sz="1000" spc="125">
                <a:latin typeface="Times New Roman"/>
                <a:cs typeface="Times New Roman"/>
              </a:rPr>
              <a:t> </a:t>
            </a:r>
            <a:r>
              <a:rPr sz="1000">
                <a:latin typeface="Times New Roman"/>
                <a:cs typeface="Times New Roman"/>
              </a:rPr>
              <a:t>surprise.</a:t>
            </a:r>
            <a:r>
              <a:rPr sz="1000" spc="195">
                <a:latin typeface="Times New Roman"/>
                <a:cs typeface="Times New Roman"/>
              </a:rPr>
              <a:t> </a:t>
            </a:r>
            <a:r>
              <a:rPr sz="1000">
                <a:latin typeface="Times New Roman"/>
                <a:cs typeface="Times New Roman"/>
              </a:rPr>
              <a:t>Although</a:t>
            </a:r>
            <a:r>
              <a:rPr sz="1000" spc="115">
                <a:latin typeface="Times New Roman"/>
                <a:cs typeface="Times New Roman"/>
              </a:rPr>
              <a:t> </a:t>
            </a:r>
            <a:r>
              <a:rPr sz="1000">
                <a:latin typeface="Times New Roman"/>
                <a:cs typeface="Times New Roman"/>
              </a:rPr>
              <a:t>these</a:t>
            </a:r>
            <a:endParaRPr/>
          </a:p>
          <a:p>
            <a:pPr marL="12700" algn="just">
              <a:lnSpc>
                <a:spcPts val="1135"/>
              </a:lnSpc>
            </a:pPr>
            <a:r>
              <a:rPr sz="1000">
                <a:latin typeface="Times New Roman"/>
                <a:cs typeface="Times New Roman"/>
              </a:rPr>
              <a:t>companies</a:t>
            </a:r>
            <a:r>
              <a:rPr sz="1000" spc="80">
                <a:latin typeface="Times New Roman"/>
                <a:cs typeface="Times New Roman"/>
              </a:rPr>
              <a:t> </a:t>
            </a:r>
            <a:r>
              <a:rPr sz="1000">
                <a:latin typeface="Times New Roman"/>
                <a:cs typeface="Times New Roman"/>
              </a:rPr>
              <a:t>usually pay</a:t>
            </a:r>
            <a:r>
              <a:rPr sz="1000" spc="65">
                <a:latin typeface="Times New Roman"/>
                <a:cs typeface="Times New Roman"/>
              </a:rPr>
              <a:t> </a:t>
            </a:r>
            <a:r>
              <a:rPr sz="1000">
                <a:latin typeface="Times New Roman"/>
                <a:cs typeface="Times New Roman"/>
              </a:rPr>
              <a:t>out</a:t>
            </a:r>
            <a:r>
              <a:rPr sz="1000" spc="85">
                <a:latin typeface="Times New Roman"/>
                <a:cs typeface="Times New Roman"/>
              </a:rPr>
              <a:t> </a:t>
            </a:r>
            <a:r>
              <a:rPr sz="1000">
                <a:latin typeface="Times New Roman"/>
                <a:cs typeface="Times New Roman"/>
              </a:rPr>
              <a:t>a</a:t>
            </a:r>
            <a:r>
              <a:rPr sz="1000" spc="85">
                <a:latin typeface="Times New Roman"/>
                <a:cs typeface="Times New Roman"/>
              </a:rPr>
              <a:t> </a:t>
            </a:r>
            <a:r>
              <a:rPr sz="1000">
                <a:latin typeface="Times New Roman"/>
                <a:cs typeface="Times New Roman"/>
              </a:rPr>
              <a:t>high</a:t>
            </a:r>
            <a:r>
              <a:rPr sz="1000" spc="65">
                <a:latin typeface="Times New Roman"/>
                <a:cs typeface="Times New Roman"/>
              </a:rPr>
              <a:t> </a:t>
            </a:r>
            <a:r>
              <a:rPr sz="1000">
                <a:latin typeface="Times New Roman"/>
                <a:cs typeface="Times New Roman"/>
              </a:rPr>
              <a:t>dividend</a:t>
            </a:r>
            <a:r>
              <a:rPr sz="1000" spc="80">
                <a:latin typeface="Times New Roman"/>
                <a:cs typeface="Times New Roman"/>
              </a:rPr>
              <a:t> </a:t>
            </a:r>
            <a:r>
              <a:rPr sz="1000">
                <a:latin typeface="Times New Roman"/>
                <a:cs typeface="Times New Roman"/>
              </a:rPr>
              <a:t>due</a:t>
            </a:r>
            <a:r>
              <a:rPr sz="1000" spc="85">
                <a:latin typeface="Times New Roman"/>
                <a:cs typeface="Times New Roman"/>
              </a:rPr>
              <a:t> </a:t>
            </a:r>
            <a:r>
              <a:rPr sz="1000">
                <a:latin typeface="Times New Roman"/>
                <a:cs typeface="Times New Roman"/>
              </a:rPr>
              <a:t>to</a:t>
            </a:r>
            <a:r>
              <a:rPr sz="1000" spc="75">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need</a:t>
            </a:r>
            <a:r>
              <a:rPr sz="1000" spc="90">
                <a:latin typeface="Times New Roman"/>
                <a:cs typeface="Times New Roman"/>
              </a:rPr>
              <a:t> </a:t>
            </a:r>
            <a:r>
              <a:rPr sz="1000">
                <a:latin typeface="Times New Roman"/>
                <a:cs typeface="Times New Roman"/>
              </a:rPr>
              <a:t>to</a:t>
            </a:r>
            <a:r>
              <a:rPr sz="1000" spc="75">
                <a:latin typeface="Times New Roman"/>
                <a:cs typeface="Times New Roman"/>
              </a:rPr>
              <a:t> </a:t>
            </a:r>
            <a:r>
              <a:rPr sz="1000">
                <a:latin typeface="Times New Roman"/>
                <a:cs typeface="Times New Roman"/>
              </a:rPr>
              <a:t>provide</a:t>
            </a:r>
            <a:r>
              <a:rPr sz="1000" spc="75">
                <a:latin typeface="Times New Roman"/>
                <a:cs typeface="Times New Roman"/>
              </a:rPr>
              <a:t> </a:t>
            </a:r>
            <a:r>
              <a:rPr sz="1000">
                <a:latin typeface="Times New Roman"/>
                <a:cs typeface="Times New Roman"/>
              </a:rPr>
              <a:t>regular</a:t>
            </a:r>
            <a:r>
              <a:rPr sz="1000" spc="75">
                <a:latin typeface="Times New Roman"/>
                <a:cs typeface="Times New Roman"/>
              </a:rPr>
              <a:t> </a:t>
            </a:r>
            <a:r>
              <a:rPr sz="1000">
                <a:latin typeface="Times New Roman"/>
                <a:cs typeface="Times New Roman"/>
              </a:rPr>
              <a:t>inflows</a:t>
            </a:r>
            <a:r>
              <a:rPr sz="1000" spc="70">
                <a:latin typeface="Times New Roman"/>
                <a:cs typeface="Times New Roman"/>
              </a:rPr>
              <a:t> </a:t>
            </a:r>
            <a:r>
              <a:rPr sz="1000">
                <a:latin typeface="Times New Roman"/>
                <a:cs typeface="Times New Roman"/>
              </a:rPr>
              <a:t>to</a:t>
            </a:r>
            <a:r>
              <a:rPr sz="1000" spc="9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state</a:t>
            </a:r>
            <a:r>
              <a:rPr sz="1000" spc="140">
                <a:latin typeface="Times New Roman"/>
                <a:cs typeface="Times New Roman"/>
              </a:rPr>
              <a:t> </a:t>
            </a:r>
            <a:r>
              <a:rPr sz="1000">
                <a:latin typeface="Times New Roman"/>
                <a:cs typeface="Times New Roman"/>
              </a:rPr>
              <a:t>budget,</a:t>
            </a:r>
            <a:r>
              <a:rPr sz="1000" spc="75">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values</a:t>
            </a:r>
            <a:r>
              <a:rPr sz="1000" spc="70">
                <a:latin typeface="Times New Roman"/>
                <a:cs typeface="Times New Roman"/>
              </a:rPr>
              <a:t> </a:t>
            </a:r>
            <a:r>
              <a:rPr sz="1000">
                <a:latin typeface="Times New Roman"/>
                <a:cs typeface="Times New Roman"/>
              </a:rPr>
              <a:t>of</a:t>
            </a:r>
            <a:r>
              <a:rPr sz="1000" spc="65">
                <a:latin typeface="Times New Roman"/>
                <a:cs typeface="Times New Roman"/>
              </a:rPr>
              <a:t> </a:t>
            </a:r>
            <a:r>
              <a:rPr sz="1000">
                <a:latin typeface="Times New Roman"/>
                <a:cs typeface="Times New Roman"/>
              </a:rPr>
              <a:t>their</a:t>
            </a:r>
            <a:endParaRPr/>
          </a:p>
          <a:p>
            <a:pPr marL="12700" algn="just">
              <a:lnSpc>
                <a:spcPts val="1155"/>
              </a:lnSpc>
            </a:pPr>
            <a:r>
              <a:rPr sz="1000">
                <a:latin typeface="Times New Roman"/>
                <a:cs typeface="Times New Roman"/>
              </a:rPr>
              <a:t>other</a:t>
            </a:r>
            <a:r>
              <a:rPr sz="1000" spc="80">
                <a:latin typeface="Times New Roman"/>
                <a:cs typeface="Times New Roman"/>
              </a:rPr>
              <a:t> </a:t>
            </a:r>
            <a:r>
              <a:rPr sz="1000">
                <a:latin typeface="Times New Roman"/>
                <a:cs typeface="Times New Roman"/>
              </a:rPr>
              <a:t>financial</a:t>
            </a:r>
            <a:r>
              <a:rPr sz="1000" spc="75">
                <a:latin typeface="Times New Roman"/>
                <a:cs typeface="Times New Roman"/>
              </a:rPr>
              <a:t> </a:t>
            </a:r>
            <a:r>
              <a:rPr sz="1000">
                <a:latin typeface="Times New Roman"/>
                <a:cs typeface="Times New Roman"/>
              </a:rPr>
              <a:t>ratios</a:t>
            </a:r>
            <a:r>
              <a:rPr sz="1000" spc="70">
                <a:latin typeface="Times New Roman"/>
                <a:cs typeface="Times New Roman"/>
              </a:rPr>
              <a:t> </a:t>
            </a:r>
            <a:r>
              <a:rPr sz="1000">
                <a:latin typeface="Times New Roman"/>
                <a:cs typeface="Times New Roman"/>
              </a:rPr>
              <a:t>reduced</a:t>
            </a:r>
            <a:r>
              <a:rPr sz="1000" spc="80">
                <a:latin typeface="Times New Roman"/>
                <a:cs typeface="Times New Roman"/>
              </a:rPr>
              <a:t> </a:t>
            </a:r>
            <a:r>
              <a:rPr sz="1000">
                <a:latin typeface="Times New Roman"/>
                <a:cs typeface="Times New Roman"/>
              </a:rPr>
              <a:t>their</a:t>
            </a:r>
            <a:r>
              <a:rPr sz="1000" spc="75">
                <a:latin typeface="Times New Roman"/>
                <a:cs typeface="Times New Roman"/>
              </a:rPr>
              <a:t> </a:t>
            </a:r>
            <a:r>
              <a:rPr sz="1000">
                <a:latin typeface="Times New Roman"/>
                <a:cs typeface="Times New Roman"/>
              </a:rPr>
              <a:t>investment</a:t>
            </a:r>
            <a:r>
              <a:rPr sz="1000" spc="70">
                <a:latin typeface="Times New Roman"/>
                <a:cs typeface="Times New Roman"/>
              </a:rPr>
              <a:t> </a:t>
            </a:r>
            <a:r>
              <a:rPr sz="1000">
                <a:latin typeface="Times New Roman"/>
                <a:cs typeface="Times New Roman"/>
              </a:rPr>
              <a:t>attractiveness.</a:t>
            </a:r>
            <a:r>
              <a:rPr sz="1000" spc="110">
                <a:latin typeface="Times New Roman"/>
                <a:cs typeface="Times New Roman"/>
              </a:rPr>
              <a:t> </a:t>
            </a:r>
            <a:r>
              <a:rPr sz="1000">
                <a:latin typeface="Times New Roman"/>
                <a:cs typeface="Times New Roman"/>
              </a:rPr>
              <a:t>In</a:t>
            </a:r>
            <a:r>
              <a:rPr sz="1000" spc="65">
                <a:latin typeface="Times New Roman"/>
                <a:cs typeface="Times New Roman"/>
              </a:rPr>
              <a:t> </a:t>
            </a:r>
            <a:r>
              <a:rPr sz="1000">
                <a:latin typeface="Times New Roman"/>
                <a:cs typeface="Times New Roman"/>
              </a:rPr>
              <a:t>particular,</a:t>
            </a:r>
            <a:r>
              <a:rPr sz="1000" spc="75">
                <a:latin typeface="Times New Roman"/>
                <a:cs typeface="Times New Roman"/>
              </a:rPr>
              <a:t> </a:t>
            </a:r>
            <a:r>
              <a:rPr sz="1000">
                <a:latin typeface="Times New Roman"/>
                <a:cs typeface="Times New Roman"/>
              </a:rPr>
              <a:t>attention</a:t>
            </a:r>
            <a:r>
              <a:rPr sz="1000" spc="65">
                <a:latin typeface="Times New Roman"/>
                <a:cs typeface="Times New Roman"/>
              </a:rPr>
              <a:t> </a:t>
            </a:r>
            <a:r>
              <a:rPr sz="1000">
                <a:latin typeface="Times New Roman"/>
                <a:cs typeface="Times New Roman"/>
              </a:rPr>
              <a:t>should</a:t>
            </a:r>
            <a:r>
              <a:rPr sz="1000" spc="75">
                <a:latin typeface="Times New Roman"/>
                <a:cs typeface="Times New Roman"/>
              </a:rPr>
              <a:t> </a:t>
            </a:r>
            <a:r>
              <a:rPr sz="1000">
                <a:latin typeface="Times New Roman"/>
                <a:cs typeface="Times New Roman"/>
              </a:rPr>
              <a:t>be</a:t>
            </a:r>
            <a:r>
              <a:rPr sz="1000" spc="65">
                <a:latin typeface="Times New Roman"/>
                <a:cs typeface="Times New Roman"/>
              </a:rPr>
              <a:t> </a:t>
            </a:r>
            <a:r>
              <a:rPr sz="1000">
                <a:latin typeface="Times New Roman"/>
                <a:cs typeface="Times New Roman"/>
              </a:rPr>
              <a:t>paid</a:t>
            </a:r>
            <a:r>
              <a:rPr sz="1000" spc="80">
                <a:latin typeface="Times New Roman"/>
                <a:cs typeface="Times New Roman"/>
              </a:rPr>
              <a:t> </a:t>
            </a:r>
            <a:r>
              <a:rPr sz="1000">
                <a:latin typeface="Times New Roman"/>
                <a:cs typeface="Times New Roman"/>
              </a:rPr>
              <a:t>to</a:t>
            </a:r>
            <a:r>
              <a:rPr sz="1000" spc="65">
                <a:latin typeface="Times New Roman"/>
                <a:cs typeface="Times New Roman"/>
              </a:rPr>
              <a:t> </a:t>
            </a:r>
            <a:r>
              <a:rPr sz="1000">
                <a:latin typeface="Times New Roman"/>
                <a:cs typeface="Times New Roman"/>
              </a:rPr>
              <a:t>their</a:t>
            </a:r>
            <a:r>
              <a:rPr sz="1000" spc="75">
                <a:latin typeface="Times New Roman"/>
                <a:cs typeface="Times New Roman"/>
              </a:rPr>
              <a:t> </a:t>
            </a:r>
            <a:r>
              <a:rPr sz="1000">
                <a:latin typeface="Times New Roman"/>
                <a:cs typeface="Times New Roman"/>
              </a:rPr>
              <a:t>very high</a:t>
            </a:r>
            <a:r>
              <a:rPr sz="1000" spc="65">
                <a:latin typeface="Times New Roman"/>
                <a:cs typeface="Times New Roman"/>
              </a:rPr>
              <a:t> </a:t>
            </a:r>
            <a:r>
              <a:rPr sz="1000">
                <a:latin typeface="Times New Roman"/>
                <a:cs typeface="Times New Roman"/>
              </a:rPr>
              <a:t>debt</a:t>
            </a:r>
            <a:r>
              <a:rPr sz="1000" spc="70">
                <a:latin typeface="Times New Roman"/>
                <a:cs typeface="Times New Roman"/>
              </a:rPr>
              <a:t> </a:t>
            </a:r>
            <a:r>
              <a:rPr sz="1000">
                <a:latin typeface="Times New Roman"/>
                <a:cs typeface="Times New Roman"/>
              </a:rPr>
              <a:t>in</a:t>
            </a:r>
            <a:endParaRPr/>
          </a:p>
          <a:p>
            <a:pPr marL="12700" algn="just">
              <a:lnSpc>
                <a:spcPts val="1150"/>
              </a:lnSpc>
            </a:pPr>
            <a:r>
              <a:rPr sz="1000">
                <a:latin typeface="Times New Roman"/>
                <a:cs typeface="Times New Roman"/>
              </a:rPr>
              <a:t>relation</a:t>
            </a:r>
            <a:r>
              <a:rPr sz="1000" spc="150">
                <a:latin typeface="Times New Roman"/>
                <a:cs typeface="Times New Roman"/>
              </a:rPr>
              <a:t> </a:t>
            </a:r>
            <a:r>
              <a:rPr sz="1000">
                <a:latin typeface="Times New Roman"/>
                <a:cs typeface="Times New Roman"/>
              </a:rPr>
              <a:t>to</a:t>
            </a:r>
            <a:r>
              <a:rPr sz="1000" spc="160">
                <a:latin typeface="Times New Roman"/>
                <a:cs typeface="Times New Roman"/>
              </a:rPr>
              <a:t> </a:t>
            </a:r>
            <a:r>
              <a:rPr sz="1000">
                <a:latin typeface="Times New Roman"/>
                <a:cs typeface="Times New Roman"/>
              </a:rPr>
              <a:t>equity,</a:t>
            </a:r>
            <a:r>
              <a:rPr sz="1000" spc="170">
                <a:latin typeface="Times New Roman"/>
                <a:cs typeface="Times New Roman"/>
              </a:rPr>
              <a:t> </a:t>
            </a:r>
            <a:r>
              <a:rPr sz="1000">
                <a:latin typeface="Times New Roman"/>
                <a:cs typeface="Times New Roman"/>
              </a:rPr>
              <a:t>which</a:t>
            </a:r>
            <a:r>
              <a:rPr sz="1000" spc="150">
                <a:latin typeface="Times New Roman"/>
                <a:cs typeface="Times New Roman"/>
              </a:rPr>
              <a:t> </a:t>
            </a:r>
            <a:r>
              <a:rPr sz="1000">
                <a:latin typeface="Times New Roman"/>
                <a:cs typeface="Times New Roman"/>
              </a:rPr>
              <a:t>usually</a:t>
            </a:r>
            <a:r>
              <a:rPr sz="1000" spc="150">
                <a:latin typeface="Times New Roman"/>
                <a:cs typeface="Times New Roman"/>
              </a:rPr>
              <a:t> </a:t>
            </a:r>
            <a:r>
              <a:rPr sz="1000">
                <a:latin typeface="Times New Roman"/>
                <a:cs typeface="Times New Roman"/>
              </a:rPr>
              <a:t>negatively</a:t>
            </a:r>
            <a:r>
              <a:rPr sz="1000" spc="140">
                <a:latin typeface="Times New Roman"/>
                <a:cs typeface="Times New Roman"/>
              </a:rPr>
              <a:t> </a:t>
            </a:r>
            <a:r>
              <a:rPr sz="1000">
                <a:latin typeface="Times New Roman"/>
                <a:cs typeface="Times New Roman"/>
              </a:rPr>
              <a:t>affects</a:t>
            </a:r>
            <a:r>
              <a:rPr sz="1000" spc="165">
                <a:latin typeface="Times New Roman"/>
                <a:cs typeface="Times New Roman"/>
              </a:rPr>
              <a:t> </a:t>
            </a:r>
            <a:r>
              <a:rPr sz="1000">
                <a:latin typeface="Times New Roman"/>
                <a:cs typeface="Times New Roman"/>
              </a:rPr>
              <a:t>the</a:t>
            </a:r>
            <a:r>
              <a:rPr sz="1000" spc="170">
                <a:latin typeface="Times New Roman"/>
                <a:cs typeface="Times New Roman"/>
              </a:rPr>
              <a:t> </a:t>
            </a:r>
            <a:r>
              <a:rPr sz="1000">
                <a:latin typeface="Times New Roman"/>
                <a:cs typeface="Times New Roman"/>
              </a:rPr>
              <a:t>perception</a:t>
            </a:r>
            <a:r>
              <a:rPr sz="1000" spc="150">
                <a:latin typeface="Times New Roman"/>
                <a:cs typeface="Times New Roman"/>
              </a:rPr>
              <a:t> </a:t>
            </a:r>
            <a:r>
              <a:rPr sz="1000">
                <a:latin typeface="Times New Roman"/>
                <a:cs typeface="Times New Roman"/>
              </a:rPr>
              <a:t>of</a:t>
            </a:r>
            <a:r>
              <a:rPr sz="1000" spc="150">
                <a:latin typeface="Times New Roman"/>
                <a:cs typeface="Times New Roman"/>
              </a:rPr>
              <a:t> </a:t>
            </a:r>
            <a:r>
              <a:rPr sz="1000">
                <a:latin typeface="Times New Roman"/>
                <a:cs typeface="Times New Roman"/>
              </a:rPr>
              <a:t>the</a:t>
            </a:r>
            <a:r>
              <a:rPr sz="1000" spc="160">
                <a:latin typeface="Times New Roman"/>
                <a:cs typeface="Times New Roman"/>
              </a:rPr>
              <a:t> </a:t>
            </a:r>
            <a:r>
              <a:rPr sz="1000">
                <a:latin typeface="Times New Roman"/>
                <a:cs typeface="Times New Roman"/>
              </a:rPr>
              <a:t>possibility</a:t>
            </a:r>
            <a:r>
              <a:rPr sz="1000" spc="150">
                <a:latin typeface="Times New Roman"/>
                <a:cs typeface="Times New Roman"/>
              </a:rPr>
              <a:t> </a:t>
            </a:r>
            <a:r>
              <a:rPr sz="1000">
                <a:latin typeface="Times New Roman"/>
                <a:cs typeface="Times New Roman"/>
              </a:rPr>
              <a:t>of</a:t>
            </a:r>
            <a:r>
              <a:rPr sz="1000" spc="170">
                <a:latin typeface="Times New Roman"/>
                <a:cs typeface="Times New Roman"/>
              </a:rPr>
              <a:t> </a:t>
            </a:r>
            <a:r>
              <a:rPr sz="1000">
                <a:latin typeface="Times New Roman"/>
                <a:cs typeface="Times New Roman"/>
              </a:rPr>
              <a:t>making</a:t>
            </a:r>
            <a:r>
              <a:rPr sz="1000" spc="205">
                <a:latin typeface="Times New Roman"/>
                <a:cs typeface="Times New Roman"/>
              </a:rPr>
              <a:t> </a:t>
            </a:r>
            <a:r>
              <a:rPr sz="1000">
                <a:latin typeface="Times New Roman"/>
                <a:cs typeface="Times New Roman"/>
              </a:rPr>
              <a:t>a</a:t>
            </a:r>
            <a:r>
              <a:rPr sz="1000" spc="160">
                <a:latin typeface="Times New Roman"/>
                <a:cs typeface="Times New Roman"/>
              </a:rPr>
              <a:t> </a:t>
            </a:r>
            <a:r>
              <a:rPr sz="1000">
                <a:latin typeface="Times New Roman"/>
                <a:cs typeface="Times New Roman"/>
              </a:rPr>
              <a:t>profit</a:t>
            </a:r>
            <a:r>
              <a:rPr sz="1000" spc="155">
                <a:latin typeface="Times New Roman"/>
                <a:cs typeface="Times New Roman"/>
              </a:rPr>
              <a:t> </a:t>
            </a:r>
            <a:r>
              <a:rPr sz="1000">
                <a:latin typeface="Times New Roman"/>
                <a:cs typeface="Times New Roman"/>
              </a:rPr>
              <a:t>by</a:t>
            </a:r>
            <a:r>
              <a:rPr sz="1000" spc="140">
                <a:latin typeface="Times New Roman"/>
                <a:cs typeface="Times New Roman"/>
              </a:rPr>
              <a:t> </a:t>
            </a:r>
            <a:r>
              <a:rPr sz="1000">
                <a:latin typeface="Times New Roman"/>
                <a:cs typeface="Times New Roman"/>
              </a:rPr>
              <a:t>a</a:t>
            </a:r>
            <a:r>
              <a:rPr sz="1000" spc="170">
                <a:latin typeface="Times New Roman"/>
                <a:cs typeface="Times New Roman"/>
              </a:rPr>
              <a:t> </a:t>
            </a:r>
            <a:r>
              <a:rPr sz="1000">
                <a:latin typeface="Times New Roman"/>
                <a:cs typeface="Times New Roman"/>
              </a:rPr>
              <a:t>stock</a:t>
            </a:r>
            <a:r>
              <a:rPr sz="1000" spc="165">
                <a:latin typeface="Times New Roman"/>
                <a:cs typeface="Times New Roman"/>
              </a:rPr>
              <a:t> </a:t>
            </a:r>
            <a:r>
              <a:rPr sz="1000">
                <a:latin typeface="Times New Roman"/>
                <a:cs typeface="Times New Roman"/>
              </a:rPr>
              <a:t>market</a:t>
            </a:r>
            <a:endParaRPr/>
          </a:p>
          <a:p>
            <a:pPr marL="12700" algn="just">
              <a:lnSpc>
                <a:spcPts val="1155"/>
              </a:lnSpc>
            </a:pPr>
            <a:r>
              <a:rPr sz="1000">
                <a:latin typeface="Times New Roman"/>
                <a:cs typeface="Times New Roman"/>
              </a:rPr>
              <a:t>investor</a:t>
            </a:r>
            <a:r>
              <a:rPr sz="1000" spc="90">
                <a:latin typeface="Times New Roman"/>
                <a:cs typeface="Times New Roman"/>
              </a:rPr>
              <a:t> </a:t>
            </a:r>
            <a:r>
              <a:rPr sz="1000">
                <a:latin typeface="Times New Roman"/>
                <a:cs typeface="Times New Roman"/>
              </a:rPr>
              <a:t>and,</a:t>
            </a:r>
            <a:r>
              <a:rPr sz="1000" spc="85">
                <a:latin typeface="Times New Roman"/>
                <a:cs typeface="Times New Roman"/>
              </a:rPr>
              <a:t> </a:t>
            </a:r>
            <a:r>
              <a:rPr sz="1000">
                <a:latin typeface="Times New Roman"/>
                <a:cs typeface="Times New Roman"/>
              </a:rPr>
              <a:t>in</a:t>
            </a:r>
            <a:r>
              <a:rPr sz="1000" spc="8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event</a:t>
            </a:r>
            <a:r>
              <a:rPr sz="1000" spc="85">
                <a:latin typeface="Times New Roman"/>
                <a:cs typeface="Times New Roman"/>
              </a:rPr>
              <a:t> </a:t>
            </a:r>
            <a:r>
              <a:rPr sz="1000">
                <a:latin typeface="Times New Roman"/>
                <a:cs typeface="Times New Roman"/>
              </a:rPr>
              <a:t>of</a:t>
            </a:r>
            <a:r>
              <a:rPr sz="1000" spc="90">
                <a:latin typeface="Times New Roman"/>
                <a:cs typeface="Times New Roman"/>
              </a:rPr>
              <a:t> </a:t>
            </a:r>
            <a:r>
              <a:rPr sz="1000">
                <a:latin typeface="Times New Roman"/>
                <a:cs typeface="Times New Roman"/>
              </a:rPr>
              <a:t>a</a:t>
            </a:r>
            <a:r>
              <a:rPr sz="1000" spc="85">
                <a:latin typeface="Times New Roman"/>
                <a:cs typeface="Times New Roman"/>
              </a:rPr>
              <a:t> </a:t>
            </a:r>
            <a:r>
              <a:rPr sz="1000">
                <a:latin typeface="Times New Roman"/>
                <a:cs typeface="Times New Roman"/>
              </a:rPr>
              <a:t>possible</a:t>
            </a:r>
            <a:r>
              <a:rPr sz="1000" spc="85">
                <a:latin typeface="Times New Roman"/>
                <a:cs typeface="Times New Roman"/>
              </a:rPr>
              <a:t> </a:t>
            </a:r>
            <a:r>
              <a:rPr sz="1000">
                <a:latin typeface="Times New Roman"/>
                <a:cs typeface="Times New Roman"/>
              </a:rPr>
              <a:t>bankruptcy</a:t>
            </a:r>
            <a:r>
              <a:rPr sz="1000" spc="65">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the</a:t>
            </a:r>
            <a:r>
              <a:rPr sz="1000" spc="100">
                <a:latin typeface="Times New Roman"/>
                <a:cs typeface="Times New Roman"/>
              </a:rPr>
              <a:t> </a:t>
            </a:r>
            <a:r>
              <a:rPr sz="1000">
                <a:latin typeface="Times New Roman"/>
                <a:cs typeface="Times New Roman"/>
              </a:rPr>
              <a:t>company,</a:t>
            </a:r>
            <a:r>
              <a:rPr sz="1000" spc="100">
                <a:latin typeface="Times New Roman"/>
                <a:cs typeface="Times New Roman"/>
              </a:rPr>
              <a:t> </a:t>
            </a:r>
            <a:r>
              <a:rPr sz="1000">
                <a:latin typeface="Times New Roman"/>
                <a:cs typeface="Times New Roman"/>
              </a:rPr>
              <a:t>indisposes</a:t>
            </a:r>
            <a:r>
              <a:rPr sz="1000" spc="85">
                <a:latin typeface="Times New Roman"/>
                <a:cs typeface="Times New Roman"/>
              </a:rPr>
              <a:t> </a:t>
            </a:r>
            <a:r>
              <a:rPr sz="1000">
                <a:latin typeface="Times New Roman"/>
                <a:cs typeface="Times New Roman"/>
              </a:rPr>
              <a:t>the</a:t>
            </a:r>
            <a:r>
              <a:rPr sz="1000" spc="100">
                <a:latin typeface="Times New Roman"/>
                <a:cs typeface="Times New Roman"/>
              </a:rPr>
              <a:t> </a:t>
            </a:r>
            <a:r>
              <a:rPr sz="1000">
                <a:latin typeface="Times New Roman"/>
                <a:cs typeface="Times New Roman"/>
              </a:rPr>
              <a:t>investor</a:t>
            </a:r>
            <a:r>
              <a:rPr sz="1000" spc="90">
                <a:latin typeface="Times New Roman"/>
                <a:cs typeface="Times New Roman"/>
              </a:rPr>
              <a:t> </a:t>
            </a:r>
            <a:r>
              <a:rPr sz="1000">
                <a:latin typeface="Times New Roman"/>
                <a:cs typeface="Times New Roman"/>
              </a:rPr>
              <a:t>to</a:t>
            </a:r>
            <a:r>
              <a:rPr sz="1000" spc="90">
                <a:latin typeface="Times New Roman"/>
                <a:cs typeface="Times New Roman"/>
              </a:rPr>
              <a:t> </a:t>
            </a:r>
            <a:r>
              <a:rPr sz="1000">
                <a:latin typeface="Times New Roman"/>
                <a:cs typeface="Times New Roman"/>
              </a:rPr>
              <a:t>return</a:t>
            </a:r>
            <a:r>
              <a:rPr sz="1000" spc="80">
                <a:latin typeface="Times New Roman"/>
                <a:cs typeface="Times New Roman"/>
              </a:rPr>
              <a:t> </a:t>
            </a:r>
            <a:r>
              <a:rPr sz="1000">
                <a:latin typeface="Times New Roman"/>
                <a:cs typeface="Times New Roman"/>
              </a:rPr>
              <a:t>the</a:t>
            </a:r>
            <a:r>
              <a:rPr sz="1000" spc="85">
                <a:latin typeface="Times New Roman"/>
                <a:cs typeface="Times New Roman"/>
              </a:rPr>
              <a:t> </a:t>
            </a:r>
            <a:r>
              <a:rPr sz="1000">
                <a:latin typeface="Times New Roman"/>
                <a:cs typeface="Times New Roman"/>
              </a:rPr>
              <a:t>capital.</a:t>
            </a:r>
            <a:r>
              <a:rPr sz="1000" spc="110">
                <a:latin typeface="Times New Roman"/>
                <a:cs typeface="Times New Roman"/>
              </a:rPr>
              <a:t> </a:t>
            </a:r>
            <a:r>
              <a:rPr sz="1000">
                <a:latin typeface="Times New Roman"/>
                <a:cs typeface="Times New Roman"/>
              </a:rPr>
              <a:t>Despite</a:t>
            </a:r>
            <a:r>
              <a:rPr sz="1000" spc="85">
                <a:latin typeface="Times New Roman"/>
                <a:cs typeface="Times New Roman"/>
              </a:rPr>
              <a:t> </a:t>
            </a:r>
            <a:r>
              <a:rPr sz="1000">
                <a:latin typeface="Times New Roman"/>
                <a:cs typeface="Times New Roman"/>
              </a:rPr>
              <a:t>the</a:t>
            </a:r>
            <a:endParaRPr/>
          </a:p>
          <a:p>
            <a:pPr marL="12700" algn="just">
              <a:lnSpc>
                <a:spcPts val="1150"/>
              </a:lnSpc>
            </a:pPr>
            <a:r>
              <a:rPr sz="1000">
                <a:latin typeface="Times New Roman"/>
                <a:cs typeface="Times New Roman"/>
              </a:rPr>
              <a:t>payment</a:t>
            </a:r>
            <a:r>
              <a:rPr sz="1000" spc="85">
                <a:latin typeface="Times New Roman"/>
                <a:cs typeface="Times New Roman"/>
              </a:rPr>
              <a:t> </a:t>
            </a:r>
            <a:r>
              <a:rPr sz="1000">
                <a:latin typeface="Times New Roman"/>
                <a:cs typeface="Times New Roman"/>
              </a:rPr>
              <a:t>of</a:t>
            </a:r>
            <a:r>
              <a:rPr sz="1000" spc="75">
                <a:latin typeface="Times New Roman"/>
                <a:cs typeface="Times New Roman"/>
              </a:rPr>
              <a:t> </a:t>
            </a:r>
            <a:r>
              <a:rPr sz="1000">
                <a:latin typeface="Times New Roman"/>
                <a:cs typeface="Times New Roman"/>
              </a:rPr>
              <a:t>regular</a:t>
            </a:r>
            <a:r>
              <a:rPr sz="1000" spc="90">
                <a:latin typeface="Times New Roman"/>
                <a:cs typeface="Times New Roman"/>
              </a:rPr>
              <a:t> </a:t>
            </a:r>
            <a:r>
              <a:rPr sz="1000">
                <a:latin typeface="Times New Roman"/>
                <a:cs typeface="Times New Roman"/>
              </a:rPr>
              <a:t>and</a:t>
            </a:r>
            <a:r>
              <a:rPr sz="1000" spc="100">
                <a:latin typeface="Times New Roman"/>
                <a:cs typeface="Times New Roman"/>
              </a:rPr>
              <a:t> </a:t>
            </a:r>
            <a:r>
              <a:rPr sz="1000">
                <a:latin typeface="Times New Roman"/>
                <a:cs typeface="Times New Roman"/>
              </a:rPr>
              <a:t>high</a:t>
            </a:r>
            <a:r>
              <a:rPr sz="1000" spc="90">
                <a:latin typeface="Times New Roman"/>
                <a:cs typeface="Times New Roman"/>
              </a:rPr>
              <a:t> </a:t>
            </a:r>
            <a:r>
              <a:rPr sz="1000">
                <a:latin typeface="Times New Roman"/>
                <a:cs typeface="Times New Roman"/>
              </a:rPr>
              <a:t>dividends</a:t>
            </a:r>
            <a:r>
              <a:rPr sz="1000" spc="80">
                <a:latin typeface="Times New Roman"/>
                <a:cs typeface="Times New Roman"/>
              </a:rPr>
              <a:t> </a:t>
            </a:r>
            <a:r>
              <a:rPr sz="1000">
                <a:latin typeface="Times New Roman"/>
                <a:cs typeface="Times New Roman"/>
              </a:rPr>
              <a:t>by</a:t>
            </a:r>
            <a:r>
              <a:rPr sz="1000" spc="65">
                <a:latin typeface="Times New Roman"/>
                <a:cs typeface="Times New Roman"/>
              </a:rPr>
              <a:t> </a:t>
            </a:r>
            <a:r>
              <a:rPr sz="1000">
                <a:latin typeface="Times New Roman"/>
                <a:cs typeface="Times New Roman"/>
              </a:rPr>
              <a:t>State</a:t>
            </a:r>
            <a:r>
              <a:rPr sz="1000" spc="85">
                <a:latin typeface="Times New Roman"/>
                <a:cs typeface="Times New Roman"/>
              </a:rPr>
              <a:t> </a:t>
            </a:r>
            <a:r>
              <a:rPr sz="1000">
                <a:latin typeface="Times New Roman"/>
                <a:cs typeface="Times New Roman"/>
              </a:rPr>
              <a:t>Treasury</a:t>
            </a:r>
            <a:r>
              <a:rPr sz="1000" spc="65">
                <a:latin typeface="Times New Roman"/>
                <a:cs typeface="Times New Roman"/>
              </a:rPr>
              <a:t> </a:t>
            </a:r>
            <a:r>
              <a:rPr sz="1000">
                <a:latin typeface="Times New Roman"/>
                <a:cs typeface="Times New Roman"/>
              </a:rPr>
              <a:t>companies,</a:t>
            </a:r>
            <a:r>
              <a:rPr sz="1000" spc="100">
                <a:latin typeface="Times New Roman"/>
                <a:cs typeface="Times New Roman"/>
              </a:rPr>
              <a:t> </a:t>
            </a:r>
            <a:r>
              <a:rPr sz="1000">
                <a:latin typeface="Times New Roman"/>
                <a:cs typeface="Times New Roman"/>
              </a:rPr>
              <a:t>which</a:t>
            </a:r>
            <a:r>
              <a:rPr sz="1000" spc="90">
                <a:latin typeface="Times New Roman"/>
                <a:cs typeface="Times New Roman"/>
              </a:rPr>
              <a:t> </a:t>
            </a:r>
            <a:r>
              <a:rPr sz="1000">
                <a:latin typeface="Times New Roman"/>
                <a:cs typeface="Times New Roman"/>
              </a:rPr>
              <a:t>was</a:t>
            </a:r>
            <a:r>
              <a:rPr sz="1000" spc="85">
                <a:latin typeface="Times New Roman"/>
                <a:cs typeface="Times New Roman"/>
              </a:rPr>
              <a:t> </a:t>
            </a:r>
            <a:r>
              <a:rPr sz="1000">
                <a:latin typeface="Times New Roman"/>
                <a:cs typeface="Times New Roman"/>
              </a:rPr>
              <a:t>primarily</a:t>
            </a:r>
            <a:r>
              <a:rPr sz="1000" spc="65">
                <a:latin typeface="Times New Roman"/>
                <a:cs typeface="Times New Roman"/>
              </a:rPr>
              <a:t> </a:t>
            </a:r>
            <a:r>
              <a:rPr sz="1000">
                <a:latin typeface="Times New Roman"/>
                <a:cs typeface="Times New Roman"/>
              </a:rPr>
              <a:t>intended</a:t>
            </a:r>
            <a:r>
              <a:rPr sz="1000" spc="90">
                <a:latin typeface="Times New Roman"/>
                <a:cs typeface="Times New Roman"/>
              </a:rPr>
              <a:t> </a:t>
            </a:r>
            <a:r>
              <a:rPr sz="1000">
                <a:latin typeface="Times New Roman"/>
                <a:cs typeface="Times New Roman"/>
              </a:rPr>
              <a:t>to</a:t>
            </a:r>
            <a:r>
              <a:rPr sz="1000" spc="90">
                <a:latin typeface="Times New Roman"/>
                <a:cs typeface="Times New Roman"/>
              </a:rPr>
              <a:t> </a:t>
            </a:r>
            <a:r>
              <a:rPr sz="1000">
                <a:latin typeface="Times New Roman"/>
                <a:cs typeface="Times New Roman"/>
              </a:rPr>
              <a:t>constitute</a:t>
            </a:r>
            <a:r>
              <a:rPr sz="1000" spc="85">
                <a:latin typeface="Times New Roman"/>
                <a:cs typeface="Times New Roman"/>
              </a:rPr>
              <a:t> </a:t>
            </a:r>
            <a:r>
              <a:rPr sz="1000">
                <a:latin typeface="Times New Roman"/>
                <a:cs typeface="Times New Roman"/>
              </a:rPr>
              <a:t>a</a:t>
            </a:r>
            <a:r>
              <a:rPr sz="1000" spc="85">
                <a:latin typeface="Times New Roman"/>
                <a:cs typeface="Times New Roman"/>
              </a:rPr>
              <a:t> </a:t>
            </a:r>
            <a:r>
              <a:rPr sz="1000">
                <a:latin typeface="Times New Roman"/>
                <a:cs typeface="Times New Roman"/>
              </a:rPr>
              <a:t>source</a:t>
            </a:r>
            <a:r>
              <a:rPr sz="1000" spc="90">
                <a:latin typeface="Times New Roman"/>
                <a:cs typeface="Times New Roman"/>
              </a:rPr>
              <a:t> </a:t>
            </a:r>
            <a:r>
              <a:rPr sz="1000">
                <a:latin typeface="Times New Roman"/>
                <a:cs typeface="Times New Roman"/>
              </a:rPr>
              <a:t>of</a:t>
            </a:r>
            <a:endParaRPr/>
          </a:p>
          <a:p>
            <a:pPr marL="12700" algn="just">
              <a:lnSpc>
                <a:spcPts val="1155"/>
              </a:lnSpc>
            </a:pPr>
            <a:r>
              <a:rPr sz="1000">
                <a:latin typeface="Times New Roman"/>
                <a:cs typeface="Times New Roman"/>
              </a:rPr>
              <a:t>income</a:t>
            </a:r>
            <a:r>
              <a:rPr sz="1000" spc="75">
                <a:latin typeface="Times New Roman"/>
                <a:cs typeface="Times New Roman"/>
              </a:rPr>
              <a:t> </a:t>
            </a:r>
            <a:r>
              <a:rPr sz="1000">
                <a:latin typeface="Times New Roman"/>
                <a:cs typeface="Times New Roman"/>
              </a:rPr>
              <a:t>for</a:t>
            </a:r>
            <a:r>
              <a:rPr sz="1000" spc="6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state</a:t>
            </a:r>
            <a:r>
              <a:rPr sz="1000" spc="65">
                <a:latin typeface="Times New Roman"/>
                <a:cs typeface="Times New Roman"/>
              </a:rPr>
              <a:t> </a:t>
            </a:r>
            <a:r>
              <a:rPr sz="1000">
                <a:latin typeface="Times New Roman"/>
                <a:cs typeface="Times New Roman"/>
              </a:rPr>
              <a:t>budget,</a:t>
            </a:r>
            <a:r>
              <a:rPr sz="1000" spc="65">
                <a:latin typeface="Times New Roman"/>
                <a:cs typeface="Times New Roman"/>
              </a:rPr>
              <a:t> </a:t>
            </a:r>
            <a:r>
              <a:rPr sz="1000">
                <a:latin typeface="Times New Roman"/>
                <a:cs typeface="Times New Roman"/>
              </a:rPr>
              <a:t>these companies</a:t>
            </a:r>
            <a:r>
              <a:rPr sz="1000" spc="85">
                <a:latin typeface="Times New Roman"/>
                <a:cs typeface="Times New Roman"/>
              </a:rPr>
              <a:t> </a:t>
            </a:r>
            <a:r>
              <a:rPr sz="1000">
                <a:latin typeface="Times New Roman"/>
                <a:cs typeface="Times New Roman"/>
              </a:rPr>
              <a:t>were</a:t>
            </a:r>
            <a:r>
              <a:rPr sz="1000" spc="65">
                <a:latin typeface="Times New Roman"/>
                <a:cs typeface="Times New Roman"/>
              </a:rPr>
              <a:t> </a:t>
            </a:r>
            <a:r>
              <a:rPr sz="1000">
                <a:latin typeface="Times New Roman"/>
                <a:cs typeface="Times New Roman"/>
              </a:rPr>
              <a:t>not in the</a:t>
            </a:r>
            <a:r>
              <a:rPr sz="1000" spc="65">
                <a:latin typeface="Times New Roman"/>
                <a:cs typeface="Times New Roman"/>
              </a:rPr>
              <a:t> </a:t>
            </a:r>
            <a:r>
              <a:rPr sz="1000">
                <a:latin typeface="Times New Roman"/>
                <a:cs typeface="Times New Roman"/>
              </a:rPr>
              <a:t>best</a:t>
            </a:r>
            <a:r>
              <a:rPr sz="1000" spc="70">
                <a:latin typeface="Times New Roman"/>
                <a:cs typeface="Times New Roman"/>
              </a:rPr>
              <a:t> </a:t>
            </a:r>
            <a:r>
              <a:rPr sz="1000">
                <a:latin typeface="Times New Roman"/>
                <a:cs typeface="Times New Roman"/>
              </a:rPr>
              <a:t>financial</a:t>
            </a:r>
            <a:r>
              <a:rPr sz="1000" spc="65">
                <a:latin typeface="Times New Roman"/>
                <a:cs typeface="Times New Roman"/>
              </a:rPr>
              <a:t> </a:t>
            </a:r>
            <a:r>
              <a:rPr sz="1000">
                <a:latin typeface="Times New Roman"/>
                <a:cs typeface="Times New Roman"/>
              </a:rPr>
              <a:t>condition.</a:t>
            </a:r>
            <a:r>
              <a:rPr sz="1000" spc="110">
                <a:latin typeface="Times New Roman"/>
                <a:cs typeface="Times New Roman"/>
              </a:rPr>
              <a:t> </a:t>
            </a:r>
            <a:r>
              <a:rPr sz="1000">
                <a:latin typeface="Times New Roman"/>
                <a:cs typeface="Times New Roman"/>
              </a:rPr>
              <a:t>In</a:t>
            </a:r>
            <a:r>
              <a:rPr sz="1000" spc="65">
                <a:latin typeface="Times New Roman"/>
                <a:cs typeface="Times New Roman"/>
              </a:rPr>
              <a:t> </a:t>
            </a:r>
            <a:r>
              <a:rPr sz="1000">
                <a:latin typeface="Times New Roman"/>
                <a:cs typeface="Times New Roman"/>
              </a:rPr>
              <a:t>addition to</a:t>
            </a:r>
            <a:r>
              <a:rPr sz="1000" spc="65">
                <a:latin typeface="Times New Roman"/>
                <a:cs typeface="Times New Roman"/>
              </a:rPr>
              <a:t> </a:t>
            </a:r>
            <a:r>
              <a:rPr sz="1000">
                <a:latin typeface="Times New Roman"/>
                <a:cs typeface="Times New Roman"/>
              </a:rPr>
              <a:t>the</a:t>
            </a:r>
            <a:r>
              <a:rPr sz="1000" spc="65">
                <a:latin typeface="Times New Roman"/>
                <a:cs typeface="Times New Roman"/>
              </a:rPr>
              <a:t> </a:t>
            </a:r>
            <a:r>
              <a:rPr sz="1000">
                <a:latin typeface="Times New Roman"/>
                <a:cs typeface="Times New Roman"/>
              </a:rPr>
              <a:t>above-indicated</a:t>
            </a:r>
            <a:r>
              <a:rPr sz="1000" spc="70">
                <a:latin typeface="Times New Roman"/>
                <a:cs typeface="Times New Roman"/>
              </a:rPr>
              <a:t> </a:t>
            </a:r>
            <a:r>
              <a:rPr sz="1000">
                <a:latin typeface="Times New Roman"/>
                <a:cs typeface="Times New Roman"/>
              </a:rPr>
              <a:t>high</a:t>
            </a:r>
            <a:endParaRPr/>
          </a:p>
          <a:p>
            <a:pPr marL="12700" algn="just">
              <a:lnSpc>
                <a:spcPts val="1135"/>
              </a:lnSpc>
            </a:pPr>
            <a:r>
              <a:rPr sz="1000">
                <a:latin typeface="Times New Roman"/>
                <a:cs typeface="Times New Roman"/>
              </a:rPr>
              <a:t>leverage,</a:t>
            </a:r>
            <a:r>
              <a:rPr sz="1000" spc="75">
                <a:latin typeface="Times New Roman"/>
                <a:cs typeface="Times New Roman"/>
              </a:rPr>
              <a:t> </a:t>
            </a:r>
            <a:r>
              <a:rPr sz="1000">
                <a:latin typeface="Times New Roman"/>
                <a:cs typeface="Times New Roman"/>
              </a:rPr>
              <a:t>they</a:t>
            </a:r>
            <a:r>
              <a:rPr sz="1000" spc="65">
                <a:latin typeface="Times New Roman"/>
                <a:cs typeface="Times New Roman"/>
              </a:rPr>
              <a:t> </a:t>
            </a:r>
            <a:r>
              <a:rPr sz="1000">
                <a:latin typeface="Times New Roman"/>
                <a:cs typeface="Times New Roman"/>
              </a:rPr>
              <a:t>were</a:t>
            </a:r>
            <a:r>
              <a:rPr sz="1000" spc="75">
                <a:latin typeface="Times New Roman"/>
                <a:cs typeface="Times New Roman"/>
              </a:rPr>
              <a:t> </a:t>
            </a:r>
            <a:r>
              <a:rPr sz="1000">
                <a:latin typeface="Times New Roman"/>
                <a:cs typeface="Times New Roman"/>
              </a:rPr>
              <a:t>characterized</a:t>
            </a:r>
            <a:r>
              <a:rPr sz="1000" spc="80">
                <a:latin typeface="Times New Roman"/>
                <a:cs typeface="Times New Roman"/>
              </a:rPr>
              <a:t> </a:t>
            </a:r>
            <a:r>
              <a:rPr sz="1000">
                <a:latin typeface="Times New Roman"/>
                <a:cs typeface="Times New Roman"/>
              </a:rPr>
              <a:t>by the</a:t>
            </a:r>
            <a:r>
              <a:rPr sz="1000" spc="75">
                <a:latin typeface="Times New Roman"/>
                <a:cs typeface="Times New Roman"/>
              </a:rPr>
              <a:t> </a:t>
            </a:r>
            <a:r>
              <a:rPr sz="1000">
                <a:latin typeface="Times New Roman"/>
                <a:cs typeface="Times New Roman"/>
              </a:rPr>
              <a:t>lowest</a:t>
            </a:r>
            <a:r>
              <a:rPr sz="1000" spc="70">
                <a:latin typeface="Times New Roman"/>
                <a:cs typeface="Times New Roman"/>
              </a:rPr>
              <a:t> </a:t>
            </a:r>
            <a:r>
              <a:rPr sz="1000">
                <a:latin typeface="Times New Roman"/>
                <a:cs typeface="Times New Roman"/>
              </a:rPr>
              <a:t>profitability</a:t>
            </a:r>
            <a:r>
              <a:rPr sz="1000" spc="65">
                <a:latin typeface="Times New Roman"/>
                <a:cs typeface="Times New Roman"/>
              </a:rPr>
              <a:t> </a:t>
            </a:r>
            <a:r>
              <a:rPr sz="1000">
                <a:latin typeface="Times New Roman"/>
                <a:cs typeface="Times New Roman"/>
              </a:rPr>
              <a:t>among</a:t>
            </a:r>
            <a:r>
              <a:rPr sz="1000" spc="65">
                <a:latin typeface="Times New Roman"/>
                <a:cs typeface="Times New Roman"/>
              </a:rPr>
              <a:t> </a:t>
            </a:r>
            <a:r>
              <a:rPr sz="1000">
                <a:latin typeface="Times New Roman"/>
                <a:cs typeface="Times New Roman"/>
              </a:rPr>
              <a:t>all</a:t>
            </a:r>
            <a:r>
              <a:rPr sz="1000" spc="70">
                <a:latin typeface="Times New Roman"/>
                <a:cs typeface="Times New Roman"/>
              </a:rPr>
              <a:t> </a:t>
            </a:r>
            <a:r>
              <a:rPr sz="1000">
                <a:latin typeface="Times New Roman"/>
                <a:cs typeface="Times New Roman"/>
              </a:rPr>
              <a:t>surveyed</a:t>
            </a:r>
            <a:r>
              <a:rPr sz="1000" spc="80">
                <a:latin typeface="Times New Roman"/>
                <a:cs typeface="Times New Roman"/>
              </a:rPr>
              <a:t> </a:t>
            </a:r>
            <a:r>
              <a:rPr sz="1000">
                <a:latin typeface="Times New Roman"/>
                <a:cs typeface="Times New Roman"/>
              </a:rPr>
              <a:t>companies,</a:t>
            </a:r>
            <a:r>
              <a:rPr sz="1000" spc="75">
                <a:latin typeface="Times New Roman"/>
                <a:cs typeface="Times New Roman"/>
              </a:rPr>
              <a:t> </a:t>
            </a:r>
            <a:r>
              <a:rPr sz="1000">
                <a:latin typeface="Times New Roman"/>
                <a:cs typeface="Times New Roman"/>
              </a:rPr>
              <a:t>and</a:t>
            </a:r>
            <a:r>
              <a:rPr sz="1000" spc="80">
                <a:latin typeface="Times New Roman"/>
                <a:cs typeface="Times New Roman"/>
              </a:rPr>
              <a:t> </a:t>
            </a:r>
            <a:r>
              <a:rPr sz="1000">
                <a:latin typeface="Times New Roman"/>
                <a:cs typeface="Times New Roman"/>
              </a:rPr>
              <a:t>a</a:t>
            </a:r>
            <a:r>
              <a:rPr sz="1000" spc="75">
                <a:latin typeface="Times New Roman"/>
                <a:cs typeface="Times New Roman"/>
              </a:rPr>
              <a:t> </a:t>
            </a:r>
            <a:r>
              <a:rPr sz="1000">
                <a:latin typeface="Times New Roman"/>
                <a:cs typeface="Times New Roman"/>
              </a:rPr>
              <a:t>very</a:t>
            </a:r>
            <a:r>
              <a:rPr sz="1000" spc="65">
                <a:latin typeface="Times New Roman"/>
                <a:cs typeface="Times New Roman"/>
              </a:rPr>
              <a:t> </a:t>
            </a:r>
            <a:r>
              <a:rPr sz="1000">
                <a:latin typeface="Times New Roman"/>
                <a:cs typeface="Times New Roman"/>
              </a:rPr>
              <a:t>high</a:t>
            </a:r>
            <a:r>
              <a:rPr sz="1000" spc="65">
                <a:latin typeface="Times New Roman"/>
                <a:cs typeface="Times New Roman"/>
              </a:rPr>
              <a:t> </a:t>
            </a:r>
            <a:r>
              <a:rPr sz="1000">
                <a:latin typeface="Times New Roman"/>
                <a:cs typeface="Times New Roman"/>
              </a:rPr>
              <a:t>excess</a:t>
            </a:r>
            <a:r>
              <a:rPr sz="1000" spc="70">
                <a:latin typeface="Times New Roman"/>
                <a:cs typeface="Times New Roman"/>
              </a:rPr>
              <a:t> </a:t>
            </a:r>
            <a:r>
              <a:rPr sz="1000">
                <a:latin typeface="Times New Roman"/>
                <a:cs typeface="Times New Roman"/>
              </a:rPr>
              <a:t>liquidity</a:t>
            </a:r>
            <a:endParaRPr/>
          </a:p>
          <a:p>
            <a:pPr marL="12700" algn="just">
              <a:lnSpc>
                <a:spcPts val="1155"/>
              </a:lnSpc>
            </a:pPr>
            <a:r>
              <a:rPr sz="1000">
                <a:latin typeface="Times New Roman"/>
                <a:cs typeface="Times New Roman"/>
              </a:rPr>
              <a:t>may indicate improper financial management. Therefore, the companies in which the State Treasury had the most shares turned</a:t>
            </a:r>
            <a:endParaRPr/>
          </a:p>
          <a:p>
            <a:pPr marL="12700" algn="just">
              <a:lnSpc>
                <a:spcPts val="1150"/>
              </a:lnSpc>
            </a:pPr>
            <a:r>
              <a:rPr sz="1000">
                <a:latin typeface="Times New Roman"/>
                <a:cs typeface="Times New Roman"/>
              </a:rPr>
              <a:t>out to</a:t>
            </a:r>
            <a:r>
              <a:rPr sz="1000" spc="65">
                <a:latin typeface="Times New Roman"/>
                <a:cs typeface="Times New Roman"/>
              </a:rPr>
              <a:t> </a:t>
            </a:r>
            <a:r>
              <a:rPr sz="1000">
                <a:latin typeface="Times New Roman"/>
                <a:cs typeface="Times New Roman"/>
              </a:rPr>
              <a:t>be</a:t>
            </a:r>
            <a:r>
              <a:rPr sz="1000" spc="65">
                <a:latin typeface="Times New Roman"/>
                <a:cs typeface="Times New Roman"/>
              </a:rPr>
              <a:t> </a:t>
            </a:r>
            <a:r>
              <a:rPr sz="1000">
                <a:latin typeface="Times New Roman"/>
                <a:cs typeface="Times New Roman"/>
              </a:rPr>
              <a:t>the</a:t>
            </a:r>
            <a:r>
              <a:rPr sz="1000" spc="65">
                <a:latin typeface="Times New Roman"/>
                <a:cs typeface="Times New Roman"/>
              </a:rPr>
              <a:t> </a:t>
            </a:r>
            <a:r>
              <a:rPr sz="1000">
                <a:latin typeface="Times New Roman"/>
                <a:cs typeface="Times New Roman"/>
              </a:rPr>
              <a:t>least attractive</a:t>
            </a:r>
            <a:r>
              <a:rPr sz="1000" spc="75">
                <a:latin typeface="Times New Roman"/>
                <a:cs typeface="Times New Roman"/>
              </a:rPr>
              <a:t> </a:t>
            </a:r>
            <a:r>
              <a:rPr sz="1000">
                <a:latin typeface="Times New Roman"/>
                <a:cs typeface="Times New Roman"/>
              </a:rPr>
              <a:t>for</a:t>
            </a:r>
            <a:r>
              <a:rPr sz="1000" spc="65">
                <a:latin typeface="Times New Roman"/>
                <a:cs typeface="Times New Roman"/>
              </a:rPr>
              <a:t> </a:t>
            </a:r>
            <a:r>
              <a:rPr sz="1000">
                <a:latin typeface="Times New Roman"/>
                <a:cs typeface="Times New Roman"/>
              </a:rPr>
              <a:t>investments.</a:t>
            </a:r>
            <a:r>
              <a:rPr sz="1000" spc="90">
                <a:latin typeface="Times New Roman"/>
                <a:cs typeface="Times New Roman"/>
              </a:rPr>
              <a:t> </a:t>
            </a:r>
            <a:r>
              <a:rPr sz="1000">
                <a:latin typeface="Times New Roman"/>
                <a:cs typeface="Times New Roman"/>
              </a:rPr>
              <a:t>It is also</a:t>
            </a:r>
            <a:r>
              <a:rPr sz="1000" spc="75">
                <a:latin typeface="Times New Roman"/>
                <a:cs typeface="Times New Roman"/>
              </a:rPr>
              <a:t> </a:t>
            </a:r>
            <a:r>
              <a:rPr sz="1000">
                <a:latin typeface="Times New Roman"/>
                <a:cs typeface="Times New Roman"/>
              </a:rPr>
              <a:t>worth adding</a:t>
            </a:r>
            <a:r>
              <a:rPr sz="1000" spc="65">
                <a:latin typeface="Times New Roman"/>
                <a:cs typeface="Times New Roman"/>
              </a:rPr>
              <a:t> </a:t>
            </a:r>
            <a:r>
              <a:rPr sz="1000">
                <a:latin typeface="Times New Roman"/>
                <a:cs typeface="Times New Roman"/>
              </a:rPr>
              <a:t>that the</a:t>
            </a:r>
            <a:r>
              <a:rPr sz="1000" spc="65">
                <a:latin typeface="Times New Roman"/>
                <a:cs typeface="Times New Roman"/>
              </a:rPr>
              <a:t> </a:t>
            </a:r>
            <a:r>
              <a:rPr sz="1000">
                <a:latin typeface="Times New Roman"/>
                <a:cs typeface="Times New Roman"/>
              </a:rPr>
              <a:t>investment</a:t>
            </a:r>
            <a:r>
              <a:rPr sz="1000" spc="70">
                <a:latin typeface="Times New Roman"/>
                <a:cs typeface="Times New Roman"/>
              </a:rPr>
              <a:t> </a:t>
            </a:r>
            <a:r>
              <a:rPr sz="1000">
                <a:latin typeface="Times New Roman"/>
                <a:cs typeface="Times New Roman"/>
              </a:rPr>
              <a:t>attractiveness of companies in</a:t>
            </a:r>
            <a:r>
              <a:rPr sz="1000" spc="80">
                <a:latin typeface="Times New Roman"/>
                <a:cs typeface="Times New Roman"/>
              </a:rPr>
              <a:t> </a:t>
            </a:r>
            <a:r>
              <a:rPr sz="1000">
                <a:latin typeface="Times New Roman"/>
                <a:cs typeface="Times New Roman"/>
              </a:rPr>
              <a:t>which</a:t>
            </a:r>
            <a:endParaRPr/>
          </a:p>
          <a:p>
            <a:pPr marL="12700" algn="just">
              <a:lnSpc>
                <a:spcPts val="1155"/>
              </a:lnSpc>
            </a:pPr>
            <a:r>
              <a:rPr sz="1000">
                <a:latin typeface="Times New Roman"/>
                <a:cs typeface="Times New Roman"/>
              </a:rPr>
              <a:t>the</a:t>
            </a:r>
            <a:r>
              <a:rPr sz="1000" spc="65">
                <a:latin typeface="Times New Roman"/>
                <a:cs typeface="Times New Roman"/>
              </a:rPr>
              <a:t> </a:t>
            </a:r>
            <a:r>
              <a:rPr sz="1000">
                <a:latin typeface="Times New Roman"/>
                <a:cs typeface="Times New Roman"/>
              </a:rPr>
              <a:t>manager</a:t>
            </a:r>
            <a:r>
              <a:rPr sz="1000" spc="65">
                <a:latin typeface="Times New Roman"/>
                <a:cs typeface="Times New Roman"/>
              </a:rPr>
              <a:t> </a:t>
            </a:r>
            <a:r>
              <a:rPr sz="1000">
                <a:latin typeface="Times New Roman"/>
                <a:cs typeface="Times New Roman"/>
              </a:rPr>
              <a:t>was the first-largest shareholder</a:t>
            </a:r>
            <a:r>
              <a:rPr sz="1000" spc="65">
                <a:latin typeface="Times New Roman"/>
                <a:cs typeface="Times New Roman"/>
              </a:rPr>
              <a:t> </a:t>
            </a:r>
            <a:r>
              <a:rPr sz="1000">
                <a:latin typeface="Times New Roman"/>
                <a:cs typeface="Times New Roman"/>
              </a:rPr>
              <a:t>was higher than that of companies with State Treasury shareholding, despite the</a:t>
            </a:r>
            <a:endParaRPr/>
          </a:p>
          <a:p>
            <a:pPr marL="12700" algn="just">
              <a:lnSpc>
                <a:spcPts val="1150"/>
              </a:lnSpc>
            </a:pPr>
            <a:r>
              <a:rPr sz="1000">
                <a:latin typeface="Times New Roman"/>
                <a:cs typeface="Times New Roman"/>
              </a:rPr>
              <a:t>fact</a:t>
            </a:r>
            <a:r>
              <a:rPr sz="1000" spc="70">
                <a:latin typeface="Times New Roman"/>
                <a:cs typeface="Times New Roman"/>
              </a:rPr>
              <a:t> </a:t>
            </a:r>
            <a:r>
              <a:rPr sz="1000">
                <a:latin typeface="Times New Roman"/>
                <a:cs typeface="Times New Roman"/>
              </a:rPr>
              <a:t>that</a:t>
            </a:r>
            <a:r>
              <a:rPr sz="1000" spc="75">
                <a:latin typeface="Times New Roman"/>
                <a:cs typeface="Times New Roman"/>
              </a:rPr>
              <a:t> </a:t>
            </a:r>
            <a:r>
              <a:rPr sz="1000">
                <a:latin typeface="Times New Roman"/>
                <a:cs typeface="Times New Roman"/>
              </a:rPr>
              <a:t>they paid</a:t>
            </a:r>
            <a:r>
              <a:rPr sz="1000" spc="80">
                <a:latin typeface="Times New Roman"/>
                <a:cs typeface="Times New Roman"/>
              </a:rPr>
              <a:t> </a:t>
            </a:r>
            <a:r>
              <a:rPr sz="1000">
                <a:latin typeface="Times New Roman"/>
                <a:cs typeface="Times New Roman"/>
              </a:rPr>
              <a:t>out</a:t>
            </a:r>
            <a:r>
              <a:rPr sz="1000" spc="70">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lowest</a:t>
            </a:r>
            <a:r>
              <a:rPr sz="1000" spc="70">
                <a:latin typeface="Times New Roman"/>
                <a:cs typeface="Times New Roman"/>
              </a:rPr>
              <a:t> </a:t>
            </a:r>
            <a:r>
              <a:rPr sz="1000">
                <a:latin typeface="Times New Roman"/>
                <a:cs typeface="Times New Roman"/>
              </a:rPr>
              <a:t>dividends.</a:t>
            </a:r>
            <a:r>
              <a:rPr sz="1000" spc="115">
                <a:latin typeface="Times New Roman"/>
                <a:cs typeface="Times New Roman"/>
              </a:rPr>
              <a:t> </a:t>
            </a:r>
            <a:r>
              <a:rPr sz="1000">
                <a:latin typeface="Times New Roman"/>
                <a:cs typeface="Times New Roman"/>
              </a:rPr>
              <a:t>A low dividend</a:t>
            </a:r>
            <a:r>
              <a:rPr sz="1000" spc="90">
                <a:latin typeface="Times New Roman"/>
                <a:cs typeface="Times New Roman"/>
              </a:rPr>
              <a:t> </a:t>
            </a:r>
            <a:r>
              <a:rPr sz="1000">
                <a:latin typeface="Times New Roman"/>
                <a:cs typeface="Times New Roman"/>
              </a:rPr>
              <a:t>may</a:t>
            </a:r>
            <a:r>
              <a:rPr sz="1000" spc="80">
                <a:latin typeface="Times New Roman"/>
                <a:cs typeface="Times New Roman"/>
              </a:rPr>
              <a:t> </a:t>
            </a:r>
            <a:r>
              <a:rPr sz="1000">
                <a:latin typeface="Times New Roman"/>
                <a:cs typeface="Times New Roman"/>
              </a:rPr>
              <a:t>be</a:t>
            </a:r>
            <a:r>
              <a:rPr sz="1000" spc="75">
                <a:latin typeface="Times New Roman"/>
                <a:cs typeface="Times New Roman"/>
              </a:rPr>
              <a:t> </a:t>
            </a:r>
            <a:r>
              <a:rPr sz="1000">
                <a:latin typeface="Times New Roman"/>
                <a:cs typeface="Times New Roman"/>
              </a:rPr>
              <a:t>in</a:t>
            </a:r>
            <a:r>
              <a:rPr sz="1000" spc="65">
                <a:latin typeface="Times New Roman"/>
                <a:cs typeface="Times New Roman"/>
              </a:rPr>
              <a:t> </a:t>
            </a:r>
            <a:r>
              <a:rPr sz="1000">
                <a:latin typeface="Times New Roman"/>
                <a:cs typeface="Times New Roman"/>
              </a:rPr>
              <a:t>this</a:t>
            </a:r>
            <a:r>
              <a:rPr sz="1000" spc="70">
                <a:latin typeface="Times New Roman"/>
                <a:cs typeface="Times New Roman"/>
              </a:rPr>
              <a:t> </a:t>
            </a:r>
            <a:r>
              <a:rPr sz="1000">
                <a:latin typeface="Times New Roman"/>
                <a:cs typeface="Times New Roman"/>
              </a:rPr>
              <a:t>case</a:t>
            </a:r>
            <a:r>
              <a:rPr sz="1000" spc="75">
                <a:latin typeface="Times New Roman"/>
                <a:cs typeface="Times New Roman"/>
              </a:rPr>
              <a:t> </a:t>
            </a:r>
            <a:r>
              <a:rPr sz="1000">
                <a:latin typeface="Times New Roman"/>
                <a:cs typeface="Times New Roman"/>
              </a:rPr>
              <a:t>associated</a:t>
            </a:r>
            <a:r>
              <a:rPr sz="1000" spc="95">
                <a:latin typeface="Times New Roman"/>
                <a:cs typeface="Times New Roman"/>
              </a:rPr>
              <a:t> </a:t>
            </a:r>
            <a:r>
              <a:rPr sz="1000">
                <a:latin typeface="Times New Roman"/>
                <a:cs typeface="Times New Roman"/>
              </a:rPr>
              <a:t>with</a:t>
            </a:r>
            <a:r>
              <a:rPr sz="1000" spc="65">
                <a:latin typeface="Times New Roman"/>
                <a:cs typeface="Times New Roman"/>
              </a:rPr>
              <a:t> </a:t>
            </a:r>
            <a:r>
              <a:rPr sz="1000">
                <a:latin typeface="Times New Roman"/>
                <a:cs typeface="Times New Roman"/>
              </a:rPr>
              <a:t>the</a:t>
            </a:r>
            <a:r>
              <a:rPr sz="1000" spc="75">
                <a:latin typeface="Times New Roman"/>
                <a:cs typeface="Times New Roman"/>
              </a:rPr>
              <a:t> </a:t>
            </a:r>
            <a:r>
              <a:rPr sz="1000">
                <a:latin typeface="Times New Roman"/>
                <a:cs typeface="Times New Roman"/>
              </a:rPr>
              <a:t>separation</a:t>
            </a:r>
            <a:r>
              <a:rPr sz="1000" spc="65">
                <a:latin typeface="Times New Roman"/>
                <a:cs typeface="Times New Roman"/>
              </a:rPr>
              <a:t> </a:t>
            </a:r>
            <a:r>
              <a:rPr sz="1000">
                <a:latin typeface="Times New Roman"/>
                <a:cs typeface="Times New Roman"/>
              </a:rPr>
              <a:t>of</a:t>
            </a:r>
            <a:r>
              <a:rPr sz="1000" spc="65">
                <a:latin typeface="Times New Roman"/>
                <a:cs typeface="Times New Roman"/>
              </a:rPr>
              <a:t> </a:t>
            </a:r>
            <a:r>
              <a:rPr sz="1000">
                <a:latin typeface="Times New Roman"/>
                <a:cs typeface="Times New Roman"/>
              </a:rPr>
              <a:t>ownership</a:t>
            </a:r>
            <a:endParaRPr/>
          </a:p>
          <a:p>
            <a:pPr marL="12700" algn="just">
              <a:lnSpc>
                <a:spcPts val="1150"/>
              </a:lnSpc>
            </a:pPr>
            <a:r>
              <a:rPr sz="1000">
                <a:latin typeface="Times New Roman"/>
                <a:cs typeface="Times New Roman"/>
              </a:rPr>
              <a:t>from management and the role of managers in the company, even </a:t>
            </a:r>
            <a:r>
              <a:rPr sz="1000" spc="10">
                <a:latin typeface="Times New Roman"/>
                <a:cs typeface="Times New Roman"/>
              </a:rPr>
              <a:t>if </a:t>
            </a:r>
            <a:r>
              <a:rPr sz="1000">
                <a:latin typeface="Times New Roman"/>
                <a:cs typeface="Times New Roman"/>
              </a:rPr>
              <a:t>they hold shares. According to the agency theory and the</a:t>
            </a:r>
            <a:endParaRPr/>
          </a:p>
          <a:p>
            <a:pPr marL="12700" algn="just">
              <a:lnSpc>
                <a:spcPts val="1140"/>
              </a:lnSpc>
            </a:pPr>
            <a:r>
              <a:rPr sz="1000">
                <a:latin typeface="Times New Roman"/>
                <a:cs typeface="Times New Roman"/>
              </a:rPr>
              <a:t>separation</a:t>
            </a:r>
            <a:r>
              <a:rPr sz="1000" spc="200">
                <a:latin typeface="Times New Roman"/>
                <a:cs typeface="Times New Roman"/>
              </a:rPr>
              <a:t> </a:t>
            </a:r>
            <a:r>
              <a:rPr sz="1000">
                <a:latin typeface="Times New Roman"/>
                <a:cs typeface="Times New Roman"/>
              </a:rPr>
              <a:t>of</a:t>
            </a:r>
            <a:r>
              <a:rPr sz="1000" spc="195">
                <a:latin typeface="Times New Roman"/>
                <a:cs typeface="Times New Roman"/>
              </a:rPr>
              <a:t> </a:t>
            </a:r>
            <a:r>
              <a:rPr sz="1000">
                <a:latin typeface="Times New Roman"/>
                <a:cs typeface="Times New Roman"/>
              </a:rPr>
              <a:t>ownership</a:t>
            </a:r>
            <a:r>
              <a:rPr sz="1000" spc="220">
                <a:latin typeface="Times New Roman"/>
                <a:cs typeface="Times New Roman"/>
              </a:rPr>
              <a:t> </a:t>
            </a:r>
            <a:r>
              <a:rPr sz="1000">
                <a:latin typeface="Times New Roman"/>
                <a:cs typeface="Times New Roman"/>
              </a:rPr>
              <a:t>from</a:t>
            </a:r>
            <a:r>
              <a:rPr sz="1000" spc="209">
                <a:latin typeface="Times New Roman"/>
                <a:cs typeface="Times New Roman"/>
              </a:rPr>
              <a:t> </a:t>
            </a:r>
            <a:r>
              <a:rPr sz="1000">
                <a:latin typeface="Times New Roman"/>
                <a:cs typeface="Times New Roman"/>
              </a:rPr>
              <a:t>management</a:t>
            </a:r>
            <a:r>
              <a:rPr sz="1000" spc="205">
                <a:latin typeface="Times New Roman"/>
                <a:cs typeface="Times New Roman"/>
              </a:rPr>
              <a:t> </a:t>
            </a:r>
            <a:r>
              <a:rPr sz="1000">
                <a:latin typeface="Times New Roman"/>
                <a:cs typeface="Times New Roman"/>
              </a:rPr>
              <a:t>in</a:t>
            </a:r>
            <a:r>
              <a:rPr sz="1000" spc="200">
                <a:latin typeface="Times New Roman"/>
                <a:cs typeface="Times New Roman"/>
              </a:rPr>
              <a:t> </a:t>
            </a:r>
            <a:r>
              <a:rPr sz="1000">
                <a:latin typeface="Times New Roman"/>
                <a:cs typeface="Times New Roman"/>
              </a:rPr>
              <a:t>joint-stock</a:t>
            </a:r>
            <a:r>
              <a:rPr sz="1000" spc="200">
                <a:latin typeface="Times New Roman"/>
                <a:cs typeface="Times New Roman"/>
              </a:rPr>
              <a:t> </a:t>
            </a:r>
            <a:r>
              <a:rPr sz="1000">
                <a:latin typeface="Times New Roman"/>
                <a:cs typeface="Times New Roman"/>
              </a:rPr>
              <a:t>companies,</a:t>
            </a:r>
            <a:r>
              <a:rPr sz="1000" spc="205">
                <a:latin typeface="Times New Roman"/>
                <a:cs typeface="Times New Roman"/>
              </a:rPr>
              <a:t> </a:t>
            </a:r>
            <a:r>
              <a:rPr sz="1000">
                <a:latin typeface="Times New Roman"/>
                <a:cs typeface="Times New Roman"/>
              </a:rPr>
              <a:t>the</a:t>
            </a:r>
            <a:r>
              <a:rPr sz="1000" spc="205">
                <a:latin typeface="Times New Roman"/>
                <a:cs typeface="Times New Roman"/>
              </a:rPr>
              <a:t> </a:t>
            </a:r>
            <a:r>
              <a:rPr sz="1000">
                <a:latin typeface="Times New Roman"/>
                <a:cs typeface="Times New Roman"/>
              </a:rPr>
              <a:t>goals</a:t>
            </a:r>
            <a:r>
              <a:rPr sz="1000" spc="200">
                <a:latin typeface="Times New Roman"/>
                <a:cs typeface="Times New Roman"/>
              </a:rPr>
              <a:t> </a:t>
            </a:r>
            <a:r>
              <a:rPr sz="1000">
                <a:latin typeface="Times New Roman"/>
                <a:cs typeface="Times New Roman"/>
              </a:rPr>
              <a:t>of</a:t>
            </a:r>
            <a:r>
              <a:rPr sz="1000" spc="209">
                <a:latin typeface="Times New Roman"/>
                <a:cs typeface="Times New Roman"/>
              </a:rPr>
              <a:t> </a:t>
            </a:r>
            <a:r>
              <a:rPr sz="1000">
                <a:latin typeface="Times New Roman"/>
                <a:cs typeface="Times New Roman"/>
              </a:rPr>
              <a:t>managers</a:t>
            </a:r>
            <a:r>
              <a:rPr sz="1000" spc="200">
                <a:latin typeface="Times New Roman"/>
                <a:cs typeface="Times New Roman"/>
              </a:rPr>
              <a:t> </a:t>
            </a:r>
            <a:r>
              <a:rPr sz="1000">
                <a:latin typeface="Times New Roman"/>
                <a:cs typeface="Times New Roman"/>
              </a:rPr>
              <a:t>and</a:t>
            </a:r>
            <a:r>
              <a:rPr sz="1000" spc="209">
                <a:latin typeface="Times New Roman"/>
                <a:cs typeface="Times New Roman"/>
              </a:rPr>
              <a:t> </a:t>
            </a:r>
            <a:r>
              <a:rPr sz="1000">
                <a:latin typeface="Times New Roman"/>
                <a:cs typeface="Times New Roman"/>
              </a:rPr>
              <a:t>shareholders</a:t>
            </a:r>
            <a:r>
              <a:rPr sz="1000" spc="215">
                <a:latin typeface="Times New Roman"/>
                <a:cs typeface="Times New Roman"/>
              </a:rPr>
              <a:t> </a:t>
            </a:r>
            <a:r>
              <a:rPr sz="1000">
                <a:latin typeface="Times New Roman"/>
                <a:cs typeface="Times New Roman"/>
              </a:rPr>
              <a:t>may</a:t>
            </a:r>
            <a:r>
              <a:rPr sz="1000" spc="200">
                <a:latin typeface="Times New Roman"/>
                <a:cs typeface="Times New Roman"/>
              </a:rPr>
              <a:t> </a:t>
            </a:r>
            <a:r>
              <a:rPr sz="1000">
                <a:latin typeface="Times New Roman"/>
                <a:cs typeface="Times New Roman"/>
              </a:rPr>
              <a:t>differ</a:t>
            </a:r>
            <a:endParaRPr/>
          </a:p>
          <a:p>
            <a:pPr marL="12700" algn="just">
              <a:lnSpc>
                <a:spcPts val="1155"/>
              </a:lnSpc>
            </a:pPr>
            <a:r>
              <a:rPr sz="1000">
                <a:latin typeface="Times New Roman"/>
                <a:cs typeface="Times New Roman"/>
              </a:rPr>
              <a:t>significantly,</a:t>
            </a:r>
            <a:r>
              <a:rPr sz="1000" spc="185">
                <a:latin typeface="Times New Roman"/>
                <a:cs typeface="Times New Roman"/>
              </a:rPr>
              <a:t> </a:t>
            </a:r>
            <a:r>
              <a:rPr sz="1000">
                <a:latin typeface="Times New Roman"/>
                <a:cs typeface="Times New Roman"/>
              </a:rPr>
              <a:t>and</a:t>
            </a:r>
            <a:r>
              <a:rPr sz="1000" spc="190">
                <a:latin typeface="Times New Roman"/>
                <a:cs typeface="Times New Roman"/>
              </a:rPr>
              <a:t> </a:t>
            </a:r>
            <a:r>
              <a:rPr sz="1000">
                <a:latin typeface="Times New Roman"/>
                <a:cs typeface="Times New Roman"/>
              </a:rPr>
              <a:t>dividend</a:t>
            </a:r>
            <a:r>
              <a:rPr sz="1000" spc="190">
                <a:latin typeface="Times New Roman"/>
                <a:cs typeface="Times New Roman"/>
              </a:rPr>
              <a:t> </a:t>
            </a:r>
            <a:r>
              <a:rPr sz="1000">
                <a:latin typeface="Times New Roman"/>
                <a:cs typeface="Times New Roman"/>
              </a:rPr>
              <a:t>payout</a:t>
            </a:r>
            <a:r>
              <a:rPr sz="1000" spc="180">
                <a:latin typeface="Times New Roman"/>
                <a:cs typeface="Times New Roman"/>
              </a:rPr>
              <a:t> </a:t>
            </a:r>
            <a:r>
              <a:rPr sz="1000">
                <a:latin typeface="Times New Roman"/>
                <a:cs typeface="Times New Roman"/>
              </a:rPr>
              <a:t>(so</a:t>
            </a:r>
            <a:r>
              <a:rPr sz="1000" spc="185">
                <a:latin typeface="Times New Roman"/>
                <a:cs typeface="Times New Roman"/>
              </a:rPr>
              <a:t> </a:t>
            </a:r>
            <a:r>
              <a:rPr sz="1000">
                <a:latin typeface="Times New Roman"/>
                <a:cs typeface="Times New Roman"/>
              </a:rPr>
              <a:t>expected</a:t>
            </a:r>
            <a:r>
              <a:rPr sz="1000" spc="185">
                <a:latin typeface="Times New Roman"/>
                <a:cs typeface="Times New Roman"/>
              </a:rPr>
              <a:t> </a:t>
            </a:r>
            <a:r>
              <a:rPr sz="1000">
                <a:latin typeface="Times New Roman"/>
                <a:cs typeface="Times New Roman"/>
              </a:rPr>
              <a:t>by</a:t>
            </a:r>
            <a:r>
              <a:rPr sz="1000" spc="16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owners</a:t>
            </a:r>
            <a:r>
              <a:rPr sz="1000" spc="180">
                <a:latin typeface="Times New Roman"/>
                <a:cs typeface="Times New Roman"/>
              </a:rPr>
              <a:t> </a:t>
            </a:r>
            <a:r>
              <a:rPr sz="1000">
                <a:latin typeface="Times New Roman"/>
                <a:cs typeface="Times New Roman"/>
              </a:rPr>
              <a:t>of</a:t>
            </a:r>
            <a:r>
              <a:rPr sz="1000" spc="175">
                <a:latin typeface="Times New Roman"/>
                <a:cs typeface="Times New Roman"/>
              </a:rPr>
              <a:t> </a:t>
            </a:r>
            <a:r>
              <a:rPr sz="1000">
                <a:latin typeface="Times New Roman"/>
                <a:cs typeface="Times New Roman"/>
              </a:rPr>
              <a:t>the</a:t>
            </a:r>
            <a:r>
              <a:rPr sz="1000" spc="185">
                <a:latin typeface="Times New Roman"/>
                <a:cs typeface="Times New Roman"/>
              </a:rPr>
              <a:t> </a:t>
            </a:r>
            <a:r>
              <a:rPr sz="1000">
                <a:latin typeface="Times New Roman"/>
                <a:cs typeface="Times New Roman"/>
              </a:rPr>
              <a:t>company)</a:t>
            </a:r>
            <a:r>
              <a:rPr sz="1000" spc="195">
                <a:latin typeface="Times New Roman"/>
                <a:cs typeface="Times New Roman"/>
              </a:rPr>
              <a:t> </a:t>
            </a:r>
            <a:r>
              <a:rPr sz="1000">
                <a:latin typeface="Times New Roman"/>
                <a:cs typeface="Times New Roman"/>
              </a:rPr>
              <a:t>may</a:t>
            </a:r>
            <a:r>
              <a:rPr sz="1000" spc="175">
                <a:latin typeface="Times New Roman"/>
                <a:cs typeface="Times New Roman"/>
              </a:rPr>
              <a:t> </a:t>
            </a:r>
            <a:r>
              <a:rPr sz="1000">
                <a:latin typeface="Times New Roman"/>
                <a:cs typeface="Times New Roman"/>
              </a:rPr>
              <a:t>be</a:t>
            </a:r>
            <a:r>
              <a:rPr sz="1000" spc="185">
                <a:latin typeface="Times New Roman"/>
                <a:cs typeface="Times New Roman"/>
              </a:rPr>
              <a:t> </a:t>
            </a:r>
            <a:r>
              <a:rPr sz="1000">
                <a:latin typeface="Times New Roman"/>
                <a:cs typeface="Times New Roman"/>
              </a:rPr>
              <a:t>perceived</a:t>
            </a:r>
            <a:r>
              <a:rPr sz="1000" spc="190">
                <a:latin typeface="Times New Roman"/>
                <a:cs typeface="Times New Roman"/>
              </a:rPr>
              <a:t> </a:t>
            </a:r>
            <a:r>
              <a:rPr sz="1000">
                <a:latin typeface="Times New Roman"/>
                <a:cs typeface="Times New Roman"/>
              </a:rPr>
              <a:t>by</a:t>
            </a:r>
            <a:r>
              <a:rPr sz="1000" spc="165">
                <a:latin typeface="Times New Roman"/>
                <a:cs typeface="Times New Roman"/>
              </a:rPr>
              <a:t> </a:t>
            </a:r>
            <a:r>
              <a:rPr sz="1000">
                <a:latin typeface="Times New Roman"/>
                <a:cs typeface="Times New Roman"/>
              </a:rPr>
              <a:t>the</a:t>
            </a:r>
            <a:r>
              <a:rPr sz="1000" spc="195">
                <a:latin typeface="Times New Roman"/>
                <a:cs typeface="Times New Roman"/>
              </a:rPr>
              <a:t> </a:t>
            </a:r>
            <a:r>
              <a:rPr sz="1000">
                <a:latin typeface="Times New Roman"/>
                <a:cs typeface="Times New Roman"/>
              </a:rPr>
              <a:t>manager</a:t>
            </a:r>
            <a:r>
              <a:rPr sz="1000" spc="185">
                <a:latin typeface="Times New Roman"/>
                <a:cs typeface="Times New Roman"/>
              </a:rPr>
              <a:t> </a:t>
            </a:r>
            <a:r>
              <a:rPr sz="1000">
                <a:latin typeface="Times New Roman"/>
                <a:cs typeface="Times New Roman"/>
              </a:rPr>
              <a:t>as</a:t>
            </a:r>
            <a:r>
              <a:rPr sz="1000" spc="180">
                <a:latin typeface="Times New Roman"/>
                <a:cs typeface="Times New Roman"/>
              </a:rPr>
              <a:t> </a:t>
            </a:r>
            <a:r>
              <a:rPr sz="1000">
                <a:latin typeface="Times New Roman"/>
                <a:cs typeface="Times New Roman"/>
              </a:rPr>
              <a:t>an</a:t>
            </a:r>
            <a:endParaRPr/>
          </a:p>
        </p:txBody>
      </p:sp>
      <p:sp>
        <p:nvSpPr>
          <p:cNvPr id="21" name="shape 21"/>
          <p:cNvSpPr txBox="1"/>
          <p:nvPr/>
        </p:nvSpPr>
        <p:spPr>
          <a:xfrm>
            <a:off x="528320" y="9993884"/>
            <a:ext cx="153671" cy="152400"/>
          </a:xfrm>
          <a:prstGeom prst="rect"/>
          <a:noFill/>
        </p:spPr>
        <p:txBody>
          <a:bodyPr vertOverflow="overflow" horzOverflow="overflow" numCol="1" wrap="square" lIns="0" tIns="0" rIns="0" bIns="0">
            <a:spAutoFit/>
          </a:bodyPr>
          <a:p>
            <a:pPr marL="12700"/>
            <a:r>
              <a:rPr sz="1000" i="1" spc="5">
                <a:latin typeface="Times New Roman"/>
                <a:cs typeface="Times New Roman"/>
              </a:rPr>
              <a:t>10</a:t>
            </a:r>
            <a:endParaRPr/>
          </a:p>
        </p:txBody>
      </p:sp>
      <p:grpSp>
        <p:nvGrpSpPr>
          <p:cNvPr id="22" name="shape 22"/>
          <p:cNvGrpSpPr/>
          <p:nvPr/>
        </p:nvGrpSpPr>
        <p:grpSpPr>
          <a:xfrm>
            <a:off x="2818511" y="1777238"/>
            <a:ext cx="3159887" cy="6096"/>
            <a:chOff x="0" y="0"/>
            <a:chExt cx="3159887" cy="6096"/>
          </a:xfrm>
        </p:grpSpPr>
        <p:sp>
          <p:nvSpPr>
            <p:cNvPr id="23" name="shape 23"/>
            <p:cNvSpPr/>
            <p:nvPr/>
          </p:nvSpPr>
          <p:spPr>
            <a:xfrm>
              <a:off x="0" y="0"/>
              <a:ext cx="6096" cy="6096"/>
            </a:xfrm>
            <a:prstGeom prst="rect">
              <a:avLst/>
            </a:prstGeom>
            <a:solidFill>
              <a:srgbClr val="000000"/>
            </a:solidFill>
          </p:spPr>
        </p:sp>
        <p:sp>
          <p:nvSpPr>
            <p:cNvPr id="24" name="shape 24"/>
            <p:cNvSpPr/>
            <p:nvPr/>
          </p:nvSpPr>
          <p:spPr>
            <a:xfrm>
              <a:off x="6096" y="0"/>
              <a:ext cx="1044245" cy="6096"/>
            </a:xfrm>
            <a:prstGeom prst="rect">
              <a:avLst/>
            </a:prstGeom>
            <a:solidFill>
              <a:srgbClr val="000000"/>
            </a:solidFill>
          </p:spPr>
        </p:sp>
        <p:sp>
          <p:nvSpPr>
            <p:cNvPr id="25" name="shape 25"/>
            <p:cNvSpPr/>
            <p:nvPr/>
          </p:nvSpPr>
          <p:spPr>
            <a:xfrm>
              <a:off x="1050290" y="0"/>
              <a:ext cx="6097" cy="6096"/>
            </a:xfrm>
            <a:prstGeom prst="rect">
              <a:avLst/>
            </a:prstGeom>
            <a:solidFill>
              <a:srgbClr val="000000"/>
            </a:solidFill>
          </p:spPr>
        </p:sp>
        <p:sp>
          <p:nvSpPr>
            <p:cNvPr id="26" name="shape 26"/>
            <p:cNvSpPr/>
            <p:nvPr/>
          </p:nvSpPr>
          <p:spPr>
            <a:xfrm>
              <a:off x="1056386" y="0"/>
              <a:ext cx="1045769" cy="6096"/>
            </a:xfrm>
            <a:prstGeom prst="rect">
              <a:avLst/>
            </a:prstGeom>
            <a:solidFill>
              <a:srgbClr val="000000"/>
            </a:solidFill>
          </p:spPr>
        </p:sp>
        <p:sp>
          <p:nvSpPr>
            <p:cNvPr id="27" name="shape 27"/>
            <p:cNvSpPr/>
            <p:nvPr/>
          </p:nvSpPr>
          <p:spPr>
            <a:xfrm>
              <a:off x="2102231" y="0"/>
              <a:ext cx="6097" cy="6096"/>
            </a:xfrm>
            <a:prstGeom prst="rect">
              <a:avLst/>
            </a:prstGeom>
            <a:solidFill>
              <a:srgbClr val="000000"/>
            </a:solidFill>
          </p:spPr>
        </p:sp>
        <p:sp>
          <p:nvSpPr>
            <p:cNvPr id="28" name="shape 28"/>
            <p:cNvSpPr/>
            <p:nvPr/>
          </p:nvSpPr>
          <p:spPr>
            <a:xfrm>
              <a:off x="2108327" y="0"/>
              <a:ext cx="1045465" cy="6096"/>
            </a:xfrm>
            <a:prstGeom prst="rect">
              <a:avLst/>
            </a:prstGeom>
            <a:solidFill>
              <a:srgbClr val="000000"/>
            </a:solidFill>
          </p:spPr>
        </p:sp>
        <p:sp>
          <p:nvSpPr>
            <p:cNvPr id="29" name="shape 29"/>
            <p:cNvSpPr/>
            <p:nvPr/>
          </p:nvSpPr>
          <p:spPr>
            <a:xfrm>
              <a:off x="3153791" y="0"/>
              <a:ext cx="6096" cy="6096"/>
            </a:xfrm>
            <a:prstGeom prst="rect">
              <a:avLst/>
            </a:prstGeom>
            <a:solidFill>
              <a:srgbClr val="000000"/>
            </a:solidFill>
          </p:spPr>
        </p:sp>
      </p:grpSp>
      <p:grpSp>
        <p:nvGrpSpPr>
          <p:cNvPr id="30" name="shape 30"/>
          <p:cNvGrpSpPr/>
          <p:nvPr/>
        </p:nvGrpSpPr>
        <p:grpSpPr>
          <a:xfrm>
            <a:off x="2818511" y="1929638"/>
            <a:ext cx="3159887" cy="6096"/>
            <a:chOff x="0" y="0"/>
            <a:chExt cx="3159887" cy="6096"/>
          </a:xfrm>
        </p:grpSpPr>
        <p:sp>
          <p:nvSpPr>
            <p:cNvPr id="31" name="shape 31"/>
            <p:cNvSpPr/>
            <p:nvPr/>
          </p:nvSpPr>
          <p:spPr>
            <a:xfrm>
              <a:off x="0" y="0"/>
              <a:ext cx="6096" cy="6096"/>
            </a:xfrm>
            <a:prstGeom prst="rect">
              <a:avLst/>
            </a:prstGeom>
            <a:solidFill>
              <a:srgbClr val="000000"/>
            </a:solidFill>
          </p:spPr>
        </p:sp>
        <p:sp>
          <p:nvSpPr>
            <p:cNvPr id="32" name="shape 32"/>
            <p:cNvSpPr/>
            <p:nvPr/>
          </p:nvSpPr>
          <p:spPr>
            <a:xfrm>
              <a:off x="6096" y="0"/>
              <a:ext cx="1044245" cy="6096"/>
            </a:xfrm>
            <a:prstGeom prst="rect">
              <a:avLst/>
            </a:prstGeom>
            <a:solidFill>
              <a:srgbClr val="000000"/>
            </a:solidFill>
          </p:spPr>
        </p:sp>
        <p:sp>
          <p:nvSpPr>
            <p:cNvPr id="33" name="shape 33"/>
            <p:cNvSpPr/>
            <p:nvPr/>
          </p:nvSpPr>
          <p:spPr>
            <a:xfrm>
              <a:off x="1050290" y="0"/>
              <a:ext cx="6097" cy="6096"/>
            </a:xfrm>
            <a:prstGeom prst="rect">
              <a:avLst/>
            </a:prstGeom>
            <a:solidFill>
              <a:srgbClr val="000000"/>
            </a:solidFill>
          </p:spPr>
        </p:sp>
        <p:sp>
          <p:nvSpPr>
            <p:cNvPr id="34" name="shape 34"/>
            <p:cNvSpPr/>
            <p:nvPr/>
          </p:nvSpPr>
          <p:spPr>
            <a:xfrm>
              <a:off x="1056386" y="0"/>
              <a:ext cx="1045769" cy="6096"/>
            </a:xfrm>
            <a:prstGeom prst="rect">
              <a:avLst/>
            </a:prstGeom>
            <a:solidFill>
              <a:srgbClr val="000000"/>
            </a:solidFill>
          </p:spPr>
        </p:sp>
        <p:sp>
          <p:nvSpPr>
            <p:cNvPr id="35" name="shape 35"/>
            <p:cNvSpPr/>
            <p:nvPr/>
          </p:nvSpPr>
          <p:spPr>
            <a:xfrm>
              <a:off x="2102231" y="0"/>
              <a:ext cx="6097" cy="6096"/>
            </a:xfrm>
            <a:prstGeom prst="rect">
              <a:avLst/>
            </a:prstGeom>
            <a:solidFill>
              <a:srgbClr val="000000"/>
            </a:solidFill>
          </p:spPr>
        </p:sp>
        <p:sp>
          <p:nvSpPr>
            <p:cNvPr id="36" name="shape 36"/>
            <p:cNvSpPr/>
            <p:nvPr/>
          </p:nvSpPr>
          <p:spPr>
            <a:xfrm>
              <a:off x="2108327" y="0"/>
              <a:ext cx="1045465" cy="6096"/>
            </a:xfrm>
            <a:prstGeom prst="rect">
              <a:avLst/>
            </a:prstGeom>
            <a:solidFill>
              <a:srgbClr val="000000"/>
            </a:solidFill>
          </p:spPr>
        </p:sp>
        <p:sp>
          <p:nvSpPr>
            <p:cNvPr id="37" name="shape 37"/>
            <p:cNvSpPr/>
            <p:nvPr/>
          </p:nvSpPr>
          <p:spPr>
            <a:xfrm>
              <a:off x="3153791" y="0"/>
              <a:ext cx="6096" cy="6096"/>
            </a:xfrm>
            <a:prstGeom prst="rect">
              <a:avLst/>
            </a:prstGeom>
            <a:solidFill>
              <a:srgbClr val="000000"/>
            </a:solidFill>
          </p:spPr>
        </p:sp>
      </p:grpSp>
      <p:grpSp>
        <p:nvGrpSpPr>
          <p:cNvPr id="38" name="shape 38"/>
          <p:cNvGrpSpPr/>
          <p:nvPr/>
        </p:nvGrpSpPr>
        <p:grpSpPr>
          <a:xfrm>
            <a:off x="2818511" y="2082038"/>
            <a:ext cx="3159887" cy="6096"/>
            <a:chOff x="0" y="0"/>
            <a:chExt cx="3159887" cy="6096"/>
          </a:xfrm>
        </p:grpSpPr>
        <p:sp>
          <p:nvSpPr>
            <p:cNvPr id="39" name="shape 39"/>
            <p:cNvSpPr/>
            <p:nvPr/>
          </p:nvSpPr>
          <p:spPr>
            <a:xfrm>
              <a:off x="0" y="0"/>
              <a:ext cx="6096" cy="6096"/>
            </a:xfrm>
            <a:prstGeom prst="rect">
              <a:avLst/>
            </a:prstGeom>
            <a:solidFill>
              <a:srgbClr val="000000"/>
            </a:solidFill>
          </p:spPr>
        </p:sp>
        <p:sp>
          <p:nvSpPr>
            <p:cNvPr id="40" name="shape 40"/>
            <p:cNvSpPr/>
            <p:nvPr/>
          </p:nvSpPr>
          <p:spPr>
            <a:xfrm>
              <a:off x="6096" y="0"/>
              <a:ext cx="1044245" cy="6096"/>
            </a:xfrm>
            <a:prstGeom prst="rect">
              <a:avLst/>
            </a:prstGeom>
            <a:solidFill>
              <a:srgbClr val="000000"/>
            </a:solidFill>
          </p:spPr>
        </p:sp>
        <p:sp>
          <p:nvSpPr>
            <p:cNvPr id="41" name="shape 41"/>
            <p:cNvSpPr/>
            <p:nvPr/>
          </p:nvSpPr>
          <p:spPr>
            <a:xfrm>
              <a:off x="1050290" y="0"/>
              <a:ext cx="6097" cy="6096"/>
            </a:xfrm>
            <a:prstGeom prst="rect">
              <a:avLst/>
            </a:prstGeom>
            <a:solidFill>
              <a:srgbClr val="000000"/>
            </a:solidFill>
          </p:spPr>
        </p:sp>
        <p:sp>
          <p:nvSpPr>
            <p:cNvPr id="42" name="shape 42"/>
            <p:cNvSpPr/>
            <p:nvPr/>
          </p:nvSpPr>
          <p:spPr>
            <a:xfrm>
              <a:off x="1056386" y="0"/>
              <a:ext cx="1045769" cy="6096"/>
            </a:xfrm>
            <a:prstGeom prst="rect">
              <a:avLst/>
            </a:prstGeom>
            <a:solidFill>
              <a:srgbClr val="000000"/>
            </a:solidFill>
          </p:spPr>
        </p:sp>
        <p:sp>
          <p:nvSpPr>
            <p:cNvPr id="43" name="shape 43"/>
            <p:cNvSpPr/>
            <p:nvPr/>
          </p:nvSpPr>
          <p:spPr>
            <a:xfrm>
              <a:off x="2102231" y="0"/>
              <a:ext cx="6097" cy="6096"/>
            </a:xfrm>
            <a:prstGeom prst="rect">
              <a:avLst/>
            </a:prstGeom>
            <a:solidFill>
              <a:srgbClr val="000000"/>
            </a:solidFill>
          </p:spPr>
        </p:sp>
        <p:sp>
          <p:nvSpPr>
            <p:cNvPr id="44" name="shape 44"/>
            <p:cNvSpPr/>
            <p:nvPr/>
          </p:nvSpPr>
          <p:spPr>
            <a:xfrm>
              <a:off x="2108327" y="0"/>
              <a:ext cx="1045465" cy="6096"/>
            </a:xfrm>
            <a:prstGeom prst="rect">
              <a:avLst/>
            </a:prstGeom>
            <a:solidFill>
              <a:srgbClr val="000000"/>
            </a:solidFill>
          </p:spPr>
        </p:sp>
        <p:sp>
          <p:nvSpPr>
            <p:cNvPr id="45" name="shape 45"/>
            <p:cNvSpPr/>
            <p:nvPr/>
          </p:nvSpPr>
          <p:spPr>
            <a:xfrm>
              <a:off x="3153791" y="0"/>
              <a:ext cx="6096" cy="6096"/>
            </a:xfrm>
            <a:prstGeom prst="rect">
              <a:avLst/>
            </a:prstGeom>
            <a:solidFill>
              <a:srgbClr val="000000"/>
            </a:solidFill>
          </p:spPr>
        </p:sp>
      </p:grpSp>
      <p:grpSp>
        <p:nvGrpSpPr>
          <p:cNvPr id="46" name="shape 46"/>
          <p:cNvGrpSpPr/>
          <p:nvPr/>
        </p:nvGrpSpPr>
        <p:grpSpPr>
          <a:xfrm>
            <a:off x="2818511" y="2234438"/>
            <a:ext cx="3159887" cy="6096"/>
            <a:chOff x="0" y="0"/>
            <a:chExt cx="3159887" cy="6096"/>
          </a:xfrm>
        </p:grpSpPr>
        <p:sp>
          <p:nvSpPr>
            <p:cNvPr id="47" name="shape 47"/>
            <p:cNvSpPr/>
            <p:nvPr/>
          </p:nvSpPr>
          <p:spPr>
            <a:xfrm>
              <a:off x="0" y="0"/>
              <a:ext cx="6096" cy="6096"/>
            </a:xfrm>
            <a:prstGeom prst="rect">
              <a:avLst/>
            </a:prstGeom>
            <a:solidFill>
              <a:srgbClr val="000000"/>
            </a:solidFill>
          </p:spPr>
        </p:sp>
        <p:sp>
          <p:nvSpPr>
            <p:cNvPr id="48" name="shape 48"/>
            <p:cNvSpPr/>
            <p:nvPr/>
          </p:nvSpPr>
          <p:spPr>
            <a:xfrm>
              <a:off x="6096" y="0"/>
              <a:ext cx="1044245" cy="6096"/>
            </a:xfrm>
            <a:prstGeom prst="rect">
              <a:avLst/>
            </a:prstGeom>
            <a:solidFill>
              <a:srgbClr val="000000"/>
            </a:solidFill>
          </p:spPr>
        </p:sp>
        <p:sp>
          <p:nvSpPr>
            <p:cNvPr id="49" name="shape 49"/>
            <p:cNvSpPr/>
            <p:nvPr/>
          </p:nvSpPr>
          <p:spPr>
            <a:xfrm>
              <a:off x="1050290" y="0"/>
              <a:ext cx="6097" cy="6096"/>
            </a:xfrm>
            <a:prstGeom prst="rect">
              <a:avLst/>
            </a:prstGeom>
            <a:solidFill>
              <a:srgbClr val="000000"/>
            </a:solidFill>
          </p:spPr>
        </p:sp>
        <p:sp>
          <p:nvSpPr>
            <p:cNvPr id="50" name="shape 50"/>
            <p:cNvSpPr/>
            <p:nvPr/>
          </p:nvSpPr>
          <p:spPr>
            <a:xfrm>
              <a:off x="1056386" y="0"/>
              <a:ext cx="1045769" cy="6096"/>
            </a:xfrm>
            <a:prstGeom prst="rect">
              <a:avLst/>
            </a:prstGeom>
            <a:solidFill>
              <a:srgbClr val="000000"/>
            </a:solidFill>
          </p:spPr>
        </p:sp>
        <p:sp>
          <p:nvSpPr>
            <p:cNvPr id="51" name="shape 51"/>
            <p:cNvSpPr/>
            <p:nvPr/>
          </p:nvSpPr>
          <p:spPr>
            <a:xfrm>
              <a:off x="2102231" y="0"/>
              <a:ext cx="6097" cy="6096"/>
            </a:xfrm>
            <a:prstGeom prst="rect">
              <a:avLst/>
            </a:prstGeom>
            <a:solidFill>
              <a:srgbClr val="000000"/>
            </a:solidFill>
          </p:spPr>
        </p:sp>
        <p:sp>
          <p:nvSpPr>
            <p:cNvPr id="52" name="shape 52"/>
            <p:cNvSpPr/>
            <p:nvPr/>
          </p:nvSpPr>
          <p:spPr>
            <a:xfrm>
              <a:off x="2108327" y="0"/>
              <a:ext cx="1045465" cy="6096"/>
            </a:xfrm>
            <a:prstGeom prst="rect">
              <a:avLst/>
            </a:prstGeom>
            <a:solidFill>
              <a:srgbClr val="000000"/>
            </a:solidFill>
          </p:spPr>
        </p:sp>
        <p:sp>
          <p:nvSpPr>
            <p:cNvPr id="53" name="shape 53"/>
            <p:cNvSpPr/>
            <p:nvPr/>
          </p:nvSpPr>
          <p:spPr>
            <a:xfrm>
              <a:off x="3153791" y="0"/>
              <a:ext cx="6096" cy="6096"/>
            </a:xfrm>
            <a:prstGeom prst="rect">
              <a:avLst/>
            </a:prstGeom>
            <a:solidFill>
              <a:srgbClr val="000000"/>
            </a:solidFill>
          </p:spPr>
        </p:sp>
      </p:grpSp>
      <p:grpSp>
        <p:nvGrpSpPr>
          <p:cNvPr id="54" name="shape 54"/>
          <p:cNvGrpSpPr/>
          <p:nvPr/>
        </p:nvGrpSpPr>
        <p:grpSpPr>
          <a:xfrm>
            <a:off x="2818511" y="2386838"/>
            <a:ext cx="3159887" cy="6096"/>
            <a:chOff x="0" y="0"/>
            <a:chExt cx="3159887" cy="6096"/>
          </a:xfrm>
        </p:grpSpPr>
        <p:sp>
          <p:nvSpPr>
            <p:cNvPr id="55" name="shape 55"/>
            <p:cNvSpPr/>
            <p:nvPr/>
          </p:nvSpPr>
          <p:spPr>
            <a:xfrm>
              <a:off x="0" y="0"/>
              <a:ext cx="6096" cy="6096"/>
            </a:xfrm>
            <a:prstGeom prst="rect">
              <a:avLst/>
            </a:prstGeom>
            <a:solidFill>
              <a:srgbClr val="000000"/>
            </a:solidFill>
          </p:spPr>
        </p:sp>
        <p:sp>
          <p:nvSpPr>
            <p:cNvPr id="56" name="shape 56"/>
            <p:cNvSpPr/>
            <p:nvPr/>
          </p:nvSpPr>
          <p:spPr>
            <a:xfrm>
              <a:off x="6096" y="0"/>
              <a:ext cx="1044245" cy="6096"/>
            </a:xfrm>
            <a:prstGeom prst="rect">
              <a:avLst/>
            </a:prstGeom>
            <a:solidFill>
              <a:srgbClr val="000000"/>
            </a:solidFill>
          </p:spPr>
        </p:sp>
        <p:sp>
          <p:nvSpPr>
            <p:cNvPr id="57" name="shape 57"/>
            <p:cNvSpPr/>
            <p:nvPr/>
          </p:nvSpPr>
          <p:spPr>
            <a:xfrm>
              <a:off x="1050290" y="0"/>
              <a:ext cx="6097" cy="6096"/>
            </a:xfrm>
            <a:prstGeom prst="rect">
              <a:avLst/>
            </a:prstGeom>
            <a:solidFill>
              <a:srgbClr val="000000"/>
            </a:solidFill>
          </p:spPr>
        </p:sp>
        <p:sp>
          <p:nvSpPr>
            <p:cNvPr id="58" name="shape 58"/>
            <p:cNvSpPr/>
            <p:nvPr/>
          </p:nvSpPr>
          <p:spPr>
            <a:xfrm>
              <a:off x="1056386" y="0"/>
              <a:ext cx="1045769" cy="6096"/>
            </a:xfrm>
            <a:prstGeom prst="rect">
              <a:avLst/>
            </a:prstGeom>
            <a:solidFill>
              <a:srgbClr val="000000"/>
            </a:solidFill>
          </p:spPr>
        </p:sp>
        <p:sp>
          <p:nvSpPr>
            <p:cNvPr id="59" name="shape 59"/>
            <p:cNvSpPr/>
            <p:nvPr/>
          </p:nvSpPr>
          <p:spPr>
            <a:xfrm>
              <a:off x="2102231" y="0"/>
              <a:ext cx="6097" cy="6096"/>
            </a:xfrm>
            <a:prstGeom prst="rect">
              <a:avLst/>
            </a:prstGeom>
            <a:solidFill>
              <a:srgbClr val="000000"/>
            </a:solidFill>
          </p:spPr>
        </p:sp>
        <p:sp>
          <p:nvSpPr>
            <p:cNvPr id="60" name="shape 60"/>
            <p:cNvSpPr/>
            <p:nvPr/>
          </p:nvSpPr>
          <p:spPr>
            <a:xfrm>
              <a:off x="2108327" y="0"/>
              <a:ext cx="1045465" cy="6096"/>
            </a:xfrm>
            <a:prstGeom prst="rect">
              <a:avLst/>
            </a:prstGeom>
            <a:solidFill>
              <a:srgbClr val="000000"/>
            </a:solidFill>
          </p:spPr>
        </p:sp>
        <p:sp>
          <p:nvSpPr>
            <p:cNvPr id="61" name="shape 61"/>
            <p:cNvSpPr/>
            <p:nvPr/>
          </p:nvSpPr>
          <p:spPr>
            <a:xfrm>
              <a:off x="3153791" y="0"/>
              <a:ext cx="6096" cy="6096"/>
            </a:xfrm>
            <a:prstGeom prst="rect">
              <a:avLst/>
            </a:prstGeom>
            <a:solidFill>
              <a:srgbClr val="000000"/>
            </a:solidFill>
          </p:spPr>
        </p:sp>
      </p:grpSp>
      <p:grpSp>
        <p:nvGrpSpPr>
          <p:cNvPr id="62" name="shape 62"/>
          <p:cNvGrpSpPr/>
          <p:nvPr/>
        </p:nvGrpSpPr>
        <p:grpSpPr>
          <a:xfrm>
            <a:off x="2818511" y="2539238"/>
            <a:ext cx="3159887" cy="6096"/>
            <a:chOff x="0" y="0"/>
            <a:chExt cx="3159887" cy="6096"/>
          </a:xfrm>
        </p:grpSpPr>
        <p:sp>
          <p:nvSpPr>
            <p:cNvPr id="63" name="shape 63"/>
            <p:cNvSpPr/>
            <p:nvPr/>
          </p:nvSpPr>
          <p:spPr>
            <a:xfrm>
              <a:off x="0" y="0"/>
              <a:ext cx="6096" cy="6096"/>
            </a:xfrm>
            <a:prstGeom prst="rect">
              <a:avLst/>
            </a:prstGeom>
            <a:solidFill>
              <a:srgbClr val="000000"/>
            </a:solidFill>
          </p:spPr>
        </p:sp>
        <p:sp>
          <p:nvSpPr>
            <p:cNvPr id="64" name="shape 64"/>
            <p:cNvSpPr/>
            <p:nvPr/>
          </p:nvSpPr>
          <p:spPr>
            <a:xfrm>
              <a:off x="6096" y="0"/>
              <a:ext cx="1044245" cy="6096"/>
            </a:xfrm>
            <a:prstGeom prst="rect">
              <a:avLst/>
            </a:prstGeom>
            <a:solidFill>
              <a:srgbClr val="000000"/>
            </a:solidFill>
          </p:spPr>
        </p:sp>
        <p:sp>
          <p:nvSpPr>
            <p:cNvPr id="65" name="shape 65"/>
            <p:cNvSpPr/>
            <p:nvPr/>
          </p:nvSpPr>
          <p:spPr>
            <a:xfrm>
              <a:off x="1050290" y="0"/>
              <a:ext cx="6097" cy="6096"/>
            </a:xfrm>
            <a:prstGeom prst="rect">
              <a:avLst/>
            </a:prstGeom>
            <a:solidFill>
              <a:srgbClr val="000000"/>
            </a:solidFill>
          </p:spPr>
        </p:sp>
        <p:sp>
          <p:nvSpPr>
            <p:cNvPr id="66" name="shape 66"/>
            <p:cNvSpPr/>
            <p:nvPr/>
          </p:nvSpPr>
          <p:spPr>
            <a:xfrm>
              <a:off x="1056386" y="0"/>
              <a:ext cx="1045769" cy="6096"/>
            </a:xfrm>
            <a:prstGeom prst="rect">
              <a:avLst/>
            </a:prstGeom>
            <a:solidFill>
              <a:srgbClr val="000000"/>
            </a:solidFill>
          </p:spPr>
        </p:sp>
        <p:sp>
          <p:nvSpPr>
            <p:cNvPr id="67" name="shape 67"/>
            <p:cNvSpPr/>
            <p:nvPr/>
          </p:nvSpPr>
          <p:spPr>
            <a:xfrm>
              <a:off x="2102231" y="0"/>
              <a:ext cx="6097" cy="6096"/>
            </a:xfrm>
            <a:prstGeom prst="rect">
              <a:avLst/>
            </a:prstGeom>
            <a:solidFill>
              <a:srgbClr val="000000"/>
            </a:solidFill>
          </p:spPr>
        </p:sp>
        <p:sp>
          <p:nvSpPr>
            <p:cNvPr id="68" name="shape 68"/>
            <p:cNvSpPr/>
            <p:nvPr/>
          </p:nvSpPr>
          <p:spPr>
            <a:xfrm>
              <a:off x="2108327" y="0"/>
              <a:ext cx="1045465" cy="6096"/>
            </a:xfrm>
            <a:prstGeom prst="rect">
              <a:avLst/>
            </a:prstGeom>
            <a:solidFill>
              <a:srgbClr val="000000"/>
            </a:solidFill>
          </p:spPr>
        </p:sp>
        <p:sp>
          <p:nvSpPr>
            <p:cNvPr id="69" name="shape 69"/>
            <p:cNvSpPr/>
            <p:nvPr/>
          </p:nvSpPr>
          <p:spPr>
            <a:xfrm>
              <a:off x="3153791" y="0"/>
              <a:ext cx="6096" cy="6096"/>
            </a:xfrm>
            <a:prstGeom prst="rect">
              <a:avLst/>
            </a:prstGeom>
            <a:solidFill>
              <a:srgbClr val="000000"/>
            </a:solidFill>
          </p:spPr>
        </p:sp>
      </p:grpSp>
      <p:grpSp>
        <p:nvGrpSpPr>
          <p:cNvPr id="70" name="shape 70"/>
          <p:cNvGrpSpPr/>
          <p:nvPr/>
        </p:nvGrpSpPr>
        <p:grpSpPr>
          <a:xfrm>
            <a:off x="2809367" y="2691638"/>
            <a:ext cx="3162935" cy="6096"/>
            <a:chOff x="0" y="0"/>
            <a:chExt cx="3162935" cy="6096"/>
          </a:xfrm>
        </p:grpSpPr>
        <p:sp>
          <p:nvSpPr>
            <p:cNvPr id="71" name="shape 71"/>
            <p:cNvSpPr/>
            <p:nvPr/>
          </p:nvSpPr>
          <p:spPr>
            <a:xfrm>
              <a:off x="0" y="0"/>
              <a:ext cx="6096" cy="6096"/>
            </a:xfrm>
            <a:prstGeom prst="rect">
              <a:avLst/>
            </a:prstGeom>
            <a:solidFill>
              <a:srgbClr val="000000"/>
            </a:solidFill>
          </p:spPr>
        </p:sp>
        <p:sp>
          <p:nvSpPr>
            <p:cNvPr id="72" name="shape 72"/>
            <p:cNvSpPr/>
            <p:nvPr/>
          </p:nvSpPr>
          <p:spPr>
            <a:xfrm>
              <a:off x="6096" y="0"/>
              <a:ext cx="1053389" cy="6096"/>
            </a:xfrm>
            <a:prstGeom prst="rect">
              <a:avLst/>
            </a:prstGeom>
            <a:solidFill>
              <a:srgbClr val="000000"/>
            </a:solidFill>
          </p:spPr>
        </p:sp>
        <p:sp>
          <p:nvSpPr>
            <p:cNvPr id="73" name="shape 73"/>
            <p:cNvSpPr/>
            <p:nvPr/>
          </p:nvSpPr>
          <p:spPr>
            <a:xfrm>
              <a:off x="1050290" y="0"/>
              <a:ext cx="6096" cy="6096"/>
            </a:xfrm>
            <a:prstGeom prst="rect">
              <a:avLst/>
            </a:prstGeom>
            <a:solidFill>
              <a:srgbClr val="000000"/>
            </a:solidFill>
          </p:spPr>
        </p:sp>
        <p:sp>
          <p:nvSpPr>
            <p:cNvPr id="74" name="shape 74"/>
            <p:cNvSpPr/>
            <p:nvPr/>
          </p:nvSpPr>
          <p:spPr>
            <a:xfrm>
              <a:off x="1056386" y="0"/>
              <a:ext cx="1054913" cy="6096"/>
            </a:xfrm>
            <a:prstGeom prst="rect">
              <a:avLst/>
            </a:prstGeom>
            <a:solidFill>
              <a:srgbClr val="000000"/>
            </a:solidFill>
          </p:spPr>
        </p:sp>
        <p:sp>
          <p:nvSpPr>
            <p:cNvPr id="75" name="shape 75"/>
            <p:cNvSpPr/>
            <p:nvPr/>
          </p:nvSpPr>
          <p:spPr>
            <a:xfrm>
              <a:off x="2102231" y="0"/>
              <a:ext cx="6097" cy="6096"/>
            </a:xfrm>
            <a:prstGeom prst="rect">
              <a:avLst/>
            </a:prstGeom>
            <a:solidFill>
              <a:srgbClr val="000000"/>
            </a:solidFill>
          </p:spPr>
        </p:sp>
        <p:sp>
          <p:nvSpPr>
            <p:cNvPr id="76" name="shape 76"/>
            <p:cNvSpPr/>
            <p:nvPr/>
          </p:nvSpPr>
          <p:spPr>
            <a:xfrm>
              <a:off x="2108327" y="0"/>
              <a:ext cx="1054609" cy="6096"/>
            </a:xfrm>
            <a:prstGeom prst="rect">
              <a:avLst/>
            </a:prstGeom>
            <a:solidFill>
              <a:srgbClr val="000000"/>
            </a:solidFill>
          </p:spPr>
        </p:sp>
        <p:sp>
          <p:nvSpPr>
            <p:cNvPr id="77" name="shape 77"/>
            <p:cNvSpPr/>
            <p:nvPr/>
          </p:nvSpPr>
          <p:spPr>
            <a:xfrm>
              <a:off x="3153791" y="0"/>
              <a:ext cx="6096" cy="6096"/>
            </a:xfrm>
            <a:prstGeom prst="rect">
              <a:avLst/>
            </a:prstGeom>
            <a:solidFill>
              <a:srgbClr val="000000"/>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sp>
        <p:nvSpPr>
          <p:cNvPr id="2" name="shape 2"/>
          <p:cNvSpPr/>
          <p:nvPr/>
        </p:nvSpPr>
        <p:spPr>
          <a:xfrm>
            <a:off x="541020" y="9264142"/>
            <a:ext cx="1829435" cy="9145"/>
          </a:xfrm>
          <a:prstGeom prst="rect">
            <a:avLst/>
          </a:prstGeom>
          <a:solidFill>
            <a:srgbClr val="000000"/>
          </a:solidFill>
        </p:spPr>
      </p:sp>
      <p:sp>
        <p:nvSpPr>
          <p:cNvPr id="3" name="shape 3"/>
          <p:cNvSpPr txBox="1"/>
          <p:nvPr/>
        </p:nvSpPr>
        <p:spPr>
          <a:xfrm>
            <a:off x="528320" y="528320"/>
            <a:ext cx="862966" cy="152400"/>
          </a:xfrm>
          <a:prstGeom prst="rect"/>
          <a:noFill/>
        </p:spPr>
        <p:txBody>
          <a:bodyPr vertOverflow="overflow" horzOverflow="overflow" numCol="1" wrap="square" lIns="0" tIns="0" rIns="0" bIns="0">
            <a:spAutoFit/>
          </a:bodyPr>
          <a:p>
            <a:pPr marL="12700"/>
            <a:r>
              <a:rPr sz="1000" i="1">
                <a:latin typeface="Times New Roman"/>
                <a:cs typeface="Times New Roman"/>
              </a:rPr>
              <a:t>ISSN 2707-9325</a:t>
            </a:r>
            <a:endParaRPr/>
          </a:p>
        </p:txBody>
      </p:sp>
      <p:sp>
        <p:nvSpPr>
          <p:cNvPr id="4" name="shape 4"/>
          <p:cNvSpPr txBox="1"/>
          <p:nvPr/>
        </p:nvSpPr>
        <p:spPr>
          <a:xfrm>
            <a:off x="528320" y="893064"/>
            <a:ext cx="6508115" cy="8126093"/>
          </a:xfrm>
          <a:prstGeom prst="rect"/>
          <a:noFill/>
        </p:spPr>
        <p:txBody>
          <a:bodyPr vertOverflow="overflow" horzOverflow="overflow" numCol="1" wrap="square" lIns="0" tIns="0" rIns="0" bIns="0">
            <a:spAutoFit/>
          </a:bodyPr>
          <a:p>
            <a:pPr marL="12700" marR="24765" algn="just">
              <a:lnSpc>
                <a:spcPct val="96012"/>
              </a:lnSpc>
            </a:pPr>
            <a:r>
              <a:rPr sz="1000">
                <a:latin typeface="Times New Roman"/>
                <a:cs typeface="Times New Roman"/>
              </a:rPr>
              <a:t>unnecessary transfer of net profit outside the company which indisposes the company to develop and grow using its equity. However, to confirm these assumptions, it will be necessary to conduct further research in this area in the future.</a:t>
            </a:r>
            <a:endParaRPr/>
          </a:p>
          <a:p>
            <a:pPr marL="192405" algn="just">
              <a:lnSpc>
                <a:spcPts val="1190"/>
              </a:lnSpc>
            </a:pPr>
            <a:r>
              <a:rPr sz="1000">
                <a:latin typeface="Times New Roman"/>
                <a:cs typeface="Times New Roman"/>
              </a:rPr>
              <a:t>Our</a:t>
            </a:r>
            <a:r>
              <a:rPr sz="1000" spc="125">
                <a:latin typeface="Times New Roman"/>
                <a:cs typeface="Times New Roman"/>
              </a:rPr>
              <a:t> </a:t>
            </a:r>
            <a:r>
              <a:rPr sz="1000">
                <a:latin typeface="Times New Roman"/>
                <a:cs typeface="Times New Roman"/>
              </a:rPr>
              <a:t>research</a:t>
            </a:r>
            <a:r>
              <a:rPr sz="1000" spc="130">
                <a:latin typeface="Times New Roman"/>
                <a:cs typeface="Times New Roman"/>
              </a:rPr>
              <a:t> </a:t>
            </a:r>
            <a:r>
              <a:rPr sz="1000">
                <a:latin typeface="Times New Roman"/>
                <a:cs typeface="Times New Roman"/>
              </a:rPr>
              <a:t>has</a:t>
            </a:r>
            <a:r>
              <a:rPr sz="1000" spc="130">
                <a:latin typeface="Times New Roman"/>
                <a:cs typeface="Times New Roman"/>
              </a:rPr>
              <a:t> </a:t>
            </a:r>
            <a:r>
              <a:rPr sz="1000">
                <a:latin typeface="Times New Roman"/>
                <a:cs typeface="Times New Roman"/>
              </a:rPr>
              <a:t>some</a:t>
            </a:r>
            <a:r>
              <a:rPr sz="1000" spc="125">
                <a:latin typeface="Times New Roman"/>
                <a:cs typeface="Times New Roman"/>
              </a:rPr>
              <a:t> </a:t>
            </a:r>
            <a:r>
              <a:rPr sz="1000">
                <a:latin typeface="Times New Roman"/>
                <a:cs typeface="Times New Roman"/>
              </a:rPr>
              <a:t>limitations:</a:t>
            </a:r>
            <a:r>
              <a:rPr sz="1000" spc="135">
                <a:latin typeface="Times New Roman"/>
                <a:cs typeface="Times New Roman"/>
              </a:rPr>
              <a:t> </a:t>
            </a:r>
            <a:r>
              <a:rPr sz="1000">
                <a:latin typeface="Times New Roman"/>
                <a:cs typeface="Times New Roman"/>
              </a:rPr>
              <a:t>a)</a:t>
            </a:r>
            <a:r>
              <a:rPr sz="1000" spc="130">
                <a:latin typeface="Times New Roman"/>
                <a:cs typeface="Times New Roman"/>
              </a:rPr>
              <a:t> </a:t>
            </a:r>
            <a:r>
              <a:rPr sz="1000">
                <a:latin typeface="Times New Roman"/>
                <a:cs typeface="Times New Roman"/>
              </a:rPr>
              <a:t>it</a:t>
            </a:r>
            <a:r>
              <a:rPr sz="1000" spc="125">
                <a:latin typeface="Times New Roman"/>
                <a:cs typeface="Times New Roman"/>
              </a:rPr>
              <a:t> </a:t>
            </a:r>
            <a:r>
              <a:rPr sz="1000">
                <a:latin typeface="Times New Roman"/>
                <a:cs typeface="Times New Roman"/>
              </a:rPr>
              <a:t>applies</a:t>
            </a:r>
            <a:r>
              <a:rPr sz="1000" spc="120">
                <a:latin typeface="Times New Roman"/>
                <a:cs typeface="Times New Roman"/>
              </a:rPr>
              <a:t> </a:t>
            </a:r>
            <a:r>
              <a:rPr sz="1000">
                <a:latin typeface="Times New Roman"/>
                <a:cs typeface="Times New Roman"/>
              </a:rPr>
              <a:t>only</a:t>
            </a:r>
            <a:r>
              <a:rPr sz="1000" spc="104">
                <a:latin typeface="Times New Roman"/>
                <a:cs typeface="Times New Roman"/>
              </a:rPr>
              <a:t> </a:t>
            </a:r>
            <a:r>
              <a:rPr sz="1000">
                <a:latin typeface="Times New Roman"/>
                <a:cs typeface="Times New Roman"/>
              </a:rPr>
              <a:t>to</a:t>
            </a:r>
            <a:r>
              <a:rPr sz="1000" spc="125">
                <a:latin typeface="Times New Roman"/>
                <a:cs typeface="Times New Roman"/>
              </a:rPr>
              <a:t> </a:t>
            </a:r>
            <a:r>
              <a:rPr sz="1000">
                <a:latin typeface="Times New Roman"/>
                <a:cs typeface="Times New Roman"/>
              </a:rPr>
              <a:t>Polish</a:t>
            </a:r>
            <a:r>
              <a:rPr sz="1000" spc="125">
                <a:latin typeface="Times New Roman"/>
                <a:cs typeface="Times New Roman"/>
              </a:rPr>
              <a:t> </a:t>
            </a:r>
            <a:r>
              <a:rPr sz="1000">
                <a:latin typeface="Times New Roman"/>
                <a:cs typeface="Times New Roman"/>
              </a:rPr>
              <a:t>listed</a:t>
            </a:r>
            <a:r>
              <a:rPr sz="1000" spc="125">
                <a:latin typeface="Times New Roman"/>
                <a:cs typeface="Times New Roman"/>
              </a:rPr>
              <a:t> </a:t>
            </a:r>
            <a:r>
              <a:rPr sz="1000">
                <a:latin typeface="Times New Roman"/>
                <a:cs typeface="Times New Roman"/>
              </a:rPr>
              <a:t>companies</a:t>
            </a:r>
            <a:r>
              <a:rPr sz="1000" spc="120">
                <a:latin typeface="Times New Roman"/>
                <a:cs typeface="Times New Roman"/>
              </a:rPr>
              <a:t> </a:t>
            </a:r>
            <a:r>
              <a:rPr sz="1000">
                <a:latin typeface="Times New Roman"/>
                <a:cs typeface="Times New Roman"/>
              </a:rPr>
              <a:t>that</a:t>
            </a:r>
            <a:r>
              <a:rPr sz="1000" spc="120">
                <a:latin typeface="Times New Roman"/>
                <a:cs typeface="Times New Roman"/>
              </a:rPr>
              <a:t> </a:t>
            </a:r>
            <a:r>
              <a:rPr sz="1000">
                <a:latin typeface="Times New Roman"/>
                <a:cs typeface="Times New Roman"/>
              </a:rPr>
              <a:t>regularly</a:t>
            </a:r>
            <a:r>
              <a:rPr sz="1000" spc="104">
                <a:latin typeface="Times New Roman"/>
                <a:cs typeface="Times New Roman"/>
              </a:rPr>
              <a:t> </a:t>
            </a:r>
            <a:r>
              <a:rPr sz="1000">
                <a:latin typeface="Times New Roman"/>
                <a:cs typeface="Times New Roman"/>
              </a:rPr>
              <a:t>paid</a:t>
            </a:r>
            <a:r>
              <a:rPr sz="1000" spc="125">
                <a:latin typeface="Times New Roman"/>
                <a:cs typeface="Times New Roman"/>
              </a:rPr>
              <a:t> </a:t>
            </a:r>
            <a:r>
              <a:rPr sz="1000">
                <a:latin typeface="Times New Roman"/>
                <a:cs typeface="Times New Roman"/>
              </a:rPr>
              <a:t>out</a:t>
            </a:r>
            <a:r>
              <a:rPr sz="1000" spc="140">
                <a:latin typeface="Times New Roman"/>
                <a:cs typeface="Times New Roman"/>
              </a:rPr>
              <a:t> </a:t>
            </a:r>
            <a:r>
              <a:rPr sz="1000">
                <a:latin typeface="Times New Roman"/>
                <a:cs typeface="Times New Roman"/>
              </a:rPr>
              <a:t>dividends</a:t>
            </a:r>
            <a:r>
              <a:rPr sz="1000" spc="120">
                <a:latin typeface="Times New Roman"/>
                <a:cs typeface="Times New Roman"/>
              </a:rPr>
              <a:t> </a:t>
            </a:r>
            <a:r>
              <a:rPr sz="1000">
                <a:latin typeface="Times New Roman"/>
                <a:cs typeface="Times New Roman"/>
              </a:rPr>
              <a:t>in</a:t>
            </a:r>
            <a:r>
              <a:rPr sz="1000" spc="115">
                <a:latin typeface="Times New Roman"/>
                <a:cs typeface="Times New Roman"/>
              </a:rPr>
              <a:t> </a:t>
            </a:r>
            <a:r>
              <a:rPr sz="1000">
                <a:latin typeface="Times New Roman"/>
                <a:cs typeface="Times New Roman"/>
              </a:rPr>
              <a:t>the</a:t>
            </a:r>
            <a:endParaRPr/>
          </a:p>
          <a:p>
            <a:pPr marL="12700" algn="just">
              <a:lnSpc>
                <a:spcPts val="1140"/>
              </a:lnSpc>
            </a:pPr>
            <a:r>
              <a:rPr sz="1000">
                <a:latin typeface="Times New Roman"/>
                <a:cs typeface="Times New Roman"/>
              </a:rPr>
              <a:t>study</a:t>
            </a:r>
            <a:r>
              <a:rPr sz="1000" spc="200">
                <a:latin typeface="Times New Roman"/>
                <a:cs typeface="Times New Roman"/>
              </a:rPr>
              <a:t> </a:t>
            </a:r>
            <a:r>
              <a:rPr sz="1000">
                <a:latin typeface="Times New Roman"/>
                <a:cs typeface="Times New Roman"/>
              </a:rPr>
              <a:t>period;</a:t>
            </a:r>
            <a:r>
              <a:rPr sz="1000" spc="215">
                <a:latin typeface="Times New Roman"/>
                <a:cs typeface="Times New Roman"/>
              </a:rPr>
              <a:t> </a:t>
            </a:r>
            <a:r>
              <a:rPr sz="1000">
                <a:latin typeface="Times New Roman"/>
                <a:cs typeface="Times New Roman"/>
              </a:rPr>
              <a:t>b)</a:t>
            </a:r>
            <a:r>
              <a:rPr sz="1000" spc="209">
                <a:latin typeface="Times New Roman"/>
                <a:cs typeface="Times New Roman"/>
              </a:rPr>
              <a:t> </a:t>
            </a:r>
            <a:r>
              <a:rPr sz="1000">
                <a:latin typeface="Times New Roman"/>
                <a:cs typeface="Times New Roman"/>
              </a:rPr>
              <a:t>the</a:t>
            </a:r>
            <a:r>
              <a:rPr sz="1000" spc="205">
                <a:latin typeface="Times New Roman"/>
                <a:cs typeface="Times New Roman"/>
              </a:rPr>
              <a:t> </a:t>
            </a:r>
            <a:r>
              <a:rPr sz="1000">
                <a:latin typeface="Times New Roman"/>
                <a:cs typeface="Times New Roman"/>
              </a:rPr>
              <a:t>construction</a:t>
            </a:r>
            <a:r>
              <a:rPr sz="1000" spc="200">
                <a:latin typeface="Times New Roman"/>
                <a:cs typeface="Times New Roman"/>
              </a:rPr>
              <a:t> </a:t>
            </a:r>
            <a:r>
              <a:rPr sz="1000">
                <a:latin typeface="Times New Roman"/>
                <a:cs typeface="Times New Roman"/>
              </a:rPr>
              <a:t>of</a:t>
            </a:r>
            <a:r>
              <a:rPr sz="1000" spc="209">
                <a:latin typeface="Times New Roman"/>
                <a:cs typeface="Times New Roman"/>
              </a:rPr>
              <a:t> </a:t>
            </a:r>
            <a:r>
              <a:rPr sz="1000">
                <a:latin typeface="Times New Roman"/>
                <a:cs typeface="Times New Roman"/>
              </a:rPr>
              <a:t>the</a:t>
            </a:r>
            <a:r>
              <a:rPr sz="1000" spc="220">
                <a:latin typeface="Times New Roman"/>
                <a:cs typeface="Times New Roman"/>
              </a:rPr>
              <a:t> </a:t>
            </a:r>
            <a:r>
              <a:rPr sz="1000">
                <a:latin typeface="Times New Roman"/>
                <a:cs typeface="Times New Roman"/>
              </a:rPr>
              <a:t>synthetic</a:t>
            </a:r>
            <a:r>
              <a:rPr sz="1000" spc="205">
                <a:latin typeface="Times New Roman"/>
                <a:cs typeface="Times New Roman"/>
              </a:rPr>
              <a:t> </a:t>
            </a:r>
            <a:r>
              <a:rPr sz="1000">
                <a:latin typeface="Times New Roman"/>
                <a:cs typeface="Times New Roman"/>
              </a:rPr>
              <a:t>indicator</a:t>
            </a:r>
            <a:r>
              <a:rPr sz="1000" spc="209">
                <a:latin typeface="Times New Roman"/>
                <a:cs typeface="Times New Roman"/>
              </a:rPr>
              <a:t> </a:t>
            </a:r>
            <a:r>
              <a:rPr sz="1000">
                <a:latin typeface="Times New Roman"/>
                <a:cs typeface="Times New Roman"/>
              </a:rPr>
              <a:t>of</a:t>
            </a:r>
            <a:r>
              <a:rPr sz="1000" spc="195">
                <a:latin typeface="Times New Roman"/>
                <a:cs typeface="Times New Roman"/>
              </a:rPr>
              <a:t> </a:t>
            </a:r>
            <a:r>
              <a:rPr sz="1000">
                <a:latin typeface="Times New Roman"/>
                <a:cs typeface="Times New Roman"/>
              </a:rPr>
              <a:t>investment</a:t>
            </a:r>
            <a:r>
              <a:rPr sz="1000" spc="215">
                <a:latin typeface="Times New Roman"/>
                <a:cs typeface="Times New Roman"/>
              </a:rPr>
              <a:t> </a:t>
            </a:r>
            <a:r>
              <a:rPr sz="1000">
                <a:latin typeface="Times New Roman"/>
                <a:cs typeface="Times New Roman"/>
              </a:rPr>
              <a:t>attractiveness</a:t>
            </a:r>
            <a:r>
              <a:rPr sz="1000" spc="200">
                <a:latin typeface="Times New Roman"/>
                <a:cs typeface="Times New Roman"/>
              </a:rPr>
              <a:t> </a:t>
            </a:r>
            <a:r>
              <a:rPr sz="1000">
                <a:latin typeface="Times New Roman"/>
                <a:cs typeface="Times New Roman"/>
              </a:rPr>
              <a:t>is</a:t>
            </a:r>
            <a:r>
              <a:rPr sz="1000" spc="209">
                <a:latin typeface="Times New Roman"/>
                <a:cs typeface="Times New Roman"/>
              </a:rPr>
              <a:t> </a:t>
            </a:r>
            <a:r>
              <a:rPr sz="1000">
                <a:latin typeface="Times New Roman"/>
                <a:cs typeface="Times New Roman"/>
              </a:rPr>
              <a:t>based</a:t>
            </a:r>
            <a:r>
              <a:rPr sz="1000" spc="209">
                <a:latin typeface="Times New Roman"/>
                <a:cs typeface="Times New Roman"/>
              </a:rPr>
              <a:t> </a:t>
            </a:r>
            <a:r>
              <a:rPr sz="1000">
                <a:latin typeface="Times New Roman"/>
                <a:cs typeface="Times New Roman"/>
              </a:rPr>
              <a:t>only</a:t>
            </a:r>
            <a:r>
              <a:rPr sz="1000" spc="200">
                <a:latin typeface="Times New Roman"/>
                <a:cs typeface="Times New Roman"/>
              </a:rPr>
              <a:t> </a:t>
            </a:r>
            <a:r>
              <a:rPr sz="1000">
                <a:latin typeface="Times New Roman"/>
                <a:cs typeface="Times New Roman"/>
              </a:rPr>
              <a:t>on</a:t>
            </a:r>
            <a:r>
              <a:rPr sz="1000" spc="209">
                <a:latin typeface="Times New Roman"/>
                <a:cs typeface="Times New Roman"/>
              </a:rPr>
              <a:t> </a:t>
            </a:r>
            <a:r>
              <a:rPr sz="1000">
                <a:latin typeface="Times New Roman"/>
                <a:cs typeface="Times New Roman"/>
              </a:rPr>
              <a:t>those</a:t>
            </a:r>
            <a:r>
              <a:rPr sz="1000" spc="220">
                <a:latin typeface="Times New Roman"/>
                <a:cs typeface="Times New Roman"/>
              </a:rPr>
              <a:t> </a:t>
            </a:r>
            <a:r>
              <a:rPr sz="1000">
                <a:latin typeface="Times New Roman"/>
                <a:cs typeface="Times New Roman"/>
              </a:rPr>
              <a:t>financial</a:t>
            </a:r>
            <a:endParaRPr/>
          </a:p>
          <a:p>
            <a:pPr marL="12700" algn="just">
              <a:lnSpc>
                <a:spcPts val="1155"/>
              </a:lnSpc>
            </a:pPr>
            <a:r>
              <a:rPr sz="1000" spc="-5">
                <a:latin typeface="Times New Roman"/>
                <a:cs typeface="Times New Roman"/>
              </a:rPr>
              <a:t>indicators</a:t>
            </a:r>
            <a:r>
              <a:rPr sz="1000" spc="100">
                <a:latin typeface="Times New Roman"/>
                <a:cs typeface="Times New Roman"/>
              </a:rPr>
              <a:t> </a:t>
            </a:r>
            <a:r>
              <a:rPr sz="1000" spc="-5">
                <a:latin typeface="Times New Roman"/>
                <a:cs typeface="Times New Roman"/>
              </a:rPr>
              <a:t>that</a:t>
            </a:r>
            <a:r>
              <a:rPr sz="1000" spc="104">
                <a:latin typeface="Times New Roman"/>
                <a:cs typeface="Times New Roman"/>
              </a:rPr>
              <a:t> </a:t>
            </a:r>
            <a:r>
              <a:rPr sz="1000" spc="-5">
                <a:latin typeface="Times New Roman"/>
                <a:cs typeface="Times New Roman"/>
              </a:rPr>
              <a:t>are</a:t>
            </a:r>
            <a:r>
              <a:rPr sz="1000" spc="104">
                <a:latin typeface="Times New Roman"/>
                <a:cs typeface="Times New Roman"/>
              </a:rPr>
              <a:t> </a:t>
            </a:r>
            <a:r>
              <a:rPr sz="1000" spc="-5">
                <a:latin typeface="Times New Roman"/>
                <a:cs typeface="Times New Roman"/>
              </a:rPr>
              <a:t>indicated</a:t>
            </a:r>
            <a:r>
              <a:rPr sz="1000" spc="110">
                <a:latin typeface="Times New Roman"/>
                <a:cs typeface="Times New Roman"/>
              </a:rPr>
              <a:t> </a:t>
            </a:r>
            <a:r>
              <a:rPr sz="1000" spc="-5">
                <a:latin typeface="Times New Roman"/>
                <a:cs typeface="Times New Roman"/>
              </a:rPr>
              <a:t>in</a:t>
            </a:r>
            <a:r>
              <a:rPr sz="1000" spc="95">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literature</a:t>
            </a:r>
            <a:r>
              <a:rPr sz="1000" spc="104">
                <a:latin typeface="Times New Roman"/>
                <a:cs typeface="Times New Roman"/>
              </a:rPr>
              <a:t> </a:t>
            </a:r>
            <a:r>
              <a:rPr sz="1000" spc="-5">
                <a:latin typeface="Times New Roman"/>
                <a:cs typeface="Times New Roman"/>
              </a:rPr>
              <a:t>as</a:t>
            </a:r>
            <a:r>
              <a:rPr sz="1000" spc="104">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key</a:t>
            </a:r>
            <a:r>
              <a:rPr sz="1000" spc="85">
                <a:latin typeface="Times New Roman"/>
                <a:cs typeface="Times New Roman"/>
              </a:rPr>
              <a:t> </a:t>
            </a:r>
            <a:r>
              <a:rPr sz="1000" spc="-5">
                <a:latin typeface="Times New Roman"/>
                <a:cs typeface="Times New Roman"/>
              </a:rPr>
              <a:t>determinants</a:t>
            </a:r>
            <a:r>
              <a:rPr sz="1000" spc="100">
                <a:latin typeface="Times New Roman"/>
                <a:cs typeface="Times New Roman"/>
              </a:rPr>
              <a:t> </a:t>
            </a:r>
            <a:r>
              <a:rPr sz="1000" spc="-5">
                <a:latin typeface="Times New Roman"/>
                <a:cs typeface="Times New Roman"/>
              </a:rPr>
              <a:t>of</a:t>
            </a:r>
            <a:r>
              <a:rPr sz="1000" spc="95">
                <a:latin typeface="Times New Roman"/>
                <a:cs typeface="Times New Roman"/>
              </a:rPr>
              <a:t> </a:t>
            </a:r>
            <a:r>
              <a:rPr sz="1000" spc="-5">
                <a:latin typeface="Times New Roman"/>
                <a:cs typeface="Times New Roman"/>
              </a:rPr>
              <a:t>dividend</a:t>
            </a:r>
            <a:r>
              <a:rPr sz="1000" spc="110">
                <a:latin typeface="Times New Roman"/>
                <a:cs typeface="Times New Roman"/>
              </a:rPr>
              <a:t> </a:t>
            </a:r>
            <a:r>
              <a:rPr sz="1000" spc="-5">
                <a:latin typeface="Times New Roman"/>
                <a:cs typeface="Times New Roman"/>
              </a:rPr>
              <a:t>policy;</a:t>
            </a:r>
            <a:r>
              <a:rPr sz="1000" spc="165">
                <a:latin typeface="Times New Roman"/>
                <a:cs typeface="Times New Roman"/>
              </a:rPr>
              <a:t> </a:t>
            </a:r>
            <a:r>
              <a:rPr sz="1000" spc="-5">
                <a:latin typeface="Times New Roman"/>
                <a:cs typeface="Times New Roman"/>
              </a:rPr>
              <a:t>c)</a:t>
            </a:r>
            <a:r>
              <a:rPr sz="1000" spc="110">
                <a:latin typeface="Times New Roman"/>
                <a:cs typeface="Times New Roman"/>
              </a:rPr>
              <a:t> </a:t>
            </a:r>
            <a:r>
              <a:rPr sz="1000" spc="-5">
                <a:latin typeface="Times New Roman"/>
                <a:cs typeface="Times New Roman"/>
              </a:rPr>
              <a:t>it</a:t>
            </a:r>
            <a:r>
              <a:rPr sz="1000" spc="104">
                <a:latin typeface="Times New Roman"/>
                <a:cs typeface="Times New Roman"/>
              </a:rPr>
              <a:t> </a:t>
            </a:r>
            <a:r>
              <a:rPr sz="1000" spc="-5">
                <a:latin typeface="Times New Roman"/>
                <a:cs typeface="Times New Roman"/>
              </a:rPr>
              <a:t>applies</a:t>
            </a:r>
            <a:r>
              <a:rPr sz="1000" spc="100">
                <a:latin typeface="Times New Roman"/>
                <a:cs typeface="Times New Roman"/>
              </a:rPr>
              <a:t> </a:t>
            </a:r>
            <a:r>
              <a:rPr sz="1000" spc="-5">
                <a:latin typeface="Times New Roman"/>
                <a:cs typeface="Times New Roman"/>
              </a:rPr>
              <a:t>only</a:t>
            </a:r>
            <a:r>
              <a:rPr sz="1000" spc="85">
                <a:latin typeface="Times New Roman"/>
                <a:cs typeface="Times New Roman"/>
              </a:rPr>
              <a:t> </a:t>
            </a:r>
            <a:r>
              <a:rPr sz="1000" spc="-5">
                <a:latin typeface="Times New Roman"/>
                <a:cs typeface="Times New Roman"/>
              </a:rPr>
              <a:t>to</a:t>
            </a:r>
            <a:r>
              <a:rPr sz="1000" spc="110">
                <a:latin typeface="Times New Roman"/>
                <a:cs typeface="Times New Roman"/>
              </a:rPr>
              <a:t> </a:t>
            </a:r>
            <a:r>
              <a:rPr sz="1000" spc="-5">
                <a:latin typeface="Times New Roman"/>
                <a:cs typeface="Times New Roman"/>
              </a:rPr>
              <a:t>the</a:t>
            </a:r>
            <a:r>
              <a:rPr sz="1000" spc="104">
                <a:latin typeface="Times New Roman"/>
                <a:cs typeface="Times New Roman"/>
              </a:rPr>
              <a:t> </a:t>
            </a:r>
            <a:r>
              <a:rPr sz="1000" spc="-5">
                <a:latin typeface="Times New Roman"/>
                <a:cs typeface="Times New Roman"/>
              </a:rPr>
              <a:t>companies</a:t>
            </a:r>
            <a:endParaRPr/>
          </a:p>
          <a:p>
            <a:pPr marL="12700" algn="just">
              <a:lnSpc>
                <a:spcPts val="1150"/>
              </a:lnSpc>
            </a:pPr>
            <a:r>
              <a:rPr sz="1000">
                <a:latin typeface="Times New Roman"/>
                <a:cs typeface="Times New Roman"/>
              </a:rPr>
              <a:t>listed on the WSE in the fifteen-year research period, without dividing it into prosperity and decline periods.</a:t>
            </a:r>
            <a:endParaRPr/>
          </a:p>
          <a:p>
            <a:pPr marL="12700">
              <a:spcBef>
                <a:spcPts val="1100"/>
              </a:spcBef>
            </a:pPr>
            <a:r>
              <a:rPr sz="900" b="1">
                <a:latin typeface="Times New Roman"/>
                <a:cs typeface="Times New Roman"/>
              </a:rPr>
              <a:t>References:</a:t>
            </a:r>
            <a:endParaRPr/>
          </a:p>
          <a:p>
            <a:pPr marL="193040" marR="12700" indent="-180340" algn="just">
              <a:lnSpc>
                <a:spcPct val="95360"/>
              </a:lnSpc>
              <a:spcBef>
                <a:spcPts val="1000"/>
              </a:spcBef>
              <a:buSzPts val="900"/>
              <a:buFont typeface="Times New Roman"/>
              <a:buAutoNum type="arabicPeriod"/>
            </a:pPr>
            <a:r>
              <a:rPr sz="900">
                <a:latin typeface="Times New Roman"/>
                <a:cs typeface="Times New Roman"/>
              </a:rPr>
              <a:t>Adamska, A. (2012), «Zmiany akcjonariatu spółek publicznych w dobie kryzysu»</a:t>
            </a:r>
            <a:r>
              <a:rPr sz="900" spc="5">
                <a:latin typeface="Times New Roman"/>
                <a:cs typeface="Times New Roman"/>
              </a:rPr>
              <a:t>, </a:t>
            </a:r>
            <a:r>
              <a:rPr sz="900" i="1">
                <a:latin typeface="Times New Roman"/>
                <a:cs typeface="Times New Roman"/>
              </a:rPr>
              <a:t>Studia i Prace Kolegium Zarządzania i Finansów</a:t>
            </a:r>
            <a:r>
              <a:rPr sz="900" spc="-10">
                <a:latin typeface="Times New Roman"/>
                <a:cs typeface="Times New Roman"/>
              </a:rPr>
              <a:t>, </a:t>
            </a:r>
            <a:r>
              <a:rPr sz="900">
                <a:latin typeface="Times New Roman"/>
                <a:cs typeface="Times New Roman"/>
              </a:rPr>
              <a:t>Vol. 117, pp. 36–53.</a:t>
            </a:r>
            <a:endParaRPr/>
          </a:p>
          <a:p>
            <a:pPr marL="193040" marR="12700" indent="-180340" algn="just">
              <a:lnSpc>
                <a:spcPct val="95361"/>
              </a:lnSpc>
              <a:buSzPts val="900"/>
              <a:buFont typeface="Times New Roman"/>
              <a:buAutoNum type="arabicPeriod"/>
            </a:pPr>
            <a:r>
              <a:rPr sz="900">
                <a:latin typeface="Times New Roman"/>
                <a:cs typeface="Times New Roman"/>
              </a:rPr>
              <a:t>Aluchna, M. (2007), </a:t>
            </a:r>
            <a:r>
              <a:rPr sz="900" i="1">
                <a:latin typeface="Times New Roman"/>
                <a:cs typeface="Times New Roman"/>
              </a:rPr>
              <a:t>Mechanizmy corporate governance w spółkach giełdowych</a:t>
            </a:r>
            <a:r>
              <a:rPr sz="900">
                <a:latin typeface="Times New Roman"/>
                <a:cs typeface="Times New Roman"/>
              </a:rPr>
              <a:t>, Szkoła Główna Handlowa w Warszawie – Oficyna Wydawnicza, Warszawa, </a:t>
            </a:r>
            <a:r>
              <a:rPr sz="900" spc="5">
                <a:latin typeface="Times New Roman"/>
                <a:cs typeface="Times New Roman"/>
              </a:rPr>
              <a:t>308 </a:t>
            </a:r>
            <a:r>
              <a:rPr sz="900" spc="-5">
                <a:latin typeface="Times New Roman"/>
                <a:cs typeface="Times New Roman"/>
              </a:rPr>
              <a:t>p.</a:t>
            </a:r>
            <a:endParaRPr/>
          </a:p>
          <a:p>
            <a:pPr marL="193040" marR="12700" indent="-180340" algn="just">
              <a:lnSpc>
                <a:spcPct val="95361"/>
              </a:lnSpc>
              <a:spcBef>
                <a:spcPts val="100"/>
              </a:spcBef>
              <a:buSzPts val="900"/>
              <a:buFont typeface="Times New Roman"/>
              <a:buAutoNum type="arabicPeriod"/>
            </a:pPr>
            <a:r>
              <a:rPr sz="900">
                <a:latin typeface="Times New Roman"/>
                <a:cs typeface="Times New Roman"/>
              </a:rPr>
              <a:t>Aydin, A.D. and Cavdar, S.C. (2015), «Corporate Governance and Dividend Policy: An Empirical Analysis From Bursa Istanbul Corporate Governance Index»</a:t>
            </a:r>
            <a:r>
              <a:rPr sz="900" spc="5">
                <a:latin typeface="Times New Roman"/>
                <a:cs typeface="Times New Roman"/>
              </a:rPr>
              <a:t>, </a:t>
            </a:r>
            <a:r>
              <a:rPr sz="900" i="1">
                <a:latin typeface="Times New Roman"/>
                <a:cs typeface="Times New Roman"/>
              </a:rPr>
              <a:t>Accounting and Finance Research</a:t>
            </a:r>
            <a:r>
              <a:rPr sz="900" spc="-10">
                <a:latin typeface="Times New Roman"/>
                <a:cs typeface="Times New Roman"/>
              </a:rPr>
              <a:t>, </a:t>
            </a:r>
            <a:r>
              <a:rPr sz="900">
                <a:latin typeface="Times New Roman"/>
                <a:cs typeface="Times New Roman"/>
              </a:rPr>
              <a:t>Vol. 4 (3), pp. 66–76, doi: </a:t>
            </a:r>
            <a:r>
              <a:rPr sz="900">
                <a:latin typeface="Times New Roman"/>
                <a:cs typeface="Times New Roman"/>
                <a:hlinkClick r:id="rId2">
                  <a:extLst>
                    <a:ext uri="{A12FA001-AC4F-418D-AE19-62706E023703}">
                      <ahyp:hlinkClr xmlns:ahyp="http://schemas.microsoft.com/office/drawing/2018/hyperlinkcolor" val="tx"/>
                    </a:ext>
                  </a:extLst>
                </a:hlinkClick>
              </a:rPr>
              <a:t>http://dx.doi.org/10.5430/afr.v4n3p66</a:t>
            </a:r>
            <a:r>
              <a:rPr sz="900">
                <a:latin typeface="Times New Roman"/>
                <a:cs typeface="Times New Roman"/>
              </a:rPr>
              <a:t>.</a:t>
            </a:r>
            <a:endParaRPr/>
          </a:p>
          <a:p>
            <a:pPr marL="193040" indent="-180340" algn="just">
              <a:lnSpc>
                <a:spcPts val="1045"/>
              </a:lnSpc>
              <a:buSzPts val="900"/>
              <a:buFont typeface="Times New Roman"/>
              <a:buAutoNum type="arabicPeriod"/>
            </a:pPr>
            <a:r>
              <a:rPr sz="900">
                <a:latin typeface="Times New Roman"/>
                <a:cs typeface="Times New Roman"/>
              </a:rPr>
              <a:t>Baker,</a:t>
            </a:r>
            <a:r>
              <a:rPr sz="900" spc="135">
                <a:latin typeface="Times New Roman"/>
                <a:cs typeface="Times New Roman"/>
              </a:rPr>
              <a:t> </a:t>
            </a:r>
            <a:r>
              <a:rPr sz="900">
                <a:latin typeface="Times New Roman"/>
                <a:cs typeface="Times New Roman"/>
              </a:rPr>
              <a:t>M.</a:t>
            </a:r>
            <a:r>
              <a:rPr sz="900" spc="135">
                <a:latin typeface="Times New Roman"/>
                <a:cs typeface="Times New Roman"/>
              </a:rPr>
              <a:t> </a:t>
            </a:r>
            <a:r>
              <a:rPr sz="900">
                <a:latin typeface="Times New Roman"/>
                <a:cs typeface="Times New Roman"/>
              </a:rPr>
              <a:t>and</a:t>
            </a:r>
            <a:r>
              <a:rPr sz="900" spc="150">
                <a:latin typeface="Times New Roman"/>
                <a:cs typeface="Times New Roman"/>
              </a:rPr>
              <a:t> </a:t>
            </a:r>
            <a:r>
              <a:rPr sz="900">
                <a:latin typeface="Times New Roman"/>
                <a:cs typeface="Times New Roman"/>
              </a:rPr>
              <a:t>Wurgler,</a:t>
            </a:r>
            <a:r>
              <a:rPr sz="900" spc="135">
                <a:latin typeface="Times New Roman"/>
                <a:cs typeface="Times New Roman"/>
              </a:rPr>
              <a:t> </a:t>
            </a:r>
            <a:r>
              <a:rPr sz="900">
                <a:latin typeface="Times New Roman"/>
                <a:cs typeface="Times New Roman"/>
              </a:rPr>
              <a:t>J.</a:t>
            </a:r>
            <a:r>
              <a:rPr sz="900" spc="135">
                <a:latin typeface="Times New Roman"/>
                <a:cs typeface="Times New Roman"/>
              </a:rPr>
              <a:t> </a:t>
            </a:r>
            <a:r>
              <a:rPr sz="900">
                <a:latin typeface="Times New Roman"/>
                <a:cs typeface="Times New Roman"/>
              </a:rPr>
              <a:t>(2004),</a:t>
            </a:r>
            <a:r>
              <a:rPr sz="900" spc="165">
                <a:latin typeface="Times New Roman"/>
                <a:cs typeface="Times New Roman"/>
              </a:rPr>
              <a:t> </a:t>
            </a:r>
            <a:r>
              <a:rPr sz="900">
                <a:latin typeface="Times New Roman"/>
                <a:cs typeface="Times New Roman"/>
              </a:rPr>
              <a:t>«Appearing</a:t>
            </a:r>
            <a:r>
              <a:rPr sz="900" spc="140">
                <a:latin typeface="Times New Roman"/>
                <a:cs typeface="Times New Roman"/>
              </a:rPr>
              <a:t> </a:t>
            </a:r>
            <a:r>
              <a:rPr sz="900">
                <a:latin typeface="Times New Roman"/>
                <a:cs typeface="Times New Roman"/>
              </a:rPr>
              <a:t>and</a:t>
            </a:r>
            <a:r>
              <a:rPr sz="900" spc="140">
                <a:latin typeface="Times New Roman"/>
                <a:cs typeface="Times New Roman"/>
              </a:rPr>
              <a:t> </a:t>
            </a:r>
            <a:r>
              <a:rPr sz="900">
                <a:latin typeface="Times New Roman"/>
                <a:cs typeface="Times New Roman"/>
              </a:rPr>
              <a:t>Disappearing</a:t>
            </a:r>
            <a:r>
              <a:rPr sz="900" spc="130">
                <a:latin typeface="Times New Roman"/>
                <a:cs typeface="Times New Roman"/>
              </a:rPr>
              <a:t> </a:t>
            </a:r>
            <a:r>
              <a:rPr sz="900">
                <a:latin typeface="Times New Roman"/>
                <a:cs typeface="Times New Roman"/>
              </a:rPr>
              <a:t>Dividends:</a:t>
            </a:r>
            <a:r>
              <a:rPr sz="900" spc="135">
                <a:latin typeface="Times New Roman"/>
                <a:cs typeface="Times New Roman"/>
              </a:rPr>
              <a:t> </a:t>
            </a:r>
            <a:r>
              <a:rPr sz="900">
                <a:latin typeface="Times New Roman"/>
                <a:cs typeface="Times New Roman"/>
              </a:rPr>
              <a:t>the</a:t>
            </a:r>
            <a:r>
              <a:rPr sz="900" spc="130">
                <a:latin typeface="Times New Roman"/>
                <a:cs typeface="Times New Roman"/>
              </a:rPr>
              <a:t> </a:t>
            </a:r>
            <a:r>
              <a:rPr sz="900">
                <a:latin typeface="Times New Roman"/>
                <a:cs typeface="Times New Roman"/>
              </a:rPr>
              <a:t>Link</a:t>
            </a:r>
            <a:r>
              <a:rPr sz="900" spc="140">
                <a:latin typeface="Times New Roman"/>
                <a:cs typeface="Times New Roman"/>
              </a:rPr>
              <a:t> </a:t>
            </a:r>
            <a:r>
              <a:rPr sz="900">
                <a:latin typeface="Times New Roman"/>
                <a:cs typeface="Times New Roman"/>
              </a:rPr>
              <a:t>to</a:t>
            </a:r>
            <a:r>
              <a:rPr sz="900" spc="140">
                <a:latin typeface="Times New Roman"/>
                <a:cs typeface="Times New Roman"/>
              </a:rPr>
              <a:t> </a:t>
            </a:r>
            <a:r>
              <a:rPr sz="900">
                <a:latin typeface="Times New Roman"/>
                <a:cs typeface="Times New Roman"/>
              </a:rPr>
              <a:t>Catering</a:t>
            </a:r>
            <a:r>
              <a:rPr sz="900" spc="130">
                <a:latin typeface="Times New Roman"/>
                <a:cs typeface="Times New Roman"/>
              </a:rPr>
              <a:t> </a:t>
            </a:r>
            <a:r>
              <a:rPr sz="900">
                <a:latin typeface="Times New Roman"/>
                <a:cs typeface="Times New Roman"/>
              </a:rPr>
              <a:t>Incentives»</a:t>
            </a:r>
            <a:r>
              <a:rPr sz="900" spc="5">
                <a:latin typeface="Times New Roman"/>
                <a:cs typeface="Times New Roman"/>
              </a:rPr>
              <a:t>,</a:t>
            </a:r>
            <a:r>
              <a:rPr sz="900" spc="145">
                <a:latin typeface="Times New Roman"/>
                <a:cs typeface="Times New Roman"/>
              </a:rPr>
              <a:t> </a:t>
            </a:r>
            <a:r>
              <a:rPr sz="900" i="1">
                <a:latin typeface="Times New Roman"/>
                <a:cs typeface="Times New Roman"/>
              </a:rPr>
              <a:t>Journal</a:t>
            </a:r>
            <a:r>
              <a:rPr sz="900" i="1" spc="135">
                <a:latin typeface="Times New Roman"/>
                <a:cs typeface="Times New Roman"/>
              </a:rPr>
              <a:t> </a:t>
            </a:r>
            <a:r>
              <a:rPr sz="900" i="1">
                <a:latin typeface="Times New Roman"/>
                <a:cs typeface="Times New Roman"/>
              </a:rPr>
              <a:t>of</a:t>
            </a:r>
            <a:r>
              <a:rPr sz="900" i="1" spc="135">
                <a:latin typeface="Times New Roman"/>
                <a:cs typeface="Times New Roman"/>
              </a:rPr>
              <a:t> </a:t>
            </a:r>
            <a:r>
              <a:rPr sz="900" i="1">
                <a:latin typeface="Times New Roman"/>
                <a:cs typeface="Times New Roman"/>
              </a:rPr>
              <a:t>Financial</a:t>
            </a:r>
            <a:endParaRPr/>
          </a:p>
          <a:p>
            <a:pPr marL="192405" algn="just">
              <a:lnSpc>
                <a:spcPts val="1025"/>
              </a:lnSpc>
            </a:pPr>
            <a:r>
              <a:rPr sz="900" i="1">
                <a:latin typeface="Times New Roman"/>
                <a:cs typeface="Times New Roman"/>
              </a:rPr>
              <a:t>Economics</a:t>
            </a:r>
            <a:r>
              <a:rPr sz="900" spc="5">
                <a:latin typeface="Times New Roman"/>
                <a:cs typeface="Times New Roman"/>
              </a:rPr>
              <a:t>, </a:t>
            </a:r>
            <a:r>
              <a:rPr sz="900">
                <a:latin typeface="Times New Roman"/>
                <a:cs typeface="Times New Roman"/>
              </a:rPr>
              <a:t>Vol. 73 (2), pp. 271–288, doi: </a:t>
            </a:r>
            <a:r>
              <a:rPr sz="900">
                <a:latin typeface="Times New Roman"/>
                <a:cs typeface="Times New Roman"/>
                <a:hlinkClick r:id="rId3">
                  <a:extLst>
                    <a:ext uri="{A12FA001-AC4F-418D-AE19-62706E023703}">
                      <ahyp:hlinkClr xmlns:ahyp="http://schemas.microsoft.com/office/drawing/2018/hyperlinkcolor" val="tx"/>
                    </a:ext>
                  </a:extLst>
                </a:hlinkClick>
              </a:rPr>
              <a:t>http://dx.doi.org/10.1016/j.jfineco.2003.08.001</a:t>
            </a:r>
            <a:r>
              <a:rPr sz="900">
                <a:latin typeface="Times New Roman"/>
                <a:cs typeface="Times New Roman"/>
              </a:rPr>
              <a:t>.</a:t>
            </a:r>
            <a:endParaRPr/>
          </a:p>
          <a:p>
            <a:pPr marL="193040" indent="-180340" algn="just">
              <a:lnSpc>
                <a:spcPts val="1040"/>
              </a:lnSpc>
              <a:buSzPts val="900"/>
              <a:buFont typeface="Times New Roman"/>
              <a:buAutoNum startAt="5" type="arabicPeriod"/>
            </a:pPr>
            <a:r>
              <a:rPr sz="900">
                <a:latin typeface="Times New Roman"/>
                <a:cs typeface="Times New Roman"/>
              </a:rPr>
              <a:t>Claessens,</a:t>
            </a:r>
            <a:r>
              <a:rPr sz="900" spc="195">
                <a:latin typeface="Times New Roman"/>
                <a:cs typeface="Times New Roman"/>
              </a:rPr>
              <a:t> </a:t>
            </a:r>
            <a:r>
              <a:rPr sz="900">
                <a:latin typeface="Times New Roman"/>
                <a:cs typeface="Times New Roman"/>
              </a:rPr>
              <a:t>S.</a:t>
            </a:r>
            <a:r>
              <a:rPr sz="900" spc="195">
                <a:latin typeface="Times New Roman"/>
                <a:cs typeface="Times New Roman"/>
              </a:rPr>
              <a:t> </a:t>
            </a:r>
            <a:r>
              <a:rPr sz="900">
                <a:latin typeface="Times New Roman"/>
                <a:cs typeface="Times New Roman"/>
              </a:rPr>
              <a:t>and</a:t>
            </a:r>
            <a:r>
              <a:rPr sz="900" spc="190">
                <a:latin typeface="Times New Roman"/>
                <a:cs typeface="Times New Roman"/>
              </a:rPr>
              <a:t> </a:t>
            </a:r>
            <a:r>
              <a:rPr sz="900">
                <a:latin typeface="Times New Roman"/>
                <a:cs typeface="Times New Roman"/>
              </a:rPr>
              <a:t>Djankov,</a:t>
            </a:r>
            <a:r>
              <a:rPr sz="900" spc="195">
                <a:latin typeface="Times New Roman"/>
                <a:cs typeface="Times New Roman"/>
              </a:rPr>
              <a:t> </a:t>
            </a:r>
            <a:r>
              <a:rPr sz="900">
                <a:latin typeface="Times New Roman"/>
                <a:cs typeface="Times New Roman"/>
              </a:rPr>
              <a:t>S.</a:t>
            </a:r>
            <a:r>
              <a:rPr sz="900" spc="185">
                <a:latin typeface="Times New Roman"/>
                <a:cs typeface="Times New Roman"/>
              </a:rPr>
              <a:t> </a:t>
            </a:r>
            <a:r>
              <a:rPr sz="900">
                <a:latin typeface="Times New Roman"/>
                <a:cs typeface="Times New Roman"/>
              </a:rPr>
              <a:t>(1999),</a:t>
            </a:r>
            <a:r>
              <a:rPr sz="900" spc="215">
                <a:latin typeface="Times New Roman"/>
                <a:cs typeface="Times New Roman"/>
              </a:rPr>
              <a:t> </a:t>
            </a:r>
            <a:r>
              <a:rPr sz="900">
                <a:latin typeface="Times New Roman"/>
                <a:cs typeface="Times New Roman"/>
              </a:rPr>
              <a:t>«Ownership</a:t>
            </a:r>
            <a:r>
              <a:rPr sz="900" spc="200">
                <a:latin typeface="Times New Roman"/>
                <a:cs typeface="Times New Roman"/>
              </a:rPr>
              <a:t> </a:t>
            </a:r>
            <a:r>
              <a:rPr sz="900">
                <a:latin typeface="Times New Roman"/>
                <a:cs typeface="Times New Roman"/>
              </a:rPr>
              <a:t>Concentration</a:t>
            </a:r>
            <a:r>
              <a:rPr sz="900" spc="200">
                <a:latin typeface="Times New Roman"/>
                <a:cs typeface="Times New Roman"/>
              </a:rPr>
              <a:t> </a:t>
            </a:r>
            <a:r>
              <a:rPr sz="900">
                <a:latin typeface="Times New Roman"/>
                <a:cs typeface="Times New Roman"/>
              </a:rPr>
              <a:t>and</a:t>
            </a:r>
            <a:r>
              <a:rPr sz="900" spc="200">
                <a:latin typeface="Times New Roman"/>
                <a:cs typeface="Times New Roman"/>
              </a:rPr>
              <a:t> </a:t>
            </a:r>
            <a:r>
              <a:rPr sz="900">
                <a:latin typeface="Times New Roman"/>
                <a:cs typeface="Times New Roman"/>
              </a:rPr>
              <a:t>Corporate</a:t>
            </a:r>
            <a:r>
              <a:rPr sz="900" spc="180">
                <a:latin typeface="Times New Roman"/>
                <a:cs typeface="Times New Roman"/>
              </a:rPr>
              <a:t> </a:t>
            </a:r>
            <a:r>
              <a:rPr sz="900">
                <a:latin typeface="Times New Roman"/>
                <a:cs typeface="Times New Roman"/>
              </a:rPr>
              <a:t>Performance</a:t>
            </a:r>
            <a:r>
              <a:rPr sz="900" spc="190">
                <a:latin typeface="Times New Roman"/>
                <a:cs typeface="Times New Roman"/>
              </a:rPr>
              <a:t> </a:t>
            </a:r>
            <a:r>
              <a:rPr sz="900">
                <a:latin typeface="Times New Roman"/>
                <a:cs typeface="Times New Roman"/>
              </a:rPr>
              <a:t>in</a:t>
            </a:r>
            <a:r>
              <a:rPr sz="900" spc="200">
                <a:latin typeface="Times New Roman"/>
                <a:cs typeface="Times New Roman"/>
              </a:rPr>
              <a:t> </a:t>
            </a:r>
            <a:r>
              <a:rPr sz="900">
                <a:latin typeface="Times New Roman"/>
                <a:cs typeface="Times New Roman"/>
              </a:rPr>
              <a:t>the</a:t>
            </a:r>
            <a:r>
              <a:rPr sz="900" spc="190">
                <a:latin typeface="Times New Roman"/>
                <a:cs typeface="Times New Roman"/>
              </a:rPr>
              <a:t> </a:t>
            </a:r>
            <a:r>
              <a:rPr sz="900">
                <a:latin typeface="Times New Roman"/>
                <a:cs typeface="Times New Roman"/>
              </a:rPr>
              <a:t>Czech</a:t>
            </a:r>
            <a:r>
              <a:rPr sz="900" spc="200">
                <a:latin typeface="Times New Roman"/>
                <a:cs typeface="Times New Roman"/>
              </a:rPr>
              <a:t> </a:t>
            </a:r>
            <a:r>
              <a:rPr sz="900">
                <a:latin typeface="Times New Roman"/>
                <a:cs typeface="Times New Roman"/>
              </a:rPr>
              <a:t>Republic»</a:t>
            </a:r>
            <a:r>
              <a:rPr sz="900" spc="5">
                <a:latin typeface="Times New Roman"/>
                <a:cs typeface="Times New Roman"/>
              </a:rPr>
              <a:t>,</a:t>
            </a:r>
            <a:r>
              <a:rPr sz="900" spc="190">
                <a:latin typeface="Times New Roman"/>
                <a:cs typeface="Times New Roman"/>
              </a:rPr>
              <a:t> </a:t>
            </a:r>
            <a:r>
              <a:rPr sz="900" i="1">
                <a:latin typeface="Times New Roman"/>
                <a:cs typeface="Times New Roman"/>
              </a:rPr>
              <a:t>Journal</a:t>
            </a:r>
            <a:r>
              <a:rPr sz="900" i="1" spc="185">
                <a:latin typeface="Times New Roman"/>
                <a:cs typeface="Times New Roman"/>
              </a:rPr>
              <a:t> </a:t>
            </a:r>
            <a:r>
              <a:rPr sz="900" i="1">
                <a:latin typeface="Times New Roman"/>
                <a:cs typeface="Times New Roman"/>
              </a:rPr>
              <a:t>of</a:t>
            </a:r>
            <a:endParaRPr/>
          </a:p>
          <a:p>
            <a:pPr marL="192405" algn="just">
              <a:lnSpc>
                <a:spcPts val="1030"/>
              </a:lnSpc>
            </a:pPr>
            <a:r>
              <a:rPr sz="900" i="1">
                <a:latin typeface="Times New Roman"/>
                <a:cs typeface="Times New Roman"/>
              </a:rPr>
              <a:t>Comparative Economics</a:t>
            </a:r>
            <a:r>
              <a:rPr sz="900" spc="5">
                <a:latin typeface="Times New Roman"/>
                <a:cs typeface="Times New Roman"/>
              </a:rPr>
              <a:t>, </a:t>
            </a:r>
            <a:r>
              <a:rPr sz="900">
                <a:latin typeface="Times New Roman"/>
                <a:cs typeface="Times New Roman"/>
              </a:rPr>
              <a:t>Vol. 27 (3), pp. 498–513.</a:t>
            </a:r>
            <a:endParaRPr/>
          </a:p>
          <a:p>
            <a:pPr marL="193040" indent="-180340" algn="just">
              <a:lnSpc>
                <a:spcPts val="1045"/>
              </a:lnSpc>
              <a:buSzPts val="900"/>
              <a:buFont typeface="Times New Roman"/>
              <a:buAutoNum startAt="6" type="arabicPeriod"/>
            </a:pPr>
            <a:r>
              <a:rPr sz="900">
                <a:latin typeface="Times New Roman"/>
                <a:cs typeface="Times New Roman"/>
              </a:rPr>
              <a:t>DeAngelo,</a:t>
            </a:r>
            <a:r>
              <a:rPr sz="900" spc="135">
                <a:latin typeface="Times New Roman"/>
                <a:cs typeface="Times New Roman"/>
              </a:rPr>
              <a:t> </a:t>
            </a:r>
            <a:r>
              <a:rPr sz="900">
                <a:latin typeface="Times New Roman"/>
                <a:cs typeface="Times New Roman"/>
              </a:rPr>
              <a:t>H.,</a:t>
            </a:r>
            <a:r>
              <a:rPr sz="900" spc="140">
                <a:latin typeface="Times New Roman"/>
                <a:cs typeface="Times New Roman"/>
              </a:rPr>
              <a:t> </a:t>
            </a:r>
            <a:r>
              <a:rPr sz="900">
                <a:latin typeface="Times New Roman"/>
                <a:cs typeface="Times New Roman"/>
              </a:rPr>
              <a:t>DeAngelo,</a:t>
            </a:r>
            <a:r>
              <a:rPr sz="900" spc="145">
                <a:latin typeface="Times New Roman"/>
                <a:cs typeface="Times New Roman"/>
              </a:rPr>
              <a:t> </a:t>
            </a:r>
            <a:r>
              <a:rPr sz="900" spc="-10">
                <a:latin typeface="Times New Roman"/>
                <a:cs typeface="Times New Roman"/>
              </a:rPr>
              <a:t>L.</a:t>
            </a:r>
            <a:r>
              <a:rPr sz="900" spc="175">
                <a:latin typeface="Times New Roman"/>
                <a:cs typeface="Times New Roman"/>
              </a:rPr>
              <a:t> </a:t>
            </a:r>
            <a:r>
              <a:rPr sz="900">
                <a:latin typeface="Times New Roman"/>
                <a:cs typeface="Times New Roman"/>
              </a:rPr>
              <a:t>and</a:t>
            </a:r>
            <a:r>
              <a:rPr sz="900" spc="140">
                <a:latin typeface="Times New Roman"/>
                <a:cs typeface="Times New Roman"/>
              </a:rPr>
              <a:t> </a:t>
            </a:r>
            <a:r>
              <a:rPr sz="900">
                <a:latin typeface="Times New Roman"/>
                <a:cs typeface="Times New Roman"/>
              </a:rPr>
              <a:t>Stulz,</a:t>
            </a:r>
            <a:r>
              <a:rPr sz="900" spc="135">
                <a:latin typeface="Times New Roman"/>
                <a:cs typeface="Times New Roman"/>
              </a:rPr>
              <a:t> </a:t>
            </a:r>
            <a:r>
              <a:rPr sz="900">
                <a:latin typeface="Times New Roman"/>
                <a:cs typeface="Times New Roman"/>
              </a:rPr>
              <a:t>R.</a:t>
            </a:r>
            <a:r>
              <a:rPr sz="900" spc="135">
                <a:latin typeface="Times New Roman"/>
                <a:cs typeface="Times New Roman"/>
              </a:rPr>
              <a:t> </a:t>
            </a:r>
            <a:r>
              <a:rPr sz="900">
                <a:latin typeface="Times New Roman"/>
                <a:cs typeface="Times New Roman"/>
              </a:rPr>
              <a:t>(2006),</a:t>
            </a:r>
            <a:r>
              <a:rPr sz="900" spc="160">
                <a:latin typeface="Times New Roman"/>
                <a:cs typeface="Times New Roman"/>
              </a:rPr>
              <a:t> </a:t>
            </a:r>
            <a:r>
              <a:rPr sz="900">
                <a:latin typeface="Times New Roman"/>
                <a:cs typeface="Times New Roman"/>
              </a:rPr>
              <a:t>«Dividend</a:t>
            </a:r>
            <a:r>
              <a:rPr sz="900" spc="140">
                <a:latin typeface="Times New Roman"/>
                <a:cs typeface="Times New Roman"/>
              </a:rPr>
              <a:t> </a:t>
            </a:r>
            <a:r>
              <a:rPr sz="900">
                <a:latin typeface="Times New Roman"/>
                <a:cs typeface="Times New Roman"/>
              </a:rPr>
              <a:t>policy</a:t>
            </a:r>
            <a:r>
              <a:rPr sz="900" spc="130">
                <a:latin typeface="Times New Roman"/>
                <a:cs typeface="Times New Roman"/>
              </a:rPr>
              <a:t> </a:t>
            </a:r>
            <a:r>
              <a:rPr sz="900">
                <a:latin typeface="Times New Roman"/>
                <a:cs typeface="Times New Roman"/>
              </a:rPr>
              <a:t>and</a:t>
            </a:r>
            <a:r>
              <a:rPr sz="900" spc="140">
                <a:latin typeface="Times New Roman"/>
                <a:cs typeface="Times New Roman"/>
              </a:rPr>
              <a:t> </a:t>
            </a:r>
            <a:r>
              <a:rPr sz="900">
                <a:latin typeface="Times New Roman"/>
                <a:cs typeface="Times New Roman"/>
              </a:rPr>
              <a:t>the</a:t>
            </a:r>
            <a:r>
              <a:rPr sz="900" spc="130">
                <a:latin typeface="Times New Roman"/>
                <a:cs typeface="Times New Roman"/>
              </a:rPr>
              <a:t> </a:t>
            </a:r>
            <a:r>
              <a:rPr sz="900">
                <a:latin typeface="Times New Roman"/>
                <a:cs typeface="Times New Roman"/>
              </a:rPr>
              <a:t>earned/contributed</a:t>
            </a:r>
            <a:r>
              <a:rPr sz="900" spc="125">
                <a:latin typeface="Times New Roman"/>
                <a:cs typeface="Times New Roman"/>
              </a:rPr>
              <a:t> </a:t>
            </a:r>
            <a:r>
              <a:rPr sz="900">
                <a:latin typeface="Times New Roman"/>
                <a:cs typeface="Times New Roman"/>
              </a:rPr>
              <a:t>capital</a:t>
            </a:r>
            <a:r>
              <a:rPr sz="900" spc="150">
                <a:latin typeface="Times New Roman"/>
                <a:cs typeface="Times New Roman"/>
              </a:rPr>
              <a:t> </a:t>
            </a:r>
            <a:r>
              <a:rPr sz="900">
                <a:latin typeface="Times New Roman"/>
                <a:cs typeface="Times New Roman"/>
              </a:rPr>
              <a:t>mix:</a:t>
            </a:r>
            <a:r>
              <a:rPr sz="900" spc="150">
                <a:latin typeface="Times New Roman"/>
                <a:cs typeface="Times New Roman"/>
              </a:rPr>
              <a:t> </a:t>
            </a:r>
            <a:r>
              <a:rPr sz="900">
                <a:latin typeface="Times New Roman"/>
                <a:cs typeface="Times New Roman"/>
              </a:rPr>
              <a:t>a</a:t>
            </a:r>
            <a:r>
              <a:rPr sz="900" spc="130">
                <a:latin typeface="Times New Roman"/>
                <a:cs typeface="Times New Roman"/>
              </a:rPr>
              <a:t> </a:t>
            </a:r>
            <a:r>
              <a:rPr sz="900">
                <a:latin typeface="Times New Roman"/>
                <a:cs typeface="Times New Roman"/>
              </a:rPr>
              <a:t>test</a:t>
            </a:r>
            <a:r>
              <a:rPr sz="900" spc="135">
                <a:latin typeface="Times New Roman"/>
                <a:cs typeface="Times New Roman"/>
              </a:rPr>
              <a:t> </a:t>
            </a:r>
            <a:r>
              <a:rPr sz="900">
                <a:latin typeface="Times New Roman"/>
                <a:cs typeface="Times New Roman"/>
              </a:rPr>
              <a:t>of</a:t>
            </a:r>
            <a:r>
              <a:rPr sz="900" spc="120">
                <a:latin typeface="Times New Roman"/>
                <a:cs typeface="Times New Roman"/>
              </a:rPr>
              <a:t> </a:t>
            </a:r>
            <a:r>
              <a:rPr sz="900">
                <a:latin typeface="Times New Roman"/>
                <a:cs typeface="Times New Roman"/>
              </a:rPr>
              <a:t>the</a:t>
            </a:r>
            <a:r>
              <a:rPr sz="900" spc="130">
                <a:latin typeface="Times New Roman"/>
                <a:cs typeface="Times New Roman"/>
              </a:rPr>
              <a:t> </a:t>
            </a:r>
            <a:r>
              <a:rPr sz="900">
                <a:latin typeface="Times New Roman"/>
                <a:cs typeface="Times New Roman"/>
              </a:rPr>
              <a:t>life-cycle</a:t>
            </a:r>
            <a:endParaRPr/>
          </a:p>
          <a:p>
            <a:pPr marL="192405" algn="just">
              <a:lnSpc>
                <a:spcPts val="1030"/>
              </a:lnSpc>
            </a:pPr>
            <a:r>
              <a:rPr sz="900">
                <a:latin typeface="Times New Roman"/>
                <a:cs typeface="Times New Roman"/>
              </a:rPr>
              <a:t>theory»</a:t>
            </a:r>
            <a:r>
              <a:rPr sz="900" spc="5">
                <a:latin typeface="Times New Roman"/>
                <a:cs typeface="Times New Roman"/>
              </a:rPr>
              <a:t>, </a:t>
            </a:r>
            <a:r>
              <a:rPr sz="900" i="1">
                <a:latin typeface="Times New Roman"/>
                <a:cs typeface="Times New Roman"/>
              </a:rPr>
              <a:t>Journal of Financial Economics</a:t>
            </a:r>
            <a:r>
              <a:rPr sz="900" spc="5">
                <a:latin typeface="Times New Roman"/>
                <a:cs typeface="Times New Roman"/>
              </a:rPr>
              <a:t>, </a:t>
            </a:r>
            <a:r>
              <a:rPr sz="900">
                <a:latin typeface="Times New Roman"/>
                <a:cs typeface="Times New Roman"/>
              </a:rPr>
              <a:t>Vol. 81 (2), pp. 227–254, doi: 10.1016/j.jfineco.2005.07.005.</a:t>
            </a:r>
            <a:endParaRPr/>
          </a:p>
          <a:p>
            <a:pPr marL="193040" indent="-180340" algn="just">
              <a:lnSpc>
                <a:spcPts val="1035"/>
              </a:lnSpc>
              <a:buSzPts val="900"/>
              <a:buFont typeface="Times New Roman"/>
              <a:buAutoNum startAt="7" type="arabicPeriod"/>
            </a:pPr>
            <a:r>
              <a:rPr sz="900">
                <a:latin typeface="Times New Roman"/>
                <a:cs typeface="Times New Roman"/>
              </a:rPr>
              <a:t>Eije,</a:t>
            </a:r>
            <a:r>
              <a:rPr sz="900" spc="220">
                <a:latin typeface="Times New Roman"/>
                <a:cs typeface="Times New Roman"/>
              </a:rPr>
              <a:t> </a:t>
            </a:r>
            <a:r>
              <a:rPr sz="900">
                <a:latin typeface="Times New Roman"/>
                <a:cs typeface="Times New Roman"/>
              </a:rPr>
              <a:t>H.</a:t>
            </a:r>
            <a:r>
              <a:rPr sz="900" spc="220">
                <a:latin typeface="Times New Roman"/>
                <a:cs typeface="Times New Roman"/>
              </a:rPr>
              <a:t> </a:t>
            </a:r>
            <a:r>
              <a:rPr sz="900">
                <a:latin typeface="Times New Roman"/>
                <a:cs typeface="Times New Roman"/>
              </a:rPr>
              <a:t>and</a:t>
            </a:r>
            <a:r>
              <a:rPr sz="900" spc="225">
                <a:latin typeface="Times New Roman"/>
                <a:cs typeface="Times New Roman"/>
              </a:rPr>
              <a:t> </a:t>
            </a:r>
            <a:r>
              <a:rPr sz="900">
                <a:latin typeface="Times New Roman"/>
                <a:cs typeface="Times New Roman"/>
              </a:rPr>
              <a:t>Megginson,</a:t>
            </a:r>
            <a:r>
              <a:rPr sz="900" spc="220">
                <a:latin typeface="Times New Roman"/>
                <a:cs typeface="Times New Roman"/>
              </a:rPr>
              <a:t> </a:t>
            </a:r>
            <a:r>
              <a:rPr sz="900">
                <a:latin typeface="Times New Roman"/>
                <a:cs typeface="Times New Roman"/>
              </a:rPr>
              <a:t>W.L.</a:t>
            </a:r>
            <a:r>
              <a:rPr sz="900" spc="230">
                <a:latin typeface="Times New Roman"/>
                <a:cs typeface="Times New Roman"/>
              </a:rPr>
              <a:t> </a:t>
            </a:r>
            <a:r>
              <a:rPr sz="900">
                <a:latin typeface="Times New Roman"/>
                <a:cs typeface="Times New Roman"/>
              </a:rPr>
              <a:t>(2008),</a:t>
            </a:r>
            <a:r>
              <a:rPr sz="900" spc="240">
                <a:latin typeface="Times New Roman"/>
                <a:cs typeface="Times New Roman"/>
              </a:rPr>
              <a:t> </a:t>
            </a:r>
            <a:r>
              <a:rPr sz="900">
                <a:latin typeface="Times New Roman"/>
                <a:cs typeface="Times New Roman"/>
              </a:rPr>
              <a:t>«Dividends</a:t>
            </a:r>
            <a:r>
              <a:rPr sz="900" spc="215">
                <a:latin typeface="Times New Roman"/>
                <a:cs typeface="Times New Roman"/>
              </a:rPr>
              <a:t> </a:t>
            </a:r>
            <a:r>
              <a:rPr sz="900">
                <a:latin typeface="Times New Roman"/>
                <a:cs typeface="Times New Roman"/>
              </a:rPr>
              <a:t>and</a:t>
            </a:r>
            <a:r>
              <a:rPr sz="900" spc="225">
                <a:latin typeface="Times New Roman"/>
                <a:cs typeface="Times New Roman"/>
              </a:rPr>
              <a:t> </a:t>
            </a:r>
            <a:r>
              <a:rPr sz="900">
                <a:latin typeface="Times New Roman"/>
                <a:cs typeface="Times New Roman"/>
              </a:rPr>
              <a:t>share</a:t>
            </a:r>
            <a:r>
              <a:rPr sz="900" spc="215">
                <a:latin typeface="Times New Roman"/>
                <a:cs typeface="Times New Roman"/>
              </a:rPr>
              <a:t> </a:t>
            </a:r>
            <a:r>
              <a:rPr sz="900">
                <a:latin typeface="Times New Roman"/>
                <a:cs typeface="Times New Roman"/>
              </a:rPr>
              <a:t>repurchases</a:t>
            </a:r>
            <a:r>
              <a:rPr sz="900" spc="215">
                <a:latin typeface="Times New Roman"/>
                <a:cs typeface="Times New Roman"/>
              </a:rPr>
              <a:t> </a:t>
            </a:r>
            <a:r>
              <a:rPr sz="900">
                <a:latin typeface="Times New Roman"/>
                <a:cs typeface="Times New Roman"/>
              </a:rPr>
              <a:t>in</a:t>
            </a:r>
            <a:r>
              <a:rPr sz="900" spc="225">
                <a:latin typeface="Times New Roman"/>
                <a:cs typeface="Times New Roman"/>
              </a:rPr>
              <a:t> </a:t>
            </a:r>
            <a:r>
              <a:rPr sz="900">
                <a:latin typeface="Times New Roman"/>
                <a:cs typeface="Times New Roman"/>
              </a:rPr>
              <a:t>European</a:t>
            </a:r>
            <a:r>
              <a:rPr sz="900" spc="225">
                <a:latin typeface="Times New Roman"/>
                <a:cs typeface="Times New Roman"/>
              </a:rPr>
              <a:t> </a:t>
            </a:r>
            <a:r>
              <a:rPr sz="900">
                <a:latin typeface="Times New Roman"/>
                <a:cs typeface="Times New Roman"/>
              </a:rPr>
              <a:t>Union»,</a:t>
            </a:r>
            <a:r>
              <a:rPr sz="900" spc="234">
                <a:latin typeface="Times New Roman"/>
                <a:cs typeface="Times New Roman"/>
              </a:rPr>
              <a:t> </a:t>
            </a:r>
            <a:r>
              <a:rPr sz="900" i="1">
                <a:latin typeface="Times New Roman"/>
                <a:cs typeface="Times New Roman"/>
              </a:rPr>
              <a:t>Journal</a:t>
            </a:r>
            <a:r>
              <a:rPr sz="900" i="1" spc="220">
                <a:latin typeface="Times New Roman"/>
                <a:cs typeface="Times New Roman"/>
              </a:rPr>
              <a:t> </a:t>
            </a:r>
            <a:r>
              <a:rPr sz="900" i="1">
                <a:latin typeface="Times New Roman"/>
                <a:cs typeface="Times New Roman"/>
              </a:rPr>
              <a:t>of</a:t>
            </a:r>
            <a:r>
              <a:rPr sz="900" i="1" spc="220">
                <a:latin typeface="Times New Roman"/>
                <a:cs typeface="Times New Roman"/>
              </a:rPr>
              <a:t> </a:t>
            </a:r>
            <a:r>
              <a:rPr sz="900" i="1">
                <a:latin typeface="Times New Roman"/>
                <a:cs typeface="Times New Roman"/>
              </a:rPr>
              <a:t>Financial</a:t>
            </a:r>
            <a:r>
              <a:rPr sz="900" i="1" spc="220">
                <a:latin typeface="Times New Roman"/>
                <a:cs typeface="Times New Roman"/>
              </a:rPr>
              <a:t> </a:t>
            </a:r>
            <a:r>
              <a:rPr sz="900" i="1">
                <a:latin typeface="Times New Roman"/>
                <a:cs typeface="Times New Roman"/>
              </a:rPr>
              <a:t>Economics</a:t>
            </a:r>
            <a:r>
              <a:rPr sz="900" spc="5">
                <a:latin typeface="Times New Roman"/>
                <a:cs typeface="Times New Roman"/>
              </a:rPr>
              <a:t>,</a:t>
            </a:r>
            <a:endParaRPr/>
          </a:p>
          <a:p>
            <a:pPr marL="192405" algn="just">
              <a:lnSpc>
                <a:spcPts val="1030"/>
              </a:lnSpc>
            </a:pPr>
            <a:r>
              <a:rPr sz="900">
                <a:latin typeface="Times New Roman"/>
                <a:cs typeface="Times New Roman"/>
              </a:rPr>
              <a:t>Vol. </a:t>
            </a:r>
            <a:r>
              <a:rPr sz="900" spc="-5">
                <a:latin typeface="Times New Roman"/>
                <a:cs typeface="Times New Roman"/>
              </a:rPr>
              <a:t>89 </a:t>
            </a:r>
            <a:r>
              <a:rPr sz="900">
                <a:latin typeface="Times New Roman"/>
                <a:cs typeface="Times New Roman"/>
              </a:rPr>
              <a:t>(2), pp. 347–374, doi: 10.1016/j.jfine-co.2007.11.002.</a:t>
            </a:r>
            <a:endParaRPr/>
          </a:p>
          <a:p>
            <a:pPr marL="193040" indent="-180340" algn="just">
              <a:lnSpc>
                <a:spcPts val="1035"/>
              </a:lnSpc>
              <a:buSzPts val="900"/>
              <a:buFont typeface="Times New Roman"/>
              <a:buAutoNum startAt="8" type="arabicPeriod"/>
            </a:pPr>
            <a:r>
              <a:rPr sz="900">
                <a:latin typeface="Times New Roman"/>
                <a:cs typeface="Times New Roman"/>
              </a:rPr>
              <a:t>Elson, J.A.,</a:t>
            </a:r>
            <a:r>
              <a:rPr sz="900" spc="70">
                <a:latin typeface="Times New Roman"/>
                <a:cs typeface="Times New Roman"/>
              </a:rPr>
              <a:t> </a:t>
            </a:r>
            <a:r>
              <a:rPr sz="900">
                <a:latin typeface="Times New Roman"/>
                <a:cs typeface="Times New Roman"/>
              </a:rPr>
              <a:t>Hofler,</a:t>
            </a:r>
            <a:r>
              <a:rPr sz="900" spc="65">
                <a:latin typeface="Times New Roman"/>
                <a:cs typeface="Times New Roman"/>
              </a:rPr>
              <a:t> </a:t>
            </a:r>
            <a:r>
              <a:rPr sz="900">
                <a:latin typeface="Times New Roman"/>
                <a:cs typeface="Times New Roman"/>
              </a:rPr>
              <a:t>R.</a:t>
            </a:r>
            <a:r>
              <a:rPr sz="900" spc="65">
                <a:latin typeface="Times New Roman"/>
                <a:cs typeface="Times New Roman"/>
              </a:rPr>
              <a:t> </a:t>
            </a:r>
            <a:r>
              <a:rPr sz="900">
                <a:latin typeface="Times New Roman"/>
                <a:cs typeface="Times New Roman"/>
              </a:rPr>
              <a:t>and Lee,</a:t>
            </a:r>
            <a:r>
              <a:rPr sz="900" spc="65">
                <a:latin typeface="Times New Roman"/>
                <a:cs typeface="Times New Roman"/>
              </a:rPr>
              <a:t> </a:t>
            </a:r>
            <a:r>
              <a:rPr sz="900">
                <a:latin typeface="Times New Roman"/>
                <a:cs typeface="Times New Roman"/>
              </a:rPr>
              <a:t>J.</a:t>
            </a:r>
            <a:r>
              <a:rPr sz="900" spc="65">
                <a:latin typeface="Times New Roman"/>
                <a:cs typeface="Times New Roman"/>
              </a:rPr>
              <a:t> </a:t>
            </a:r>
            <a:r>
              <a:rPr sz="900">
                <a:latin typeface="Times New Roman"/>
                <a:cs typeface="Times New Roman"/>
              </a:rPr>
              <a:t>(2011),</a:t>
            </a:r>
            <a:r>
              <a:rPr sz="900" spc="65">
                <a:latin typeface="Times New Roman"/>
                <a:cs typeface="Times New Roman"/>
              </a:rPr>
              <a:t> </a:t>
            </a:r>
            <a:r>
              <a:rPr sz="900">
                <a:latin typeface="Times New Roman"/>
                <a:cs typeface="Times New Roman"/>
              </a:rPr>
              <a:t>«Dividend Policy and</a:t>
            </a:r>
            <a:r>
              <a:rPr sz="900" spc="65">
                <a:latin typeface="Times New Roman"/>
                <a:cs typeface="Times New Roman"/>
              </a:rPr>
              <a:t> </a:t>
            </a:r>
            <a:r>
              <a:rPr sz="900">
                <a:latin typeface="Times New Roman"/>
                <a:cs typeface="Times New Roman"/>
              </a:rPr>
              <a:t>Institutional</a:t>
            </a:r>
            <a:r>
              <a:rPr sz="900" spc="65">
                <a:latin typeface="Times New Roman"/>
                <a:cs typeface="Times New Roman"/>
              </a:rPr>
              <a:t> </a:t>
            </a:r>
            <a:r>
              <a:rPr sz="900">
                <a:latin typeface="Times New Roman"/>
                <a:cs typeface="Times New Roman"/>
              </a:rPr>
              <a:t>Ownership: Empirical</a:t>
            </a:r>
            <a:r>
              <a:rPr sz="900" spc="65">
                <a:latin typeface="Times New Roman"/>
                <a:cs typeface="Times New Roman"/>
              </a:rPr>
              <a:t> </a:t>
            </a:r>
            <a:r>
              <a:rPr sz="900">
                <a:latin typeface="Times New Roman"/>
                <a:cs typeface="Times New Roman"/>
              </a:rPr>
              <a:t>Evidence using a Propensity Score</a:t>
            </a:r>
            <a:endParaRPr/>
          </a:p>
          <a:p>
            <a:pPr marL="192405" algn="just">
              <a:lnSpc>
                <a:spcPts val="1045"/>
              </a:lnSpc>
            </a:pPr>
            <a:r>
              <a:rPr sz="900">
                <a:latin typeface="Times New Roman"/>
                <a:cs typeface="Times New Roman"/>
              </a:rPr>
              <a:t>Matching Estimator»</a:t>
            </a:r>
            <a:r>
              <a:rPr sz="900" spc="5">
                <a:latin typeface="Times New Roman"/>
                <a:cs typeface="Times New Roman"/>
              </a:rPr>
              <a:t>, </a:t>
            </a:r>
            <a:r>
              <a:rPr sz="900" i="1">
                <a:latin typeface="Times New Roman"/>
                <a:cs typeface="Times New Roman"/>
              </a:rPr>
              <a:t>Journal of Accounting and Finance</a:t>
            </a:r>
            <a:r>
              <a:rPr sz="900" spc="5">
                <a:latin typeface="Times New Roman"/>
                <a:cs typeface="Times New Roman"/>
              </a:rPr>
              <a:t>, </a:t>
            </a:r>
            <a:r>
              <a:rPr sz="900">
                <a:latin typeface="Times New Roman"/>
                <a:cs typeface="Times New Roman"/>
              </a:rPr>
              <a:t>Vol. 11 (1), pp. 105–122.</a:t>
            </a:r>
            <a:endParaRPr/>
          </a:p>
          <a:p>
            <a:pPr marL="193040" indent="-180340" algn="just">
              <a:lnSpc>
                <a:spcPts val="1025"/>
              </a:lnSpc>
              <a:buSzPts val="900"/>
              <a:buFont typeface="Times New Roman"/>
              <a:buAutoNum startAt="9" type="arabicPeriod"/>
            </a:pPr>
            <a:r>
              <a:rPr sz="900">
                <a:latin typeface="Times New Roman"/>
                <a:cs typeface="Times New Roman"/>
              </a:rPr>
              <a:t>Fisher, K.L. and Statman, M. (2000),</a:t>
            </a:r>
            <a:r>
              <a:rPr sz="900" spc="65">
                <a:latin typeface="Times New Roman"/>
                <a:cs typeface="Times New Roman"/>
              </a:rPr>
              <a:t> </a:t>
            </a:r>
            <a:r>
              <a:rPr sz="900">
                <a:latin typeface="Times New Roman"/>
                <a:cs typeface="Times New Roman"/>
              </a:rPr>
              <a:t>«Cognitive Biases In Market Forecast»</a:t>
            </a:r>
            <a:r>
              <a:rPr sz="900" spc="5">
                <a:latin typeface="Times New Roman"/>
                <a:cs typeface="Times New Roman"/>
              </a:rPr>
              <a:t>, </a:t>
            </a:r>
            <a:r>
              <a:rPr sz="900" i="1">
                <a:latin typeface="Times New Roman"/>
                <a:cs typeface="Times New Roman"/>
              </a:rPr>
              <a:t>Journal of Portfolio Management</a:t>
            </a:r>
            <a:r>
              <a:rPr sz="900" spc="5">
                <a:latin typeface="Times New Roman"/>
                <a:cs typeface="Times New Roman"/>
              </a:rPr>
              <a:t>, </a:t>
            </a:r>
            <a:r>
              <a:rPr sz="900">
                <a:latin typeface="Times New Roman"/>
                <a:cs typeface="Times New Roman"/>
              </a:rPr>
              <a:t>Vol. 27 (1), pp. 72–81,</a:t>
            </a:r>
            <a:endParaRPr/>
          </a:p>
          <a:p>
            <a:pPr marL="192405" algn="just">
              <a:lnSpc>
                <a:spcPts val="1035"/>
              </a:lnSpc>
            </a:pPr>
            <a:r>
              <a:rPr sz="900">
                <a:latin typeface="Times New Roman"/>
                <a:cs typeface="Times New Roman"/>
              </a:rPr>
              <a:t>doi: </a:t>
            </a:r>
            <a:r>
              <a:rPr sz="900">
                <a:latin typeface="Times New Roman"/>
                <a:cs typeface="Times New Roman"/>
                <a:hlinkClick r:id="rId4">
                  <a:extLst>
                    <a:ext uri="{A12FA001-AC4F-418D-AE19-62706E023703}">
                      <ahyp:hlinkClr xmlns:ahyp="http://schemas.microsoft.com/office/drawing/2018/hyperlinkcolor" val="tx"/>
                    </a:ext>
                  </a:extLst>
                </a:hlinkClick>
              </a:rPr>
              <a:t>http://dx.doi.org/10.3905/jpm.2000.319785</a:t>
            </a:r>
            <a:r>
              <a:rPr sz="900">
                <a:latin typeface="Times New Roman"/>
                <a:cs typeface="Times New Roman"/>
              </a:rPr>
              <a:t>.</a:t>
            </a:r>
            <a:endParaRPr/>
          </a:p>
          <a:p>
            <a:pPr marL="193040" indent="-180340" algn="just">
              <a:lnSpc>
                <a:spcPts val="1030"/>
              </a:lnSpc>
              <a:buSzPts val="900"/>
              <a:buFont typeface="Times New Roman"/>
              <a:buAutoNum startAt="10" type="arabicPeriod"/>
            </a:pPr>
            <a:r>
              <a:rPr sz="900">
                <a:latin typeface="Times New Roman"/>
                <a:cs typeface="Times New Roman"/>
              </a:rPr>
              <a:t>Florackis,</a:t>
            </a:r>
            <a:r>
              <a:rPr sz="900" spc="220">
                <a:latin typeface="Times New Roman"/>
                <a:cs typeface="Times New Roman"/>
              </a:rPr>
              <a:t> </a:t>
            </a:r>
            <a:r>
              <a:rPr sz="900">
                <a:latin typeface="Times New Roman"/>
                <a:cs typeface="Times New Roman"/>
              </a:rPr>
              <a:t>C.,</a:t>
            </a:r>
            <a:r>
              <a:rPr sz="900" spc="220">
                <a:latin typeface="Times New Roman"/>
                <a:cs typeface="Times New Roman"/>
              </a:rPr>
              <a:t> </a:t>
            </a:r>
            <a:r>
              <a:rPr sz="900">
                <a:latin typeface="Times New Roman"/>
                <a:cs typeface="Times New Roman"/>
              </a:rPr>
              <a:t>Kanas,</a:t>
            </a:r>
            <a:r>
              <a:rPr sz="900" spc="220">
                <a:latin typeface="Times New Roman"/>
                <a:cs typeface="Times New Roman"/>
              </a:rPr>
              <a:t> </a:t>
            </a:r>
            <a:r>
              <a:rPr sz="900">
                <a:latin typeface="Times New Roman"/>
                <a:cs typeface="Times New Roman"/>
              </a:rPr>
              <a:t>A.</a:t>
            </a:r>
            <a:r>
              <a:rPr sz="900" spc="220">
                <a:latin typeface="Times New Roman"/>
                <a:cs typeface="Times New Roman"/>
              </a:rPr>
              <a:t> </a:t>
            </a:r>
            <a:r>
              <a:rPr sz="900">
                <a:latin typeface="Times New Roman"/>
                <a:cs typeface="Times New Roman"/>
              </a:rPr>
              <a:t>and</a:t>
            </a:r>
            <a:r>
              <a:rPr sz="900" spc="225">
                <a:latin typeface="Times New Roman"/>
                <a:cs typeface="Times New Roman"/>
              </a:rPr>
              <a:t> </a:t>
            </a:r>
            <a:r>
              <a:rPr sz="900">
                <a:latin typeface="Times New Roman"/>
                <a:cs typeface="Times New Roman"/>
              </a:rPr>
              <a:t>Kostakis,</a:t>
            </a:r>
            <a:r>
              <a:rPr sz="900" spc="220">
                <a:latin typeface="Times New Roman"/>
                <a:cs typeface="Times New Roman"/>
              </a:rPr>
              <a:t> </a:t>
            </a:r>
            <a:r>
              <a:rPr sz="900">
                <a:latin typeface="Times New Roman"/>
                <a:cs typeface="Times New Roman"/>
              </a:rPr>
              <a:t>A.</a:t>
            </a:r>
            <a:r>
              <a:rPr sz="900" spc="220">
                <a:latin typeface="Times New Roman"/>
                <a:cs typeface="Times New Roman"/>
              </a:rPr>
              <a:t> </a:t>
            </a:r>
            <a:r>
              <a:rPr sz="900">
                <a:latin typeface="Times New Roman"/>
                <a:cs typeface="Times New Roman"/>
              </a:rPr>
              <a:t>(2015),</a:t>
            </a:r>
            <a:r>
              <a:rPr sz="900" spc="245">
                <a:latin typeface="Times New Roman"/>
                <a:cs typeface="Times New Roman"/>
              </a:rPr>
              <a:t> </a:t>
            </a:r>
            <a:r>
              <a:rPr sz="900">
                <a:latin typeface="Times New Roman"/>
                <a:cs typeface="Times New Roman"/>
              </a:rPr>
              <a:t>«Dividend</a:t>
            </a:r>
            <a:r>
              <a:rPr sz="900" spc="225">
                <a:latin typeface="Times New Roman"/>
                <a:cs typeface="Times New Roman"/>
              </a:rPr>
              <a:t> </a:t>
            </a:r>
            <a:r>
              <a:rPr sz="900">
                <a:latin typeface="Times New Roman"/>
                <a:cs typeface="Times New Roman"/>
              </a:rPr>
              <a:t>policy,</a:t>
            </a:r>
            <a:r>
              <a:rPr sz="900" spc="230">
                <a:latin typeface="Times New Roman"/>
                <a:cs typeface="Times New Roman"/>
              </a:rPr>
              <a:t> </a:t>
            </a:r>
            <a:r>
              <a:rPr sz="900">
                <a:latin typeface="Times New Roman"/>
                <a:cs typeface="Times New Roman"/>
              </a:rPr>
              <a:t>managerial</a:t>
            </a:r>
            <a:r>
              <a:rPr sz="900" spc="220">
                <a:latin typeface="Times New Roman"/>
                <a:cs typeface="Times New Roman"/>
              </a:rPr>
              <a:t> </a:t>
            </a:r>
            <a:r>
              <a:rPr sz="900">
                <a:latin typeface="Times New Roman"/>
                <a:cs typeface="Times New Roman"/>
              </a:rPr>
              <a:t>ownership</a:t>
            </a:r>
            <a:r>
              <a:rPr sz="900" spc="225">
                <a:latin typeface="Times New Roman"/>
                <a:cs typeface="Times New Roman"/>
              </a:rPr>
              <a:t> </a:t>
            </a:r>
            <a:r>
              <a:rPr sz="900">
                <a:latin typeface="Times New Roman"/>
                <a:cs typeface="Times New Roman"/>
              </a:rPr>
              <a:t>and</a:t>
            </a:r>
            <a:r>
              <a:rPr sz="900" spc="225">
                <a:latin typeface="Times New Roman"/>
                <a:cs typeface="Times New Roman"/>
              </a:rPr>
              <a:t> </a:t>
            </a:r>
            <a:r>
              <a:rPr sz="900">
                <a:latin typeface="Times New Roman"/>
                <a:cs typeface="Times New Roman"/>
              </a:rPr>
              <a:t>debt</a:t>
            </a:r>
            <a:r>
              <a:rPr sz="900" spc="209">
                <a:latin typeface="Times New Roman"/>
                <a:cs typeface="Times New Roman"/>
              </a:rPr>
              <a:t> </a:t>
            </a:r>
            <a:r>
              <a:rPr sz="900">
                <a:latin typeface="Times New Roman"/>
                <a:cs typeface="Times New Roman"/>
              </a:rPr>
              <a:t>financing:</a:t>
            </a:r>
            <a:r>
              <a:rPr sz="900" spc="220">
                <a:latin typeface="Times New Roman"/>
                <a:cs typeface="Times New Roman"/>
              </a:rPr>
              <a:t> </a:t>
            </a:r>
            <a:r>
              <a:rPr sz="900">
                <a:latin typeface="Times New Roman"/>
                <a:cs typeface="Times New Roman"/>
              </a:rPr>
              <a:t>A</a:t>
            </a:r>
            <a:r>
              <a:rPr sz="900" spc="205">
                <a:latin typeface="Times New Roman"/>
                <a:cs typeface="Times New Roman"/>
              </a:rPr>
              <a:t> </a:t>
            </a:r>
            <a:r>
              <a:rPr sz="900">
                <a:latin typeface="Times New Roman"/>
                <a:cs typeface="Times New Roman"/>
              </a:rPr>
              <a:t>nonparametric</a:t>
            </a:r>
            <a:endParaRPr/>
          </a:p>
          <a:p>
            <a:pPr marL="192405" algn="just">
              <a:lnSpc>
                <a:spcPts val="1050"/>
              </a:lnSpc>
            </a:pPr>
            <a:r>
              <a:rPr sz="900">
                <a:latin typeface="Times New Roman"/>
                <a:cs typeface="Times New Roman"/>
              </a:rPr>
              <a:t>perspective»</a:t>
            </a:r>
            <a:r>
              <a:rPr sz="900" spc="5">
                <a:latin typeface="Times New Roman"/>
                <a:cs typeface="Times New Roman"/>
              </a:rPr>
              <a:t>, </a:t>
            </a:r>
            <a:r>
              <a:rPr sz="900" i="1">
                <a:latin typeface="Times New Roman"/>
                <a:cs typeface="Times New Roman"/>
              </a:rPr>
              <a:t>European Journal of Operational Research</a:t>
            </a:r>
            <a:r>
              <a:rPr sz="900" spc="5">
                <a:latin typeface="Times New Roman"/>
                <a:cs typeface="Times New Roman"/>
              </a:rPr>
              <a:t>, </a:t>
            </a:r>
            <a:r>
              <a:rPr sz="900">
                <a:latin typeface="Times New Roman"/>
                <a:cs typeface="Times New Roman"/>
              </a:rPr>
              <a:t>Vol. 241, pp. 783–795, doi: </a:t>
            </a:r>
            <a:r>
              <a:rPr sz="900">
                <a:latin typeface="Times New Roman"/>
                <a:cs typeface="Times New Roman"/>
                <a:hlinkClick r:id="rId5">
                  <a:extLst>
                    <a:ext uri="{A12FA001-AC4F-418D-AE19-62706E023703}">
                      <ahyp:hlinkClr xmlns:ahyp="http://schemas.microsoft.com/office/drawing/2018/hyperlinkcolor" val="tx"/>
                    </a:ext>
                  </a:extLst>
                </a:hlinkClick>
              </a:rPr>
              <a:t>http://dx.doi.org/10.1016/j.ejor.2014.08.031</a:t>
            </a:r>
            <a:r>
              <a:rPr sz="900">
                <a:latin typeface="Times New Roman"/>
                <a:cs typeface="Times New Roman"/>
              </a:rPr>
              <a:t>.</a:t>
            </a:r>
            <a:endParaRPr/>
          </a:p>
          <a:p>
            <a:pPr marL="193040" indent="-180340" algn="just">
              <a:lnSpc>
                <a:spcPts val="1025"/>
              </a:lnSpc>
              <a:buSzPts val="900"/>
              <a:buFont typeface="Times New Roman"/>
              <a:buAutoNum startAt="11" type="arabicPeriod"/>
            </a:pPr>
            <a:r>
              <a:rPr sz="900">
                <a:latin typeface="Times New Roman"/>
                <a:cs typeface="Times New Roman"/>
              </a:rPr>
              <a:t>Gajdka, J. (2013), </a:t>
            </a:r>
            <a:r>
              <a:rPr sz="900" i="1">
                <a:latin typeface="Times New Roman"/>
                <a:cs typeface="Times New Roman"/>
              </a:rPr>
              <a:t>Behawioralne finanse przedsiębiorstw. Podstawowe podejścia i koncepcje</a:t>
            </a:r>
            <a:r>
              <a:rPr sz="900">
                <a:latin typeface="Times New Roman"/>
                <a:cs typeface="Times New Roman"/>
              </a:rPr>
              <a:t>, Publisher of the University of Lodz, Lodz,</a:t>
            </a:r>
            <a:endParaRPr/>
          </a:p>
          <a:p>
            <a:pPr marL="192405" algn="just">
              <a:lnSpc>
                <a:spcPts val="1035"/>
              </a:lnSpc>
            </a:pPr>
            <a:r>
              <a:rPr sz="900">
                <a:latin typeface="Times New Roman"/>
                <a:cs typeface="Times New Roman"/>
              </a:rPr>
              <a:t>pp. 226.</a:t>
            </a:r>
            <a:endParaRPr/>
          </a:p>
          <a:p>
            <a:pPr marL="193040" indent="-180340" algn="just">
              <a:lnSpc>
                <a:spcPts val="1030"/>
              </a:lnSpc>
              <a:buSzPts val="900"/>
              <a:buFont typeface="Times New Roman"/>
              <a:buAutoNum startAt="12" type="arabicPeriod"/>
            </a:pPr>
            <a:r>
              <a:rPr sz="900">
                <a:latin typeface="Times New Roman"/>
                <a:cs typeface="Times New Roman"/>
              </a:rPr>
              <a:t>Kaźmierska-Jóźwiak,</a:t>
            </a:r>
            <a:r>
              <a:rPr sz="900" spc="245">
                <a:latin typeface="Times New Roman"/>
                <a:cs typeface="Times New Roman"/>
              </a:rPr>
              <a:t> </a:t>
            </a:r>
            <a:r>
              <a:rPr sz="900">
                <a:latin typeface="Times New Roman"/>
                <a:cs typeface="Times New Roman"/>
              </a:rPr>
              <a:t>B.</a:t>
            </a:r>
            <a:r>
              <a:rPr sz="900" spc="245">
                <a:latin typeface="Times New Roman"/>
                <a:cs typeface="Times New Roman"/>
              </a:rPr>
              <a:t> </a:t>
            </a:r>
            <a:r>
              <a:rPr sz="900">
                <a:latin typeface="Times New Roman"/>
                <a:cs typeface="Times New Roman"/>
              </a:rPr>
              <a:t>(2014),</a:t>
            </a:r>
            <a:r>
              <a:rPr sz="900" spc="260">
                <a:latin typeface="Times New Roman"/>
                <a:cs typeface="Times New Roman"/>
              </a:rPr>
              <a:t> </a:t>
            </a:r>
            <a:r>
              <a:rPr sz="900">
                <a:latin typeface="Times New Roman"/>
                <a:cs typeface="Times New Roman"/>
              </a:rPr>
              <a:t>«Czynniki</a:t>
            </a:r>
            <a:r>
              <a:rPr sz="900" spc="245">
                <a:latin typeface="Times New Roman"/>
                <a:cs typeface="Times New Roman"/>
              </a:rPr>
              <a:t> </a:t>
            </a:r>
            <a:r>
              <a:rPr sz="900">
                <a:latin typeface="Times New Roman"/>
                <a:cs typeface="Times New Roman"/>
              </a:rPr>
              <a:t>polityki</a:t>
            </a:r>
            <a:r>
              <a:rPr sz="900" spc="245">
                <a:latin typeface="Times New Roman"/>
                <a:cs typeface="Times New Roman"/>
              </a:rPr>
              <a:t> </a:t>
            </a:r>
            <a:r>
              <a:rPr sz="900">
                <a:latin typeface="Times New Roman"/>
                <a:cs typeface="Times New Roman"/>
              </a:rPr>
              <a:t>dywidendowej</a:t>
            </a:r>
            <a:r>
              <a:rPr sz="900" spc="265">
                <a:latin typeface="Times New Roman"/>
                <a:cs typeface="Times New Roman"/>
              </a:rPr>
              <a:t> </a:t>
            </a:r>
            <a:r>
              <a:rPr sz="900">
                <a:latin typeface="Times New Roman"/>
                <a:cs typeface="Times New Roman"/>
              </a:rPr>
              <a:t>w</a:t>
            </a:r>
            <a:r>
              <a:rPr sz="900" spc="240">
                <a:latin typeface="Times New Roman"/>
                <a:cs typeface="Times New Roman"/>
              </a:rPr>
              <a:t> </a:t>
            </a:r>
            <a:r>
              <a:rPr sz="900">
                <a:latin typeface="Times New Roman"/>
                <a:cs typeface="Times New Roman"/>
              </a:rPr>
              <a:t>warunkach</a:t>
            </a:r>
            <a:r>
              <a:rPr sz="900" spc="245">
                <a:latin typeface="Times New Roman"/>
                <a:cs typeface="Times New Roman"/>
              </a:rPr>
              <a:t> </a:t>
            </a:r>
            <a:r>
              <a:rPr sz="900">
                <a:latin typeface="Times New Roman"/>
                <a:cs typeface="Times New Roman"/>
              </a:rPr>
              <a:t>polskich»</a:t>
            </a:r>
            <a:r>
              <a:rPr sz="900" spc="5">
                <a:latin typeface="Times New Roman"/>
                <a:cs typeface="Times New Roman"/>
              </a:rPr>
              <a:t>,</a:t>
            </a:r>
            <a:r>
              <a:rPr sz="900" spc="240">
                <a:latin typeface="Times New Roman"/>
                <a:cs typeface="Times New Roman"/>
              </a:rPr>
              <a:t> </a:t>
            </a:r>
            <a:r>
              <a:rPr sz="900" i="1">
                <a:latin typeface="Times New Roman"/>
                <a:cs typeface="Times New Roman"/>
              </a:rPr>
              <a:t>Annales</a:t>
            </a:r>
            <a:r>
              <a:rPr sz="900" i="1" spc="240">
                <a:latin typeface="Times New Roman"/>
                <a:cs typeface="Times New Roman"/>
              </a:rPr>
              <a:t> </a:t>
            </a:r>
            <a:r>
              <a:rPr sz="900" i="1">
                <a:latin typeface="Times New Roman"/>
                <a:cs typeface="Times New Roman"/>
              </a:rPr>
              <a:t>Universitatis</a:t>
            </a:r>
            <a:r>
              <a:rPr sz="900" i="1" spc="240">
                <a:latin typeface="Times New Roman"/>
                <a:cs typeface="Times New Roman"/>
              </a:rPr>
              <a:t> </a:t>
            </a:r>
            <a:r>
              <a:rPr sz="900" i="1">
                <a:latin typeface="Times New Roman"/>
                <a:cs typeface="Times New Roman"/>
              </a:rPr>
              <a:t>Mariae</a:t>
            </a:r>
            <a:r>
              <a:rPr sz="900" i="1" spc="240">
                <a:latin typeface="Times New Roman"/>
                <a:cs typeface="Times New Roman"/>
              </a:rPr>
              <a:t> </a:t>
            </a:r>
            <a:r>
              <a:rPr sz="900" i="1">
                <a:latin typeface="Times New Roman"/>
                <a:cs typeface="Times New Roman"/>
              </a:rPr>
              <a:t>Curie-</a:t>
            </a:r>
            <a:endParaRPr/>
          </a:p>
          <a:p>
            <a:pPr marL="192405" algn="just">
              <a:lnSpc>
                <a:spcPts val="1050"/>
              </a:lnSpc>
            </a:pPr>
            <a:r>
              <a:rPr sz="900" i="1">
                <a:latin typeface="Times New Roman"/>
                <a:cs typeface="Times New Roman"/>
              </a:rPr>
              <a:t>Skłodowska</a:t>
            </a:r>
            <a:r>
              <a:rPr sz="900" spc="5">
                <a:latin typeface="Times New Roman"/>
                <a:cs typeface="Times New Roman"/>
              </a:rPr>
              <a:t>, </a:t>
            </a:r>
            <a:r>
              <a:rPr sz="900">
                <a:latin typeface="Times New Roman"/>
                <a:cs typeface="Times New Roman"/>
              </a:rPr>
              <a:t>Vol. 48, pp. 129–135.</a:t>
            </a:r>
            <a:endParaRPr/>
          </a:p>
          <a:p>
            <a:pPr marL="193040" indent="-180340" algn="just">
              <a:lnSpc>
                <a:spcPts val="1025"/>
              </a:lnSpc>
              <a:buSzPts val="900"/>
              <a:buFont typeface="Times New Roman"/>
              <a:buAutoNum startAt="13" type="arabicPeriod"/>
            </a:pPr>
            <a:r>
              <a:rPr sz="900">
                <a:latin typeface="Times New Roman"/>
                <a:cs typeface="Times New Roman"/>
              </a:rPr>
              <a:t>Kowerski,</a:t>
            </a:r>
            <a:r>
              <a:rPr sz="900" spc="435">
                <a:latin typeface="Times New Roman"/>
                <a:cs typeface="Times New Roman"/>
              </a:rPr>
              <a:t> </a:t>
            </a:r>
            <a:r>
              <a:rPr sz="900">
                <a:latin typeface="Times New Roman"/>
                <a:cs typeface="Times New Roman"/>
              </a:rPr>
              <a:t>M.</a:t>
            </a:r>
            <a:r>
              <a:rPr sz="900" spc="435">
                <a:latin typeface="Times New Roman"/>
                <a:cs typeface="Times New Roman"/>
              </a:rPr>
              <a:t> </a:t>
            </a:r>
            <a:r>
              <a:rPr sz="900">
                <a:latin typeface="Times New Roman"/>
                <a:cs typeface="Times New Roman"/>
              </a:rPr>
              <a:t>(2010),</a:t>
            </a:r>
            <a:r>
              <a:rPr sz="900" spc="450">
                <a:latin typeface="Times New Roman"/>
                <a:cs typeface="Times New Roman"/>
              </a:rPr>
              <a:t> </a:t>
            </a:r>
            <a:r>
              <a:rPr sz="900">
                <a:latin typeface="Times New Roman"/>
                <a:cs typeface="Times New Roman"/>
              </a:rPr>
              <a:t>«Wpływ</a:t>
            </a:r>
            <a:r>
              <a:rPr sz="900" spc="419">
                <a:latin typeface="Times New Roman"/>
                <a:cs typeface="Times New Roman"/>
              </a:rPr>
              <a:t> </a:t>
            </a:r>
            <a:r>
              <a:rPr sz="900">
                <a:latin typeface="Times New Roman"/>
                <a:cs typeface="Times New Roman"/>
              </a:rPr>
              <a:t>nastrojów</a:t>
            </a:r>
            <a:r>
              <a:rPr sz="900" spc="435">
                <a:latin typeface="Times New Roman"/>
                <a:cs typeface="Times New Roman"/>
              </a:rPr>
              <a:t> </a:t>
            </a:r>
            <a:r>
              <a:rPr sz="900">
                <a:latin typeface="Times New Roman"/>
                <a:cs typeface="Times New Roman"/>
              </a:rPr>
              <a:t>gospodarczych</a:t>
            </a:r>
            <a:r>
              <a:rPr sz="900" spc="440">
                <a:latin typeface="Times New Roman"/>
                <a:cs typeface="Times New Roman"/>
              </a:rPr>
              <a:t> </a:t>
            </a:r>
            <a:r>
              <a:rPr sz="900">
                <a:latin typeface="Times New Roman"/>
                <a:cs typeface="Times New Roman"/>
              </a:rPr>
              <a:t>przedsiębiorców</a:t>
            </a:r>
            <a:r>
              <a:rPr sz="900" spc="419">
                <a:latin typeface="Times New Roman"/>
                <a:cs typeface="Times New Roman"/>
              </a:rPr>
              <a:t> </a:t>
            </a:r>
            <a:r>
              <a:rPr sz="900">
                <a:latin typeface="Times New Roman"/>
                <a:cs typeface="Times New Roman"/>
              </a:rPr>
              <a:t>i</a:t>
            </a:r>
            <a:r>
              <a:rPr sz="900" spc="435">
                <a:latin typeface="Times New Roman"/>
                <a:cs typeface="Times New Roman"/>
              </a:rPr>
              <a:t> </a:t>
            </a:r>
            <a:r>
              <a:rPr sz="900">
                <a:latin typeface="Times New Roman"/>
                <a:cs typeface="Times New Roman"/>
              </a:rPr>
              <a:t>konsumentów</a:t>
            </a:r>
            <a:r>
              <a:rPr sz="900" spc="430">
                <a:latin typeface="Times New Roman"/>
                <a:cs typeface="Times New Roman"/>
              </a:rPr>
              <a:t> </a:t>
            </a:r>
            <a:r>
              <a:rPr sz="900">
                <a:latin typeface="Times New Roman"/>
                <a:cs typeface="Times New Roman"/>
              </a:rPr>
              <a:t>na</a:t>
            </a:r>
            <a:r>
              <a:rPr sz="900" spc="430">
                <a:latin typeface="Times New Roman"/>
                <a:cs typeface="Times New Roman"/>
              </a:rPr>
              <a:t> </a:t>
            </a:r>
            <a:r>
              <a:rPr sz="900">
                <a:latin typeface="Times New Roman"/>
                <a:cs typeface="Times New Roman"/>
              </a:rPr>
              <a:t>decyzje</a:t>
            </a:r>
            <a:r>
              <a:rPr sz="900" spc="465">
                <a:latin typeface="Times New Roman"/>
                <a:cs typeface="Times New Roman"/>
              </a:rPr>
              <a:t> </a:t>
            </a:r>
            <a:r>
              <a:rPr sz="900">
                <a:latin typeface="Times New Roman"/>
                <a:cs typeface="Times New Roman"/>
              </a:rPr>
              <a:t>dywidendowe</a:t>
            </a:r>
            <a:r>
              <a:rPr sz="900" spc="430">
                <a:latin typeface="Times New Roman"/>
                <a:cs typeface="Times New Roman"/>
              </a:rPr>
              <a:t> </a:t>
            </a:r>
            <a:r>
              <a:rPr sz="900">
                <a:latin typeface="Times New Roman"/>
                <a:cs typeface="Times New Roman"/>
              </a:rPr>
              <a:t>spółek</a:t>
            </a:r>
            <a:endParaRPr/>
          </a:p>
          <a:p>
            <a:pPr marL="192405" algn="just">
              <a:lnSpc>
                <a:spcPts val="1040"/>
              </a:lnSpc>
            </a:pPr>
            <a:r>
              <a:rPr sz="900">
                <a:latin typeface="Times New Roman"/>
                <a:cs typeface="Times New Roman"/>
              </a:rPr>
              <a:t>kapitałowych»</a:t>
            </a:r>
            <a:r>
              <a:rPr sz="900" spc="5">
                <a:latin typeface="Times New Roman"/>
                <a:cs typeface="Times New Roman"/>
              </a:rPr>
              <a:t>, </a:t>
            </a:r>
            <a:r>
              <a:rPr sz="900" i="1">
                <a:latin typeface="Times New Roman"/>
                <a:cs typeface="Times New Roman"/>
              </a:rPr>
              <a:t>Barometr Regionalny</a:t>
            </a:r>
            <a:r>
              <a:rPr sz="900" spc="5">
                <a:latin typeface="Times New Roman"/>
                <a:cs typeface="Times New Roman"/>
              </a:rPr>
              <a:t>, </a:t>
            </a:r>
            <a:r>
              <a:rPr sz="900">
                <a:latin typeface="Times New Roman"/>
                <a:cs typeface="Times New Roman"/>
              </a:rPr>
              <a:t>Vol. 2 (20), pp. 19–34.</a:t>
            </a:r>
            <a:endParaRPr/>
          </a:p>
          <a:p>
            <a:pPr marL="193040" indent="-180340" algn="just">
              <a:lnSpc>
                <a:spcPts val="1030"/>
              </a:lnSpc>
              <a:buSzPts val="900"/>
              <a:buFont typeface="Times New Roman"/>
              <a:buAutoNum startAt="14" type="arabicPeriod"/>
            </a:pPr>
            <a:r>
              <a:rPr sz="900">
                <a:latin typeface="Times New Roman"/>
                <a:cs typeface="Times New Roman"/>
              </a:rPr>
              <a:t>La</a:t>
            </a:r>
            <a:r>
              <a:rPr sz="900" spc="104">
                <a:latin typeface="Times New Roman"/>
                <a:cs typeface="Times New Roman"/>
              </a:rPr>
              <a:t> </a:t>
            </a:r>
            <a:r>
              <a:rPr sz="900">
                <a:latin typeface="Times New Roman"/>
                <a:cs typeface="Times New Roman"/>
              </a:rPr>
              <a:t>Porta,</a:t>
            </a:r>
            <a:r>
              <a:rPr sz="900" spc="110">
                <a:latin typeface="Times New Roman"/>
                <a:cs typeface="Times New Roman"/>
              </a:rPr>
              <a:t> </a:t>
            </a:r>
            <a:r>
              <a:rPr sz="900">
                <a:latin typeface="Times New Roman"/>
                <a:cs typeface="Times New Roman"/>
              </a:rPr>
              <a:t>R.,</a:t>
            </a:r>
            <a:r>
              <a:rPr sz="900" spc="110">
                <a:latin typeface="Times New Roman"/>
                <a:cs typeface="Times New Roman"/>
              </a:rPr>
              <a:t> </a:t>
            </a:r>
            <a:r>
              <a:rPr sz="900">
                <a:latin typeface="Times New Roman"/>
                <a:cs typeface="Times New Roman"/>
              </a:rPr>
              <a:t>Lopez,</a:t>
            </a:r>
            <a:r>
              <a:rPr sz="900" spc="110">
                <a:latin typeface="Times New Roman"/>
                <a:cs typeface="Times New Roman"/>
              </a:rPr>
              <a:t> </a:t>
            </a:r>
            <a:r>
              <a:rPr sz="900">
                <a:latin typeface="Times New Roman"/>
                <a:cs typeface="Times New Roman"/>
              </a:rPr>
              <a:t>F.,</a:t>
            </a:r>
            <a:r>
              <a:rPr sz="900" spc="110">
                <a:latin typeface="Times New Roman"/>
                <a:cs typeface="Times New Roman"/>
              </a:rPr>
              <a:t> </a:t>
            </a:r>
            <a:r>
              <a:rPr sz="900">
                <a:latin typeface="Times New Roman"/>
                <a:cs typeface="Times New Roman"/>
              </a:rPr>
              <a:t>Shleifer,</a:t>
            </a:r>
            <a:r>
              <a:rPr sz="900" spc="110">
                <a:latin typeface="Times New Roman"/>
                <a:cs typeface="Times New Roman"/>
              </a:rPr>
              <a:t> </a:t>
            </a:r>
            <a:r>
              <a:rPr sz="900">
                <a:latin typeface="Times New Roman"/>
                <a:cs typeface="Times New Roman"/>
              </a:rPr>
              <a:t>A.</a:t>
            </a:r>
            <a:r>
              <a:rPr sz="900" spc="125">
                <a:latin typeface="Times New Roman"/>
                <a:cs typeface="Times New Roman"/>
              </a:rPr>
              <a:t> </a:t>
            </a:r>
            <a:r>
              <a:rPr sz="900">
                <a:latin typeface="Times New Roman"/>
                <a:cs typeface="Times New Roman"/>
              </a:rPr>
              <a:t>and</a:t>
            </a:r>
            <a:r>
              <a:rPr sz="900" spc="115">
                <a:latin typeface="Times New Roman"/>
                <a:cs typeface="Times New Roman"/>
              </a:rPr>
              <a:t> </a:t>
            </a:r>
            <a:r>
              <a:rPr sz="900">
                <a:latin typeface="Times New Roman"/>
                <a:cs typeface="Times New Roman"/>
              </a:rPr>
              <a:t>Vishny,</a:t>
            </a:r>
            <a:r>
              <a:rPr sz="900" spc="110">
                <a:latin typeface="Times New Roman"/>
                <a:cs typeface="Times New Roman"/>
              </a:rPr>
              <a:t> </a:t>
            </a:r>
            <a:r>
              <a:rPr sz="900">
                <a:latin typeface="Times New Roman"/>
                <a:cs typeface="Times New Roman"/>
              </a:rPr>
              <a:t>R.</a:t>
            </a:r>
            <a:r>
              <a:rPr sz="900" spc="125">
                <a:latin typeface="Times New Roman"/>
                <a:cs typeface="Times New Roman"/>
              </a:rPr>
              <a:t> </a:t>
            </a:r>
            <a:r>
              <a:rPr sz="900">
                <a:latin typeface="Times New Roman"/>
                <a:cs typeface="Times New Roman"/>
              </a:rPr>
              <a:t>(2000),</a:t>
            </a:r>
            <a:r>
              <a:rPr sz="900" spc="130">
                <a:latin typeface="Times New Roman"/>
                <a:cs typeface="Times New Roman"/>
              </a:rPr>
              <a:t> </a:t>
            </a:r>
            <a:r>
              <a:rPr sz="900">
                <a:latin typeface="Times New Roman"/>
                <a:cs typeface="Times New Roman"/>
              </a:rPr>
              <a:t>«Agency</a:t>
            </a:r>
            <a:r>
              <a:rPr sz="900" spc="90">
                <a:latin typeface="Times New Roman"/>
                <a:cs typeface="Times New Roman"/>
              </a:rPr>
              <a:t> </a:t>
            </a:r>
            <a:r>
              <a:rPr sz="900">
                <a:latin typeface="Times New Roman"/>
                <a:cs typeface="Times New Roman"/>
              </a:rPr>
              <a:t>problems</a:t>
            </a:r>
            <a:r>
              <a:rPr sz="900" spc="120">
                <a:latin typeface="Times New Roman"/>
                <a:cs typeface="Times New Roman"/>
              </a:rPr>
              <a:t> </a:t>
            </a:r>
            <a:r>
              <a:rPr sz="900">
                <a:latin typeface="Times New Roman"/>
                <a:cs typeface="Times New Roman"/>
              </a:rPr>
              <a:t>and</a:t>
            </a:r>
            <a:r>
              <a:rPr sz="900" spc="115">
                <a:latin typeface="Times New Roman"/>
                <a:cs typeface="Times New Roman"/>
              </a:rPr>
              <a:t> </a:t>
            </a:r>
            <a:r>
              <a:rPr sz="900">
                <a:latin typeface="Times New Roman"/>
                <a:cs typeface="Times New Roman"/>
              </a:rPr>
              <a:t>dividend</a:t>
            </a:r>
            <a:r>
              <a:rPr sz="900" spc="104">
                <a:latin typeface="Times New Roman"/>
                <a:cs typeface="Times New Roman"/>
              </a:rPr>
              <a:t> </a:t>
            </a:r>
            <a:r>
              <a:rPr sz="900">
                <a:latin typeface="Times New Roman"/>
                <a:cs typeface="Times New Roman"/>
              </a:rPr>
              <a:t>policies</a:t>
            </a:r>
            <a:r>
              <a:rPr sz="900" spc="104">
                <a:latin typeface="Times New Roman"/>
                <a:cs typeface="Times New Roman"/>
              </a:rPr>
              <a:t> </a:t>
            </a:r>
            <a:r>
              <a:rPr sz="900">
                <a:latin typeface="Times New Roman"/>
                <a:cs typeface="Times New Roman"/>
              </a:rPr>
              <a:t>around</a:t>
            </a:r>
            <a:r>
              <a:rPr sz="900" spc="115">
                <a:latin typeface="Times New Roman"/>
                <a:cs typeface="Times New Roman"/>
              </a:rPr>
              <a:t> </a:t>
            </a:r>
            <a:r>
              <a:rPr sz="900">
                <a:latin typeface="Times New Roman"/>
                <a:cs typeface="Times New Roman"/>
              </a:rPr>
              <a:t>the</a:t>
            </a:r>
            <a:r>
              <a:rPr sz="900" spc="104">
                <a:latin typeface="Times New Roman"/>
                <a:cs typeface="Times New Roman"/>
              </a:rPr>
              <a:t> </a:t>
            </a:r>
            <a:r>
              <a:rPr sz="900">
                <a:latin typeface="Times New Roman"/>
                <a:cs typeface="Times New Roman"/>
              </a:rPr>
              <a:t>world</a:t>
            </a:r>
            <a:r>
              <a:rPr sz="900" spc="-30">
                <a:latin typeface="Times New Roman"/>
                <a:cs typeface="Times New Roman"/>
              </a:rPr>
              <a:t>»,</a:t>
            </a:r>
            <a:r>
              <a:rPr sz="900" spc="185">
                <a:latin typeface="Times New Roman"/>
                <a:cs typeface="Times New Roman"/>
              </a:rPr>
              <a:t> </a:t>
            </a:r>
            <a:r>
              <a:rPr sz="900" i="1">
                <a:latin typeface="Times New Roman"/>
                <a:cs typeface="Times New Roman"/>
              </a:rPr>
              <a:t>Journal</a:t>
            </a:r>
            <a:r>
              <a:rPr sz="900" i="1" spc="100">
                <a:latin typeface="Times New Roman"/>
                <a:cs typeface="Times New Roman"/>
              </a:rPr>
              <a:t> </a:t>
            </a:r>
            <a:r>
              <a:rPr sz="900" i="1">
                <a:latin typeface="Times New Roman"/>
                <a:cs typeface="Times New Roman"/>
              </a:rPr>
              <a:t>of</a:t>
            </a:r>
            <a:endParaRPr/>
          </a:p>
          <a:p>
            <a:pPr marL="192405" algn="just">
              <a:lnSpc>
                <a:spcPts val="1045"/>
              </a:lnSpc>
            </a:pPr>
            <a:r>
              <a:rPr sz="900" i="1">
                <a:latin typeface="Times New Roman"/>
                <a:cs typeface="Times New Roman"/>
              </a:rPr>
              <a:t>Finance</a:t>
            </a:r>
            <a:r>
              <a:rPr sz="900" spc="5">
                <a:latin typeface="Times New Roman"/>
                <a:cs typeface="Times New Roman"/>
              </a:rPr>
              <a:t>, </a:t>
            </a:r>
            <a:r>
              <a:rPr sz="900">
                <a:latin typeface="Times New Roman"/>
                <a:cs typeface="Times New Roman"/>
              </a:rPr>
              <a:t>Vol. 55 (1), pp. 1–33, doi: 10.1111/0022-1082.00199.</a:t>
            </a:r>
            <a:endParaRPr/>
          </a:p>
          <a:p>
            <a:pPr marL="193040" indent="-180340" algn="just">
              <a:lnSpc>
                <a:spcPts val="1030"/>
              </a:lnSpc>
              <a:buSzPts val="900"/>
              <a:buFont typeface="Times New Roman"/>
              <a:buAutoNum startAt="15" type="arabicPeriod"/>
            </a:pPr>
            <a:r>
              <a:rPr sz="900">
                <a:latin typeface="Times New Roman"/>
                <a:cs typeface="Times New Roman"/>
              </a:rPr>
              <a:t>Liljeblom,</a:t>
            </a:r>
            <a:r>
              <a:rPr sz="900" spc="220">
                <a:latin typeface="Times New Roman"/>
                <a:cs typeface="Times New Roman"/>
              </a:rPr>
              <a:t> </a:t>
            </a:r>
            <a:r>
              <a:rPr sz="900">
                <a:latin typeface="Times New Roman"/>
                <a:cs typeface="Times New Roman"/>
              </a:rPr>
              <a:t>E.</a:t>
            </a:r>
            <a:r>
              <a:rPr sz="900" spc="220">
                <a:latin typeface="Times New Roman"/>
                <a:cs typeface="Times New Roman"/>
              </a:rPr>
              <a:t> </a:t>
            </a:r>
            <a:r>
              <a:rPr sz="900">
                <a:latin typeface="Times New Roman"/>
                <a:cs typeface="Times New Roman"/>
              </a:rPr>
              <a:t>and</a:t>
            </a:r>
            <a:r>
              <a:rPr sz="900" spc="209">
                <a:latin typeface="Times New Roman"/>
                <a:cs typeface="Times New Roman"/>
              </a:rPr>
              <a:t> </a:t>
            </a:r>
            <a:r>
              <a:rPr sz="900">
                <a:latin typeface="Times New Roman"/>
                <a:cs typeface="Times New Roman"/>
              </a:rPr>
              <a:t>Maury,</a:t>
            </a:r>
            <a:r>
              <a:rPr sz="900" spc="220">
                <a:latin typeface="Times New Roman"/>
                <a:cs typeface="Times New Roman"/>
              </a:rPr>
              <a:t> </a:t>
            </a:r>
            <a:r>
              <a:rPr sz="900">
                <a:latin typeface="Times New Roman"/>
                <a:cs typeface="Times New Roman"/>
              </a:rPr>
              <a:t>B.</a:t>
            </a:r>
            <a:r>
              <a:rPr sz="900" spc="220">
                <a:latin typeface="Times New Roman"/>
                <a:cs typeface="Times New Roman"/>
              </a:rPr>
              <a:t> </a:t>
            </a:r>
            <a:r>
              <a:rPr sz="900">
                <a:latin typeface="Times New Roman"/>
                <a:cs typeface="Times New Roman"/>
              </a:rPr>
              <a:t>(2016),</a:t>
            </a:r>
            <a:r>
              <a:rPr sz="900" spc="240">
                <a:latin typeface="Times New Roman"/>
                <a:cs typeface="Times New Roman"/>
              </a:rPr>
              <a:t> </a:t>
            </a:r>
            <a:r>
              <a:rPr sz="900">
                <a:latin typeface="Times New Roman"/>
                <a:cs typeface="Times New Roman"/>
              </a:rPr>
              <a:t>«Shareholder</a:t>
            </a:r>
            <a:r>
              <a:rPr sz="900" spc="205">
                <a:latin typeface="Times New Roman"/>
                <a:cs typeface="Times New Roman"/>
              </a:rPr>
              <a:t> </a:t>
            </a:r>
            <a:r>
              <a:rPr sz="900">
                <a:latin typeface="Times New Roman"/>
                <a:cs typeface="Times New Roman"/>
              </a:rPr>
              <a:t>Protection,</a:t>
            </a:r>
            <a:r>
              <a:rPr sz="900" spc="195">
                <a:latin typeface="Times New Roman"/>
                <a:cs typeface="Times New Roman"/>
              </a:rPr>
              <a:t> </a:t>
            </a:r>
            <a:r>
              <a:rPr sz="900">
                <a:latin typeface="Times New Roman"/>
                <a:cs typeface="Times New Roman"/>
              </a:rPr>
              <a:t>Ownership,</a:t>
            </a:r>
            <a:r>
              <a:rPr sz="900" spc="220">
                <a:latin typeface="Times New Roman"/>
                <a:cs typeface="Times New Roman"/>
              </a:rPr>
              <a:t> </a:t>
            </a:r>
            <a:r>
              <a:rPr sz="900">
                <a:latin typeface="Times New Roman"/>
                <a:cs typeface="Times New Roman"/>
              </a:rPr>
              <a:t>and</a:t>
            </a:r>
            <a:r>
              <a:rPr sz="900" spc="225">
                <a:latin typeface="Times New Roman"/>
                <a:cs typeface="Times New Roman"/>
              </a:rPr>
              <a:t> </a:t>
            </a:r>
            <a:r>
              <a:rPr sz="900">
                <a:latin typeface="Times New Roman"/>
                <a:cs typeface="Times New Roman"/>
              </a:rPr>
              <a:t>Dividends:</a:t>
            </a:r>
            <a:r>
              <a:rPr sz="900" spc="205">
                <a:latin typeface="Times New Roman"/>
                <a:cs typeface="Times New Roman"/>
              </a:rPr>
              <a:t> </a:t>
            </a:r>
            <a:r>
              <a:rPr sz="900">
                <a:latin typeface="Times New Roman"/>
                <a:cs typeface="Times New Roman"/>
              </a:rPr>
              <a:t>Russian</a:t>
            </a:r>
            <a:r>
              <a:rPr sz="900" spc="225">
                <a:latin typeface="Times New Roman"/>
                <a:cs typeface="Times New Roman"/>
              </a:rPr>
              <a:t> </a:t>
            </a:r>
            <a:r>
              <a:rPr sz="900">
                <a:latin typeface="Times New Roman"/>
                <a:cs typeface="Times New Roman"/>
              </a:rPr>
              <a:t>Evidence»</a:t>
            </a:r>
            <a:r>
              <a:rPr sz="900" spc="5">
                <a:latin typeface="Times New Roman"/>
                <a:cs typeface="Times New Roman"/>
              </a:rPr>
              <a:t>,</a:t>
            </a:r>
            <a:r>
              <a:rPr sz="900" spc="215">
                <a:latin typeface="Times New Roman"/>
                <a:cs typeface="Times New Roman"/>
              </a:rPr>
              <a:t> </a:t>
            </a:r>
            <a:r>
              <a:rPr sz="900" i="1">
                <a:latin typeface="Times New Roman"/>
                <a:cs typeface="Times New Roman"/>
              </a:rPr>
              <a:t>Emerging</a:t>
            </a:r>
            <a:r>
              <a:rPr sz="900" i="1" spc="225">
                <a:latin typeface="Times New Roman"/>
                <a:cs typeface="Times New Roman"/>
              </a:rPr>
              <a:t> </a:t>
            </a:r>
            <a:r>
              <a:rPr sz="900" i="1">
                <a:latin typeface="Times New Roman"/>
                <a:cs typeface="Times New Roman"/>
              </a:rPr>
              <a:t>Markets</a:t>
            </a:r>
            <a:endParaRPr/>
          </a:p>
          <a:p>
            <a:pPr marL="192405" algn="just">
              <a:lnSpc>
                <a:spcPts val="1035"/>
              </a:lnSpc>
            </a:pPr>
            <a:r>
              <a:rPr sz="900" i="1">
                <a:latin typeface="Times New Roman"/>
                <a:cs typeface="Times New Roman"/>
              </a:rPr>
              <a:t>Finance &amp; Trade</a:t>
            </a:r>
            <a:r>
              <a:rPr sz="900" spc="5">
                <a:latin typeface="Times New Roman"/>
                <a:cs typeface="Times New Roman"/>
              </a:rPr>
              <a:t>, </a:t>
            </a:r>
            <a:r>
              <a:rPr sz="900">
                <a:latin typeface="Times New Roman"/>
                <a:cs typeface="Times New Roman"/>
              </a:rPr>
              <a:t>Vol. 52, pp. 2414–2433, doi: </a:t>
            </a:r>
            <a:r>
              <a:rPr sz="900">
                <a:latin typeface="Times New Roman"/>
                <a:cs typeface="Times New Roman"/>
                <a:hlinkClick r:id="rId6">
                  <a:extLst>
                    <a:ext uri="{A12FA001-AC4F-418D-AE19-62706E023703}">
                      <ahyp:hlinkClr xmlns:ahyp="http://schemas.microsoft.com/office/drawing/2018/hyperlinkcolor" val="tx"/>
                    </a:ext>
                  </a:extLst>
                </a:hlinkClick>
              </a:rPr>
              <a:t>http://dx.doi.org/10.1080/1540496X.2015.1073991</a:t>
            </a:r>
            <a:r>
              <a:rPr sz="900">
                <a:latin typeface="Times New Roman"/>
                <a:cs typeface="Times New Roman"/>
              </a:rPr>
              <a:t>.</a:t>
            </a:r>
            <a:endParaRPr/>
          </a:p>
          <a:p>
            <a:pPr marL="193040" indent="-180340" algn="just">
              <a:lnSpc>
                <a:spcPts val="1030"/>
              </a:lnSpc>
              <a:buSzPts val="900"/>
              <a:buFont typeface="Times New Roman"/>
              <a:buAutoNum startAt="16" type="arabicPeriod"/>
            </a:pPr>
            <a:r>
              <a:rPr sz="900">
                <a:latin typeface="Times New Roman"/>
                <a:cs typeface="Times New Roman"/>
              </a:rPr>
              <a:t>Neves, E. (2014), «Ownership structure and investors sentiments for dividends»</a:t>
            </a:r>
            <a:r>
              <a:rPr sz="900" spc="5">
                <a:latin typeface="Times New Roman"/>
                <a:cs typeface="Times New Roman"/>
              </a:rPr>
              <a:t>, </a:t>
            </a:r>
            <a:r>
              <a:rPr sz="900" i="1">
                <a:latin typeface="Times New Roman"/>
                <a:cs typeface="Times New Roman"/>
              </a:rPr>
              <a:t>International Journal of Financial Research</a:t>
            </a:r>
            <a:r>
              <a:rPr sz="900" spc="5">
                <a:latin typeface="Times New Roman"/>
                <a:cs typeface="Times New Roman"/>
              </a:rPr>
              <a:t>, </a:t>
            </a:r>
            <a:r>
              <a:rPr sz="900">
                <a:latin typeface="Times New Roman"/>
                <a:cs typeface="Times New Roman"/>
              </a:rPr>
              <a:t>Vol. 5 (2),</a:t>
            </a:r>
            <a:endParaRPr/>
          </a:p>
          <a:p>
            <a:pPr marL="192405" algn="just">
              <a:lnSpc>
                <a:spcPts val="1045"/>
              </a:lnSpc>
            </a:pPr>
            <a:r>
              <a:rPr sz="900" spc="5">
                <a:latin typeface="Times New Roman"/>
                <a:cs typeface="Times New Roman"/>
              </a:rPr>
              <a:t>pp. 35</a:t>
            </a:r>
            <a:r>
              <a:rPr sz="900">
                <a:latin typeface="Times New Roman"/>
                <a:cs typeface="Times New Roman"/>
              </a:rPr>
              <a:t>–58.</a:t>
            </a:r>
            <a:endParaRPr/>
          </a:p>
          <a:p>
            <a:pPr marL="193040" indent="-180340" algn="just">
              <a:lnSpc>
                <a:spcPts val="1030"/>
              </a:lnSpc>
              <a:buSzPts val="900"/>
              <a:buFont typeface="Times New Roman"/>
              <a:buAutoNum startAt="17" type="arabicPeriod"/>
            </a:pPr>
            <a:r>
              <a:rPr sz="900">
                <a:latin typeface="Times New Roman"/>
                <a:cs typeface="Times New Roman"/>
              </a:rPr>
              <a:t>Pieloch-Babiarz,</a:t>
            </a:r>
            <a:r>
              <a:rPr sz="900" spc="125">
                <a:latin typeface="Times New Roman"/>
                <a:cs typeface="Times New Roman"/>
              </a:rPr>
              <a:t> </a:t>
            </a:r>
            <a:r>
              <a:rPr sz="900">
                <a:latin typeface="Times New Roman"/>
                <a:cs typeface="Times New Roman"/>
              </a:rPr>
              <a:t>A.</a:t>
            </a:r>
            <a:r>
              <a:rPr sz="900" spc="125">
                <a:latin typeface="Times New Roman"/>
                <a:cs typeface="Times New Roman"/>
              </a:rPr>
              <a:t> </a:t>
            </a:r>
            <a:r>
              <a:rPr sz="900">
                <a:latin typeface="Times New Roman"/>
                <a:cs typeface="Times New Roman"/>
              </a:rPr>
              <a:t>(2017),</a:t>
            </a:r>
            <a:r>
              <a:rPr sz="900" spc="145">
                <a:latin typeface="Times New Roman"/>
                <a:cs typeface="Times New Roman"/>
              </a:rPr>
              <a:t> </a:t>
            </a:r>
            <a:r>
              <a:rPr sz="900">
                <a:latin typeface="Times New Roman"/>
                <a:cs typeface="Times New Roman"/>
              </a:rPr>
              <a:t>«Determinants</a:t>
            </a:r>
            <a:r>
              <a:rPr sz="900" spc="120">
                <a:latin typeface="Times New Roman"/>
                <a:cs typeface="Times New Roman"/>
              </a:rPr>
              <a:t> </a:t>
            </a:r>
            <a:r>
              <a:rPr sz="900">
                <a:latin typeface="Times New Roman"/>
                <a:cs typeface="Times New Roman"/>
              </a:rPr>
              <a:t>of</a:t>
            </a:r>
            <a:r>
              <a:rPr sz="900" spc="120">
                <a:latin typeface="Times New Roman"/>
                <a:cs typeface="Times New Roman"/>
              </a:rPr>
              <a:t> </a:t>
            </a:r>
            <a:r>
              <a:rPr sz="900">
                <a:latin typeface="Times New Roman"/>
                <a:cs typeface="Times New Roman"/>
              </a:rPr>
              <a:t>payout</a:t>
            </a:r>
            <a:r>
              <a:rPr sz="900" spc="125">
                <a:latin typeface="Times New Roman"/>
                <a:cs typeface="Times New Roman"/>
              </a:rPr>
              <a:t> </a:t>
            </a:r>
            <a:r>
              <a:rPr sz="900">
                <a:latin typeface="Times New Roman"/>
                <a:cs typeface="Times New Roman"/>
              </a:rPr>
              <a:t>policy</a:t>
            </a:r>
            <a:r>
              <a:rPr sz="900" spc="104">
                <a:latin typeface="Times New Roman"/>
                <a:cs typeface="Times New Roman"/>
              </a:rPr>
              <a:t> </a:t>
            </a:r>
            <a:r>
              <a:rPr sz="900">
                <a:latin typeface="Times New Roman"/>
                <a:cs typeface="Times New Roman"/>
              </a:rPr>
              <a:t>and</a:t>
            </a:r>
            <a:r>
              <a:rPr sz="900" spc="130">
                <a:latin typeface="Times New Roman"/>
                <a:cs typeface="Times New Roman"/>
              </a:rPr>
              <a:t> </a:t>
            </a:r>
            <a:r>
              <a:rPr sz="900">
                <a:latin typeface="Times New Roman"/>
                <a:cs typeface="Times New Roman"/>
              </a:rPr>
              <a:t>investment</a:t>
            </a:r>
            <a:r>
              <a:rPr sz="900" spc="125">
                <a:latin typeface="Times New Roman"/>
                <a:cs typeface="Times New Roman"/>
              </a:rPr>
              <a:t> </a:t>
            </a:r>
            <a:r>
              <a:rPr sz="900">
                <a:latin typeface="Times New Roman"/>
                <a:cs typeface="Times New Roman"/>
              </a:rPr>
              <a:t>attractiveness</a:t>
            </a:r>
            <a:r>
              <a:rPr sz="900" spc="120">
                <a:latin typeface="Times New Roman"/>
                <a:cs typeface="Times New Roman"/>
              </a:rPr>
              <a:t> </a:t>
            </a:r>
            <a:r>
              <a:rPr sz="900">
                <a:latin typeface="Times New Roman"/>
                <a:cs typeface="Times New Roman"/>
              </a:rPr>
              <a:t>of</a:t>
            </a:r>
            <a:r>
              <a:rPr sz="900" spc="120">
                <a:latin typeface="Times New Roman"/>
                <a:cs typeface="Times New Roman"/>
              </a:rPr>
              <a:t> </a:t>
            </a:r>
            <a:r>
              <a:rPr sz="900">
                <a:latin typeface="Times New Roman"/>
                <a:cs typeface="Times New Roman"/>
              </a:rPr>
              <a:t>companies</a:t>
            </a:r>
            <a:r>
              <a:rPr sz="900" spc="120">
                <a:latin typeface="Times New Roman"/>
                <a:cs typeface="Times New Roman"/>
              </a:rPr>
              <a:t> </a:t>
            </a:r>
            <a:r>
              <a:rPr sz="900">
                <a:latin typeface="Times New Roman"/>
                <a:cs typeface="Times New Roman"/>
              </a:rPr>
              <a:t>listed</a:t>
            </a:r>
            <a:r>
              <a:rPr sz="900" spc="130">
                <a:latin typeface="Times New Roman"/>
                <a:cs typeface="Times New Roman"/>
              </a:rPr>
              <a:t> </a:t>
            </a:r>
            <a:r>
              <a:rPr sz="900">
                <a:latin typeface="Times New Roman"/>
                <a:cs typeface="Times New Roman"/>
              </a:rPr>
              <a:t>on</a:t>
            </a:r>
            <a:r>
              <a:rPr sz="900" spc="130">
                <a:latin typeface="Times New Roman"/>
                <a:cs typeface="Times New Roman"/>
              </a:rPr>
              <a:t> </a:t>
            </a:r>
            <a:r>
              <a:rPr sz="900">
                <a:latin typeface="Times New Roman"/>
                <a:cs typeface="Times New Roman"/>
              </a:rPr>
              <a:t>the</a:t>
            </a:r>
            <a:r>
              <a:rPr sz="900" spc="120">
                <a:latin typeface="Times New Roman"/>
                <a:cs typeface="Times New Roman"/>
              </a:rPr>
              <a:t> </a:t>
            </a:r>
            <a:r>
              <a:rPr sz="900">
                <a:latin typeface="Times New Roman"/>
                <a:cs typeface="Times New Roman"/>
              </a:rPr>
              <a:t>Warsaw</a:t>
            </a:r>
            <a:r>
              <a:rPr sz="900" spc="120">
                <a:latin typeface="Times New Roman"/>
                <a:cs typeface="Times New Roman"/>
              </a:rPr>
              <a:t> </a:t>
            </a:r>
            <a:r>
              <a:rPr sz="900">
                <a:latin typeface="Times New Roman"/>
                <a:cs typeface="Times New Roman"/>
              </a:rPr>
              <a:t>Stock</a:t>
            </a:r>
            <a:endParaRPr/>
          </a:p>
          <a:p>
            <a:pPr marL="192405" algn="just">
              <a:lnSpc>
                <a:spcPts val="1030"/>
              </a:lnSpc>
            </a:pPr>
            <a:r>
              <a:rPr sz="900">
                <a:latin typeface="Times New Roman"/>
                <a:cs typeface="Times New Roman"/>
              </a:rPr>
              <a:t>Exchange</a:t>
            </a:r>
            <a:r>
              <a:rPr sz="900" spc="-20">
                <a:latin typeface="Times New Roman"/>
                <a:cs typeface="Times New Roman"/>
              </a:rPr>
              <a:t>», </a:t>
            </a:r>
            <a:r>
              <a:rPr sz="900" i="1">
                <a:latin typeface="Times New Roman"/>
                <a:cs typeface="Times New Roman"/>
              </a:rPr>
              <a:t>Equilibrium. Quarterly Journal of Economics and Economic Policy</a:t>
            </a:r>
            <a:r>
              <a:rPr sz="900" spc="5">
                <a:latin typeface="Times New Roman"/>
                <a:cs typeface="Times New Roman"/>
              </a:rPr>
              <a:t>, </a:t>
            </a:r>
            <a:r>
              <a:rPr sz="900">
                <a:latin typeface="Times New Roman"/>
                <a:cs typeface="Times New Roman"/>
              </a:rPr>
              <a:t>Vol. 12 (4), pp. 675–691, doi: 10.24136/eq.v12i4.35.</a:t>
            </a:r>
            <a:endParaRPr/>
          </a:p>
          <a:p>
            <a:pPr marL="193040" indent="-180340" algn="just">
              <a:lnSpc>
                <a:spcPts val="1035"/>
              </a:lnSpc>
              <a:buSzPts val="900"/>
              <a:buFont typeface="Times New Roman"/>
              <a:buAutoNum startAt="18" type="arabicPeriod"/>
            </a:pPr>
            <a:r>
              <a:rPr sz="900">
                <a:latin typeface="Times New Roman"/>
                <a:cs typeface="Times New Roman"/>
              </a:rPr>
              <a:t>Ramli,</a:t>
            </a:r>
            <a:r>
              <a:rPr sz="900" spc="220">
                <a:latin typeface="Times New Roman"/>
                <a:cs typeface="Times New Roman"/>
              </a:rPr>
              <a:t> </a:t>
            </a:r>
            <a:r>
              <a:rPr sz="900">
                <a:latin typeface="Times New Roman"/>
                <a:cs typeface="Times New Roman"/>
              </a:rPr>
              <a:t>N.M.</a:t>
            </a:r>
            <a:r>
              <a:rPr sz="900" spc="220">
                <a:latin typeface="Times New Roman"/>
                <a:cs typeface="Times New Roman"/>
              </a:rPr>
              <a:t> </a:t>
            </a:r>
            <a:r>
              <a:rPr sz="900">
                <a:latin typeface="Times New Roman"/>
                <a:cs typeface="Times New Roman"/>
              </a:rPr>
              <a:t>(2010),</a:t>
            </a:r>
            <a:r>
              <a:rPr sz="900" spc="245">
                <a:latin typeface="Times New Roman"/>
                <a:cs typeface="Times New Roman"/>
              </a:rPr>
              <a:t> </a:t>
            </a:r>
            <a:r>
              <a:rPr sz="900">
                <a:latin typeface="Times New Roman"/>
                <a:cs typeface="Times New Roman"/>
              </a:rPr>
              <a:t>«Ownership</a:t>
            </a:r>
            <a:r>
              <a:rPr sz="900" spc="225">
                <a:latin typeface="Times New Roman"/>
                <a:cs typeface="Times New Roman"/>
              </a:rPr>
              <a:t> </a:t>
            </a:r>
            <a:r>
              <a:rPr sz="900">
                <a:latin typeface="Times New Roman"/>
                <a:cs typeface="Times New Roman"/>
              </a:rPr>
              <a:t>Structure</a:t>
            </a:r>
            <a:r>
              <a:rPr sz="900" spc="215">
                <a:latin typeface="Times New Roman"/>
                <a:cs typeface="Times New Roman"/>
              </a:rPr>
              <a:t> </a:t>
            </a:r>
            <a:r>
              <a:rPr sz="900">
                <a:latin typeface="Times New Roman"/>
                <a:cs typeface="Times New Roman"/>
              </a:rPr>
              <a:t>and</a:t>
            </a:r>
            <a:r>
              <a:rPr sz="900" spc="225">
                <a:latin typeface="Times New Roman"/>
                <a:cs typeface="Times New Roman"/>
              </a:rPr>
              <a:t> </a:t>
            </a:r>
            <a:r>
              <a:rPr sz="900">
                <a:latin typeface="Times New Roman"/>
                <a:cs typeface="Times New Roman"/>
              </a:rPr>
              <a:t>Dividend</a:t>
            </a:r>
            <a:r>
              <a:rPr sz="900" spc="209">
                <a:latin typeface="Times New Roman"/>
                <a:cs typeface="Times New Roman"/>
              </a:rPr>
              <a:t> </a:t>
            </a:r>
            <a:r>
              <a:rPr sz="900">
                <a:latin typeface="Times New Roman"/>
                <a:cs typeface="Times New Roman"/>
              </a:rPr>
              <a:t>Policy.</a:t>
            </a:r>
            <a:r>
              <a:rPr sz="900" spc="220">
                <a:latin typeface="Times New Roman"/>
                <a:cs typeface="Times New Roman"/>
              </a:rPr>
              <a:t> </a:t>
            </a:r>
            <a:r>
              <a:rPr sz="900">
                <a:latin typeface="Times New Roman"/>
                <a:cs typeface="Times New Roman"/>
              </a:rPr>
              <a:t>Evidence</a:t>
            </a:r>
            <a:r>
              <a:rPr sz="900" spc="225">
                <a:latin typeface="Times New Roman"/>
                <a:cs typeface="Times New Roman"/>
              </a:rPr>
              <a:t> </a:t>
            </a:r>
            <a:r>
              <a:rPr sz="900">
                <a:latin typeface="Times New Roman"/>
                <a:cs typeface="Times New Roman"/>
              </a:rPr>
              <a:t>from</a:t>
            </a:r>
            <a:r>
              <a:rPr sz="900" spc="200">
                <a:latin typeface="Times New Roman"/>
                <a:cs typeface="Times New Roman"/>
              </a:rPr>
              <a:t> </a:t>
            </a:r>
            <a:r>
              <a:rPr sz="900">
                <a:latin typeface="Times New Roman"/>
                <a:cs typeface="Times New Roman"/>
              </a:rPr>
              <a:t>Malaysian</a:t>
            </a:r>
            <a:r>
              <a:rPr sz="900" spc="225">
                <a:latin typeface="Times New Roman"/>
                <a:cs typeface="Times New Roman"/>
              </a:rPr>
              <a:t> </a:t>
            </a:r>
            <a:r>
              <a:rPr sz="900">
                <a:latin typeface="Times New Roman"/>
                <a:cs typeface="Times New Roman"/>
              </a:rPr>
              <a:t>Companies»</a:t>
            </a:r>
            <a:r>
              <a:rPr sz="900" spc="5">
                <a:latin typeface="Times New Roman"/>
                <a:cs typeface="Times New Roman"/>
              </a:rPr>
              <a:t>,</a:t>
            </a:r>
            <a:r>
              <a:rPr sz="900" spc="215">
                <a:latin typeface="Times New Roman"/>
                <a:cs typeface="Times New Roman"/>
              </a:rPr>
              <a:t> </a:t>
            </a:r>
            <a:r>
              <a:rPr sz="900" i="1">
                <a:latin typeface="Times New Roman"/>
                <a:cs typeface="Times New Roman"/>
              </a:rPr>
              <a:t>International</a:t>
            </a:r>
            <a:r>
              <a:rPr sz="900" i="1" spc="220">
                <a:latin typeface="Times New Roman"/>
                <a:cs typeface="Times New Roman"/>
              </a:rPr>
              <a:t> </a:t>
            </a:r>
            <a:r>
              <a:rPr sz="900" i="1">
                <a:latin typeface="Times New Roman"/>
                <a:cs typeface="Times New Roman"/>
              </a:rPr>
              <a:t>Review</a:t>
            </a:r>
            <a:r>
              <a:rPr sz="900" i="1" spc="225">
                <a:latin typeface="Times New Roman"/>
                <a:cs typeface="Times New Roman"/>
              </a:rPr>
              <a:t> </a:t>
            </a:r>
            <a:r>
              <a:rPr sz="900" i="1">
                <a:latin typeface="Times New Roman"/>
                <a:cs typeface="Times New Roman"/>
              </a:rPr>
              <a:t>of</a:t>
            </a:r>
            <a:endParaRPr/>
          </a:p>
          <a:p>
            <a:pPr marL="192405" algn="just">
              <a:lnSpc>
                <a:spcPts val="1045"/>
              </a:lnSpc>
            </a:pPr>
            <a:r>
              <a:rPr sz="900" i="1">
                <a:latin typeface="Times New Roman"/>
                <a:cs typeface="Times New Roman"/>
              </a:rPr>
              <a:t>Business Research Papers</a:t>
            </a:r>
            <a:r>
              <a:rPr sz="900" spc="5">
                <a:latin typeface="Times New Roman"/>
                <a:cs typeface="Times New Roman"/>
              </a:rPr>
              <a:t>, </a:t>
            </a:r>
            <a:r>
              <a:rPr sz="900">
                <a:latin typeface="Times New Roman"/>
                <a:cs typeface="Times New Roman"/>
              </a:rPr>
              <a:t>Vol. 6 (1), pp. 170–180.</a:t>
            </a:r>
            <a:endParaRPr/>
          </a:p>
          <a:p>
            <a:pPr marL="193040" indent="-180340" algn="just">
              <a:lnSpc>
                <a:spcPts val="1030"/>
              </a:lnSpc>
              <a:buSzPts val="900"/>
              <a:buFont typeface="Times New Roman"/>
              <a:buAutoNum startAt="19" type="arabicPeriod"/>
            </a:pPr>
            <a:r>
              <a:rPr sz="900">
                <a:latin typeface="Times New Roman"/>
                <a:cs typeface="Times New Roman"/>
              </a:rPr>
              <a:t>Short,</a:t>
            </a:r>
            <a:r>
              <a:rPr sz="900" spc="125">
                <a:latin typeface="Times New Roman"/>
                <a:cs typeface="Times New Roman"/>
              </a:rPr>
              <a:t> </a:t>
            </a:r>
            <a:r>
              <a:rPr sz="900">
                <a:latin typeface="Times New Roman"/>
                <a:cs typeface="Times New Roman"/>
              </a:rPr>
              <a:t>H.,</a:t>
            </a:r>
            <a:r>
              <a:rPr sz="900" spc="125">
                <a:latin typeface="Times New Roman"/>
                <a:cs typeface="Times New Roman"/>
              </a:rPr>
              <a:t> </a:t>
            </a:r>
            <a:r>
              <a:rPr sz="900">
                <a:latin typeface="Times New Roman"/>
                <a:cs typeface="Times New Roman"/>
              </a:rPr>
              <a:t>Zhang,</a:t>
            </a:r>
            <a:r>
              <a:rPr sz="900" spc="125">
                <a:latin typeface="Times New Roman"/>
                <a:cs typeface="Times New Roman"/>
              </a:rPr>
              <a:t> </a:t>
            </a:r>
            <a:r>
              <a:rPr sz="900">
                <a:latin typeface="Times New Roman"/>
                <a:cs typeface="Times New Roman"/>
              </a:rPr>
              <a:t>H.</a:t>
            </a:r>
            <a:r>
              <a:rPr sz="900" spc="125">
                <a:latin typeface="Times New Roman"/>
                <a:cs typeface="Times New Roman"/>
              </a:rPr>
              <a:t> </a:t>
            </a:r>
            <a:r>
              <a:rPr sz="900">
                <a:latin typeface="Times New Roman"/>
                <a:cs typeface="Times New Roman"/>
              </a:rPr>
              <a:t>and</a:t>
            </a:r>
            <a:r>
              <a:rPr sz="900" spc="130">
                <a:latin typeface="Times New Roman"/>
                <a:cs typeface="Times New Roman"/>
              </a:rPr>
              <a:t> </a:t>
            </a:r>
            <a:r>
              <a:rPr sz="900">
                <a:latin typeface="Times New Roman"/>
                <a:cs typeface="Times New Roman"/>
              </a:rPr>
              <a:t>Keasey,</a:t>
            </a:r>
            <a:r>
              <a:rPr sz="900" spc="135">
                <a:latin typeface="Times New Roman"/>
                <a:cs typeface="Times New Roman"/>
              </a:rPr>
              <a:t> </a:t>
            </a:r>
            <a:r>
              <a:rPr sz="900">
                <a:latin typeface="Times New Roman"/>
                <a:cs typeface="Times New Roman"/>
              </a:rPr>
              <a:t>K.</a:t>
            </a:r>
            <a:r>
              <a:rPr sz="900" spc="125">
                <a:latin typeface="Times New Roman"/>
                <a:cs typeface="Times New Roman"/>
              </a:rPr>
              <a:t> </a:t>
            </a:r>
            <a:r>
              <a:rPr sz="900">
                <a:latin typeface="Times New Roman"/>
                <a:cs typeface="Times New Roman"/>
              </a:rPr>
              <a:t>(2002),</a:t>
            </a:r>
            <a:r>
              <a:rPr sz="900" spc="155">
                <a:latin typeface="Times New Roman"/>
                <a:cs typeface="Times New Roman"/>
              </a:rPr>
              <a:t> </a:t>
            </a:r>
            <a:r>
              <a:rPr sz="900">
                <a:latin typeface="Times New Roman"/>
                <a:cs typeface="Times New Roman"/>
              </a:rPr>
              <a:t>«The</a:t>
            </a:r>
            <a:r>
              <a:rPr sz="900" spc="130">
                <a:latin typeface="Times New Roman"/>
                <a:cs typeface="Times New Roman"/>
              </a:rPr>
              <a:t> </a:t>
            </a:r>
            <a:r>
              <a:rPr sz="900">
                <a:latin typeface="Times New Roman"/>
                <a:cs typeface="Times New Roman"/>
              </a:rPr>
              <a:t>Link</a:t>
            </a:r>
            <a:r>
              <a:rPr sz="900" spc="115">
                <a:latin typeface="Times New Roman"/>
                <a:cs typeface="Times New Roman"/>
              </a:rPr>
              <a:t> </a:t>
            </a:r>
            <a:r>
              <a:rPr sz="900">
                <a:latin typeface="Times New Roman"/>
                <a:cs typeface="Times New Roman"/>
              </a:rPr>
              <a:t>Between</a:t>
            </a:r>
            <a:r>
              <a:rPr sz="900" spc="130">
                <a:latin typeface="Times New Roman"/>
                <a:cs typeface="Times New Roman"/>
              </a:rPr>
              <a:t> </a:t>
            </a:r>
            <a:r>
              <a:rPr sz="900">
                <a:latin typeface="Times New Roman"/>
                <a:cs typeface="Times New Roman"/>
              </a:rPr>
              <a:t>Dividend</a:t>
            </a:r>
            <a:r>
              <a:rPr sz="900" spc="115">
                <a:latin typeface="Times New Roman"/>
                <a:cs typeface="Times New Roman"/>
              </a:rPr>
              <a:t> </a:t>
            </a:r>
            <a:r>
              <a:rPr sz="900">
                <a:latin typeface="Times New Roman"/>
                <a:cs typeface="Times New Roman"/>
              </a:rPr>
              <a:t>Policy</a:t>
            </a:r>
            <a:r>
              <a:rPr sz="900" spc="104">
                <a:latin typeface="Times New Roman"/>
                <a:cs typeface="Times New Roman"/>
              </a:rPr>
              <a:t> </a:t>
            </a:r>
            <a:r>
              <a:rPr sz="900">
                <a:latin typeface="Times New Roman"/>
                <a:cs typeface="Times New Roman"/>
              </a:rPr>
              <a:t>and</a:t>
            </a:r>
            <a:r>
              <a:rPr sz="900" spc="130">
                <a:latin typeface="Times New Roman"/>
                <a:cs typeface="Times New Roman"/>
              </a:rPr>
              <a:t> </a:t>
            </a:r>
            <a:r>
              <a:rPr sz="900">
                <a:latin typeface="Times New Roman"/>
                <a:cs typeface="Times New Roman"/>
              </a:rPr>
              <a:t>Industrial</a:t>
            </a:r>
            <a:r>
              <a:rPr sz="900" spc="110">
                <a:latin typeface="Times New Roman"/>
                <a:cs typeface="Times New Roman"/>
              </a:rPr>
              <a:t> </a:t>
            </a:r>
            <a:r>
              <a:rPr sz="900">
                <a:latin typeface="Times New Roman"/>
                <a:cs typeface="Times New Roman"/>
              </a:rPr>
              <a:t>Ownership»</a:t>
            </a:r>
            <a:r>
              <a:rPr sz="900" spc="15">
                <a:latin typeface="Times New Roman"/>
                <a:cs typeface="Times New Roman"/>
              </a:rPr>
              <a:t>,</a:t>
            </a:r>
            <a:r>
              <a:rPr sz="900" spc="110">
                <a:latin typeface="Times New Roman"/>
                <a:cs typeface="Times New Roman"/>
              </a:rPr>
              <a:t> </a:t>
            </a:r>
            <a:r>
              <a:rPr sz="900" i="1">
                <a:latin typeface="Times New Roman"/>
                <a:cs typeface="Times New Roman"/>
              </a:rPr>
              <a:t>Journal</a:t>
            </a:r>
            <a:r>
              <a:rPr sz="900" i="1" spc="110">
                <a:latin typeface="Times New Roman"/>
                <a:cs typeface="Times New Roman"/>
              </a:rPr>
              <a:t> </a:t>
            </a:r>
            <a:r>
              <a:rPr sz="900" i="1">
                <a:latin typeface="Times New Roman"/>
                <a:cs typeface="Times New Roman"/>
              </a:rPr>
              <a:t>of</a:t>
            </a:r>
            <a:r>
              <a:rPr sz="900" i="1" spc="125">
                <a:latin typeface="Times New Roman"/>
                <a:cs typeface="Times New Roman"/>
              </a:rPr>
              <a:t> </a:t>
            </a:r>
            <a:r>
              <a:rPr sz="900" i="1">
                <a:latin typeface="Times New Roman"/>
                <a:cs typeface="Times New Roman"/>
              </a:rPr>
              <a:t>Corporate</a:t>
            </a:r>
            <a:endParaRPr/>
          </a:p>
          <a:p>
            <a:pPr marL="192405" algn="just">
              <a:lnSpc>
                <a:spcPts val="1035"/>
              </a:lnSpc>
            </a:pPr>
            <a:r>
              <a:rPr sz="900" i="1">
                <a:latin typeface="Times New Roman"/>
                <a:cs typeface="Times New Roman"/>
              </a:rPr>
              <a:t>Finance</a:t>
            </a:r>
            <a:r>
              <a:rPr sz="900" spc="5">
                <a:latin typeface="Times New Roman"/>
                <a:cs typeface="Times New Roman"/>
              </a:rPr>
              <a:t>, </a:t>
            </a:r>
            <a:r>
              <a:rPr sz="900">
                <a:latin typeface="Times New Roman"/>
                <a:cs typeface="Times New Roman"/>
              </a:rPr>
              <a:t>Vol. 8, pp. 105–122.</a:t>
            </a:r>
            <a:endParaRPr/>
          </a:p>
          <a:p>
            <a:pPr marL="193040" indent="-180340" algn="just">
              <a:lnSpc>
                <a:spcPts val="1030"/>
              </a:lnSpc>
              <a:buSzPts val="900"/>
              <a:buFont typeface="Times New Roman"/>
              <a:buAutoNum startAt="20" type="arabicPeriod"/>
            </a:pPr>
            <a:r>
              <a:rPr sz="900">
                <a:latin typeface="Times New Roman"/>
                <a:cs typeface="Times New Roman"/>
              </a:rPr>
              <a:t>Smith, D.D., Pennathur, A.K. and Marciniak, M.R. (2017), «Why do CEOs agree to the discipline of dividends?»</a:t>
            </a:r>
            <a:r>
              <a:rPr sz="900" spc="5">
                <a:latin typeface="Times New Roman"/>
                <a:cs typeface="Times New Roman"/>
              </a:rPr>
              <a:t>, </a:t>
            </a:r>
            <a:r>
              <a:rPr sz="900" i="1">
                <a:latin typeface="Times New Roman"/>
                <a:cs typeface="Times New Roman"/>
              </a:rPr>
              <a:t>International Review</a:t>
            </a:r>
            <a:endParaRPr/>
          </a:p>
          <a:p>
            <a:pPr marL="192405" algn="just">
              <a:lnSpc>
                <a:spcPts val="1045"/>
              </a:lnSpc>
            </a:pPr>
            <a:r>
              <a:rPr sz="900" i="1">
                <a:latin typeface="Times New Roman"/>
                <a:cs typeface="Times New Roman"/>
              </a:rPr>
              <a:t>of Financial Analysis</a:t>
            </a:r>
            <a:r>
              <a:rPr sz="900" spc="5">
                <a:latin typeface="Times New Roman"/>
                <a:cs typeface="Times New Roman"/>
              </a:rPr>
              <a:t>, </a:t>
            </a:r>
            <a:r>
              <a:rPr sz="900">
                <a:latin typeface="Times New Roman"/>
                <a:cs typeface="Times New Roman"/>
              </a:rPr>
              <a:t>Vol. 52, pp. 38–48, doi: </a:t>
            </a:r>
            <a:r>
              <a:rPr sz="900">
                <a:latin typeface="Times New Roman"/>
                <a:cs typeface="Times New Roman"/>
                <a:hlinkClick r:id="rId7">
                  <a:extLst>
                    <a:ext uri="{A12FA001-AC4F-418D-AE19-62706E023703}">
                      <ahyp:hlinkClr xmlns:ahyp="http://schemas.microsoft.com/office/drawing/2018/hyperlinkcolor" val="tx"/>
                    </a:ext>
                  </a:extLst>
                </a:hlinkClick>
              </a:rPr>
              <a:t>http://dx.doi.org/10.1016/j.irfa.2017.04.010</a:t>
            </a:r>
            <a:r>
              <a:rPr sz="900">
                <a:latin typeface="Times New Roman"/>
                <a:cs typeface="Times New Roman"/>
              </a:rPr>
              <a:t>.</a:t>
            </a:r>
            <a:endParaRPr/>
          </a:p>
          <a:p>
            <a:pPr marL="193040" indent="-180340" algn="just">
              <a:lnSpc>
                <a:spcPts val="1030"/>
              </a:lnSpc>
              <a:buSzPts val="900"/>
              <a:buFont typeface="Times New Roman"/>
              <a:buAutoNum startAt="21" type="arabicPeriod"/>
            </a:pPr>
            <a:r>
              <a:rPr sz="900">
                <a:latin typeface="Times New Roman"/>
                <a:cs typeface="Times New Roman"/>
              </a:rPr>
              <a:t>Ullah,</a:t>
            </a:r>
            <a:r>
              <a:rPr sz="900" spc="90">
                <a:latin typeface="Times New Roman"/>
                <a:cs typeface="Times New Roman"/>
              </a:rPr>
              <a:t> </a:t>
            </a:r>
            <a:r>
              <a:rPr sz="900">
                <a:latin typeface="Times New Roman"/>
                <a:cs typeface="Times New Roman"/>
              </a:rPr>
              <a:t>H.,</a:t>
            </a:r>
            <a:r>
              <a:rPr sz="900" spc="90">
                <a:latin typeface="Times New Roman"/>
                <a:cs typeface="Times New Roman"/>
              </a:rPr>
              <a:t> </a:t>
            </a:r>
            <a:r>
              <a:rPr sz="900">
                <a:latin typeface="Times New Roman"/>
                <a:cs typeface="Times New Roman"/>
              </a:rPr>
              <a:t>Fida,</a:t>
            </a:r>
            <a:r>
              <a:rPr sz="900" spc="90">
                <a:latin typeface="Times New Roman"/>
                <a:cs typeface="Times New Roman"/>
              </a:rPr>
              <a:t> </a:t>
            </a:r>
            <a:r>
              <a:rPr sz="900">
                <a:latin typeface="Times New Roman"/>
                <a:cs typeface="Times New Roman"/>
              </a:rPr>
              <a:t>A.</a:t>
            </a:r>
            <a:r>
              <a:rPr sz="900" spc="90">
                <a:latin typeface="Times New Roman"/>
                <a:cs typeface="Times New Roman"/>
              </a:rPr>
              <a:t> </a:t>
            </a:r>
            <a:r>
              <a:rPr sz="900">
                <a:latin typeface="Times New Roman"/>
                <a:cs typeface="Times New Roman"/>
              </a:rPr>
              <a:t>and</a:t>
            </a:r>
            <a:r>
              <a:rPr sz="900" spc="90">
                <a:latin typeface="Times New Roman"/>
                <a:cs typeface="Times New Roman"/>
              </a:rPr>
              <a:t> </a:t>
            </a:r>
            <a:r>
              <a:rPr sz="900">
                <a:latin typeface="Times New Roman"/>
                <a:cs typeface="Times New Roman"/>
              </a:rPr>
              <a:t>Khan,</a:t>
            </a:r>
            <a:r>
              <a:rPr sz="900" spc="90">
                <a:latin typeface="Times New Roman"/>
                <a:cs typeface="Times New Roman"/>
              </a:rPr>
              <a:t> </a:t>
            </a:r>
            <a:r>
              <a:rPr sz="900">
                <a:latin typeface="Times New Roman"/>
                <a:cs typeface="Times New Roman"/>
              </a:rPr>
              <a:t>S.</a:t>
            </a:r>
            <a:r>
              <a:rPr sz="900" spc="90">
                <a:latin typeface="Times New Roman"/>
                <a:cs typeface="Times New Roman"/>
              </a:rPr>
              <a:t> </a:t>
            </a:r>
            <a:r>
              <a:rPr sz="900">
                <a:latin typeface="Times New Roman"/>
                <a:cs typeface="Times New Roman"/>
              </a:rPr>
              <a:t>(2012),</a:t>
            </a:r>
            <a:r>
              <a:rPr sz="900" spc="125">
                <a:latin typeface="Times New Roman"/>
                <a:cs typeface="Times New Roman"/>
              </a:rPr>
              <a:t> </a:t>
            </a:r>
            <a:r>
              <a:rPr sz="900">
                <a:latin typeface="Times New Roman"/>
                <a:cs typeface="Times New Roman"/>
              </a:rPr>
              <a:t>«The</a:t>
            </a:r>
            <a:r>
              <a:rPr sz="900" spc="85">
                <a:latin typeface="Times New Roman"/>
                <a:cs typeface="Times New Roman"/>
              </a:rPr>
              <a:t> </a:t>
            </a:r>
            <a:r>
              <a:rPr sz="900">
                <a:latin typeface="Times New Roman"/>
                <a:cs typeface="Times New Roman"/>
              </a:rPr>
              <a:t>Impact</a:t>
            </a:r>
            <a:r>
              <a:rPr sz="900" spc="90">
                <a:latin typeface="Times New Roman"/>
                <a:cs typeface="Times New Roman"/>
              </a:rPr>
              <a:t> </a:t>
            </a:r>
            <a:r>
              <a:rPr sz="900">
                <a:latin typeface="Times New Roman"/>
                <a:cs typeface="Times New Roman"/>
              </a:rPr>
              <a:t>of</a:t>
            </a:r>
            <a:r>
              <a:rPr sz="900" spc="85">
                <a:latin typeface="Times New Roman"/>
                <a:cs typeface="Times New Roman"/>
              </a:rPr>
              <a:t> </a:t>
            </a:r>
            <a:r>
              <a:rPr sz="900">
                <a:latin typeface="Times New Roman"/>
                <a:cs typeface="Times New Roman"/>
              </a:rPr>
              <a:t>Ownership</a:t>
            </a:r>
            <a:r>
              <a:rPr sz="900" spc="95">
                <a:latin typeface="Times New Roman"/>
                <a:cs typeface="Times New Roman"/>
              </a:rPr>
              <a:t> </a:t>
            </a:r>
            <a:r>
              <a:rPr sz="900">
                <a:latin typeface="Times New Roman"/>
                <a:cs typeface="Times New Roman"/>
              </a:rPr>
              <a:t>Structure</a:t>
            </a:r>
            <a:r>
              <a:rPr sz="900" spc="85">
                <a:latin typeface="Times New Roman"/>
                <a:cs typeface="Times New Roman"/>
              </a:rPr>
              <a:t> </a:t>
            </a:r>
            <a:r>
              <a:rPr sz="900">
                <a:latin typeface="Times New Roman"/>
                <a:cs typeface="Times New Roman"/>
              </a:rPr>
              <a:t>on</a:t>
            </a:r>
            <a:r>
              <a:rPr sz="900" spc="90">
                <a:latin typeface="Times New Roman"/>
                <a:cs typeface="Times New Roman"/>
              </a:rPr>
              <a:t> </a:t>
            </a:r>
            <a:r>
              <a:rPr sz="900">
                <a:latin typeface="Times New Roman"/>
                <a:cs typeface="Times New Roman"/>
              </a:rPr>
              <a:t>Dividend</a:t>
            </a:r>
            <a:r>
              <a:rPr sz="900" spc="90">
                <a:latin typeface="Times New Roman"/>
                <a:cs typeface="Times New Roman"/>
              </a:rPr>
              <a:t> </a:t>
            </a:r>
            <a:r>
              <a:rPr sz="900">
                <a:latin typeface="Times New Roman"/>
                <a:cs typeface="Times New Roman"/>
              </a:rPr>
              <a:t>Policy.</a:t>
            </a:r>
            <a:r>
              <a:rPr sz="900" spc="90">
                <a:latin typeface="Times New Roman"/>
                <a:cs typeface="Times New Roman"/>
              </a:rPr>
              <a:t> </a:t>
            </a:r>
            <a:r>
              <a:rPr sz="900">
                <a:latin typeface="Times New Roman"/>
                <a:cs typeface="Times New Roman"/>
              </a:rPr>
              <a:t>Evidence</a:t>
            </a:r>
            <a:r>
              <a:rPr sz="900" spc="95">
                <a:latin typeface="Times New Roman"/>
                <a:cs typeface="Times New Roman"/>
              </a:rPr>
              <a:t> </a:t>
            </a:r>
            <a:r>
              <a:rPr sz="900">
                <a:latin typeface="Times New Roman"/>
                <a:cs typeface="Times New Roman"/>
              </a:rPr>
              <a:t>form</a:t>
            </a:r>
            <a:r>
              <a:rPr sz="900" spc="70">
                <a:latin typeface="Times New Roman"/>
                <a:cs typeface="Times New Roman"/>
              </a:rPr>
              <a:t> </a:t>
            </a:r>
            <a:r>
              <a:rPr sz="900">
                <a:latin typeface="Times New Roman"/>
                <a:cs typeface="Times New Roman"/>
              </a:rPr>
              <a:t>Emerging</a:t>
            </a:r>
            <a:r>
              <a:rPr sz="900" spc="80">
                <a:latin typeface="Times New Roman"/>
                <a:cs typeface="Times New Roman"/>
              </a:rPr>
              <a:t> </a:t>
            </a:r>
            <a:r>
              <a:rPr sz="900">
                <a:latin typeface="Times New Roman"/>
                <a:cs typeface="Times New Roman"/>
              </a:rPr>
              <a:t>Markets</a:t>
            </a:r>
            <a:endParaRPr/>
          </a:p>
          <a:p>
            <a:pPr marL="192405" algn="just">
              <a:lnSpc>
                <a:spcPts val="1035"/>
              </a:lnSpc>
            </a:pPr>
            <a:r>
              <a:rPr sz="900">
                <a:latin typeface="Times New Roman"/>
                <a:cs typeface="Times New Roman"/>
              </a:rPr>
              <a:t>KSE-100 Index Pakistan»</a:t>
            </a:r>
            <a:r>
              <a:rPr sz="900" spc="5">
                <a:latin typeface="Times New Roman"/>
                <a:cs typeface="Times New Roman"/>
              </a:rPr>
              <a:t>, </a:t>
            </a:r>
            <a:r>
              <a:rPr sz="900" i="1">
                <a:latin typeface="Times New Roman"/>
                <a:cs typeface="Times New Roman"/>
              </a:rPr>
              <a:t>International Journal of Business and Social Science</a:t>
            </a:r>
            <a:r>
              <a:rPr sz="900" spc="5">
                <a:latin typeface="Times New Roman"/>
                <a:cs typeface="Times New Roman"/>
              </a:rPr>
              <a:t>, </a:t>
            </a:r>
            <a:r>
              <a:rPr sz="900">
                <a:latin typeface="Times New Roman"/>
                <a:cs typeface="Times New Roman"/>
              </a:rPr>
              <a:t>Vol. 3 (9), pp. 289–307.</a:t>
            </a:r>
            <a:endParaRPr/>
          </a:p>
          <a:p>
            <a:pPr marL="193040" indent="-180340" algn="just">
              <a:lnSpc>
                <a:spcPts val="1035"/>
              </a:lnSpc>
              <a:buSzPts val="900"/>
              <a:buFont typeface="Times New Roman"/>
              <a:buAutoNum startAt="22" type="arabicPeriod"/>
            </a:pPr>
            <a:r>
              <a:rPr sz="900">
                <a:latin typeface="Times New Roman"/>
                <a:cs typeface="Times New Roman"/>
              </a:rPr>
              <a:t>Wang,</a:t>
            </a:r>
            <a:r>
              <a:rPr sz="900" spc="110">
                <a:latin typeface="Times New Roman"/>
                <a:cs typeface="Times New Roman"/>
              </a:rPr>
              <a:t> </a:t>
            </a:r>
            <a:r>
              <a:rPr sz="900">
                <a:latin typeface="Times New Roman"/>
                <a:cs typeface="Times New Roman"/>
              </a:rPr>
              <a:t>P.,</a:t>
            </a:r>
            <a:r>
              <a:rPr sz="900" spc="110">
                <a:latin typeface="Times New Roman"/>
                <a:cs typeface="Times New Roman"/>
              </a:rPr>
              <a:t> </a:t>
            </a:r>
            <a:r>
              <a:rPr sz="900">
                <a:latin typeface="Times New Roman"/>
                <a:cs typeface="Times New Roman"/>
              </a:rPr>
              <a:t>Li,</a:t>
            </a:r>
            <a:r>
              <a:rPr sz="900" spc="115">
                <a:latin typeface="Times New Roman"/>
                <a:cs typeface="Times New Roman"/>
              </a:rPr>
              <a:t> </a:t>
            </a:r>
            <a:r>
              <a:rPr sz="900">
                <a:latin typeface="Times New Roman"/>
                <a:cs typeface="Times New Roman"/>
              </a:rPr>
              <a:t>Y.,</a:t>
            </a:r>
            <a:r>
              <a:rPr sz="900" spc="115">
                <a:latin typeface="Times New Roman"/>
                <a:cs typeface="Times New Roman"/>
              </a:rPr>
              <a:t> </a:t>
            </a:r>
            <a:r>
              <a:rPr sz="900">
                <a:latin typeface="Times New Roman"/>
                <a:cs typeface="Times New Roman"/>
              </a:rPr>
              <a:t>Wang,</a:t>
            </a:r>
            <a:r>
              <a:rPr sz="900" spc="110">
                <a:latin typeface="Times New Roman"/>
                <a:cs typeface="Times New Roman"/>
              </a:rPr>
              <a:t> </a:t>
            </a:r>
            <a:r>
              <a:rPr sz="900">
                <a:latin typeface="Times New Roman"/>
                <a:cs typeface="Times New Roman"/>
              </a:rPr>
              <a:t>Y.H.,</a:t>
            </a:r>
            <a:r>
              <a:rPr sz="900" spc="115">
                <a:latin typeface="Times New Roman"/>
                <a:cs typeface="Times New Roman"/>
              </a:rPr>
              <a:t> </a:t>
            </a:r>
            <a:r>
              <a:rPr sz="900">
                <a:latin typeface="Times New Roman"/>
                <a:cs typeface="Times New Roman"/>
              </a:rPr>
              <a:t>and</a:t>
            </a:r>
            <a:r>
              <a:rPr sz="900" spc="115">
                <a:latin typeface="Times New Roman"/>
                <a:cs typeface="Times New Roman"/>
              </a:rPr>
              <a:t> </a:t>
            </a:r>
            <a:r>
              <a:rPr sz="900">
                <a:latin typeface="Times New Roman"/>
                <a:cs typeface="Times New Roman"/>
              </a:rPr>
              <a:t>Zhu,</a:t>
            </a:r>
            <a:r>
              <a:rPr sz="900" spc="110">
                <a:latin typeface="Times New Roman"/>
                <a:cs typeface="Times New Roman"/>
              </a:rPr>
              <a:t> </a:t>
            </a:r>
            <a:r>
              <a:rPr sz="900">
                <a:latin typeface="Times New Roman"/>
                <a:cs typeface="Times New Roman"/>
              </a:rPr>
              <a:t>Z.Q.</a:t>
            </a:r>
            <a:r>
              <a:rPr sz="900" spc="110">
                <a:latin typeface="Times New Roman"/>
                <a:cs typeface="Times New Roman"/>
              </a:rPr>
              <a:t> </a:t>
            </a:r>
            <a:r>
              <a:rPr sz="900">
                <a:latin typeface="Times New Roman"/>
                <a:cs typeface="Times New Roman"/>
              </a:rPr>
              <a:t>(2015),</a:t>
            </a:r>
            <a:r>
              <a:rPr sz="900" spc="160">
                <a:latin typeface="Times New Roman"/>
                <a:cs typeface="Times New Roman"/>
              </a:rPr>
              <a:t> </a:t>
            </a:r>
            <a:r>
              <a:rPr sz="900">
                <a:latin typeface="Times New Roman"/>
                <a:cs typeface="Times New Roman"/>
              </a:rPr>
              <a:t>«A</a:t>
            </a:r>
            <a:r>
              <a:rPr sz="900" spc="95">
                <a:latin typeface="Times New Roman"/>
                <a:cs typeface="Times New Roman"/>
              </a:rPr>
              <a:t> </a:t>
            </a:r>
            <a:r>
              <a:rPr sz="900">
                <a:latin typeface="Times New Roman"/>
                <a:cs typeface="Times New Roman"/>
              </a:rPr>
              <a:t>new</a:t>
            </a:r>
            <a:r>
              <a:rPr sz="900" spc="120">
                <a:latin typeface="Times New Roman"/>
                <a:cs typeface="Times New Roman"/>
              </a:rPr>
              <a:t> </a:t>
            </a:r>
            <a:r>
              <a:rPr sz="900">
                <a:latin typeface="Times New Roman"/>
                <a:cs typeface="Times New Roman"/>
              </a:rPr>
              <a:t>method</a:t>
            </a:r>
            <a:r>
              <a:rPr sz="900" spc="104">
                <a:latin typeface="Times New Roman"/>
                <a:cs typeface="Times New Roman"/>
              </a:rPr>
              <a:t> </a:t>
            </a:r>
            <a:r>
              <a:rPr sz="900">
                <a:latin typeface="Times New Roman"/>
                <a:cs typeface="Times New Roman"/>
              </a:rPr>
              <a:t>based</a:t>
            </a:r>
            <a:r>
              <a:rPr sz="900" spc="115">
                <a:latin typeface="Times New Roman"/>
                <a:cs typeface="Times New Roman"/>
              </a:rPr>
              <a:t> </a:t>
            </a:r>
            <a:r>
              <a:rPr sz="900">
                <a:latin typeface="Times New Roman"/>
                <a:cs typeface="Times New Roman"/>
              </a:rPr>
              <a:t>on</a:t>
            </a:r>
            <a:r>
              <a:rPr sz="900" spc="115">
                <a:latin typeface="Times New Roman"/>
                <a:cs typeface="Times New Roman"/>
              </a:rPr>
              <a:t> </a:t>
            </a:r>
            <a:r>
              <a:rPr sz="900">
                <a:latin typeface="Times New Roman"/>
                <a:cs typeface="Times New Roman"/>
              </a:rPr>
              <a:t>TOPSIS</a:t>
            </a:r>
            <a:r>
              <a:rPr sz="900" spc="115">
                <a:latin typeface="Times New Roman"/>
                <a:cs typeface="Times New Roman"/>
              </a:rPr>
              <a:t> </a:t>
            </a:r>
            <a:r>
              <a:rPr sz="900">
                <a:latin typeface="Times New Roman"/>
                <a:cs typeface="Times New Roman"/>
              </a:rPr>
              <a:t>and</a:t>
            </a:r>
            <a:r>
              <a:rPr sz="900" spc="115">
                <a:latin typeface="Times New Roman"/>
                <a:cs typeface="Times New Roman"/>
              </a:rPr>
              <a:t> </a:t>
            </a:r>
            <a:r>
              <a:rPr sz="900">
                <a:latin typeface="Times New Roman"/>
                <a:cs typeface="Times New Roman"/>
              </a:rPr>
              <a:t>Response</a:t>
            </a:r>
            <a:r>
              <a:rPr sz="900" spc="104">
                <a:latin typeface="Times New Roman"/>
                <a:cs typeface="Times New Roman"/>
              </a:rPr>
              <a:t> </a:t>
            </a:r>
            <a:r>
              <a:rPr sz="900">
                <a:latin typeface="Times New Roman"/>
                <a:cs typeface="Times New Roman"/>
              </a:rPr>
              <a:t>Surface</a:t>
            </a:r>
            <a:r>
              <a:rPr sz="900" spc="135">
                <a:latin typeface="Times New Roman"/>
                <a:cs typeface="Times New Roman"/>
              </a:rPr>
              <a:t> </a:t>
            </a:r>
            <a:r>
              <a:rPr sz="900">
                <a:latin typeface="Times New Roman"/>
                <a:cs typeface="Times New Roman"/>
              </a:rPr>
              <a:t>Method</a:t>
            </a:r>
            <a:r>
              <a:rPr sz="900" spc="115">
                <a:latin typeface="Times New Roman"/>
                <a:cs typeface="Times New Roman"/>
              </a:rPr>
              <a:t> </a:t>
            </a:r>
            <a:r>
              <a:rPr sz="900">
                <a:latin typeface="Times New Roman"/>
                <a:cs typeface="Times New Roman"/>
              </a:rPr>
              <a:t>for</a:t>
            </a:r>
            <a:r>
              <a:rPr sz="900" spc="110">
                <a:latin typeface="Times New Roman"/>
                <a:cs typeface="Times New Roman"/>
              </a:rPr>
              <a:t> </a:t>
            </a:r>
            <a:r>
              <a:rPr sz="900">
                <a:latin typeface="Times New Roman"/>
                <a:cs typeface="Times New Roman"/>
              </a:rPr>
              <a:t>MCDM</a:t>
            </a:r>
            <a:endParaRPr/>
          </a:p>
          <a:p>
            <a:pPr marL="192405" algn="just">
              <a:lnSpc>
                <a:spcPts val="1045"/>
              </a:lnSpc>
            </a:pPr>
            <a:r>
              <a:rPr sz="900">
                <a:latin typeface="Times New Roman"/>
                <a:cs typeface="Times New Roman"/>
              </a:rPr>
              <a:t>problems with interval numbers</a:t>
            </a:r>
            <a:r>
              <a:rPr sz="900" spc="-30">
                <a:latin typeface="Times New Roman"/>
                <a:cs typeface="Times New Roman"/>
              </a:rPr>
              <a:t>»,</a:t>
            </a:r>
            <a:r>
              <a:rPr sz="900" spc="80">
                <a:latin typeface="Times New Roman"/>
                <a:cs typeface="Times New Roman"/>
              </a:rPr>
              <a:t> </a:t>
            </a:r>
            <a:r>
              <a:rPr sz="900" i="1">
                <a:latin typeface="Times New Roman"/>
                <a:cs typeface="Times New Roman"/>
              </a:rPr>
              <a:t>Mathematical Problems in Engineering</a:t>
            </a:r>
            <a:r>
              <a:rPr sz="900">
                <a:latin typeface="Times New Roman"/>
                <a:cs typeface="Times New Roman"/>
              </a:rPr>
              <a:t>, April, doi: 10.1155/2015/ 938535.</a:t>
            </a:r>
            <a:endParaRPr/>
          </a:p>
          <a:p>
            <a:pPr marL="193040" indent="-180340" algn="just">
              <a:lnSpc>
                <a:spcPts val="1030"/>
              </a:lnSpc>
              <a:buSzPts val="900"/>
              <a:buFont typeface="Times New Roman"/>
              <a:buAutoNum startAt="23" type="arabicPeriod"/>
            </a:pPr>
            <a:r>
              <a:rPr sz="900">
                <a:latin typeface="Times New Roman"/>
                <a:cs typeface="Times New Roman"/>
              </a:rPr>
              <a:t>Wawryszuk‑Misztal,</a:t>
            </a:r>
            <a:r>
              <a:rPr sz="900" spc="110">
                <a:latin typeface="Times New Roman"/>
                <a:cs typeface="Times New Roman"/>
              </a:rPr>
              <a:t> </a:t>
            </a:r>
            <a:r>
              <a:rPr sz="900">
                <a:latin typeface="Times New Roman"/>
                <a:cs typeface="Times New Roman"/>
              </a:rPr>
              <a:t>A.</a:t>
            </a:r>
            <a:r>
              <a:rPr sz="900" spc="115">
                <a:latin typeface="Times New Roman"/>
                <a:cs typeface="Times New Roman"/>
              </a:rPr>
              <a:t> </a:t>
            </a:r>
            <a:r>
              <a:rPr sz="900">
                <a:latin typeface="Times New Roman"/>
                <a:cs typeface="Times New Roman"/>
              </a:rPr>
              <a:t>(2016),</a:t>
            </a:r>
            <a:r>
              <a:rPr sz="900" spc="110">
                <a:latin typeface="Times New Roman"/>
                <a:cs typeface="Times New Roman"/>
              </a:rPr>
              <a:t> </a:t>
            </a:r>
            <a:r>
              <a:rPr sz="900">
                <a:latin typeface="Times New Roman"/>
                <a:cs typeface="Times New Roman"/>
              </a:rPr>
              <a:t>«Zmiany</a:t>
            </a:r>
            <a:r>
              <a:rPr sz="900" spc="90">
                <a:latin typeface="Times New Roman"/>
                <a:cs typeface="Times New Roman"/>
              </a:rPr>
              <a:t> </a:t>
            </a:r>
            <a:r>
              <a:rPr sz="900">
                <a:latin typeface="Times New Roman"/>
                <a:cs typeface="Times New Roman"/>
              </a:rPr>
              <a:t>w</a:t>
            </a:r>
            <a:r>
              <a:rPr sz="900" spc="95">
                <a:latin typeface="Times New Roman"/>
                <a:cs typeface="Times New Roman"/>
              </a:rPr>
              <a:t> </a:t>
            </a:r>
            <a:r>
              <a:rPr sz="900">
                <a:latin typeface="Times New Roman"/>
                <a:cs typeface="Times New Roman"/>
              </a:rPr>
              <a:t>strukturze</a:t>
            </a:r>
            <a:r>
              <a:rPr sz="900" spc="95">
                <a:latin typeface="Times New Roman"/>
                <a:cs typeface="Times New Roman"/>
              </a:rPr>
              <a:t> </a:t>
            </a:r>
            <a:r>
              <a:rPr sz="900">
                <a:latin typeface="Times New Roman"/>
                <a:cs typeface="Times New Roman"/>
              </a:rPr>
              <a:t>akcjonariatu</a:t>
            </a:r>
            <a:r>
              <a:rPr sz="900" spc="104">
                <a:latin typeface="Times New Roman"/>
                <a:cs typeface="Times New Roman"/>
              </a:rPr>
              <a:t> </a:t>
            </a:r>
            <a:r>
              <a:rPr sz="900">
                <a:latin typeface="Times New Roman"/>
                <a:cs typeface="Times New Roman"/>
              </a:rPr>
              <a:t>polskich</a:t>
            </a:r>
            <a:r>
              <a:rPr sz="900" spc="100">
                <a:latin typeface="Times New Roman"/>
                <a:cs typeface="Times New Roman"/>
              </a:rPr>
              <a:t> </a:t>
            </a:r>
            <a:r>
              <a:rPr sz="900">
                <a:latin typeface="Times New Roman"/>
                <a:cs typeface="Times New Roman"/>
              </a:rPr>
              <a:t>spółek</a:t>
            </a:r>
            <a:r>
              <a:rPr sz="900" spc="90">
                <a:latin typeface="Times New Roman"/>
                <a:cs typeface="Times New Roman"/>
              </a:rPr>
              <a:t> </a:t>
            </a:r>
            <a:r>
              <a:rPr sz="900">
                <a:latin typeface="Times New Roman"/>
                <a:cs typeface="Times New Roman"/>
              </a:rPr>
              <a:t>giełdowych</a:t>
            </a:r>
            <a:r>
              <a:rPr sz="900" spc="104">
                <a:latin typeface="Times New Roman"/>
                <a:cs typeface="Times New Roman"/>
              </a:rPr>
              <a:t> </a:t>
            </a:r>
            <a:r>
              <a:rPr sz="900">
                <a:latin typeface="Times New Roman"/>
                <a:cs typeface="Times New Roman"/>
              </a:rPr>
              <a:t>zmieniających</a:t>
            </a:r>
            <a:r>
              <a:rPr sz="900" spc="104">
                <a:latin typeface="Times New Roman"/>
                <a:cs typeface="Times New Roman"/>
              </a:rPr>
              <a:t> </a:t>
            </a:r>
            <a:r>
              <a:rPr sz="900">
                <a:latin typeface="Times New Roman"/>
                <a:cs typeface="Times New Roman"/>
              </a:rPr>
              <a:t>rynek</a:t>
            </a:r>
            <a:r>
              <a:rPr sz="900" spc="90">
                <a:latin typeface="Times New Roman"/>
                <a:cs typeface="Times New Roman"/>
              </a:rPr>
              <a:t> </a:t>
            </a:r>
            <a:r>
              <a:rPr sz="900">
                <a:latin typeface="Times New Roman"/>
                <a:cs typeface="Times New Roman"/>
              </a:rPr>
              <a:t>notowań</a:t>
            </a:r>
            <a:r>
              <a:rPr sz="900" spc="104">
                <a:latin typeface="Times New Roman"/>
                <a:cs typeface="Times New Roman"/>
              </a:rPr>
              <a:t> </a:t>
            </a:r>
            <a:r>
              <a:rPr sz="900">
                <a:latin typeface="Times New Roman"/>
                <a:cs typeface="Times New Roman"/>
              </a:rPr>
              <a:t>akcji»</a:t>
            </a:r>
            <a:r>
              <a:rPr sz="900" spc="15">
                <a:latin typeface="Times New Roman"/>
                <a:cs typeface="Times New Roman"/>
              </a:rPr>
              <a:t>,</a:t>
            </a:r>
            <a:endParaRPr/>
          </a:p>
          <a:p>
            <a:pPr marL="192405" algn="just">
              <a:lnSpc>
                <a:spcPts val="1030"/>
              </a:lnSpc>
            </a:pPr>
            <a:r>
              <a:rPr sz="900" i="1">
                <a:latin typeface="Times New Roman"/>
                <a:cs typeface="Times New Roman"/>
              </a:rPr>
              <a:t>Acta Universitatis Lodziensis. Folia Oeconomica</a:t>
            </a:r>
            <a:r>
              <a:rPr sz="900" spc="5">
                <a:latin typeface="Times New Roman"/>
                <a:cs typeface="Times New Roman"/>
              </a:rPr>
              <a:t>, </a:t>
            </a:r>
            <a:r>
              <a:rPr sz="900">
                <a:latin typeface="Times New Roman"/>
                <a:cs typeface="Times New Roman"/>
              </a:rPr>
              <a:t>Vol. 4 (323), pp. 141–153.</a:t>
            </a:r>
            <a:endParaRPr/>
          </a:p>
          <a:p>
            <a:pPr marL="193040" indent="-180340" algn="just">
              <a:lnSpc>
                <a:spcPts val="1035"/>
              </a:lnSpc>
              <a:buSzPts val="900"/>
              <a:buFont typeface="Times New Roman"/>
              <a:buAutoNum startAt="24" type="arabicPeriod"/>
            </a:pPr>
            <a:r>
              <a:rPr sz="900">
                <a:latin typeface="Times New Roman"/>
                <a:cs typeface="Times New Roman"/>
              </a:rPr>
              <a:t>Wypych,</a:t>
            </a:r>
            <a:r>
              <a:rPr sz="900" spc="270">
                <a:latin typeface="Times New Roman"/>
                <a:cs typeface="Times New Roman"/>
              </a:rPr>
              <a:t> </a:t>
            </a:r>
            <a:r>
              <a:rPr sz="900">
                <a:latin typeface="Times New Roman"/>
                <a:cs typeface="Times New Roman"/>
              </a:rPr>
              <a:t>M.</a:t>
            </a:r>
            <a:r>
              <a:rPr sz="900" spc="270">
                <a:latin typeface="Times New Roman"/>
                <a:cs typeface="Times New Roman"/>
              </a:rPr>
              <a:t> </a:t>
            </a:r>
            <a:r>
              <a:rPr sz="900">
                <a:latin typeface="Times New Roman"/>
                <a:cs typeface="Times New Roman"/>
              </a:rPr>
              <a:t>(2015),</a:t>
            </a:r>
            <a:r>
              <a:rPr sz="900" spc="290">
                <a:latin typeface="Times New Roman"/>
                <a:cs typeface="Times New Roman"/>
              </a:rPr>
              <a:t> </a:t>
            </a:r>
            <a:r>
              <a:rPr sz="900">
                <a:latin typeface="Times New Roman"/>
                <a:cs typeface="Times New Roman"/>
              </a:rPr>
              <a:t>«Koncentracja</a:t>
            </a:r>
            <a:r>
              <a:rPr sz="900" spc="275">
                <a:latin typeface="Times New Roman"/>
                <a:cs typeface="Times New Roman"/>
              </a:rPr>
              <a:t> </a:t>
            </a:r>
            <a:r>
              <a:rPr sz="900">
                <a:latin typeface="Times New Roman"/>
                <a:cs typeface="Times New Roman"/>
              </a:rPr>
              <a:t>własności</a:t>
            </a:r>
            <a:r>
              <a:rPr sz="900" spc="270">
                <a:latin typeface="Times New Roman"/>
                <a:cs typeface="Times New Roman"/>
              </a:rPr>
              <a:t> </a:t>
            </a:r>
            <a:r>
              <a:rPr sz="900">
                <a:latin typeface="Times New Roman"/>
                <a:cs typeface="Times New Roman"/>
              </a:rPr>
              <a:t>a</a:t>
            </a:r>
            <a:r>
              <a:rPr sz="900" spc="275">
                <a:latin typeface="Times New Roman"/>
                <a:cs typeface="Times New Roman"/>
              </a:rPr>
              <a:t> </a:t>
            </a:r>
            <a:r>
              <a:rPr sz="900">
                <a:latin typeface="Times New Roman"/>
                <a:cs typeface="Times New Roman"/>
              </a:rPr>
              <a:t>wypłata</a:t>
            </a:r>
            <a:r>
              <a:rPr sz="900" spc="265">
                <a:latin typeface="Times New Roman"/>
                <a:cs typeface="Times New Roman"/>
              </a:rPr>
              <a:t> </a:t>
            </a:r>
            <a:r>
              <a:rPr sz="900">
                <a:latin typeface="Times New Roman"/>
                <a:cs typeface="Times New Roman"/>
              </a:rPr>
              <a:t>dywidend</a:t>
            </a:r>
            <a:r>
              <a:rPr sz="900" spc="270">
                <a:latin typeface="Times New Roman"/>
                <a:cs typeface="Times New Roman"/>
              </a:rPr>
              <a:t> </a:t>
            </a:r>
            <a:r>
              <a:rPr sz="900">
                <a:latin typeface="Times New Roman"/>
                <a:cs typeface="Times New Roman"/>
              </a:rPr>
              <a:t>na</a:t>
            </a:r>
            <a:r>
              <a:rPr sz="900" spc="265">
                <a:latin typeface="Times New Roman"/>
                <a:cs typeface="Times New Roman"/>
              </a:rPr>
              <a:t> </a:t>
            </a:r>
            <a:r>
              <a:rPr sz="900">
                <a:latin typeface="Times New Roman"/>
                <a:cs typeface="Times New Roman"/>
              </a:rPr>
              <a:t>przykładzie</a:t>
            </a:r>
            <a:r>
              <a:rPr sz="900" spc="275">
                <a:latin typeface="Times New Roman"/>
                <a:cs typeface="Times New Roman"/>
              </a:rPr>
              <a:t> </a:t>
            </a:r>
            <a:r>
              <a:rPr sz="900">
                <a:latin typeface="Times New Roman"/>
                <a:cs typeface="Times New Roman"/>
              </a:rPr>
              <a:t>przemysłowych</a:t>
            </a:r>
            <a:r>
              <a:rPr sz="900" spc="270">
                <a:latin typeface="Times New Roman"/>
                <a:cs typeface="Times New Roman"/>
              </a:rPr>
              <a:t> </a:t>
            </a:r>
            <a:r>
              <a:rPr sz="900">
                <a:latin typeface="Times New Roman"/>
                <a:cs typeface="Times New Roman"/>
              </a:rPr>
              <a:t>spółek</a:t>
            </a:r>
            <a:r>
              <a:rPr sz="900" spc="270">
                <a:latin typeface="Times New Roman"/>
                <a:cs typeface="Times New Roman"/>
              </a:rPr>
              <a:t> </a:t>
            </a:r>
            <a:r>
              <a:rPr sz="900">
                <a:latin typeface="Times New Roman"/>
                <a:cs typeface="Times New Roman"/>
              </a:rPr>
              <a:t>giełdowych»</a:t>
            </a:r>
            <a:r>
              <a:rPr sz="900" spc="15">
                <a:latin typeface="Times New Roman"/>
                <a:cs typeface="Times New Roman"/>
              </a:rPr>
              <a:t>,</a:t>
            </a:r>
            <a:r>
              <a:rPr sz="900" spc="250">
                <a:latin typeface="Times New Roman"/>
                <a:cs typeface="Times New Roman"/>
              </a:rPr>
              <a:t> </a:t>
            </a:r>
            <a:r>
              <a:rPr sz="900" i="1">
                <a:latin typeface="Times New Roman"/>
                <a:cs typeface="Times New Roman"/>
              </a:rPr>
              <a:t>Zeszyty</a:t>
            </a:r>
            <a:endParaRPr/>
          </a:p>
          <a:p>
            <a:pPr marL="192405" algn="just">
              <a:lnSpc>
                <a:spcPts val="1045"/>
              </a:lnSpc>
            </a:pPr>
            <a:r>
              <a:rPr sz="900" i="1">
                <a:latin typeface="Times New Roman"/>
                <a:cs typeface="Times New Roman"/>
              </a:rPr>
              <a:t>Naukowe Uniwersytetu Szczecińskiego. Finanse, Rynki Finansowe, Ubezpieczenia</a:t>
            </a:r>
            <a:r>
              <a:rPr sz="900" spc="5">
                <a:latin typeface="Times New Roman"/>
                <a:cs typeface="Times New Roman"/>
              </a:rPr>
              <a:t>, </a:t>
            </a:r>
            <a:r>
              <a:rPr sz="900">
                <a:latin typeface="Times New Roman"/>
                <a:cs typeface="Times New Roman"/>
              </a:rPr>
              <a:t>Vol. 73, pp. 783–792.</a:t>
            </a:r>
            <a:endParaRPr/>
          </a:p>
          <a:p>
            <a:pPr marL="193040" indent="-180340" algn="just">
              <a:lnSpc>
                <a:spcPts val="1030"/>
              </a:lnSpc>
              <a:buSzPts val="900"/>
              <a:buFont typeface="Times New Roman"/>
              <a:buAutoNum startAt="25" type="arabicPeriod"/>
            </a:pPr>
            <a:r>
              <a:rPr sz="900">
                <a:latin typeface="Times New Roman"/>
                <a:cs typeface="Times New Roman"/>
              </a:rPr>
              <a:t>Yoon,</a:t>
            </a:r>
            <a:r>
              <a:rPr sz="900" spc="90">
                <a:latin typeface="Times New Roman"/>
                <a:cs typeface="Times New Roman"/>
              </a:rPr>
              <a:t> </a:t>
            </a:r>
            <a:r>
              <a:rPr sz="900">
                <a:latin typeface="Times New Roman"/>
                <a:cs typeface="Times New Roman"/>
              </a:rPr>
              <a:t>K.</a:t>
            </a:r>
            <a:r>
              <a:rPr sz="900" spc="85">
                <a:latin typeface="Times New Roman"/>
                <a:cs typeface="Times New Roman"/>
              </a:rPr>
              <a:t> </a:t>
            </a:r>
            <a:r>
              <a:rPr sz="900">
                <a:latin typeface="Times New Roman"/>
                <a:cs typeface="Times New Roman"/>
              </a:rPr>
              <a:t>(1987),</a:t>
            </a:r>
            <a:r>
              <a:rPr sz="900" spc="95">
                <a:latin typeface="Times New Roman"/>
                <a:cs typeface="Times New Roman"/>
              </a:rPr>
              <a:t> </a:t>
            </a:r>
            <a:r>
              <a:rPr sz="900">
                <a:latin typeface="Times New Roman"/>
                <a:cs typeface="Times New Roman"/>
              </a:rPr>
              <a:t>«A</a:t>
            </a:r>
            <a:r>
              <a:rPr sz="900" spc="75">
                <a:latin typeface="Times New Roman"/>
                <a:cs typeface="Times New Roman"/>
              </a:rPr>
              <a:t> </a:t>
            </a:r>
            <a:r>
              <a:rPr sz="900">
                <a:latin typeface="Times New Roman"/>
                <a:cs typeface="Times New Roman"/>
              </a:rPr>
              <a:t>reconciliation</a:t>
            </a:r>
            <a:r>
              <a:rPr sz="900" spc="90">
                <a:latin typeface="Times New Roman"/>
                <a:cs typeface="Times New Roman"/>
              </a:rPr>
              <a:t> </a:t>
            </a:r>
            <a:r>
              <a:rPr sz="900">
                <a:latin typeface="Times New Roman"/>
                <a:cs typeface="Times New Roman"/>
              </a:rPr>
              <a:t>among</a:t>
            </a:r>
            <a:r>
              <a:rPr sz="900" spc="80">
                <a:latin typeface="Times New Roman"/>
                <a:cs typeface="Times New Roman"/>
              </a:rPr>
              <a:t> </a:t>
            </a:r>
            <a:r>
              <a:rPr sz="900">
                <a:latin typeface="Times New Roman"/>
                <a:cs typeface="Times New Roman"/>
              </a:rPr>
              <a:t>discrete</a:t>
            </a:r>
            <a:r>
              <a:rPr sz="900" spc="85">
                <a:latin typeface="Times New Roman"/>
                <a:cs typeface="Times New Roman"/>
              </a:rPr>
              <a:t> </a:t>
            </a:r>
            <a:r>
              <a:rPr sz="900">
                <a:latin typeface="Times New Roman"/>
                <a:cs typeface="Times New Roman"/>
              </a:rPr>
              <a:t>compromise</a:t>
            </a:r>
            <a:r>
              <a:rPr sz="900" spc="85">
                <a:latin typeface="Times New Roman"/>
                <a:cs typeface="Times New Roman"/>
              </a:rPr>
              <a:t> </a:t>
            </a:r>
            <a:r>
              <a:rPr sz="900">
                <a:latin typeface="Times New Roman"/>
                <a:cs typeface="Times New Roman"/>
              </a:rPr>
              <a:t>solutions</a:t>
            </a:r>
            <a:r>
              <a:rPr sz="900" spc="-30">
                <a:latin typeface="Times New Roman"/>
                <a:cs typeface="Times New Roman"/>
              </a:rPr>
              <a:t>»,</a:t>
            </a:r>
            <a:r>
              <a:rPr sz="900" spc="150">
                <a:latin typeface="Times New Roman"/>
                <a:cs typeface="Times New Roman"/>
              </a:rPr>
              <a:t> </a:t>
            </a:r>
            <a:r>
              <a:rPr sz="900" i="1">
                <a:latin typeface="Times New Roman"/>
                <a:cs typeface="Times New Roman"/>
              </a:rPr>
              <a:t>Journal</a:t>
            </a:r>
            <a:r>
              <a:rPr sz="900" i="1" spc="90">
                <a:latin typeface="Times New Roman"/>
                <a:cs typeface="Times New Roman"/>
              </a:rPr>
              <a:t> </a:t>
            </a:r>
            <a:r>
              <a:rPr sz="900" i="1">
                <a:latin typeface="Times New Roman"/>
                <a:cs typeface="Times New Roman"/>
              </a:rPr>
              <a:t>of</a:t>
            </a:r>
            <a:r>
              <a:rPr sz="900" i="1" spc="90">
                <a:latin typeface="Times New Roman"/>
                <a:cs typeface="Times New Roman"/>
              </a:rPr>
              <a:t> </a:t>
            </a:r>
            <a:r>
              <a:rPr sz="900" i="1">
                <a:latin typeface="Times New Roman"/>
                <a:cs typeface="Times New Roman"/>
              </a:rPr>
              <a:t>the</a:t>
            </a:r>
            <a:r>
              <a:rPr sz="900" i="1" spc="85">
                <a:latin typeface="Times New Roman"/>
                <a:cs typeface="Times New Roman"/>
              </a:rPr>
              <a:t> </a:t>
            </a:r>
            <a:r>
              <a:rPr sz="900" i="1">
                <a:latin typeface="Times New Roman"/>
                <a:cs typeface="Times New Roman"/>
              </a:rPr>
              <a:t>Operational</a:t>
            </a:r>
            <a:r>
              <a:rPr sz="900" i="1" spc="90">
                <a:latin typeface="Times New Roman"/>
                <a:cs typeface="Times New Roman"/>
              </a:rPr>
              <a:t> </a:t>
            </a:r>
            <a:r>
              <a:rPr sz="900" i="1">
                <a:latin typeface="Times New Roman"/>
                <a:cs typeface="Times New Roman"/>
              </a:rPr>
              <a:t>Research</a:t>
            </a:r>
            <a:r>
              <a:rPr sz="900" i="1" spc="90">
                <a:latin typeface="Times New Roman"/>
                <a:cs typeface="Times New Roman"/>
              </a:rPr>
              <a:t> </a:t>
            </a:r>
            <a:r>
              <a:rPr sz="900" i="1">
                <a:latin typeface="Times New Roman"/>
                <a:cs typeface="Times New Roman"/>
              </a:rPr>
              <a:t>Society</a:t>
            </a:r>
            <a:r>
              <a:rPr sz="900" spc="5">
                <a:latin typeface="Times New Roman"/>
                <a:cs typeface="Times New Roman"/>
              </a:rPr>
              <a:t>,</a:t>
            </a:r>
            <a:r>
              <a:rPr sz="900" spc="85">
                <a:latin typeface="Times New Roman"/>
                <a:cs typeface="Times New Roman"/>
              </a:rPr>
              <a:t> </a:t>
            </a:r>
            <a:r>
              <a:rPr sz="900">
                <a:latin typeface="Times New Roman"/>
                <a:cs typeface="Times New Roman"/>
              </a:rPr>
              <a:t>Vol.</a:t>
            </a:r>
            <a:r>
              <a:rPr sz="900" spc="75">
                <a:latin typeface="Times New Roman"/>
                <a:cs typeface="Times New Roman"/>
              </a:rPr>
              <a:t> </a:t>
            </a:r>
            <a:r>
              <a:rPr sz="900">
                <a:latin typeface="Times New Roman"/>
                <a:cs typeface="Times New Roman"/>
              </a:rPr>
              <a:t>38</a:t>
            </a:r>
            <a:r>
              <a:rPr sz="900" spc="95">
                <a:latin typeface="Times New Roman"/>
                <a:cs typeface="Times New Roman"/>
              </a:rPr>
              <a:t> </a:t>
            </a:r>
            <a:r>
              <a:rPr sz="900">
                <a:latin typeface="Times New Roman"/>
                <a:cs typeface="Times New Roman"/>
              </a:rPr>
              <a:t>(3),</a:t>
            </a:r>
            <a:endParaRPr/>
          </a:p>
          <a:p>
            <a:pPr marL="192405" algn="just">
              <a:lnSpc>
                <a:spcPts val="1030"/>
              </a:lnSpc>
            </a:pPr>
            <a:r>
              <a:rPr sz="900" spc="5">
                <a:latin typeface="Times New Roman"/>
                <a:cs typeface="Times New Roman"/>
              </a:rPr>
              <a:t>pp. </a:t>
            </a:r>
            <a:r>
              <a:rPr sz="900">
                <a:latin typeface="Times New Roman"/>
                <a:cs typeface="Times New Roman"/>
              </a:rPr>
              <a:t>277–286, doi: 10.1057/jors.1987.44.</a:t>
            </a:r>
            <a:endParaRPr/>
          </a:p>
          <a:p>
            <a:pPr marL="193040" indent="-180340" algn="just">
              <a:lnSpc>
                <a:spcPts val="1035"/>
              </a:lnSpc>
              <a:buSzPts val="900"/>
              <a:buFont typeface="Times New Roman"/>
              <a:buAutoNum startAt="26" type="arabicPeriod"/>
            </a:pPr>
            <a:r>
              <a:rPr sz="900">
                <a:latin typeface="Times New Roman"/>
                <a:cs typeface="Times New Roman"/>
              </a:rPr>
              <a:t>Zhang,</a:t>
            </a:r>
            <a:r>
              <a:rPr sz="900" spc="75">
                <a:latin typeface="Times New Roman"/>
                <a:cs typeface="Times New Roman"/>
              </a:rPr>
              <a:t> </a:t>
            </a:r>
            <a:r>
              <a:rPr sz="900">
                <a:latin typeface="Times New Roman"/>
                <a:cs typeface="Times New Roman"/>
              </a:rPr>
              <a:t>H.</a:t>
            </a:r>
            <a:r>
              <a:rPr sz="900" spc="75">
                <a:latin typeface="Times New Roman"/>
                <a:cs typeface="Times New Roman"/>
              </a:rPr>
              <a:t> </a:t>
            </a:r>
            <a:r>
              <a:rPr sz="900">
                <a:latin typeface="Times New Roman"/>
                <a:cs typeface="Times New Roman"/>
              </a:rPr>
              <a:t>(2015),</a:t>
            </a:r>
            <a:r>
              <a:rPr sz="900" spc="95">
                <a:latin typeface="Times New Roman"/>
                <a:cs typeface="Times New Roman"/>
              </a:rPr>
              <a:t> </a:t>
            </a:r>
            <a:r>
              <a:rPr sz="900">
                <a:latin typeface="Times New Roman"/>
                <a:cs typeface="Times New Roman"/>
              </a:rPr>
              <a:t>«Application</a:t>
            </a:r>
            <a:r>
              <a:rPr sz="900" spc="70">
                <a:latin typeface="Times New Roman"/>
                <a:cs typeface="Times New Roman"/>
              </a:rPr>
              <a:t> </a:t>
            </a:r>
            <a:r>
              <a:rPr sz="900">
                <a:latin typeface="Times New Roman"/>
                <a:cs typeface="Times New Roman"/>
              </a:rPr>
              <a:t>on</a:t>
            </a:r>
            <a:r>
              <a:rPr sz="900" spc="80">
                <a:latin typeface="Times New Roman"/>
                <a:cs typeface="Times New Roman"/>
              </a:rPr>
              <a:t> </a:t>
            </a:r>
            <a:r>
              <a:rPr sz="900">
                <a:latin typeface="Times New Roman"/>
                <a:cs typeface="Times New Roman"/>
              </a:rPr>
              <a:t>the</a:t>
            </a:r>
            <a:r>
              <a:rPr sz="900" spc="70">
                <a:latin typeface="Times New Roman"/>
                <a:cs typeface="Times New Roman"/>
              </a:rPr>
              <a:t> </a:t>
            </a:r>
            <a:r>
              <a:rPr sz="900">
                <a:latin typeface="Times New Roman"/>
                <a:cs typeface="Times New Roman"/>
              </a:rPr>
              <a:t>entropy</a:t>
            </a:r>
            <a:r>
              <a:rPr sz="900" spc="70">
                <a:latin typeface="Times New Roman"/>
                <a:cs typeface="Times New Roman"/>
              </a:rPr>
              <a:t> </a:t>
            </a:r>
            <a:r>
              <a:rPr sz="900">
                <a:latin typeface="Times New Roman"/>
                <a:cs typeface="Times New Roman"/>
              </a:rPr>
              <a:t>method</a:t>
            </a:r>
            <a:r>
              <a:rPr sz="900" spc="80">
                <a:latin typeface="Times New Roman"/>
                <a:cs typeface="Times New Roman"/>
              </a:rPr>
              <a:t> </a:t>
            </a:r>
            <a:r>
              <a:rPr sz="900">
                <a:latin typeface="Times New Roman"/>
                <a:cs typeface="Times New Roman"/>
              </a:rPr>
              <a:t>for</a:t>
            </a:r>
            <a:r>
              <a:rPr sz="900" spc="60">
                <a:latin typeface="Times New Roman"/>
                <a:cs typeface="Times New Roman"/>
              </a:rPr>
              <a:t> </a:t>
            </a:r>
            <a:r>
              <a:rPr sz="900">
                <a:latin typeface="Times New Roman"/>
                <a:cs typeface="Times New Roman"/>
              </a:rPr>
              <a:t>determination</a:t>
            </a:r>
            <a:r>
              <a:rPr sz="900" spc="80">
                <a:latin typeface="Times New Roman"/>
                <a:cs typeface="Times New Roman"/>
              </a:rPr>
              <a:t> </a:t>
            </a:r>
            <a:r>
              <a:rPr sz="900">
                <a:latin typeface="Times New Roman"/>
                <a:cs typeface="Times New Roman"/>
              </a:rPr>
              <a:t>of</a:t>
            </a:r>
            <a:r>
              <a:rPr sz="900" spc="60">
                <a:latin typeface="Times New Roman"/>
                <a:cs typeface="Times New Roman"/>
              </a:rPr>
              <a:t> </a:t>
            </a:r>
            <a:r>
              <a:rPr sz="900">
                <a:latin typeface="Times New Roman"/>
                <a:cs typeface="Times New Roman"/>
              </a:rPr>
              <a:t>weight</a:t>
            </a:r>
            <a:r>
              <a:rPr sz="900" spc="75">
                <a:latin typeface="Times New Roman"/>
                <a:cs typeface="Times New Roman"/>
              </a:rPr>
              <a:t> </a:t>
            </a:r>
            <a:r>
              <a:rPr sz="900">
                <a:latin typeface="Times New Roman"/>
                <a:cs typeface="Times New Roman"/>
              </a:rPr>
              <a:t>of</a:t>
            </a:r>
            <a:r>
              <a:rPr sz="900" spc="60">
                <a:latin typeface="Times New Roman"/>
                <a:cs typeface="Times New Roman"/>
              </a:rPr>
              <a:t> </a:t>
            </a:r>
            <a:r>
              <a:rPr sz="900">
                <a:latin typeface="Times New Roman"/>
                <a:cs typeface="Times New Roman"/>
              </a:rPr>
              <a:t>evaluating</a:t>
            </a:r>
            <a:r>
              <a:rPr sz="900" spc="70">
                <a:latin typeface="Times New Roman"/>
                <a:cs typeface="Times New Roman"/>
              </a:rPr>
              <a:t> </a:t>
            </a:r>
            <a:r>
              <a:rPr sz="900">
                <a:latin typeface="Times New Roman"/>
                <a:cs typeface="Times New Roman"/>
              </a:rPr>
              <a:t>index</a:t>
            </a:r>
            <a:r>
              <a:rPr sz="900" spc="70">
                <a:latin typeface="Times New Roman"/>
                <a:cs typeface="Times New Roman"/>
              </a:rPr>
              <a:t> </a:t>
            </a:r>
            <a:r>
              <a:rPr sz="900">
                <a:latin typeface="Times New Roman"/>
                <a:cs typeface="Times New Roman"/>
              </a:rPr>
              <a:t>in</a:t>
            </a:r>
            <a:r>
              <a:rPr sz="900" spc="80">
                <a:latin typeface="Times New Roman"/>
                <a:cs typeface="Times New Roman"/>
              </a:rPr>
              <a:t> </a:t>
            </a:r>
            <a:r>
              <a:rPr sz="900">
                <a:latin typeface="Times New Roman"/>
                <a:cs typeface="Times New Roman"/>
              </a:rPr>
              <a:t>fuzzy</a:t>
            </a:r>
            <a:r>
              <a:rPr sz="900" spc="70">
                <a:latin typeface="Times New Roman"/>
                <a:cs typeface="Times New Roman"/>
              </a:rPr>
              <a:t> </a:t>
            </a:r>
            <a:r>
              <a:rPr sz="900">
                <a:latin typeface="Times New Roman"/>
                <a:cs typeface="Times New Roman"/>
              </a:rPr>
              <a:t>mathematics</a:t>
            </a:r>
            <a:r>
              <a:rPr sz="900" spc="70">
                <a:latin typeface="Times New Roman"/>
                <a:cs typeface="Times New Roman"/>
              </a:rPr>
              <a:t> </a:t>
            </a:r>
            <a:r>
              <a:rPr sz="900">
                <a:latin typeface="Times New Roman"/>
                <a:cs typeface="Times New Roman"/>
              </a:rPr>
              <a:t>for</a:t>
            </a:r>
            <a:r>
              <a:rPr sz="900" spc="75">
                <a:latin typeface="Times New Roman"/>
                <a:cs typeface="Times New Roman"/>
              </a:rPr>
              <a:t> </a:t>
            </a:r>
            <a:r>
              <a:rPr sz="900">
                <a:latin typeface="Times New Roman"/>
                <a:cs typeface="Times New Roman"/>
              </a:rPr>
              <a:t>wine</a:t>
            </a:r>
            <a:endParaRPr/>
          </a:p>
          <a:p>
            <a:pPr marL="192405" algn="just">
              <a:lnSpc>
                <a:spcPts val="1030"/>
              </a:lnSpc>
            </a:pPr>
            <a:r>
              <a:rPr sz="900">
                <a:latin typeface="Times New Roman"/>
                <a:cs typeface="Times New Roman"/>
              </a:rPr>
              <a:t>quality assessment», </a:t>
            </a:r>
            <a:r>
              <a:rPr sz="900" i="1">
                <a:latin typeface="Times New Roman"/>
                <a:cs typeface="Times New Roman"/>
              </a:rPr>
              <a:t>Advance Journal of Food Science and Technology</a:t>
            </a:r>
            <a:r>
              <a:rPr sz="900" spc="5">
                <a:latin typeface="Times New Roman"/>
                <a:cs typeface="Times New Roman"/>
              </a:rPr>
              <a:t>, </a:t>
            </a:r>
            <a:r>
              <a:rPr sz="900">
                <a:latin typeface="Times New Roman"/>
                <a:cs typeface="Times New Roman"/>
              </a:rPr>
              <a:t>Vol. 7 (3), pp. 195–198, doi: 10.19026/ajfst.7.1293.</a:t>
            </a:r>
            <a:endParaRPr/>
          </a:p>
        </p:txBody>
      </p:sp>
      <p:sp>
        <p:nvSpPr>
          <p:cNvPr id="5" name="shape 5"/>
          <p:cNvSpPr txBox="1"/>
          <p:nvPr/>
        </p:nvSpPr>
        <p:spPr>
          <a:xfrm>
            <a:off x="528320" y="9329928"/>
            <a:ext cx="6508115" cy="292608"/>
          </a:xfrm>
          <a:prstGeom prst="rect"/>
          <a:noFill/>
        </p:spPr>
        <p:txBody>
          <a:bodyPr vertOverflow="overflow" horzOverflow="overflow" numCol="1" wrap="square" lIns="0" tIns="0" rIns="0" bIns="0">
            <a:spAutoFit/>
          </a:bodyPr>
          <a:p>
            <a:pPr marL="12700" marR="13970" algn="just">
              <a:lnSpc>
                <a:spcPct val="96234"/>
              </a:lnSpc>
            </a:pPr>
            <a:r>
              <a:rPr sz="1000" baseline="52500">
                <a:latin typeface="Times New Roman"/>
                <a:cs typeface="Times New Roman"/>
              </a:rPr>
              <a:t>**</a:t>
            </a:r>
            <a:r>
              <a:rPr sz="1500" baseline="8333">
                <a:latin typeface="Times New Roman"/>
                <a:cs typeface="Times New Roman"/>
              </a:rPr>
              <a:t> </a:t>
            </a:r>
            <a:r>
              <a:rPr sz="1000">
                <a:latin typeface="Times New Roman"/>
                <a:cs typeface="Times New Roman"/>
              </a:rPr>
              <a:t>How to cite this article: Pieloch-Babiarz </a:t>
            </a:r>
            <a:r>
              <a:rPr sz="1000" spc="-10">
                <a:latin typeface="Times New Roman"/>
                <a:cs typeface="Times New Roman"/>
              </a:rPr>
              <a:t>A. </a:t>
            </a:r>
            <a:r>
              <a:rPr sz="1000">
                <a:latin typeface="Times New Roman"/>
                <a:cs typeface="Times New Roman"/>
              </a:rPr>
              <a:t>The first-largest shareholder and the attractiveness of investing in Polish dividend companies. Public Policy and Accounting. 2021, Vol. 1 (3). </a:t>
            </a:r>
            <a:r>
              <a:rPr sz="1000">
                <a:latin typeface="Times New Roman"/>
                <a:cs typeface="Times New Roman"/>
                <a:hlinkClick r:id="rId8">
                  <a:extLst>
                    <a:ext uri="{A12FA001-AC4F-418D-AE19-62706E023703}">
                      <ahyp:hlinkClr xmlns:ahyp="http://schemas.microsoft.com/office/drawing/2018/hyperlinkcolor" val="tx"/>
                    </a:ext>
                  </a:extLst>
                </a:hlinkClick>
              </a:rPr>
              <a:t>https://doi.org/10.26642/ppa-</a:t>
            </a:r>
            <a:r>
              <a:rPr sz="1000" spc="5">
                <a:latin typeface="Times New Roman"/>
                <a:cs typeface="Times New Roman"/>
                <a:hlinkClick r:id="rId8">
                  <a:extLst>
                    <a:ext uri="{A12FA001-AC4F-418D-AE19-62706E023703}">
                      <ahyp:hlinkClr xmlns:ahyp="http://schemas.microsoft.com/office/drawing/2018/hyperlinkcolor" val="tx"/>
                    </a:ext>
                  </a:extLst>
                </a:hlinkClick>
              </a:rPr>
              <a:t>2021</a:t>
            </a:r>
            <a:r>
              <a:rPr sz="1000">
                <a:latin typeface="Times New Roman"/>
                <a:cs typeface="Times New Roman"/>
                <a:hlinkClick r:id="rId8">
                  <a:extLst>
                    <a:ext uri="{A12FA001-AC4F-418D-AE19-62706E023703}">
                      <ahyp:hlinkClr xmlns:ahyp="http://schemas.microsoft.com/office/drawing/2018/hyperlinkcolor" val="tx"/>
                    </a:ext>
                  </a:extLst>
                </a:hlinkClick>
              </a:rPr>
              <a:t>-1</a:t>
            </a:r>
            <a:r>
              <a:rPr sz="1000">
                <a:latin typeface="Times New Roman"/>
                <a:cs typeface="Times New Roman"/>
              </a:rPr>
              <a:t>(3)-3-</a:t>
            </a:r>
            <a:r>
              <a:rPr sz="1000" spc="5">
                <a:latin typeface="Times New Roman"/>
                <a:cs typeface="Times New Roman"/>
              </a:rPr>
              <a:t>11</a:t>
            </a:r>
            <a:r>
              <a:rPr sz="1000">
                <a:latin typeface="Times New Roman"/>
                <a:cs typeface="Times New Roman"/>
              </a:rPr>
              <a:t>.</a:t>
            </a:r>
            <a:endParaRPr/>
          </a:p>
        </p:txBody>
      </p:sp>
      <p:sp>
        <p:nvSpPr>
          <p:cNvPr id="6" name="shape 6"/>
          <p:cNvSpPr txBox="1"/>
          <p:nvPr/>
        </p:nvSpPr>
        <p:spPr>
          <a:xfrm>
            <a:off x="6883400" y="9993884"/>
            <a:ext cx="153670" cy="152400"/>
          </a:xfrm>
          <a:prstGeom prst="rect"/>
          <a:noFill/>
        </p:spPr>
        <p:txBody>
          <a:bodyPr vertOverflow="overflow" horzOverflow="overflow" numCol="1" wrap="square" lIns="0" tIns="0" rIns="0" bIns="0">
            <a:spAutoFit/>
          </a:bodyPr>
          <a:p>
            <a:pPr marL="12700"/>
            <a:r>
              <a:rPr sz="1000" i="1" spc="5">
                <a:latin typeface="Times New Roman"/>
                <a:cs typeface="Times New Roman"/>
              </a:rPr>
              <a:t>11</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Company>Avanquest</Company>
  <Application>Avanquest Pdf2Office Converter v.0.91.2025103001.0</Application>
  <PresentationFormat>On-screen Show (4:3)</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2035926</dc:title>
  <dc:subject/>
  <dc:creator>s</dc:creator>
  <cp:keywords/>
  <dc:description/>
  <cp:lastModifiedBy>s</cp:lastModifiedBy>
  <cp:revision>1</cp:revision>
  <cp:category>pdf2pptx</cp:category>
  <cp:contentStatus>Created with Avanquest.Pdf 0.91.2025103001.0</cp:contentStatus>
  <dcterms:created xsi:type="dcterms:W3CDTF">2021-04-19T12:00:45+0000</dcterms:created>
  <dcterms:modified xsi:type="dcterms:W3CDTF">2021-04-19T12:00:45+0000</dcterms:modified>
</cp:coreProperties>
</file>