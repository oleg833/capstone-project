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8549640" cy="11064239"/>
  <p:notesSz cx="8549640" cy="11064239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Relationship Id='rId8' Type='http://schemas.openxmlformats.org/officeDocument/2006/relationships/slide' Target='slides/slide3.xml'/><Relationship Id='rId9' Type='http://schemas.openxmlformats.org/officeDocument/2006/relationships/slide' Target='slides/slide4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709e9b9f0bd4181a.png'/><Relationship Id='rId3' Type='http://schemas.openxmlformats.org/officeDocument/2006/relationships/hyperlink' Target='https://sede.uned.es/valida/' TargetMode='External'/><Relationship Id='rId4' Type='http://schemas.openxmlformats.org/officeDocument/2006/relationships/image' Target='../media/d2eaa9d21f47ed5a.png'/></Relationships>
</file>

<file path=ppt/slides/_rels/slide2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0e018622e6cae0a7.png'/><Relationship Id='rId3' Type='http://schemas.openxmlformats.org/officeDocument/2006/relationships/hyperlink' Target='https://sede.uned.es/valida/' TargetMode='External'/><Relationship Id='rId4' Type='http://schemas.openxmlformats.org/officeDocument/2006/relationships/image' Target='../media/d2eaa9d21f47ed5a.png'/></Relationships>
</file>

<file path=ppt/slides/_rels/slide3.xml.rels>&#65279;<?xml version="1.0"?><Relationships xmlns='http://schemas.openxmlformats.org/package/2006/relationships'><Relationship Id='rId5' Type='http://schemas.openxmlformats.org/officeDocument/2006/relationships/image' Target='../media/1fe6ed8e0aef8466.png'/><Relationship Id='rId1' Type='http://schemas.openxmlformats.org/officeDocument/2006/relationships/slideLayout' Target='../slideLayouts/slideLayout1.xml'/><Relationship Id='rId3' Type='http://schemas.openxmlformats.org/officeDocument/2006/relationships/image' Target='../media/ba50a630bea2c466.png'/><Relationship Id='rId2' Type='http://schemas.openxmlformats.org/officeDocument/2006/relationships/image' Target='../media/5eb597a705658ee2.png'/><Relationship Id='rId4' Type='http://schemas.openxmlformats.org/officeDocument/2006/relationships/hyperlink' Target='https://sede.uned.es/valida/' TargetMode='External'/><Relationship Id='rId6' Type='http://schemas.openxmlformats.org/officeDocument/2006/relationships/hyperlink' Target='mailto:mdelgado@mat.uned.es' TargetMode='External'/><Relationship Id='rId7' Type='http://schemas.openxmlformats.org/officeDocument/2006/relationships/hyperlink' Target='http://www.mat.uned.es' TargetMode='External'/></Relationships>
</file>

<file path=ppt/slides/_rels/slide4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hyperlink' Target='https://sede.uned.es/valida/' TargetMode='External'/><Relationship Id='rId3' Type='http://schemas.openxmlformats.org/officeDocument/2006/relationships/image' Target='../media/d7ef775057c41b63.png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541697" y="1004064"/>
            <a:ext cx="345381" cy="1726902"/>
            <a:chOff x="0" y="0"/>
            <a:chExt cx="345380" cy="1726902"/>
          </a:xfrm>
        </p:grpSpPr>
        <p:sp>
          <p:nvSpPr>
            <p:cNvPr id="3" name="shape 3"/>
            <p:cNvSpPr/>
            <p:nvPr/>
          </p:nvSpPr>
          <p:spPr>
            <a:xfrm>
              <a:off x="0" y="0"/>
              <a:ext cx="345381" cy="1592120"/>
            </a:xfrm>
            <a:prstGeom prst="rect">
              <a:avLst/>
            </a:prstGeom>
            <a:solidFill>
              <a:srgbClr val="CCCCCC"/>
            </a:solidFill>
          </p:spPr>
        </p:sp>
        <p:sp>
          <p:nvSpPr>
            <p:cNvPr id="4" name="shape 4"/>
            <p:cNvSpPr/>
            <p:nvPr/>
          </p:nvSpPr>
          <p:spPr>
            <a:xfrm>
              <a:off x="0" y="1592119"/>
              <a:ext cx="345381" cy="134783"/>
            </a:xfrm>
            <a:prstGeom prst="rect">
              <a:avLst/>
            </a:prstGeom>
            <a:solidFill>
              <a:srgbClr val="000000"/>
            </a:solidFill>
          </p:spPr>
        </p:sp>
      </p:grpSp>
      <p:pic>
        <p:nvPicPr>
          <p:cNvPr id="5" name="shap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22673" y="1004065"/>
            <a:ext cx="429620" cy="421196"/>
          </a:xfrm>
          <a:prstGeom prst="rect"/>
        </p:spPr>
      </p:pic>
      <p:sp>
        <p:nvSpPr>
          <p:cNvPr id="6" name="shape 6"/>
          <p:cNvSpPr txBox="1"/>
          <p:nvPr/>
        </p:nvSpPr>
        <p:spPr>
          <a:xfrm>
            <a:off x="7754316" y="5881854"/>
            <a:ext cx="278765" cy="4572000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 marR="12700" algn="just">
              <a:lnSpc>
                <a:spcPct val="104135"/>
              </a:lnSpc>
              <a:spcBef>
                <a:spcPts val="100"/>
              </a:spcBef>
            </a:pPr>
            <a:r>
              <a:rPr sz="800" spc="-5">
                <a:latin typeface="Arial"/>
                <a:cs typeface="Arial"/>
              </a:rPr>
              <a:t>Ámbito: GUI - La autenticidad, validez e integridad de este documento puede ser verificada mediante </a:t>
            </a:r>
            <a:r>
              <a:rPr sz="800">
                <a:latin typeface="Arial"/>
                <a:cs typeface="Arial"/>
              </a:rPr>
              <a:t>el "Código Seguro de Verificación (CSV)" en la dirección </a:t>
            </a:r>
            <a:r>
              <a:rPr sz="800"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https://sede.uned.es/valida/</a:t>
            </a:r>
            <a:endParaRPr/>
          </a:p>
        </p:txBody>
      </p:sp>
      <p:pic>
        <p:nvPicPr>
          <p:cNvPr id="7" name="shap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51800" y="5588000"/>
            <a:ext cx="355600" cy="4927600"/>
          </a:xfrm>
          <a:prstGeom prst="rect"/>
        </p:spPr>
      </p:pic>
      <p:sp>
        <p:nvSpPr>
          <p:cNvPr id="8" name="shape 8"/>
          <p:cNvSpPr txBox="1"/>
          <p:nvPr/>
        </p:nvSpPr>
        <p:spPr>
          <a:xfrm>
            <a:off x="8400536" y="7360418"/>
            <a:ext cx="112396" cy="1372870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550">
                <a:latin typeface="Arial"/>
                <a:cs typeface="Arial"/>
              </a:rPr>
              <a:t>FE13B15241F5384A3B624EC1C2FDBC30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865505" y="1062262"/>
            <a:ext cx="6092826" cy="153398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983740"/>
            <a:r>
              <a:rPr sz="1200" b="1" spc="-5">
                <a:solidFill>
                  <a:srgbClr val="993300"/>
                </a:solidFill>
                <a:latin typeface="Trebuchet MS"/>
                <a:cs typeface="Trebuchet MS"/>
              </a:rPr>
              <a:t>ASIGNATURA DE GRADO:</a:t>
            </a:r>
            <a:endParaRPr/>
          </a:p>
          <a:p>
            <a:pPr marL="316230" marR="728980" algn="ctr">
              <a:lnSpc>
                <a:spcPct val="102080"/>
              </a:lnSpc>
              <a:spcBef>
                <a:spcPts val="1800"/>
              </a:spcBef>
            </a:pPr>
            <a:r>
              <a:rPr sz="3200" spc="-50">
                <a:latin typeface="Verdana"/>
                <a:cs typeface="Verdana"/>
              </a:rPr>
              <a:t>ESTADÍSTICA APLICADA </a:t>
            </a:r>
            <a:r>
              <a:rPr sz="3200" spc="5">
                <a:latin typeface="Verdana"/>
                <a:cs typeface="Verdana"/>
              </a:rPr>
              <a:t>AL MEDIO AMBIENTE</a:t>
            </a:r>
            <a:endParaRPr/>
          </a:p>
          <a:p>
            <a:pPr marL="2362835">
              <a:lnSpc>
                <a:spcPts val="1005"/>
              </a:lnSpc>
            </a:pPr>
            <a:r>
              <a:rPr sz="850" spc="-15">
                <a:latin typeface="Verdana"/>
                <a:cs typeface="Verdana"/>
              </a:rPr>
              <a:t>Curso</a:t>
            </a:r>
            <a:r>
              <a:rPr sz="850" spc="-10">
                <a:latin typeface="Verdana"/>
                <a:cs typeface="Verdana"/>
              </a:rPr>
              <a:t> </a:t>
            </a:r>
            <a:r>
              <a:rPr sz="850" spc="-20">
                <a:latin typeface="Verdana"/>
                <a:cs typeface="Verdana"/>
              </a:rPr>
              <a:t>2012/2013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865505" y="2597745"/>
            <a:ext cx="6092826" cy="1295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519930"/>
            <a:r>
              <a:rPr sz="850" spc="-10">
                <a:latin typeface="Verdana"/>
                <a:cs typeface="Verdana"/>
              </a:rPr>
              <a:t>(Código:61012017)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865505" y="3327627"/>
            <a:ext cx="6092826" cy="4800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40190"/>
              </a:lnSpc>
            </a:pPr>
            <a:r>
              <a:rPr sz="750" spc="15">
                <a:latin typeface="Verdana"/>
                <a:cs typeface="Verdana"/>
              </a:rPr>
              <a:t>Esta asignatura contiene los elementos  básicos para desarrollar un camino adecuado para que el estudiante llegue a </a:t>
            </a:r>
            <a:r>
              <a:rPr sz="750" spc="-5">
                <a:latin typeface="Verdana"/>
                <a:cs typeface="Verdana"/>
              </a:rPr>
              <a:t>dominar una de las partes más importantes de la Estadística: La Inferencia Estadística con la cual poder obtener conclusiones </a:t>
            </a:r>
            <a:r>
              <a:rPr sz="750" spc="15">
                <a:latin typeface="Verdana"/>
                <a:cs typeface="Verdana"/>
              </a:rPr>
              <a:t>de los datos extraidos, acotando el posible error en las apreciaciones en términos probabilisticos.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5505" y="4463705"/>
            <a:ext cx="6092826" cy="17246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40190"/>
              </a:lnSpc>
            </a:pPr>
            <a:r>
              <a:rPr sz="750" spc="10">
                <a:latin typeface="Verdana"/>
                <a:cs typeface="Verdana"/>
              </a:rPr>
              <a:t>Al profesional del Medio Ambiente  le llegan enormes nubes de datos relativas al entorno que estudia o controla, por ello, </a:t>
            </a:r>
            <a:r>
              <a:rPr sz="750" spc="15">
                <a:latin typeface="Verdana"/>
                <a:cs typeface="Verdana"/>
              </a:rPr>
              <a:t>necesita disponer de los medios adecuados para valorar dichas nubes de datos, tomar decisiones y actuar.</a:t>
            </a:r>
            <a:endParaRPr/>
          </a:p>
          <a:p>
            <a:pPr/>
            <a:r>
              <a:rPr sz="1000">
                <a:latin typeface="Verdana"/>
                <a:cs typeface="Verdana"/>
              </a:rPr>
              <a:t/>
            </a:r>
            <a:endParaRPr sz="1000"/>
          </a:p>
          <a:p>
            <a:pPr marL="12700" marR="12700" algn="just">
              <a:lnSpc>
                <a:spcPct val="140190"/>
              </a:lnSpc>
              <a:spcBef>
                <a:spcPts val="100"/>
              </a:spcBef>
            </a:pPr>
            <a:r>
              <a:rPr sz="750">
                <a:latin typeface="Verdana"/>
                <a:cs typeface="Verdana"/>
              </a:rPr>
              <a:t>No se puede asegurar que la decisiones tomadas sean óptimas, pero al menos deben estár tomadas con ciertos criterios, con </a:t>
            </a:r>
            <a:r>
              <a:rPr sz="750" spc="10">
                <a:latin typeface="Verdana"/>
                <a:cs typeface="Verdana"/>
              </a:rPr>
              <a:t>requisitos suficientes en términso de probabilidad, de acertar.</a:t>
            </a:r>
            <a:endParaRPr/>
          </a:p>
          <a:p>
            <a:pPr marL="12700" marR="12700" algn="just">
              <a:lnSpc>
                <a:spcPct val="140190"/>
              </a:lnSpc>
              <a:spcBef>
                <a:spcPts val="1200"/>
              </a:spcBef>
            </a:pPr>
            <a:r>
              <a:rPr sz="750" spc="10">
                <a:latin typeface="Verdana"/>
                <a:cs typeface="Verdana"/>
              </a:rPr>
              <a:t>La Estadística Descriptiva es una primera aproximación al estudio de datos, pero es la Inferencia Estadística la parte que permite obtener algún estilo de conclusión,</a:t>
            </a:r>
            <a:r>
              <a:rPr sz="750" spc="260">
                <a:latin typeface="Verdana"/>
                <a:cs typeface="Verdana"/>
              </a:rPr>
              <a:t> </a:t>
            </a:r>
            <a:r>
              <a:rPr sz="750" spc="10">
                <a:latin typeface="Verdana"/>
                <a:cs typeface="Verdana"/>
              </a:rPr>
              <a:t>generada a partir del estudio de los datos.</a:t>
            </a:r>
            <a:endParaRPr/>
          </a:p>
          <a:p>
            <a:pPr marL="12700" marR="12700" algn="just">
              <a:lnSpc>
                <a:spcPct val="140190"/>
              </a:lnSpc>
              <a:spcBef>
                <a:spcPts val="1000"/>
              </a:spcBef>
            </a:pPr>
            <a:r>
              <a:rPr sz="750" spc="-10">
                <a:latin typeface="Verdana"/>
                <a:cs typeface="Verdana"/>
              </a:rPr>
              <a:t>El  Cálculo  de Probabilidades  nos  acerca a  un  sistema  de  medir,  en  probabilidad,   lo  tratado  en  términos  de  inferencia </a:t>
            </a:r>
            <a:r>
              <a:rPr sz="750" spc="10">
                <a:latin typeface="Verdana"/>
                <a:cs typeface="Verdana"/>
              </a:rPr>
              <a:t>estadística.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865505" y="6847671"/>
            <a:ext cx="6092826" cy="9271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40190"/>
              </a:lnSpc>
            </a:pPr>
            <a:r>
              <a:rPr sz="750" spc="15">
                <a:latin typeface="Verdana"/>
                <a:cs typeface="Verdana"/>
              </a:rPr>
              <a:t>Sólo son requeridos los conocimientso básicos matemáticos que se abordan en cualquier plan de estudio de Enseñanza </a:t>
            </a:r>
            <a:r>
              <a:rPr sz="750" spc="20">
                <a:latin typeface="Verdana"/>
                <a:cs typeface="Verdana"/>
              </a:rPr>
              <a:t>Secundaria de Ciencias y Tecnología o de Humanidades y Ciencias Sociales.</a:t>
            </a:r>
            <a:endParaRPr/>
          </a:p>
          <a:p>
            <a:pPr marL="12700" marR="12700" algn="just">
              <a:lnSpc>
                <a:spcPct val="140191"/>
              </a:lnSpc>
              <a:spcBef>
                <a:spcPts val="1000"/>
              </a:spcBef>
            </a:pPr>
            <a:r>
              <a:rPr sz="750" spc="5">
                <a:latin typeface="Verdana"/>
                <a:cs typeface="Verdana"/>
              </a:rPr>
              <a:t>Un problema importante con el que se encontrará el estudiante es la necesidad de hacer cálculo numéricos, y utilización de </a:t>
            </a:r>
            <a:r>
              <a:rPr sz="750">
                <a:latin typeface="Verdana"/>
                <a:cs typeface="Verdana"/>
              </a:rPr>
              <a:t>múltiples distribuciones de probabilidad. Así pues, conviene disponer de cierto conocimientos de uso de las calculadores o de </a:t>
            </a:r>
            <a:r>
              <a:rPr sz="750" spc="15">
                <a:latin typeface="Verdana"/>
                <a:cs typeface="Verdana"/>
              </a:rPr>
              <a:t>los ordenadores.</a:t>
            </a:r>
            <a:endParaRPr/>
          </a:p>
        </p:txBody>
      </p:sp>
      <p:sp>
        <p:nvSpPr>
          <p:cNvPr id="14" name="shape 14"/>
          <p:cNvSpPr txBox="1"/>
          <p:nvPr/>
        </p:nvSpPr>
        <p:spPr>
          <a:xfrm>
            <a:off x="865505" y="8431366"/>
            <a:ext cx="6092826" cy="15519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49885" indent="-193675"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Aprender</a:t>
            </a:r>
            <a:r>
              <a:rPr sz="750" spc="260">
                <a:latin typeface="Verdana"/>
                <a:cs typeface="Verdana"/>
              </a:rPr>
              <a:t> </a:t>
            </a:r>
            <a:r>
              <a:rPr sz="750" spc="15">
                <a:latin typeface="Verdana"/>
                <a:cs typeface="Verdana"/>
              </a:rPr>
              <a:t>a describir los resultados de fenómenos aleatorios.</a:t>
            </a:r>
            <a:endParaRPr/>
          </a:p>
          <a:p>
            <a:pPr marL="349885" indent="-193675">
              <a:spcBef>
                <a:spcPts val="4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Saber determinar</a:t>
            </a:r>
            <a:r>
              <a:rPr sz="750" spc="260">
                <a:latin typeface="Verdana"/>
                <a:cs typeface="Verdana"/>
              </a:rPr>
              <a:t> </a:t>
            </a:r>
            <a:r>
              <a:rPr sz="750" spc="15">
                <a:latin typeface="Verdana"/>
                <a:cs typeface="Verdana"/>
              </a:rPr>
              <a:t>las medidas de centralización y de dispersión de una población o una muestra.</a:t>
            </a:r>
            <a:endParaRPr/>
          </a:p>
          <a:p>
            <a:pPr marL="349885" marR="367030" indent="-193675" algn="just">
              <a:lnSpc>
                <a:spcPct val="140190"/>
              </a:lnSpc>
              <a:spcBef>
                <a:spcPts val="300"/>
              </a:spcBef>
              <a:buSzPts val="750"/>
              <a:buFont typeface="Verdana"/>
              <a:buAutoNum type="arabicPeriod"/>
            </a:pPr>
            <a:r>
              <a:rPr sz="750">
                <a:latin typeface="Verdana"/>
                <a:cs typeface="Verdana"/>
              </a:rPr>
              <a:t>Conocer la representación de distribuciones de datos unidimensionales y bidimensionales, así como determinar </a:t>
            </a:r>
            <a:r>
              <a:rPr sz="750" spc="15">
                <a:latin typeface="Verdana"/>
                <a:cs typeface="Verdana"/>
              </a:rPr>
              <a:t>ajustes lineales mediante mínimos cuadrados.</a:t>
            </a:r>
            <a:endParaRPr/>
          </a:p>
          <a:p>
            <a:pPr marL="349885" indent="-193675" algn="just"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Saber calcular la probabilidad de un suceso tanto si es independiente como si es condicionado por otro suceso.</a:t>
            </a:r>
            <a:endParaRPr/>
          </a:p>
          <a:p>
            <a:pPr marL="349885" indent="-193675" algn="just">
              <a:spcBef>
                <a:spcPts val="4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Conocer y usar las principales distribuciones de probabilidad tanto discretas como continuas.</a:t>
            </a:r>
            <a:endParaRPr/>
          </a:p>
          <a:p>
            <a:pPr marL="349885" indent="-193675" algn="just">
              <a:spcBef>
                <a:spcPts val="3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Conocer los métodos de máxima verisimilitud y las distribuciones asociadas a las poblaciones normales.</a:t>
            </a:r>
            <a:endParaRPr/>
          </a:p>
          <a:p>
            <a:pPr marL="349885" indent="-193675" algn="just">
              <a:spcBef>
                <a:spcPts val="4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Saber estimar</a:t>
            </a:r>
            <a:r>
              <a:rPr sz="750" spc="260">
                <a:latin typeface="Verdana"/>
                <a:cs typeface="Verdana"/>
              </a:rPr>
              <a:t> </a:t>
            </a:r>
            <a:r>
              <a:rPr sz="750" spc="15">
                <a:latin typeface="Verdana"/>
                <a:cs typeface="Verdana"/>
              </a:rPr>
              <a:t>de la media y la varianza de una población normal.</a:t>
            </a:r>
            <a:endParaRPr/>
          </a:p>
          <a:p>
            <a:pPr marL="349885" indent="-193675" algn="just">
              <a:spcBef>
                <a:spcPts val="4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Determinar los intervalos de confianza para la media y para la varianza de una población normal.</a:t>
            </a:r>
            <a:endParaRPr/>
          </a:p>
          <a:p>
            <a:pPr marL="349885" indent="-193675" algn="just">
              <a:spcBef>
                <a:spcPts val="3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Saber realizar estimaciones para poblaciones no normales.</a:t>
            </a:r>
            <a:endParaRPr/>
          </a:p>
        </p:txBody>
      </p:sp>
      <p:sp>
        <p:nvSpPr>
          <p:cNvPr id="15" name="shape 15"/>
          <p:cNvSpPr txBox="1"/>
          <p:nvPr/>
        </p:nvSpPr>
        <p:spPr>
          <a:xfrm>
            <a:off x="865505" y="10031909"/>
            <a:ext cx="6092826" cy="4318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49885" indent="-193675">
              <a:buSzPts val="750"/>
              <a:buFont typeface="Verdana"/>
              <a:buAutoNum startAt="10" type="arabicPeriod"/>
            </a:pPr>
            <a:r>
              <a:rPr sz="750" spc="15">
                <a:latin typeface="Verdana"/>
                <a:cs typeface="Verdana"/>
              </a:rPr>
              <a:t>Poder realizar contraste de hipótesis</a:t>
            </a:r>
            <a:r>
              <a:rPr sz="750" spc="260">
                <a:latin typeface="Verdana"/>
                <a:cs typeface="Verdana"/>
              </a:rPr>
              <a:t> </a:t>
            </a:r>
            <a:r>
              <a:rPr sz="750" spc="15">
                <a:latin typeface="Verdana"/>
                <a:cs typeface="Verdana"/>
              </a:rPr>
              <a:t>relativas a la media y a la varianza de una población normal.</a:t>
            </a:r>
            <a:endParaRPr/>
          </a:p>
          <a:p>
            <a:pPr marL="349885" indent="-193675">
              <a:spcBef>
                <a:spcPts val="400"/>
              </a:spcBef>
              <a:buSzPts val="750"/>
              <a:buFont typeface="Verdana"/>
              <a:buAutoNum type="arabicPeriod"/>
            </a:pPr>
            <a:r>
              <a:rPr sz="750" spc="10">
                <a:latin typeface="Verdana"/>
                <a:cs typeface="Verdana"/>
              </a:rPr>
              <a:t>Utilizar contrastes no paramétricos.</a:t>
            </a:r>
            <a:endParaRPr/>
          </a:p>
          <a:p>
            <a:pPr marL="349885" indent="-193675">
              <a:spcBef>
                <a:spcPts val="300"/>
              </a:spcBef>
              <a:buSzPts val="750"/>
              <a:buFont typeface="Verdana"/>
              <a:buAutoNum type="arabicPeriod"/>
            </a:pPr>
            <a:r>
              <a:rPr sz="750" spc="20">
                <a:latin typeface="Verdana"/>
                <a:cs typeface="Verdana"/>
              </a:rPr>
              <a:t>Conocer el análisis de varianza.</a:t>
            </a: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545909" y="2895232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45">
                <a:solidFill>
                  <a:srgbClr val="336699"/>
                </a:solidFill>
                <a:latin typeface="Arial"/>
                <a:cs typeface="Arial"/>
              </a:rPr>
              <a:t>1.PRESENTACIÓN DE LA ASIGNATURA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545909" y="3998765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50">
                <a:solidFill>
                  <a:srgbClr val="336699"/>
                </a:solidFill>
                <a:latin typeface="Arial"/>
                <a:cs typeface="Arial"/>
              </a:rPr>
              <a:t>2.CONTEXTUALIZACIÓN EN EL PLAN DE ESTUDIOS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545909" y="6382731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50">
                <a:solidFill>
                  <a:srgbClr val="336699"/>
                </a:solidFill>
                <a:latin typeface="Arial"/>
                <a:cs typeface="Arial"/>
              </a:rPr>
              <a:t>3.REQUISITOS PREVIOS REQUERIDOS PARA CURSAR LA ASIGNATURA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545909" y="7966426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45">
                <a:solidFill>
                  <a:srgbClr val="336699"/>
                </a:solidFill>
                <a:latin typeface="Arial"/>
                <a:cs typeface="Arial"/>
              </a:rPr>
              <a:t>4.RESULTADOS DE APRENDIZAJE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6153" y="4163031"/>
            <a:ext cx="42120" cy="42120"/>
          </a:xfrm>
          <a:prstGeom prst="rect"/>
        </p:spPr>
      </p:pic>
      <p:grpSp>
        <p:nvGrpSpPr>
          <p:cNvPr id="3" name="shape 3"/>
          <p:cNvGrpSpPr/>
          <p:nvPr/>
        </p:nvGrpSpPr>
        <p:grpSpPr>
          <a:xfrm>
            <a:off x="878653" y="8560312"/>
            <a:ext cx="6065216" cy="1939444"/>
            <a:chOff x="0" y="0"/>
            <a:chExt cx="6065216" cy="1939444"/>
          </a:xfrm>
        </p:grpSpPr>
        <p:sp>
          <p:nvSpPr>
            <p:cNvPr id="4" name="shape 4"/>
            <p:cNvSpPr/>
            <p:nvPr/>
          </p:nvSpPr>
          <p:spPr>
            <a:xfrm>
              <a:off x="0" y="0"/>
              <a:ext cx="6065216" cy="1939444"/>
            </a:xfrm>
            <a:prstGeom prst="rect">
              <a:avLst/>
            </a:prstGeom>
            <a:solidFill>
              <a:srgbClr val="F1F4EF"/>
            </a:solidFill>
          </p:spPr>
        </p:sp>
        <p:sp>
          <p:nvSpPr>
            <p:cNvPr id="5" name="shape 5"/>
            <p:cNvSpPr txBox="1"/>
            <p:nvPr/>
          </p:nvSpPr>
          <p:spPr>
            <a:xfrm>
              <a:off x="45907" y="68952"/>
              <a:ext cx="2326005" cy="533705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850" b="1" spc="-30">
                  <a:latin typeface="Verdana"/>
                  <a:cs typeface="Verdana"/>
                </a:rPr>
                <a:t>ISBN(13):</a:t>
              </a:r>
              <a:r>
                <a:rPr sz="850" b="1" spc="-15">
                  <a:latin typeface="Verdana"/>
                  <a:cs typeface="Verdana"/>
                </a:rPr>
                <a:t> </a:t>
              </a:r>
              <a:r>
                <a:rPr sz="850" spc="-25">
                  <a:latin typeface="Verdana"/>
                  <a:cs typeface="Verdana"/>
                </a:rPr>
                <a:t>9788436260939</a:t>
              </a:r>
              <a:endParaRPr/>
            </a:p>
            <a:p>
              <a:pPr marL="12700" marR="290830">
                <a:lnSpc>
                  <a:spcPct val="104353"/>
                </a:lnSpc>
              </a:pPr>
              <a:r>
                <a:rPr sz="850" b="1" spc="-25">
                  <a:latin typeface="Verdana"/>
                  <a:cs typeface="Verdana"/>
                </a:rPr>
                <a:t>Título:</a:t>
              </a:r>
              <a:r>
                <a:rPr sz="850" b="1" spc="-15">
                  <a:latin typeface="Verdana"/>
                  <a:cs typeface="Verdana"/>
                </a:rPr>
                <a:t> </a:t>
              </a:r>
              <a:r>
                <a:rPr sz="850" spc="-10">
                  <a:latin typeface="Verdana"/>
                  <a:cs typeface="Verdana"/>
                </a:rPr>
                <a:t>ESTADÍSTICA BÁSICA CON R </a:t>
              </a:r>
              <a:r>
                <a:rPr sz="850" b="1">
                  <a:latin typeface="Verdana"/>
                  <a:cs typeface="Verdana"/>
                </a:rPr>
                <a:t>Autor/es: </a:t>
              </a:r>
              <a:r>
                <a:rPr sz="850">
                  <a:latin typeface="Verdana"/>
                  <a:cs typeface="Verdana"/>
                </a:rPr>
                <a:t>Alfonso García Pérez ; </a:t>
              </a:r>
              <a:r>
                <a:rPr sz="850" b="1" spc="-15">
                  <a:latin typeface="Verdana"/>
                  <a:cs typeface="Verdana"/>
                </a:rPr>
                <a:t>Editorial:</a:t>
              </a:r>
              <a:r>
                <a:rPr sz="850" b="1" spc="-10">
                  <a:latin typeface="Verdana"/>
                  <a:cs typeface="Verdana"/>
                </a:rPr>
                <a:t> </a:t>
              </a:r>
              <a:r>
                <a:rPr sz="850" spc="-20">
                  <a:latin typeface="Verdana"/>
                  <a:cs typeface="Verdana"/>
                </a:rPr>
                <a:t>Editorial</a:t>
              </a:r>
              <a:r>
                <a:rPr sz="850" spc="-15">
                  <a:latin typeface="Verdana"/>
                  <a:cs typeface="Verdana"/>
                </a:rPr>
                <a:t> </a:t>
              </a:r>
              <a:r>
                <a:rPr sz="850" spc="-30">
                  <a:latin typeface="Verdana"/>
                  <a:cs typeface="Verdana"/>
                </a:rPr>
                <a:t>UNED</a:t>
              </a:r>
              <a:endParaRPr/>
            </a:p>
          </p:txBody>
        </p:sp>
        <p:sp>
          <p:nvSpPr>
            <p:cNvPr id="6" name="shape 6"/>
            <p:cNvSpPr/>
            <p:nvPr/>
          </p:nvSpPr>
          <p:spPr>
            <a:xfrm>
              <a:off x="58967" y="766575"/>
              <a:ext cx="1929076" cy="168479"/>
            </a:xfrm>
            <a:custGeom>
              <a:pathLst>
                <a:path w="1929075" h="168478">
                  <a:moveTo>
                    <a:pt x="8423" y="160054"/>
                  </a:moveTo>
                  <a:lnTo>
                    <a:pt x="0" y="168478"/>
                  </a:lnTo>
                  <a:lnTo>
                    <a:pt x="0" y="0"/>
                  </a:lnTo>
                  <a:lnTo>
                    <a:pt x="1929075" y="0"/>
                  </a:lnTo>
                  <a:lnTo>
                    <a:pt x="1920651" y="8423"/>
                  </a:lnTo>
                  <a:lnTo>
                    <a:pt x="8423" y="84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58967" y="926630"/>
              <a:ext cx="1929076" cy="8424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1979619" y="774998"/>
              <a:ext cx="8424" cy="151632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1979619" y="766575"/>
              <a:ext cx="8424" cy="8424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67391" y="774998"/>
              <a:ext cx="1912228" cy="151632"/>
            </a:xfrm>
            <a:custGeom>
              <a:pathLst>
                <a:path w="1912227" h="151631">
                  <a:moveTo>
                    <a:pt x="8423" y="143206"/>
                  </a:moveTo>
                  <a:lnTo>
                    <a:pt x="0" y="151630"/>
                  </a:lnTo>
                  <a:lnTo>
                    <a:pt x="0" y="0"/>
                  </a:lnTo>
                  <a:lnTo>
                    <a:pt x="1912227" y="0"/>
                  </a:lnTo>
                  <a:lnTo>
                    <a:pt x="1903803" y="8424"/>
                  </a:lnTo>
                  <a:lnTo>
                    <a:pt x="8423" y="8424"/>
                  </a:lnTo>
                  <a:close/>
                </a:path>
              </a:pathLst>
            </a:custGeom>
            <a:solidFill>
              <a:srgbClr val="D4D0C8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67391" y="918205"/>
              <a:ext cx="1912228" cy="8425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1971195" y="783423"/>
              <a:ext cx="8424" cy="134783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1971195" y="774998"/>
              <a:ext cx="8424" cy="8425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1962771" y="783423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75815" y="909781"/>
              <a:ext cx="1895380" cy="842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16" name="shape 16"/>
            <p:cNvSpPr/>
            <p:nvPr/>
          </p:nvSpPr>
          <p:spPr>
            <a:xfrm>
              <a:off x="75815" y="783423"/>
              <a:ext cx="1895380" cy="842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17" name="shape 17"/>
            <p:cNvSpPr/>
            <p:nvPr/>
          </p:nvSpPr>
          <p:spPr>
            <a:xfrm>
              <a:off x="75815" y="783423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18" name="shape 18"/>
            <p:cNvSpPr/>
            <p:nvPr/>
          </p:nvSpPr>
          <p:spPr>
            <a:xfrm>
              <a:off x="84239" y="791847"/>
              <a:ext cx="1878532" cy="11793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19" name="shape 19"/>
            <p:cNvSpPr txBox="1"/>
            <p:nvPr/>
          </p:nvSpPr>
          <p:spPr>
            <a:xfrm>
              <a:off x="45907" y="789260"/>
              <a:ext cx="2326005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332740"/>
              <a:r>
                <a:rPr sz="750" spc="10">
                  <a:latin typeface="Verdana"/>
                  <a:cs typeface="Verdana"/>
                </a:rPr>
                <a:t>Buscarlo en Editorial UNED</a:t>
              </a: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>
              <a:off x="58967" y="1095108"/>
              <a:ext cx="2358695" cy="168479"/>
            </a:xfrm>
            <a:custGeom>
              <a:pathLst>
                <a:path w="2358694" h="168478">
                  <a:moveTo>
                    <a:pt x="8423" y="160054"/>
                  </a:moveTo>
                  <a:lnTo>
                    <a:pt x="0" y="168477"/>
                  </a:lnTo>
                  <a:lnTo>
                    <a:pt x="0" y="0"/>
                  </a:lnTo>
                  <a:lnTo>
                    <a:pt x="2358694" y="0"/>
                  </a:lnTo>
                  <a:lnTo>
                    <a:pt x="2350271" y="8423"/>
                  </a:lnTo>
                  <a:lnTo>
                    <a:pt x="8423" y="84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shape 21"/>
            <p:cNvSpPr/>
            <p:nvPr/>
          </p:nvSpPr>
          <p:spPr>
            <a:xfrm>
              <a:off x="58967" y="1255161"/>
              <a:ext cx="2358695" cy="8425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22" name="shape 22"/>
            <p:cNvSpPr/>
            <p:nvPr/>
          </p:nvSpPr>
          <p:spPr>
            <a:xfrm>
              <a:off x="2409238" y="1103531"/>
              <a:ext cx="8424" cy="151631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23" name="shape 23"/>
            <p:cNvSpPr/>
            <p:nvPr/>
          </p:nvSpPr>
          <p:spPr>
            <a:xfrm>
              <a:off x="2409238" y="1095108"/>
              <a:ext cx="8424" cy="8424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24" name="shape 24"/>
            <p:cNvSpPr/>
            <p:nvPr/>
          </p:nvSpPr>
          <p:spPr>
            <a:xfrm>
              <a:off x="67391" y="1103531"/>
              <a:ext cx="2341847" cy="151631"/>
            </a:xfrm>
            <a:custGeom>
              <a:pathLst>
                <a:path w="2341847" h="151630">
                  <a:moveTo>
                    <a:pt x="8423" y="143206"/>
                  </a:moveTo>
                  <a:lnTo>
                    <a:pt x="0" y="151630"/>
                  </a:lnTo>
                  <a:lnTo>
                    <a:pt x="0" y="0"/>
                  </a:lnTo>
                  <a:lnTo>
                    <a:pt x="2341847" y="0"/>
                  </a:lnTo>
                  <a:lnTo>
                    <a:pt x="2333423" y="8424"/>
                  </a:lnTo>
                  <a:lnTo>
                    <a:pt x="8423" y="8424"/>
                  </a:lnTo>
                  <a:close/>
                </a:path>
              </a:pathLst>
            </a:custGeom>
            <a:solidFill>
              <a:srgbClr val="D4D0C8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67391" y="1246738"/>
              <a:ext cx="2341847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2400814" y="1111955"/>
              <a:ext cx="8424" cy="134783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2400814" y="1103531"/>
              <a:ext cx="8424" cy="8425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2392391" y="1111955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75815" y="1238314"/>
              <a:ext cx="2325000" cy="842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75815" y="1111955"/>
              <a:ext cx="2325000" cy="842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75815" y="1111955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84239" y="1120379"/>
              <a:ext cx="2308152" cy="11793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33" name="shape 33"/>
            <p:cNvSpPr txBox="1"/>
            <p:nvPr/>
          </p:nvSpPr>
          <p:spPr>
            <a:xfrm>
              <a:off x="45907" y="1117792"/>
              <a:ext cx="2326005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400050"/>
              <a:r>
                <a:rPr sz="750" spc="10">
                  <a:latin typeface="Verdana"/>
                  <a:cs typeface="Verdana"/>
                </a:rPr>
                <a:t>Buscarlo en libreria virtual UNED</a:t>
              </a:r>
              <a:endParaRPr/>
            </a:p>
          </p:txBody>
        </p:sp>
        <p:sp>
          <p:nvSpPr>
            <p:cNvPr id="34" name="shape 34"/>
            <p:cNvSpPr/>
            <p:nvPr/>
          </p:nvSpPr>
          <p:spPr>
            <a:xfrm>
              <a:off x="58967" y="1423640"/>
              <a:ext cx="2105978" cy="168479"/>
            </a:xfrm>
            <a:custGeom>
              <a:pathLst>
                <a:path w="2105977" h="168478">
                  <a:moveTo>
                    <a:pt x="8423" y="160054"/>
                  </a:moveTo>
                  <a:lnTo>
                    <a:pt x="0" y="168478"/>
                  </a:lnTo>
                  <a:lnTo>
                    <a:pt x="0" y="0"/>
                  </a:lnTo>
                  <a:lnTo>
                    <a:pt x="2105977" y="0"/>
                  </a:lnTo>
                  <a:lnTo>
                    <a:pt x="2097553" y="8424"/>
                  </a:lnTo>
                  <a:lnTo>
                    <a:pt x="8423" y="84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shape 35"/>
            <p:cNvSpPr/>
            <p:nvPr/>
          </p:nvSpPr>
          <p:spPr>
            <a:xfrm>
              <a:off x="58967" y="1583694"/>
              <a:ext cx="2105978" cy="8425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36" name="shape 36"/>
            <p:cNvSpPr/>
            <p:nvPr/>
          </p:nvSpPr>
          <p:spPr>
            <a:xfrm>
              <a:off x="2156521" y="1432064"/>
              <a:ext cx="8424" cy="151631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37" name="shape 37"/>
            <p:cNvSpPr/>
            <p:nvPr/>
          </p:nvSpPr>
          <p:spPr>
            <a:xfrm>
              <a:off x="2156521" y="1423640"/>
              <a:ext cx="8424" cy="8425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38" name="shape 38"/>
            <p:cNvSpPr/>
            <p:nvPr/>
          </p:nvSpPr>
          <p:spPr>
            <a:xfrm>
              <a:off x="67391" y="1432064"/>
              <a:ext cx="2089130" cy="151631"/>
            </a:xfrm>
            <a:custGeom>
              <a:pathLst>
                <a:path w="2089129" h="151630">
                  <a:moveTo>
                    <a:pt x="8423" y="143206"/>
                  </a:moveTo>
                  <a:lnTo>
                    <a:pt x="0" y="151630"/>
                  </a:lnTo>
                  <a:lnTo>
                    <a:pt x="0" y="0"/>
                  </a:lnTo>
                  <a:lnTo>
                    <a:pt x="2089129" y="0"/>
                  </a:lnTo>
                  <a:lnTo>
                    <a:pt x="2080705" y="8423"/>
                  </a:lnTo>
                  <a:lnTo>
                    <a:pt x="8423" y="8423"/>
                  </a:lnTo>
                  <a:close/>
                </a:path>
              </a:pathLst>
            </a:custGeom>
            <a:solidFill>
              <a:srgbClr val="D4D0C8"/>
            </a:solidFill>
          </p:spPr>
        </p:sp>
        <p:sp>
          <p:nvSpPr>
            <p:cNvPr id="39" name="shape 39"/>
            <p:cNvSpPr/>
            <p:nvPr/>
          </p:nvSpPr>
          <p:spPr>
            <a:xfrm>
              <a:off x="67391" y="1575271"/>
              <a:ext cx="2089130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40" name="shape 40"/>
            <p:cNvSpPr/>
            <p:nvPr/>
          </p:nvSpPr>
          <p:spPr>
            <a:xfrm>
              <a:off x="2148097" y="1440487"/>
              <a:ext cx="8424" cy="13478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41" name="shape 41"/>
            <p:cNvSpPr/>
            <p:nvPr/>
          </p:nvSpPr>
          <p:spPr>
            <a:xfrm>
              <a:off x="2148097" y="1432064"/>
              <a:ext cx="8424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42" name="shape 42"/>
            <p:cNvSpPr/>
            <p:nvPr/>
          </p:nvSpPr>
          <p:spPr>
            <a:xfrm>
              <a:off x="2139673" y="1440487"/>
              <a:ext cx="8424" cy="13478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43" name="shape 43"/>
            <p:cNvSpPr/>
            <p:nvPr/>
          </p:nvSpPr>
          <p:spPr>
            <a:xfrm>
              <a:off x="75815" y="1566846"/>
              <a:ext cx="2072282" cy="842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44" name="shape 44"/>
            <p:cNvSpPr/>
            <p:nvPr/>
          </p:nvSpPr>
          <p:spPr>
            <a:xfrm>
              <a:off x="75815" y="1440487"/>
              <a:ext cx="2072282" cy="842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45" name="shape 45"/>
            <p:cNvSpPr/>
            <p:nvPr/>
          </p:nvSpPr>
          <p:spPr>
            <a:xfrm>
              <a:off x="75815" y="1440487"/>
              <a:ext cx="8424" cy="13478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46" name="shape 46"/>
            <p:cNvSpPr/>
            <p:nvPr/>
          </p:nvSpPr>
          <p:spPr>
            <a:xfrm>
              <a:off x="84239" y="1448912"/>
              <a:ext cx="2055434" cy="11793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47" name="shape 47"/>
            <p:cNvSpPr txBox="1"/>
            <p:nvPr/>
          </p:nvSpPr>
          <p:spPr>
            <a:xfrm>
              <a:off x="45907" y="1446325"/>
              <a:ext cx="2326005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358140"/>
              <a:r>
                <a:rPr sz="750" spc="10">
                  <a:latin typeface="Verdana"/>
                  <a:cs typeface="Verdana"/>
                </a:rPr>
                <a:t>Buscarlo en bibliotecas UNED</a:t>
              </a:r>
              <a:endParaRPr/>
            </a:p>
          </p:txBody>
        </p:sp>
        <p:sp>
          <p:nvSpPr>
            <p:cNvPr id="48" name="shape 48"/>
            <p:cNvSpPr/>
            <p:nvPr/>
          </p:nvSpPr>
          <p:spPr>
            <a:xfrm>
              <a:off x="58967" y="1752172"/>
              <a:ext cx="2763043" cy="168479"/>
            </a:xfrm>
            <a:custGeom>
              <a:pathLst>
                <a:path w="2763042" h="168478">
                  <a:moveTo>
                    <a:pt x="8423" y="160054"/>
                  </a:moveTo>
                  <a:lnTo>
                    <a:pt x="0" y="168478"/>
                  </a:lnTo>
                  <a:lnTo>
                    <a:pt x="0" y="0"/>
                  </a:lnTo>
                  <a:lnTo>
                    <a:pt x="2763042" y="0"/>
                  </a:lnTo>
                  <a:lnTo>
                    <a:pt x="2754618" y="8424"/>
                  </a:lnTo>
                  <a:lnTo>
                    <a:pt x="8423" y="84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9" name="shape 49"/>
            <p:cNvSpPr/>
            <p:nvPr/>
          </p:nvSpPr>
          <p:spPr>
            <a:xfrm>
              <a:off x="58967" y="1912227"/>
              <a:ext cx="2763043" cy="8424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50" name="shape 50"/>
            <p:cNvSpPr/>
            <p:nvPr/>
          </p:nvSpPr>
          <p:spPr>
            <a:xfrm>
              <a:off x="2813586" y="1760596"/>
              <a:ext cx="8424" cy="151631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51" name="shape 51"/>
            <p:cNvSpPr/>
            <p:nvPr/>
          </p:nvSpPr>
          <p:spPr>
            <a:xfrm>
              <a:off x="2813586" y="1752172"/>
              <a:ext cx="8424" cy="8425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52" name="shape 52"/>
            <p:cNvSpPr/>
            <p:nvPr/>
          </p:nvSpPr>
          <p:spPr>
            <a:xfrm>
              <a:off x="67391" y="1760596"/>
              <a:ext cx="2746195" cy="151631"/>
            </a:xfrm>
            <a:custGeom>
              <a:pathLst>
                <a:path w="2746194" h="151630">
                  <a:moveTo>
                    <a:pt x="8423" y="143206"/>
                  </a:moveTo>
                  <a:lnTo>
                    <a:pt x="0" y="151630"/>
                  </a:lnTo>
                  <a:lnTo>
                    <a:pt x="0" y="0"/>
                  </a:lnTo>
                  <a:lnTo>
                    <a:pt x="2746194" y="0"/>
                  </a:lnTo>
                  <a:lnTo>
                    <a:pt x="2737770" y="8423"/>
                  </a:lnTo>
                  <a:lnTo>
                    <a:pt x="8423" y="8423"/>
                  </a:lnTo>
                  <a:close/>
                </a:path>
              </a:pathLst>
            </a:custGeom>
            <a:solidFill>
              <a:srgbClr val="D4D0C8"/>
            </a:solidFill>
          </p:spPr>
        </p:sp>
        <p:sp>
          <p:nvSpPr>
            <p:cNvPr id="53" name="shape 53"/>
            <p:cNvSpPr/>
            <p:nvPr/>
          </p:nvSpPr>
          <p:spPr>
            <a:xfrm>
              <a:off x="67391" y="1903802"/>
              <a:ext cx="2746195" cy="8425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54" name="shape 54"/>
            <p:cNvSpPr/>
            <p:nvPr/>
          </p:nvSpPr>
          <p:spPr>
            <a:xfrm>
              <a:off x="2805162" y="1769020"/>
              <a:ext cx="8424" cy="134783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55" name="shape 55"/>
            <p:cNvSpPr/>
            <p:nvPr/>
          </p:nvSpPr>
          <p:spPr>
            <a:xfrm>
              <a:off x="2805162" y="1760596"/>
              <a:ext cx="8424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56" name="shape 56"/>
            <p:cNvSpPr/>
            <p:nvPr/>
          </p:nvSpPr>
          <p:spPr>
            <a:xfrm>
              <a:off x="2796738" y="1769020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57" name="shape 57"/>
            <p:cNvSpPr/>
            <p:nvPr/>
          </p:nvSpPr>
          <p:spPr>
            <a:xfrm>
              <a:off x="75815" y="1895379"/>
              <a:ext cx="2729347" cy="842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58" name="shape 58"/>
            <p:cNvSpPr/>
            <p:nvPr/>
          </p:nvSpPr>
          <p:spPr>
            <a:xfrm>
              <a:off x="75815" y="1769020"/>
              <a:ext cx="2729347" cy="842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59" name="shape 59"/>
            <p:cNvSpPr/>
            <p:nvPr/>
          </p:nvSpPr>
          <p:spPr>
            <a:xfrm>
              <a:off x="75815" y="1769020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60" name="shape 60"/>
            <p:cNvSpPr/>
            <p:nvPr/>
          </p:nvSpPr>
          <p:spPr>
            <a:xfrm>
              <a:off x="84239" y="1777444"/>
              <a:ext cx="2712499" cy="11793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61" name="shape 61"/>
            <p:cNvSpPr txBox="1"/>
            <p:nvPr/>
          </p:nvSpPr>
          <p:spPr>
            <a:xfrm>
              <a:off x="45907" y="1774857"/>
              <a:ext cx="2326005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467360"/>
              <a:r>
                <a:rPr sz="750">
                  <a:latin typeface="Verdana"/>
                  <a:cs typeface="Verdana"/>
                </a:rPr>
                <a:t>Buscarlo en la Biblioteca de Educación</a:t>
              </a:r>
              <a:endParaRPr/>
            </a:p>
          </p:txBody>
        </p:sp>
      </p:grpSp>
      <p:sp>
        <p:nvSpPr>
          <p:cNvPr id="62" name="shape 62"/>
          <p:cNvSpPr txBox="1"/>
          <p:nvPr/>
        </p:nvSpPr>
        <p:spPr>
          <a:xfrm>
            <a:off x="7754316" y="5881854"/>
            <a:ext cx="278765" cy="4572000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 marR="12700" algn="just">
              <a:lnSpc>
                <a:spcPct val="104135"/>
              </a:lnSpc>
              <a:spcBef>
                <a:spcPts val="100"/>
              </a:spcBef>
            </a:pPr>
            <a:r>
              <a:rPr sz="800" spc="-5">
                <a:latin typeface="Arial"/>
                <a:cs typeface="Arial"/>
              </a:rPr>
              <a:t>Ámbito: GUI - La autenticidad, validez e integridad de este documento puede ser verificada mediante </a:t>
            </a:r>
            <a:r>
              <a:rPr sz="800">
                <a:latin typeface="Arial"/>
                <a:cs typeface="Arial"/>
              </a:rPr>
              <a:t>el "Código Seguro de Verificación (CSV)" en la dirección </a:t>
            </a:r>
            <a:r>
              <a:rPr sz="800"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https://sede.uned.es/valida/</a:t>
            </a:r>
            <a:endParaRPr/>
          </a:p>
        </p:txBody>
      </p:sp>
      <p:pic>
        <p:nvPicPr>
          <p:cNvPr id="63" name="shape 6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51800" y="5588000"/>
            <a:ext cx="355600" cy="4927600"/>
          </a:xfrm>
          <a:prstGeom prst="rect"/>
        </p:spPr>
      </p:pic>
      <p:sp>
        <p:nvSpPr>
          <p:cNvPr id="64" name="shape 64"/>
          <p:cNvSpPr txBox="1"/>
          <p:nvPr/>
        </p:nvSpPr>
        <p:spPr>
          <a:xfrm>
            <a:off x="8400536" y="7360418"/>
            <a:ext cx="112396" cy="1372870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550">
                <a:latin typeface="Arial"/>
                <a:cs typeface="Arial"/>
              </a:rPr>
              <a:t>FE13B15241F5384A3B624EC1C2FDBC30</a:t>
            </a:r>
            <a:endParaRPr/>
          </a:p>
        </p:txBody>
      </p:sp>
      <p:sp>
        <p:nvSpPr>
          <p:cNvPr id="65" name="shape 65"/>
          <p:cNvSpPr txBox="1"/>
          <p:nvPr/>
        </p:nvSpPr>
        <p:spPr>
          <a:xfrm>
            <a:off x="865505" y="984630"/>
            <a:ext cx="371602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49885" indent="-100965">
              <a:tabLst>
                <a:tab pos="349885" algn="l"/>
              </a:tabLst>
            </a:pPr>
            <a:r>
              <a:rPr sz="750" spc="0">
                <a:latin typeface="Verdana"/>
                <a:cs typeface="Verdana"/>
              </a:rPr>
              <a:t>13.</a:t>
            </a:r>
            <a:r>
              <a:rPr sz="750" spc="0">
                <a:latin typeface="Verdana"/>
                <a:cs typeface="Verdana"/>
              </a:rPr>
              <a:t>	</a:t>
            </a:r>
            <a:r>
              <a:rPr sz="750" spc="5">
                <a:latin typeface="Verdana"/>
                <a:cs typeface="Verdana"/>
              </a:rPr>
              <a:t>Saber realizar el estudio de regresión lineal y de la correlación lineal.</a:t>
            </a:r>
            <a:endParaRPr/>
          </a:p>
        </p:txBody>
      </p:sp>
      <p:sp>
        <p:nvSpPr>
          <p:cNvPr id="66" name="shape 66"/>
          <p:cNvSpPr txBox="1"/>
          <p:nvPr/>
        </p:nvSpPr>
        <p:spPr>
          <a:xfrm>
            <a:off x="865505" y="1928107"/>
            <a:ext cx="3716020" cy="13970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349885" indent="-193675">
              <a:buSzPts val="750"/>
              <a:buFont typeface="Verdana"/>
              <a:buAutoNum type="arabicPeriod"/>
            </a:pPr>
            <a:r>
              <a:rPr sz="750" spc="10">
                <a:latin typeface="Verdana"/>
                <a:cs typeface="Verdana"/>
              </a:rPr>
              <a:t>Estadística Descriptiva</a:t>
            </a:r>
            <a:endParaRPr/>
          </a:p>
          <a:p>
            <a:pPr marL="349885" indent="-193675">
              <a:spcBef>
                <a:spcPts val="4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Probabilidad</a:t>
            </a:r>
            <a:endParaRPr/>
          </a:p>
          <a:p>
            <a:pPr marL="349885" indent="-193675">
              <a:spcBef>
                <a:spcPts val="300"/>
              </a:spcBef>
              <a:buSzPts val="750"/>
              <a:buFont typeface="Verdana"/>
              <a:buAutoNum type="arabicPeriod"/>
            </a:pPr>
            <a:r>
              <a:rPr sz="750" spc="10">
                <a:latin typeface="Verdana"/>
                <a:cs typeface="Verdana"/>
              </a:rPr>
              <a:t>Modelos Probabilístiocos</a:t>
            </a:r>
            <a:endParaRPr/>
          </a:p>
          <a:p>
            <a:pPr marL="349885" indent="-193675">
              <a:spcBef>
                <a:spcPts val="400"/>
              </a:spcBef>
              <a:buSzPts val="750"/>
              <a:buFont typeface="Verdana"/>
              <a:buAutoNum type="arabicPeriod"/>
            </a:pPr>
            <a:r>
              <a:rPr sz="750" spc="10">
                <a:latin typeface="Verdana"/>
                <a:cs typeface="Verdana"/>
              </a:rPr>
              <a:t>Estimadores. Distribución en el muestreo</a:t>
            </a:r>
            <a:endParaRPr/>
          </a:p>
          <a:p>
            <a:pPr marL="349885" indent="-193675">
              <a:spcBef>
                <a:spcPts val="3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Intervalos de confianza</a:t>
            </a:r>
            <a:endParaRPr/>
          </a:p>
          <a:p>
            <a:pPr marL="349885" indent="-193675">
              <a:spcBef>
                <a:spcPts val="4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Contraste de hipótesis</a:t>
            </a:r>
            <a:endParaRPr/>
          </a:p>
          <a:p>
            <a:pPr marL="349885" indent="-193675">
              <a:spcBef>
                <a:spcPts val="4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Contraste no paramétricos</a:t>
            </a:r>
            <a:endParaRPr/>
          </a:p>
          <a:p>
            <a:pPr marL="349885" indent="-193675">
              <a:spcBef>
                <a:spcPts val="3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Análisis de varianza</a:t>
            </a:r>
            <a:endParaRPr/>
          </a:p>
          <a:p>
            <a:pPr marL="349885" indent="-193675">
              <a:spcBef>
                <a:spcPts val="400"/>
              </a:spcBef>
              <a:buSzPts val="750"/>
              <a:buFont typeface="Verdana"/>
              <a:buAutoNum type="arabicPeriod"/>
            </a:pPr>
            <a:r>
              <a:rPr sz="750" spc="15">
                <a:latin typeface="Verdana"/>
                <a:cs typeface="Verdana"/>
              </a:rPr>
              <a:t>Regresión lineal y correlación</a:t>
            </a:r>
            <a:endParaRPr/>
          </a:p>
        </p:txBody>
      </p:sp>
      <p:sp>
        <p:nvSpPr>
          <p:cNvPr id="67" name="shape 67"/>
          <p:cNvSpPr txBox="1"/>
          <p:nvPr/>
        </p:nvSpPr>
        <p:spPr>
          <a:xfrm>
            <a:off x="865505" y="4152020"/>
            <a:ext cx="371602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602615"/>
            <a:r>
              <a:rPr sz="750" b="1" u="sng">
                <a:solidFill>
                  <a:srgbClr val="336699"/>
                </a:solidFill>
                <a:uFill>
                  <a:solidFill>
                    <a:srgbClr val="336699"/>
                  </a:solidFill>
                </a:uFill>
                <a:latin typeface="Verdana"/>
                <a:cs typeface="Verdana"/>
              </a:rPr>
              <a:t>TOMAS PRIETO RUMEAU</a:t>
            </a: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865505" y="5095498"/>
            <a:ext cx="371602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>
                <a:latin typeface="Verdana"/>
                <a:cs typeface="Verdana"/>
              </a:rPr>
              <a:t>El propio de la actual enseñanza a distancia con apoyo telemático y tutorial.</a:t>
            </a:r>
            <a:endParaRPr/>
          </a:p>
        </p:txBody>
      </p:sp>
      <p:sp>
        <p:nvSpPr>
          <p:cNvPr id="69" name="shape 69"/>
          <p:cNvSpPr txBox="1"/>
          <p:nvPr/>
        </p:nvSpPr>
        <p:spPr>
          <a:xfrm>
            <a:off x="865505" y="5878921"/>
            <a:ext cx="6092826" cy="20447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40190"/>
              </a:lnSpc>
            </a:pPr>
            <a:r>
              <a:rPr sz="750">
                <a:latin typeface="Verdana"/>
                <a:cs typeface="Verdana"/>
              </a:rPr>
              <a:t>En la evaluación del alumno se realizará principalmente mediante la prueba presencial (PP) que el alumno debe realizar. (PP </a:t>
            </a:r>
            <a:r>
              <a:rPr sz="750" spc="15">
                <a:latin typeface="Verdana"/>
                <a:cs typeface="Verdana"/>
              </a:rPr>
              <a:t>es de caracter obligatorio)</a:t>
            </a:r>
            <a:endParaRPr/>
          </a:p>
          <a:p>
            <a:pPr/>
            <a:r>
              <a:rPr sz="1000">
                <a:latin typeface="Verdana"/>
                <a:cs typeface="Verdana"/>
              </a:rPr>
              <a:t/>
            </a:r>
            <a:endParaRPr sz="1000"/>
          </a:p>
          <a:p>
            <a:pPr marL="12700" marR="12700" algn="just">
              <a:lnSpc>
                <a:spcPct val="140190"/>
              </a:lnSpc>
              <a:spcBef>
                <a:spcPts val="100"/>
              </a:spcBef>
            </a:pPr>
            <a:r>
              <a:rPr sz="750">
                <a:latin typeface="Verdana"/>
                <a:cs typeface="Verdana"/>
              </a:rPr>
              <a:t>Se establecerá una única prueba de tutor, que será realizada en presencia de un profesor tutor (PT) del Centro Asociado, en </a:t>
            </a:r>
            <a:r>
              <a:rPr sz="750" spc="15">
                <a:latin typeface="Verdana"/>
                <a:cs typeface="Verdana"/>
              </a:rPr>
              <a:t>el supuesto de que exista tutor, o el tutor de Campus, que será quien corrija la prueba, la almacenará, la calificará, y comunicará las caliifcaciones a sus estudiantes. (PT es de caracter voluntario)</a:t>
            </a:r>
            <a:endParaRPr/>
          </a:p>
          <a:p>
            <a:pPr marL="12700" marR="12700" algn="just">
              <a:lnSpc>
                <a:spcPct val="140190"/>
              </a:lnSpc>
              <a:spcBef>
                <a:spcPts val="1200"/>
              </a:spcBef>
            </a:pPr>
            <a:r>
              <a:rPr sz="750" spc="15">
                <a:latin typeface="Verdana"/>
                <a:cs typeface="Verdana"/>
              </a:rPr>
              <a:t>También se dispondrán de problemas para resolver en línea sobre el servidor de la asignatura como ejemplos (caracter </a:t>
            </a:r>
            <a:r>
              <a:rPr sz="750" spc="5">
                <a:latin typeface="Verdana"/>
                <a:cs typeface="Verdana"/>
              </a:rPr>
              <a:t>voluntario).  En algún caso se prodrá realizar la entrega de un trabajo propuesto por el equipo docente. (caracter voluntario </a:t>
            </a:r>
            <a:r>
              <a:rPr sz="750" spc="15">
                <a:latin typeface="Verdana"/>
                <a:cs typeface="Verdana"/>
              </a:rPr>
              <a:t>y excepcional).</a:t>
            </a:r>
            <a:endParaRPr/>
          </a:p>
          <a:p>
            <a:pPr marL="12700" marR="12700" algn="just">
              <a:lnSpc>
                <a:spcPct val="140190"/>
              </a:lnSpc>
              <a:spcBef>
                <a:spcPts val="1000"/>
              </a:spcBef>
            </a:pPr>
            <a:r>
              <a:rPr sz="750" spc="15">
                <a:latin typeface="Verdana"/>
                <a:cs typeface="Verdana"/>
              </a:rPr>
              <a:t>Si no se pudieran hacer pruebas de tutor, las pruebas una úica prueba en línea podría suplir esa falta, siempre y cuando alguna se pueda acreditar quién realiza la prueba.</a:t>
            </a: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45909" y="1463168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45">
                <a:solidFill>
                  <a:srgbClr val="336699"/>
                </a:solidFill>
                <a:latin typeface="Arial"/>
                <a:cs typeface="Arial"/>
              </a:rPr>
              <a:t>5.CONTENIDOS DE LA ASIGNATURA</a:t>
            </a: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545909" y="3687080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60">
                <a:solidFill>
                  <a:srgbClr val="336699"/>
                </a:solidFill>
                <a:latin typeface="Arial"/>
                <a:cs typeface="Arial"/>
              </a:rPr>
              <a:t>6.EQUIPO DOCENTE</a:t>
            </a:r>
            <a:endParaRPr/>
          </a:p>
        </p:txBody>
      </p:sp>
      <p:sp>
        <p:nvSpPr>
          <p:cNvPr id="72" name="shape 72"/>
          <p:cNvSpPr txBox="1"/>
          <p:nvPr/>
        </p:nvSpPr>
        <p:spPr>
          <a:xfrm>
            <a:off x="545909" y="4630558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55">
                <a:solidFill>
                  <a:srgbClr val="336699"/>
                </a:solidFill>
                <a:latin typeface="Arial"/>
                <a:cs typeface="Arial"/>
              </a:rPr>
              <a:t>7.METODOLOGÍA Y ACTIVIDADES DE APRENDIZAJE</a:t>
            </a:r>
            <a:endParaRPr/>
          </a:p>
        </p:txBody>
      </p:sp>
      <p:sp>
        <p:nvSpPr>
          <p:cNvPr id="73" name="shape 73"/>
          <p:cNvSpPr txBox="1"/>
          <p:nvPr/>
        </p:nvSpPr>
        <p:spPr>
          <a:xfrm>
            <a:off x="545909" y="5413981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50">
                <a:solidFill>
                  <a:srgbClr val="336699"/>
                </a:solidFill>
                <a:latin typeface="Arial"/>
                <a:cs typeface="Arial"/>
              </a:rPr>
              <a:t>8.EVALUACIÓN</a:t>
            </a:r>
            <a:endParaRPr/>
          </a:p>
        </p:txBody>
      </p:sp>
      <p:sp>
        <p:nvSpPr>
          <p:cNvPr id="74" name="shape 74"/>
          <p:cNvSpPr txBox="1"/>
          <p:nvPr/>
        </p:nvSpPr>
        <p:spPr>
          <a:xfrm>
            <a:off x="545909" y="8118057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55">
                <a:solidFill>
                  <a:srgbClr val="336699"/>
                </a:solidFill>
                <a:latin typeface="Arial"/>
                <a:cs typeface="Arial"/>
              </a:rPr>
              <a:t>9.BIBLIOGRAFÍA BÁSICA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878653" y="972314"/>
            <a:ext cx="6065520" cy="208916"/>
          </a:xfrm>
          <a:prstGeom prst="rect"/>
          <a:solidFill>
            <a:srgbClr val="F1F4EF"/>
          </a:solidFill>
        </p:spPr>
        <p:txBody>
          <a:bodyPr vertOverflow="overflow" horzOverflow="overflow" numCol="1" wrap="square" lIns="0" tIns="0" rIns="0" bIns="0">
            <a:spAutoFit/>
          </a:bodyPr>
          <a:lstStyle/>
          <a:p>
            <a:endParaRPr/>
          </a:p>
        </p:txBody>
      </p:sp>
      <p:grpSp>
        <p:nvGrpSpPr>
          <p:cNvPr id="3" name="shape 3"/>
          <p:cNvGrpSpPr/>
          <p:nvPr/>
        </p:nvGrpSpPr>
        <p:grpSpPr>
          <a:xfrm>
            <a:off x="878653" y="3101618"/>
            <a:ext cx="6065215" cy="2148098"/>
            <a:chOff x="0" y="0"/>
            <a:chExt cx="6065215" cy="2148097"/>
          </a:xfrm>
        </p:grpSpPr>
        <p:sp>
          <p:nvSpPr>
            <p:cNvPr id="4" name="shape 4"/>
            <p:cNvSpPr/>
            <p:nvPr/>
          </p:nvSpPr>
          <p:spPr>
            <a:xfrm>
              <a:off x="0" y="0"/>
              <a:ext cx="6065215" cy="2148098"/>
            </a:xfrm>
            <a:prstGeom prst="rect">
              <a:avLst/>
            </a:prstGeom>
            <a:solidFill>
              <a:srgbClr val="F1F4EF"/>
            </a:solidFill>
          </p:spPr>
        </p:sp>
        <p:sp>
          <p:nvSpPr>
            <p:cNvPr id="5" name="shape 5"/>
            <p:cNvSpPr txBox="1"/>
            <p:nvPr/>
          </p:nvSpPr>
          <p:spPr>
            <a:xfrm>
              <a:off x="-13148" y="68952"/>
              <a:ext cx="6092826" cy="528524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71755" algn="just"/>
              <a:r>
                <a:rPr sz="850" b="1" spc="-30">
                  <a:latin typeface="Verdana"/>
                  <a:cs typeface="Verdana"/>
                </a:rPr>
                <a:t>ISBN(13):</a:t>
              </a:r>
              <a:r>
                <a:rPr sz="850" b="1" spc="-15">
                  <a:latin typeface="Verdana"/>
                  <a:cs typeface="Verdana"/>
                </a:rPr>
                <a:t> </a:t>
              </a:r>
              <a:r>
                <a:rPr sz="850" spc="-25">
                  <a:latin typeface="Verdana"/>
                  <a:cs typeface="Verdana"/>
                </a:rPr>
                <a:t>9788436237658</a:t>
              </a:r>
              <a:endParaRPr/>
            </a:p>
            <a:p>
              <a:pPr marL="71755" marR="2541270" algn="just">
                <a:lnSpc>
                  <a:spcPct val="104353"/>
                </a:lnSpc>
              </a:pPr>
              <a:r>
                <a:rPr sz="850" b="1" spc="-25">
                  <a:latin typeface="Verdana"/>
                  <a:cs typeface="Verdana"/>
                </a:rPr>
                <a:t>Título:</a:t>
              </a:r>
              <a:r>
                <a:rPr sz="850" b="1" spc="-15">
                  <a:latin typeface="Verdana"/>
                  <a:cs typeface="Verdana"/>
                </a:rPr>
                <a:t> </a:t>
              </a:r>
              <a:r>
                <a:rPr sz="850" spc="-10">
                  <a:latin typeface="Verdana"/>
                  <a:cs typeface="Verdana"/>
                </a:rPr>
                <a:t>PROBLEMAS RESUELTOS DE ESTADÍSTICA BÁSICA (1</a:t>
              </a:r>
              <a:r>
                <a:rPr sz="850" spc="-5">
                  <a:latin typeface="Verdana"/>
                  <a:cs typeface="Verdana"/>
                </a:rPr>
                <a:t>ª</a:t>
              </a:r>
              <a:r>
                <a:rPr sz="850" spc="5">
                  <a:latin typeface="Verdana"/>
                  <a:cs typeface="Verdana"/>
                </a:rPr>
                <a:t>) </a:t>
              </a:r>
              <a:r>
                <a:rPr sz="850" b="1">
                  <a:latin typeface="Verdana"/>
                  <a:cs typeface="Verdana"/>
                </a:rPr>
                <a:t>Autor/es: </a:t>
              </a:r>
              <a:r>
                <a:rPr sz="850">
                  <a:latin typeface="Verdana"/>
                  <a:cs typeface="Verdana"/>
                </a:rPr>
                <a:t>García Pérez, Alfonso ;</a:t>
              </a:r>
              <a:endParaRPr/>
            </a:p>
            <a:p>
              <a:pPr marL="71755" algn="just"/>
              <a:r>
                <a:rPr sz="850" b="1" spc="-15">
                  <a:latin typeface="Verdana"/>
                  <a:cs typeface="Verdana"/>
                </a:rPr>
                <a:t>Editorial:</a:t>
              </a:r>
              <a:r>
                <a:rPr sz="850" b="1" spc="-10">
                  <a:latin typeface="Verdana"/>
                  <a:cs typeface="Verdana"/>
                </a:rPr>
                <a:t> </a:t>
              </a:r>
              <a:r>
                <a:rPr sz="850" spc="-40">
                  <a:latin typeface="Verdana"/>
                  <a:cs typeface="Verdana"/>
                </a:rPr>
                <a:t>UNED</a:t>
              </a:r>
              <a:endParaRPr/>
            </a:p>
          </p:txBody>
        </p:sp>
        <p:sp>
          <p:nvSpPr>
            <p:cNvPr id="6" name="shape 6"/>
            <p:cNvSpPr/>
            <p:nvPr/>
          </p:nvSpPr>
          <p:spPr>
            <a:xfrm>
              <a:off x="58967" y="766576"/>
              <a:ext cx="2358695" cy="168479"/>
            </a:xfrm>
            <a:custGeom>
              <a:pathLst>
                <a:path w="2358694" h="168478">
                  <a:moveTo>
                    <a:pt x="8423" y="160054"/>
                  </a:moveTo>
                  <a:lnTo>
                    <a:pt x="0" y="168478"/>
                  </a:lnTo>
                  <a:lnTo>
                    <a:pt x="0" y="0"/>
                  </a:lnTo>
                  <a:lnTo>
                    <a:pt x="2358694" y="0"/>
                  </a:lnTo>
                  <a:lnTo>
                    <a:pt x="2350271" y="8424"/>
                  </a:lnTo>
                  <a:lnTo>
                    <a:pt x="8423" y="84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58967" y="926630"/>
              <a:ext cx="2358695" cy="8425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2409238" y="775000"/>
              <a:ext cx="8424" cy="151631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2409238" y="766576"/>
              <a:ext cx="8424" cy="8425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67391" y="775000"/>
              <a:ext cx="2341847" cy="151631"/>
            </a:xfrm>
            <a:custGeom>
              <a:pathLst>
                <a:path w="2341847" h="151630">
                  <a:moveTo>
                    <a:pt x="8423" y="143206"/>
                  </a:moveTo>
                  <a:lnTo>
                    <a:pt x="0" y="151630"/>
                  </a:lnTo>
                  <a:lnTo>
                    <a:pt x="0" y="0"/>
                  </a:lnTo>
                  <a:lnTo>
                    <a:pt x="2341847" y="0"/>
                  </a:lnTo>
                  <a:lnTo>
                    <a:pt x="2333423" y="8424"/>
                  </a:lnTo>
                  <a:lnTo>
                    <a:pt x="8423" y="8424"/>
                  </a:lnTo>
                  <a:close/>
                </a:path>
              </a:pathLst>
            </a:custGeom>
            <a:solidFill>
              <a:srgbClr val="D4D0C8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67391" y="918207"/>
              <a:ext cx="2341847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2400814" y="783424"/>
              <a:ext cx="8424" cy="134783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2400814" y="775000"/>
              <a:ext cx="8424" cy="8425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2392391" y="783424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75815" y="909782"/>
              <a:ext cx="2325000" cy="842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16" name="shape 16"/>
            <p:cNvSpPr/>
            <p:nvPr/>
          </p:nvSpPr>
          <p:spPr>
            <a:xfrm>
              <a:off x="75815" y="783424"/>
              <a:ext cx="2325000" cy="842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17" name="shape 17"/>
            <p:cNvSpPr/>
            <p:nvPr/>
          </p:nvSpPr>
          <p:spPr>
            <a:xfrm>
              <a:off x="75815" y="783424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18" name="shape 18"/>
            <p:cNvSpPr/>
            <p:nvPr/>
          </p:nvSpPr>
          <p:spPr>
            <a:xfrm>
              <a:off x="84239" y="791848"/>
              <a:ext cx="2308152" cy="11793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19" name="shape 19"/>
            <p:cNvSpPr txBox="1"/>
            <p:nvPr/>
          </p:nvSpPr>
          <p:spPr>
            <a:xfrm>
              <a:off x="391347" y="789261"/>
              <a:ext cx="2646045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54610"/>
              <a:r>
                <a:rPr sz="750" spc="10">
                  <a:latin typeface="Verdana"/>
                  <a:cs typeface="Verdana"/>
                </a:rPr>
                <a:t>Buscarlo en libreria virtual UNED</a:t>
              </a: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>
              <a:off x="58967" y="1095109"/>
              <a:ext cx="2105978" cy="168479"/>
            </a:xfrm>
            <a:custGeom>
              <a:pathLst>
                <a:path w="2105977" h="168478">
                  <a:moveTo>
                    <a:pt x="8423" y="160054"/>
                  </a:moveTo>
                  <a:lnTo>
                    <a:pt x="0" y="168478"/>
                  </a:lnTo>
                  <a:lnTo>
                    <a:pt x="0" y="0"/>
                  </a:lnTo>
                  <a:lnTo>
                    <a:pt x="2105977" y="0"/>
                  </a:lnTo>
                  <a:lnTo>
                    <a:pt x="2097553" y="8423"/>
                  </a:lnTo>
                  <a:lnTo>
                    <a:pt x="8423" y="84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shape 21"/>
            <p:cNvSpPr/>
            <p:nvPr/>
          </p:nvSpPr>
          <p:spPr>
            <a:xfrm>
              <a:off x="58967" y="1255163"/>
              <a:ext cx="2105978" cy="8424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22" name="shape 22"/>
            <p:cNvSpPr/>
            <p:nvPr/>
          </p:nvSpPr>
          <p:spPr>
            <a:xfrm>
              <a:off x="2156521" y="1103533"/>
              <a:ext cx="8424" cy="151631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23" name="shape 23"/>
            <p:cNvSpPr/>
            <p:nvPr/>
          </p:nvSpPr>
          <p:spPr>
            <a:xfrm>
              <a:off x="2156521" y="1095109"/>
              <a:ext cx="8424" cy="8424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24" name="shape 24"/>
            <p:cNvSpPr/>
            <p:nvPr/>
          </p:nvSpPr>
          <p:spPr>
            <a:xfrm>
              <a:off x="67391" y="1103533"/>
              <a:ext cx="2089130" cy="151631"/>
            </a:xfrm>
            <a:custGeom>
              <a:pathLst>
                <a:path w="2089129" h="151630">
                  <a:moveTo>
                    <a:pt x="8423" y="143206"/>
                  </a:moveTo>
                  <a:lnTo>
                    <a:pt x="0" y="151630"/>
                  </a:lnTo>
                  <a:lnTo>
                    <a:pt x="0" y="0"/>
                  </a:lnTo>
                  <a:lnTo>
                    <a:pt x="2089129" y="0"/>
                  </a:lnTo>
                  <a:lnTo>
                    <a:pt x="2080705" y="8423"/>
                  </a:lnTo>
                  <a:lnTo>
                    <a:pt x="8423" y="8423"/>
                  </a:lnTo>
                  <a:close/>
                </a:path>
              </a:pathLst>
            </a:custGeom>
            <a:solidFill>
              <a:srgbClr val="D4D0C8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67391" y="1246739"/>
              <a:ext cx="2089130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2148097" y="1111957"/>
              <a:ext cx="8424" cy="134783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2148097" y="1103533"/>
              <a:ext cx="8424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2139673" y="1111957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75815" y="1238315"/>
              <a:ext cx="2072282" cy="842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75815" y="1111957"/>
              <a:ext cx="2072282" cy="842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75815" y="1111957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84239" y="1120381"/>
              <a:ext cx="2055434" cy="11793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33" name="shape 33"/>
            <p:cNvSpPr txBox="1"/>
            <p:nvPr/>
          </p:nvSpPr>
          <p:spPr>
            <a:xfrm>
              <a:off x="391347" y="1117793"/>
              <a:ext cx="2646045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750" spc="10">
                  <a:latin typeface="Verdana"/>
                  <a:cs typeface="Verdana"/>
                </a:rPr>
                <a:t>Buscarlo en bibliotecas UNED</a:t>
              </a:r>
              <a:endParaRPr/>
            </a:p>
          </p:txBody>
        </p:sp>
        <p:sp>
          <p:nvSpPr>
            <p:cNvPr id="34" name="shape 34"/>
            <p:cNvSpPr/>
            <p:nvPr/>
          </p:nvSpPr>
          <p:spPr>
            <a:xfrm>
              <a:off x="58967" y="1423641"/>
              <a:ext cx="2763043" cy="168479"/>
            </a:xfrm>
            <a:custGeom>
              <a:pathLst>
                <a:path w="2763042" h="168478">
                  <a:moveTo>
                    <a:pt x="8423" y="160054"/>
                  </a:moveTo>
                  <a:lnTo>
                    <a:pt x="0" y="168478"/>
                  </a:lnTo>
                  <a:lnTo>
                    <a:pt x="0" y="0"/>
                  </a:lnTo>
                  <a:lnTo>
                    <a:pt x="2763042" y="0"/>
                  </a:lnTo>
                  <a:lnTo>
                    <a:pt x="2754618" y="8423"/>
                  </a:lnTo>
                  <a:lnTo>
                    <a:pt x="8423" y="84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shape 35"/>
            <p:cNvSpPr/>
            <p:nvPr/>
          </p:nvSpPr>
          <p:spPr>
            <a:xfrm>
              <a:off x="58967" y="1583695"/>
              <a:ext cx="2763043" cy="8424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36" name="shape 36"/>
            <p:cNvSpPr/>
            <p:nvPr/>
          </p:nvSpPr>
          <p:spPr>
            <a:xfrm>
              <a:off x="2813586" y="1432065"/>
              <a:ext cx="8424" cy="151631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37" name="shape 37"/>
            <p:cNvSpPr/>
            <p:nvPr/>
          </p:nvSpPr>
          <p:spPr>
            <a:xfrm>
              <a:off x="2813586" y="1423641"/>
              <a:ext cx="8424" cy="8424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38" name="shape 38"/>
            <p:cNvSpPr/>
            <p:nvPr/>
          </p:nvSpPr>
          <p:spPr>
            <a:xfrm>
              <a:off x="67391" y="1432065"/>
              <a:ext cx="2746195" cy="151631"/>
            </a:xfrm>
            <a:custGeom>
              <a:pathLst>
                <a:path w="2746194" h="151630">
                  <a:moveTo>
                    <a:pt x="8423" y="143206"/>
                  </a:moveTo>
                  <a:lnTo>
                    <a:pt x="0" y="151630"/>
                  </a:lnTo>
                  <a:lnTo>
                    <a:pt x="0" y="0"/>
                  </a:lnTo>
                  <a:lnTo>
                    <a:pt x="2746194" y="0"/>
                  </a:lnTo>
                  <a:lnTo>
                    <a:pt x="2737770" y="8423"/>
                  </a:lnTo>
                  <a:lnTo>
                    <a:pt x="8423" y="8423"/>
                  </a:lnTo>
                  <a:close/>
                </a:path>
              </a:pathLst>
            </a:custGeom>
            <a:solidFill>
              <a:srgbClr val="D4D0C8"/>
            </a:solidFill>
          </p:spPr>
        </p:sp>
        <p:sp>
          <p:nvSpPr>
            <p:cNvPr id="39" name="shape 39"/>
            <p:cNvSpPr/>
            <p:nvPr/>
          </p:nvSpPr>
          <p:spPr>
            <a:xfrm>
              <a:off x="67391" y="1575271"/>
              <a:ext cx="2746195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40" name="shape 40"/>
            <p:cNvSpPr/>
            <p:nvPr/>
          </p:nvSpPr>
          <p:spPr>
            <a:xfrm>
              <a:off x="2805162" y="1440489"/>
              <a:ext cx="8424" cy="134783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41" name="shape 41"/>
            <p:cNvSpPr/>
            <p:nvPr/>
          </p:nvSpPr>
          <p:spPr>
            <a:xfrm>
              <a:off x="2805162" y="1432065"/>
              <a:ext cx="8424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42" name="shape 42"/>
            <p:cNvSpPr/>
            <p:nvPr/>
          </p:nvSpPr>
          <p:spPr>
            <a:xfrm>
              <a:off x="2796738" y="1440489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43" name="shape 43"/>
            <p:cNvSpPr/>
            <p:nvPr/>
          </p:nvSpPr>
          <p:spPr>
            <a:xfrm>
              <a:off x="75815" y="1566847"/>
              <a:ext cx="2729347" cy="842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44" name="shape 44"/>
            <p:cNvSpPr/>
            <p:nvPr/>
          </p:nvSpPr>
          <p:spPr>
            <a:xfrm>
              <a:off x="75815" y="1440489"/>
              <a:ext cx="2729347" cy="842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45" name="shape 45"/>
            <p:cNvSpPr/>
            <p:nvPr/>
          </p:nvSpPr>
          <p:spPr>
            <a:xfrm>
              <a:off x="75815" y="1440489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46" name="shape 46"/>
            <p:cNvSpPr/>
            <p:nvPr/>
          </p:nvSpPr>
          <p:spPr>
            <a:xfrm>
              <a:off x="84239" y="1448913"/>
              <a:ext cx="2712499" cy="11793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47" name="shape 47"/>
            <p:cNvSpPr txBox="1"/>
            <p:nvPr/>
          </p:nvSpPr>
          <p:spPr>
            <a:xfrm>
              <a:off x="391347" y="1446326"/>
              <a:ext cx="2646045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1920"/>
              <a:r>
                <a:rPr sz="750" spc="15">
                  <a:latin typeface="Verdana"/>
                  <a:cs typeface="Verdana"/>
                </a:rPr>
                <a:t>Buscarlo en la Biblioteca de Educación</a:t>
              </a:r>
              <a:endParaRPr/>
            </a:p>
          </p:txBody>
        </p:sp>
        <p:sp>
          <p:nvSpPr>
            <p:cNvPr id="48" name="shape 48"/>
            <p:cNvSpPr/>
            <p:nvPr/>
          </p:nvSpPr>
          <p:spPr>
            <a:xfrm>
              <a:off x="58967" y="1752174"/>
              <a:ext cx="3563314" cy="168479"/>
            </a:xfrm>
            <a:custGeom>
              <a:pathLst>
                <a:path w="3563314" h="168478">
                  <a:moveTo>
                    <a:pt x="8423" y="160054"/>
                  </a:moveTo>
                  <a:lnTo>
                    <a:pt x="0" y="168478"/>
                  </a:lnTo>
                  <a:lnTo>
                    <a:pt x="0" y="0"/>
                  </a:lnTo>
                  <a:lnTo>
                    <a:pt x="3563314" y="0"/>
                  </a:lnTo>
                  <a:lnTo>
                    <a:pt x="3554889" y="8423"/>
                  </a:lnTo>
                  <a:lnTo>
                    <a:pt x="8423" y="84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9" name="shape 49"/>
            <p:cNvSpPr/>
            <p:nvPr/>
          </p:nvSpPr>
          <p:spPr>
            <a:xfrm>
              <a:off x="58967" y="1912228"/>
              <a:ext cx="3563314" cy="8424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50" name="shape 50"/>
            <p:cNvSpPr/>
            <p:nvPr/>
          </p:nvSpPr>
          <p:spPr>
            <a:xfrm>
              <a:off x="3613857" y="1760598"/>
              <a:ext cx="8425" cy="151631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51" name="shape 51"/>
            <p:cNvSpPr/>
            <p:nvPr/>
          </p:nvSpPr>
          <p:spPr>
            <a:xfrm>
              <a:off x="3613857" y="1752174"/>
              <a:ext cx="8425" cy="8424"/>
            </a:xfrm>
            <a:prstGeom prst="rect">
              <a:avLst/>
            </a:prstGeom>
            <a:solidFill>
              <a:srgbClr val="404040"/>
            </a:solidFill>
          </p:spPr>
        </p:sp>
        <p:sp>
          <p:nvSpPr>
            <p:cNvPr id="52" name="shape 52"/>
            <p:cNvSpPr/>
            <p:nvPr/>
          </p:nvSpPr>
          <p:spPr>
            <a:xfrm>
              <a:off x="67391" y="1760598"/>
              <a:ext cx="3546466" cy="151631"/>
            </a:xfrm>
            <a:custGeom>
              <a:pathLst>
                <a:path w="3546465" h="151630">
                  <a:moveTo>
                    <a:pt x="8423" y="143206"/>
                  </a:moveTo>
                  <a:lnTo>
                    <a:pt x="0" y="151630"/>
                  </a:lnTo>
                  <a:lnTo>
                    <a:pt x="0" y="0"/>
                  </a:lnTo>
                  <a:lnTo>
                    <a:pt x="3546465" y="0"/>
                  </a:lnTo>
                  <a:lnTo>
                    <a:pt x="3538041" y="8423"/>
                  </a:lnTo>
                  <a:lnTo>
                    <a:pt x="8423" y="8423"/>
                  </a:lnTo>
                  <a:close/>
                </a:path>
              </a:pathLst>
            </a:custGeom>
            <a:solidFill>
              <a:srgbClr val="D4D0C8"/>
            </a:solidFill>
          </p:spPr>
        </p:sp>
        <p:sp>
          <p:nvSpPr>
            <p:cNvPr id="53" name="shape 53"/>
            <p:cNvSpPr/>
            <p:nvPr/>
          </p:nvSpPr>
          <p:spPr>
            <a:xfrm>
              <a:off x="67391" y="1903804"/>
              <a:ext cx="3546466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54" name="shape 54"/>
            <p:cNvSpPr/>
            <p:nvPr/>
          </p:nvSpPr>
          <p:spPr>
            <a:xfrm>
              <a:off x="3605433" y="1769022"/>
              <a:ext cx="8424" cy="134783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55" name="shape 55"/>
            <p:cNvSpPr/>
            <p:nvPr/>
          </p:nvSpPr>
          <p:spPr>
            <a:xfrm>
              <a:off x="3605433" y="1760598"/>
              <a:ext cx="8424" cy="8424"/>
            </a:xfrm>
            <a:prstGeom prst="rect">
              <a:avLst/>
            </a:prstGeom>
            <a:solidFill>
              <a:srgbClr val="808080"/>
            </a:solidFill>
          </p:spPr>
        </p:sp>
        <p:sp>
          <p:nvSpPr>
            <p:cNvPr id="56" name="shape 56"/>
            <p:cNvSpPr/>
            <p:nvPr/>
          </p:nvSpPr>
          <p:spPr>
            <a:xfrm>
              <a:off x="3597009" y="1769022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57" name="shape 57"/>
            <p:cNvSpPr/>
            <p:nvPr/>
          </p:nvSpPr>
          <p:spPr>
            <a:xfrm>
              <a:off x="75815" y="1895380"/>
              <a:ext cx="3529618" cy="842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58" name="shape 58"/>
            <p:cNvSpPr/>
            <p:nvPr/>
          </p:nvSpPr>
          <p:spPr>
            <a:xfrm>
              <a:off x="75815" y="1769022"/>
              <a:ext cx="3529618" cy="8424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59" name="shape 59"/>
            <p:cNvSpPr/>
            <p:nvPr/>
          </p:nvSpPr>
          <p:spPr>
            <a:xfrm>
              <a:off x="75815" y="1769022"/>
              <a:ext cx="8424" cy="134783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60" name="shape 60"/>
            <p:cNvSpPr/>
            <p:nvPr/>
          </p:nvSpPr>
          <p:spPr>
            <a:xfrm>
              <a:off x="84239" y="1777445"/>
              <a:ext cx="3512770" cy="117935"/>
            </a:xfrm>
            <a:prstGeom prst="rect">
              <a:avLst/>
            </a:prstGeom>
            <a:solidFill>
              <a:srgbClr val="D4D0C8"/>
            </a:solidFill>
          </p:spPr>
        </p:sp>
        <p:sp>
          <p:nvSpPr>
            <p:cNvPr id="61" name="shape 61"/>
            <p:cNvSpPr txBox="1"/>
            <p:nvPr/>
          </p:nvSpPr>
          <p:spPr>
            <a:xfrm>
              <a:off x="391347" y="1774858"/>
              <a:ext cx="2646045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257175"/>
              <a:r>
                <a:rPr sz="750" spc="5">
                  <a:latin typeface="Verdana"/>
                  <a:cs typeface="Verdana"/>
                </a:rPr>
                <a:t>Buscarlo en Catálogo del Patrimonio Bibliográfico</a:t>
              </a:r>
              <a:endParaRPr/>
            </a:p>
          </p:txBody>
        </p:sp>
      </p:grpSp>
      <p:pic>
        <p:nvPicPr>
          <p:cNvPr id="62" name="shape 6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6153" y="8105420"/>
            <a:ext cx="42120" cy="42120"/>
          </a:xfrm>
          <a:prstGeom prst="rect"/>
        </p:spPr>
      </p:pic>
      <p:pic>
        <p:nvPicPr>
          <p:cNvPr id="63" name="shape 6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55827" y="8214931"/>
            <a:ext cx="42120" cy="42120"/>
          </a:xfrm>
          <a:prstGeom prst="rect"/>
        </p:spPr>
      </p:pic>
      <p:pic>
        <p:nvPicPr>
          <p:cNvPr id="64" name="shape 6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55827" y="8459224"/>
            <a:ext cx="42120" cy="42120"/>
          </a:xfrm>
          <a:prstGeom prst="rect"/>
        </p:spPr>
      </p:pic>
      <p:pic>
        <p:nvPicPr>
          <p:cNvPr id="65" name="shape 6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6153" y="8737213"/>
            <a:ext cx="42120" cy="42120"/>
          </a:xfrm>
          <a:prstGeom prst="rect"/>
        </p:spPr>
      </p:pic>
      <p:pic>
        <p:nvPicPr>
          <p:cNvPr id="66" name="shape 6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55827" y="8846724"/>
            <a:ext cx="42120" cy="42120"/>
          </a:xfrm>
          <a:prstGeom prst="rect"/>
        </p:spPr>
      </p:pic>
      <p:pic>
        <p:nvPicPr>
          <p:cNvPr id="67" name="shape 6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55827" y="9065746"/>
            <a:ext cx="42120" cy="42120"/>
          </a:xfrm>
          <a:prstGeom prst="rect"/>
        </p:spPr>
      </p:pic>
      <p:pic>
        <p:nvPicPr>
          <p:cNvPr id="68" name="shape 6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55827" y="9284767"/>
            <a:ext cx="42120" cy="42120"/>
          </a:xfrm>
          <a:prstGeom prst="rect"/>
        </p:spPr>
      </p:pic>
      <p:sp>
        <p:nvSpPr>
          <p:cNvPr id="69" name="shape 69"/>
          <p:cNvSpPr txBox="1"/>
          <p:nvPr/>
        </p:nvSpPr>
        <p:spPr>
          <a:xfrm>
            <a:off x="7754316" y="5881854"/>
            <a:ext cx="278765" cy="4572000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 marR="12700" algn="just">
              <a:lnSpc>
                <a:spcPct val="104135"/>
              </a:lnSpc>
              <a:spcBef>
                <a:spcPts val="100"/>
              </a:spcBef>
            </a:pPr>
            <a:r>
              <a:rPr sz="800" spc="-5">
                <a:latin typeface="Arial"/>
                <a:cs typeface="Arial"/>
              </a:rPr>
              <a:t>Ámbito: GUI - La autenticidad, validez e integridad de este documento puede ser verificada mediante </a:t>
            </a:r>
            <a:r>
              <a:rPr sz="800">
                <a:latin typeface="Arial"/>
                <a:cs typeface="Arial"/>
              </a:rPr>
              <a:t>el "Código Seguro de Verificación (CSV)" en la dirección </a:t>
            </a:r>
            <a:r>
              <a:rPr sz="800"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https://sede.uned.es/valida/</a:t>
            </a:r>
            <a:endParaRPr/>
          </a:p>
        </p:txBody>
      </p:sp>
      <p:pic>
        <p:nvPicPr>
          <p:cNvPr id="70" name="shape 7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051800" y="5588000"/>
            <a:ext cx="355600" cy="4927600"/>
          </a:xfrm>
          <a:prstGeom prst="rect"/>
        </p:spPr>
      </p:pic>
      <p:sp>
        <p:nvSpPr>
          <p:cNvPr id="71" name="shape 71"/>
          <p:cNvSpPr txBox="1"/>
          <p:nvPr/>
        </p:nvSpPr>
        <p:spPr>
          <a:xfrm>
            <a:off x="8400536" y="7360418"/>
            <a:ext cx="112396" cy="1372870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550">
                <a:latin typeface="Arial"/>
                <a:cs typeface="Arial"/>
              </a:rPr>
              <a:t>FE13B15241F5384A3B624EC1C2FDBC30</a:t>
            </a:r>
            <a:endParaRPr/>
          </a:p>
        </p:txBody>
      </p:sp>
      <p:sp>
        <p:nvSpPr>
          <p:cNvPr id="72" name="shape 72"/>
          <p:cNvSpPr txBox="1"/>
          <p:nvPr/>
        </p:nvSpPr>
        <p:spPr>
          <a:xfrm>
            <a:off x="865505" y="1544755"/>
            <a:ext cx="6092826" cy="9067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algn="just"/>
            <a:r>
              <a:rPr sz="850" b="1" spc="10">
                <a:latin typeface="Verdana"/>
                <a:cs typeface="Verdana"/>
              </a:rPr>
              <a:t>Comentarios y anexos:</a:t>
            </a:r>
            <a:endParaRPr/>
          </a:p>
          <a:p>
            <a:pPr/>
            <a:r>
              <a:rPr sz="1000">
                <a:latin typeface="Verdana"/>
                <a:cs typeface="Verdana"/>
              </a:rPr>
              <a:t/>
            </a:r>
            <a:endParaRPr sz="1000"/>
          </a:p>
          <a:p>
            <a:pPr marL="12700" marR="12700" algn="just">
              <a:lnSpc>
                <a:spcPct val="140190"/>
              </a:lnSpc>
              <a:spcBef>
                <a:spcPts val="300"/>
              </a:spcBef>
            </a:pPr>
            <a:r>
              <a:rPr sz="750" spc="10">
                <a:latin typeface="Verdana"/>
                <a:cs typeface="Verdana"/>
              </a:rPr>
              <a:t>El uso de paquetes estadísticos de ordenador se hacen indsipensable hoy en día, por ello se ha elegido este libro que está desarrollado de acuerdo a la utilización del paquete estadístico R que es gratuito.</a:t>
            </a:r>
            <a:endParaRPr/>
          </a:p>
          <a:p>
            <a:pPr/>
            <a:r>
              <a:rPr sz="1000">
                <a:latin typeface="Verdana"/>
                <a:cs typeface="Verdana"/>
              </a:rPr>
              <a:t/>
            </a:r>
            <a:endParaRPr sz="1000"/>
          </a:p>
          <a:p>
            <a:pPr marL="12700" algn="just"/>
            <a:r>
              <a:rPr sz="750" spc="15">
                <a:latin typeface="Verdana"/>
                <a:cs typeface="Verdana"/>
              </a:rPr>
              <a:t>En el libro hay un anexo que explica la forma de obtener e instalar dicho paquete.</a:t>
            </a:r>
            <a:endParaRPr/>
          </a:p>
        </p:txBody>
      </p:sp>
      <p:sp>
        <p:nvSpPr>
          <p:cNvPr id="73" name="shape 73"/>
          <p:cNvSpPr txBox="1"/>
          <p:nvPr/>
        </p:nvSpPr>
        <p:spPr>
          <a:xfrm>
            <a:off x="865505" y="5613504"/>
            <a:ext cx="3370580" cy="1295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50" b="1" spc="10">
                <a:latin typeface="Verdana"/>
                <a:cs typeface="Verdana"/>
              </a:rPr>
              <a:t>Comentarios y anexos:</a:t>
            </a:r>
            <a:endParaRPr/>
          </a:p>
        </p:txBody>
      </p:sp>
      <p:sp>
        <p:nvSpPr>
          <p:cNvPr id="74" name="shape 74"/>
          <p:cNvSpPr txBox="1"/>
          <p:nvPr/>
        </p:nvSpPr>
        <p:spPr>
          <a:xfrm>
            <a:off x="865505" y="5929465"/>
            <a:ext cx="337058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>
                <a:latin typeface="Verdana"/>
                <a:cs typeface="Verdana"/>
              </a:rPr>
              <a:t>También puede ser utilizado como elemento complementario el libro:</a:t>
            </a:r>
            <a:endParaRPr/>
          </a:p>
        </p:txBody>
      </p:sp>
      <p:sp>
        <p:nvSpPr>
          <p:cNvPr id="75" name="shape 75"/>
          <p:cNvSpPr txBox="1"/>
          <p:nvPr/>
        </p:nvSpPr>
        <p:spPr>
          <a:xfrm>
            <a:off x="865505" y="6249573"/>
            <a:ext cx="337058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 spc="10">
                <a:latin typeface="Verdana"/>
                <a:cs typeface="Verdana"/>
              </a:rPr>
              <a:t>Ejercicios de estadística aplicada, de Alfonso García Pérez, ed UNED</a:t>
            </a: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865505" y="7032997"/>
            <a:ext cx="4457065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 spc="15">
                <a:latin typeface="Verdana"/>
                <a:cs typeface="Verdana"/>
              </a:rPr>
              <a:t>Los propios de la plataforma en la que se alojará la zona virtual de la asignatura.</a:t>
            </a:r>
            <a:endParaRPr/>
          </a:p>
        </p:txBody>
      </p:sp>
      <p:sp>
        <p:nvSpPr>
          <p:cNvPr id="77" name="shape 77"/>
          <p:cNvSpPr txBox="1"/>
          <p:nvPr/>
        </p:nvSpPr>
        <p:spPr>
          <a:xfrm>
            <a:off x="865505" y="7795297"/>
            <a:ext cx="4457065" cy="1295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50">
                <a:latin typeface="Verdana"/>
                <a:cs typeface="Verdana"/>
              </a:rPr>
              <a:t>El horario de consulta al profesor de la asignatura será los lunes de 15h</a:t>
            </a:r>
            <a:r>
              <a:rPr sz="850" spc="335">
                <a:latin typeface="Verdana"/>
                <a:cs typeface="Verdana"/>
              </a:rPr>
              <a:t> </a:t>
            </a:r>
            <a:r>
              <a:rPr sz="850">
                <a:latin typeface="Verdana"/>
                <a:cs typeface="Verdana"/>
              </a:rPr>
              <a:t>á 19h.</a:t>
            </a:r>
            <a:endParaRPr/>
          </a:p>
        </p:txBody>
      </p:sp>
      <p:sp>
        <p:nvSpPr>
          <p:cNvPr id="78" name="shape 78"/>
          <p:cNvSpPr txBox="1"/>
          <p:nvPr/>
        </p:nvSpPr>
        <p:spPr>
          <a:xfrm>
            <a:off x="865505" y="8085986"/>
            <a:ext cx="4457065" cy="8585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602615"/>
            <a:r>
              <a:rPr sz="750" spc="15">
                <a:latin typeface="Verdana"/>
                <a:cs typeface="Verdana"/>
              </a:rPr>
              <a:t>Miguel Delgado Pineda</a:t>
            </a:r>
            <a:endParaRPr/>
          </a:p>
          <a:p>
            <a:pPr marL="1191895">
              <a:lnSpc>
                <a:spcPts val="889"/>
              </a:lnSpc>
            </a:pPr>
            <a:r>
              <a:rPr sz="750" spc="15">
                <a:latin typeface="Verdana"/>
                <a:cs typeface="Verdana"/>
              </a:rPr>
              <a:t>Despacho: 131 de la Facultad de Ciencias</a:t>
            </a:r>
            <a:endParaRPr/>
          </a:p>
          <a:p>
            <a:pPr marL="1191895">
              <a:spcBef>
                <a:spcPts val="1100"/>
              </a:spcBef>
            </a:pPr>
            <a:r>
              <a:rPr sz="750" spc="10">
                <a:latin typeface="Verdana"/>
                <a:cs typeface="Verdana"/>
              </a:rPr>
              <a:t>Teléfono: 91 398 7225 C. Electrónico: </a:t>
            </a:r>
            <a:r>
              <a:rPr sz="750" spc="10">
                <a:latin typeface="Verdana"/>
                <a:cs typeface="Verdan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mdelgado@mat.uned.es</a:t>
            </a:r>
            <a:endParaRPr/>
          </a:p>
          <a:p>
            <a:pPr marL="602615">
              <a:spcBef>
                <a:spcPts val="1200"/>
              </a:spcBef>
            </a:pPr>
            <a:r>
              <a:rPr sz="750" spc="15">
                <a:latin typeface="Verdana"/>
                <a:cs typeface="Verdana"/>
              </a:rPr>
              <a:t>Dirección postal:</a:t>
            </a:r>
            <a:endParaRPr/>
          </a:p>
          <a:p>
            <a:pPr marL="1191895">
              <a:lnSpc>
                <a:spcPts val="870"/>
              </a:lnSpc>
            </a:pPr>
            <a:r>
              <a:rPr sz="750" spc="20">
                <a:latin typeface="Verdana"/>
                <a:cs typeface="Verdana"/>
              </a:rPr>
              <a:t>Paseo Senda del Rey n</a:t>
            </a:r>
            <a:r>
              <a:rPr sz="750">
                <a:latin typeface="Verdana"/>
                <a:cs typeface="Verdana"/>
              </a:rPr>
              <a:t>-9</a:t>
            </a: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865505" y="8956112"/>
            <a:ext cx="4457065" cy="436627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191895" marR="1941830" algn="just">
              <a:lnSpc>
                <a:spcPct val="191166"/>
              </a:lnSpc>
            </a:pPr>
            <a:r>
              <a:rPr sz="750" spc="-10">
                <a:latin typeface="Verdana"/>
                <a:cs typeface="Verdana"/>
              </a:rPr>
              <a:t>Facultad de Ciencias, UNED </a:t>
            </a:r>
            <a:r>
              <a:rPr sz="750" spc="5">
                <a:latin typeface="Verdana"/>
                <a:cs typeface="Verdana"/>
              </a:rPr>
              <a:t>Madrid 28040</a:t>
            </a:r>
            <a:endParaRPr/>
          </a:p>
        </p:txBody>
      </p:sp>
      <p:sp>
        <p:nvSpPr>
          <p:cNvPr id="80" name="shape 80"/>
          <p:cNvSpPr txBox="1"/>
          <p:nvPr/>
        </p:nvSpPr>
        <p:spPr>
          <a:xfrm>
            <a:off x="865505" y="9539046"/>
            <a:ext cx="4457065" cy="1295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50">
                <a:latin typeface="Verdana"/>
                <a:cs typeface="Verdana"/>
              </a:rPr>
              <a:t>Web Departamento </a:t>
            </a:r>
            <a:r>
              <a:rPr sz="850" u="sng" spc="10">
                <a:solidFill>
                  <a:srgbClr val="0000FF"/>
                </a:solidFill>
                <a:latin typeface="Verdana"/>
                <a:cs typeface="Verdana"/>
                <a:hlinkClick r:id="rId7"/>
              </a:rPr>
              <a:t>http://www.mat.uned.es</a:t>
            </a:r>
            <a:endParaRPr/>
          </a:p>
        </p:txBody>
      </p:sp>
      <p:sp>
        <p:nvSpPr>
          <p:cNvPr id="81" name="shape 81"/>
          <p:cNvSpPr txBox="1"/>
          <p:nvPr/>
        </p:nvSpPr>
        <p:spPr>
          <a:xfrm>
            <a:off x="545909" y="2659363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60">
                <a:solidFill>
                  <a:srgbClr val="336699"/>
                </a:solidFill>
                <a:latin typeface="Arial"/>
                <a:cs typeface="Arial"/>
              </a:rPr>
              <a:t>10.BIBLIOGRAFÍA COMPLEMENTARIA</a:t>
            </a: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45909" y="6568057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60">
                <a:solidFill>
                  <a:srgbClr val="336699"/>
                </a:solidFill>
                <a:latin typeface="Arial"/>
                <a:cs typeface="Arial"/>
              </a:rPr>
              <a:t>11.RECURSOS DE APOYO</a:t>
            </a:r>
            <a:endParaRPr/>
          </a:p>
        </p:txBody>
      </p:sp>
      <p:sp>
        <p:nvSpPr>
          <p:cNvPr id="83" name="shape 83"/>
          <p:cNvSpPr txBox="1"/>
          <p:nvPr/>
        </p:nvSpPr>
        <p:spPr>
          <a:xfrm>
            <a:off x="545909" y="7351480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55">
                <a:solidFill>
                  <a:srgbClr val="336699"/>
                </a:solidFill>
                <a:latin typeface="Arial"/>
                <a:cs typeface="Arial"/>
              </a:rPr>
              <a:t>12.TUTORIZACIÓN</a:t>
            </a:r>
            <a:endParaRPr/>
          </a:p>
        </p:txBody>
      </p:sp>
      <p:sp>
        <p:nvSpPr>
          <p:cNvPr id="84" name="shape 84"/>
          <p:cNvSpPr txBox="1"/>
          <p:nvPr/>
        </p:nvSpPr>
        <p:spPr>
          <a:xfrm>
            <a:off x="545909" y="9962893"/>
            <a:ext cx="6410960" cy="261620"/>
          </a:xfrm>
          <a:prstGeom prst="rect"/>
          <a:solidFill>
            <a:srgbClr val="F1F4EF"/>
          </a:solidFill>
          <a:ln w="9525">
            <a:solidFill>
              <a:srgbClr val="336699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16840">
              <a:spcBef>
                <a:spcPts val="400"/>
              </a:spcBef>
            </a:pPr>
            <a:r>
              <a:rPr sz="950" b="1" spc="80">
                <a:solidFill>
                  <a:srgbClr val="336699"/>
                </a:solidFill>
                <a:latin typeface="Arial"/>
                <a:cs typeface="Arial"/>
              </a:rPr>
              <a:t>13.Practicas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7754316" y="5881854"/>
            <a:ext cx="278765" cy="4572000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 marR="12700" algn="just">
              <a:lnSpc>
                <a:spcPct val="104135"/>
              </a:lnSpc>
              <a:spcBef>
                <a:spcPts val="100"/>
              </a:spcBef>
            </a:pPr>
            <a:r>
              <a:rPr sz="800" spc="-5">
                <a:latin typeface="Arial"/>
                <a:cs typeface="Arial"/>
              </a:rPr>
              <a:t>Ámbito: GUI - La autenticidad, validez e integridad de este documento puede ser verificada mediante </a:t>
            </a:r>
            <a:r>
              <a:rPr sz="800">
                <a:latin typeface="Arial"/>
                <a:cs typeface="Arial"/>
              </a:rPr>
              <a:t>el "Código Seguro de Verificación (CSV)" en la dirección </a:t>
            </a:r>
            <a:r>
              <a:rPr sz="800"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https://sede.uned.es/valida/</a:t>
            </a:r>
            <a:endParaRPr/>
          </a:p>
        </p:txBody>
      </p:sp>
      <p:pic>
        <p:nvPicPr>
          <p:cNvPr id="3" name="shap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51800" y="5588000"/>
            <a:ext cx="355600" cy="4927600"/>
          </a:xfrm>
          <a:prstGeom prst="rect"/>
        </p:spPr>
      </p:pic>
      <p:sp>
        <p:nvSpPr>
          <p:cNvPr id="4" name="shape 4"/>
          <p:cNvSpPr txBox="1"/>
          <p:nvPr/>
        </p:nvSpPr>
        <p:spPr>
          <a:xfrm>
            <a:off x="8400536" y="7360418"/>
            <a:ext cx="112396" cy="1372870"/>
          </a:xfrm>
          <a:prstGeom prst="rect"/>
          <a:noFill/>
        </p:spPr>
        <p:txBody>
          <a:bodyPr vert="vert270" vertOverflow="overflow" horzOverflow="overflow" numCol="1" wrap="square" lIns="12700" tIns="0" rIns="0" bIns="0">
            <a:spAutoFit/>
          </a:bodyPr>
          <a:p>
            <a:pPr marL="12700">
              <a:spcBef>
                <a:spcPts val="100"/>
              </a:spcBef>
            </a:pPr>
            <a:r>
              <a:rPr sz="550">
                <a:latin typeface="Arial"/>
                <a:cs typeface="Arial"/>
              </a:rPr>
              <a:t>FE13B15241F5384A3B624EC1C2FDBC30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865505" y="971930"/>
            <a:ext cx="6090920" cy="6159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170180" algn="just">
              <a:lnSpc>
                <a:spcPct val="123645"/>
              </a:lnSpc>
            </a:pPr>
            <a:r>
              <a:rPr sz="850">
                <a:solidFill>
                  <a:srgbClr val="333333"/>
                </a:solidFill>
                <a:latin typeface="Tahoma"/>
                <a:cs typeface="Tahoma"/>
              </a:rPr>
              <a:t>No hay trabajos prácticos obligatorios, si bien, y con caracter excepcional, el equipo docente presentará algun trabajo práctico, que los alumnos interesados deberán presentar en el plazo requerido.</a:t>
            </a:r>
            <a:endParaRPr/>
          </a:p>
          <a:p>
            <a:pPr/>
            <a:r>
              <a:rPr sz="1000">
                <a:latin typeface="Tahoma"/>
                <a:cs typeface="Tahoma"/>
              </a:rPr>
              <a:t/>
            </a:r>
            <a:endParaRPr sz="1000"/>
          </a:p>
          <a:p>
            <a:pPr marL="181610" algn="just">
              <a:spcBef>
                <a:spcPts val="100"/>
              </a:spcBef>
            </a:pPr>
            <a:r>
              <a:rPr sz="850">
                <a:solidFill>
                  <a:srgbClr val="333333"/>
                </a:solidFill>
                <a:latin typeface="Tahoma"/>
                <a:cs typeface="Tahoma"/>
              </a:rPr>
              <a:t>Estas se encuentraran disponibles en el Curso Virtual.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2031040</dc:title>
  <dc:subject/>
  <dc:creator>iText® 5.4.5 ©2000-2013 1T3XT BVBA (AGPL-version)</dc:creator>
  <cp:keywords/>
  <dc:description/>
  <cp:lastModifiedBy/>
  <cp:revision>1</cp:revision>
  <cp:category>pdf2pptx</cp:category>
  <cp:contentStatus>Created with Avanquest.Pdf 0.91.2025103001.0</cp:contentStatus>
  <dcterms:created xsi:type="dcterms:W3CDTF">2025-10-30T19:35:52+0000</dcterms:created>
  <dcterms:modified xsi:type="dcterms:W3CDTF">2016-11-15T14:41:26+0000</dcterms:modified>
</cp:coreProperties>
</file>