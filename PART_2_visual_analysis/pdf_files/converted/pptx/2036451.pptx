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&#65279;<?xml version='1.0' encoding='UTF-8' standalone='yes'?><Relationships xmlns='http://schemas.openxmlformats.org/package/2006/relationships'><Relationship Id='rId3' Type='http://schemas.openxmlformats.org/officeDocument/2006/relationships/extended-properties' Target='docProps/app.xml'/><Relationship Id='rId2' Type='http://schemas.openxmlformats.org/package/2006/relationships/metadata/core-properties' Target='docProps/core.xml'/><Relationship Id='rId1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&#65279;<?xml version="1.0"?><Relationships xmlns='http://schemas.openxmlformats.org/package/2006/relationships'><Relationship Id='rId1' Type='http://schemas.openxmlformats.org/officeDocument/2006/relationships/slideMaster' Target='slideMasters/slideMaster1.xml'/><Relationship Id='rId2' Type='http://schemas.openxmlformats.org/officeDocument/2006/relationships/theme' Target='theme/theme1.xml'/><Relationship Id='rId3' Type='http://schemas.openxmlformats.org/officeDocument/2006/relationships/viewProps' Target='viewProps.xml'/><Relationship Id='rId4' Type='http://schemas.openxmlformats.org/officeDocument/2006/relationships/presProps' Target='presProps.xml'/><Relationship Id='rId5' Type='http://schemas.openxmlformats.org/officeDocument/2006/relationships/tableStyles' Target='tableStyles.xml'/><Relationship Id='rId6' Type='http://schemas.openxmlformats.org/officeDocument/2006/relationships/slide' Target='slides/slide1.xml'/><Relationship Id='rId7' Type='http://schemas.openxmlformats.org/officeDocument/2006/relationships/slide' Target='slides/slide2.xml'/><Relationship Id='rId8' Type='http://schemas.openxmlformats.org/officeDocument/2006/relationships/slide' Target='slides/slide3.xml'/><Relationship Id='rId9' Type='http://schemas.openxmlformats.org/officeDocument/2006/relationships/slide' Target='slides/slide4.xml'/><Relationship Id='rId10' Type='http://schemas.openxmlformats.org/officeDocument/2006/relationships/slide' Target='slides/slide5.xml'/></Relationships>
</file>

<file path=ppt/slideLayouts/_rels/slideLayout1.xml.rels>&#65279;<?xml version='1.0' encoding='UTF-8'?><Relationships xmlns='http://schemas.openxmlformats.org/package/2006/relationships'><Relationship Id='rId1' Type='http://schemas.openxmlformats.org/officeDocument/2006/relationships/slideMaster' Target='../slideMasters/slideMaster1.xml'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&#65279;<?xml version='1.0' encoding='UTF-8' standalone='yes'?><Relationships xmlns='http://schemas.openxmlformats.org/package/2006/relationships'><Relationship Id='rId2' Type='http://schemas.openxmlformats.org/officeDocument/2006/relationships/theme' Target='../theme/theme1.xml'/><Relationship Id='rId1' Type='http://schemas.openxmlformats.org/officeDocument/2006/relationships/slideLayout' Target='../slideLayouts/slideLayout1.xml'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?><Relationships xmlns='http://schemas.openxmlformats.org/package/2006/relationships'><Relationship Id='rId1' Type='http://schemas.openxmlformats.org/officeDocument/2006/relationships/slideLayout' Target='../slideLayouts/slideLayout1.xml'/><Relationship Id='rId2' Type='http://schemas.openxmlformats.org/officeDocument/2006/relationships/image' Target='../media/371604618225723a.jpg'/></Relationships>
</file>

<file path=ppt/slides/_rels/slide2.xml.rels>&#65279;<?xml version="1.0"?><Relationships xmlns='http://schemas.openxmlformats.org/package/2006/relationships'><Relationship Id='rId1' Type='http://schemas.openxmlformats.org/officeDocument/2006/relationships/slideLayout' Target='../slideLayouts/slideLayout1.xml'/><Relationship Id='rId2' Type='http://schemas.openxmlformats.org/officeDocument/2006/relationships/image' Target='../media/ba3f3e2066d7c728.jpg'/><Relationship Id='rId3' Type='http://schemas.openxmlformats.org/officeDocument/2006/relationships/image' Target='../media/de7f4fed840c25f5.jpg'/></Relationships>
</file>

<file path=ppt/slides/_rels/slide3.xml.rels>&#65279;<?xml version="1.0"?><Relationships xmlns='http://schemas.openxmlformats.org/package/2006/relationships'><Relationship Id='rId1' Type='http://schemas.openxmlformats.org/officeDocument/2006/relationships/slideLayout' Target='../slideLayouts/slideLayout1.xml'/></Relationships>
</file>

<file path=ppt/slides/_rels/slide4.xml.rels>&#65279;<?xml version="1.0"?><Relationships xmlns='http://schemas.openxmlformats.org/package/2006/relationships'><Relationship Id='rId1' Type='http://schemas.openxmlformats.org/officeDocument/2006/relationships/slideLayout' Target='../slideLayouts/slideLayout1.xml'/></Relationships>
</file>

<file path=ppt/slides/_rels/slide5.xml.rels>&#65279;<?xml version="1.0"?><Relationships xmlns='http://schemas.openxmlformats.org/package/2006/relationships'><Relationship Id='rId2' Type='http://schemas.openxmlformats.org/officeDocument/2006/relationships/hyperlink' Target='https://www.rivm.nl/earss/' TargetMode='External'/><Relationship Id='rId1' Type='http://schemas.openxmlformats.org/officeDocument/2006/relationships/slideLayout' Target='../slideLayouts/slideLayout1.xml'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shape 2"/>
          <p:cNvGrpSpPr/>
          <p:nvPr/>
        </p:nvGrpSpPr>
        <p:grpSpPr>
          <a:xfrm>
            <a:off x="718693" y="565912"/>
            <a:ext cx="5940553" cy="39625"/>
            <a:chOff x="0" y="0"/>
            <a:chExt cx="5940553" cy="39624"/>
          </a:xfrm>
        </p:grpSpPr>
        <p:sp>
          <p:nvSpPr>
            <p:cNvPr id="3" name="shape 3"/>
            <p:cNvSpPr/>
            <p:nvPr/>
          </p:nvSpPr>
          <p:spPr>
            <a:xfrm>
              <a:off x="0" y="0"/>
              <a:ext cx="5940553" cy="6097"/>
            </a:xfrm>
            <a:custGeom>
              <a:pathLst>
                <a:path w="5940552" h="6096">
                  <a:moveTo>
                    <a:pt x="0" y="3048"/>
                  </a:moveTo>
                  <a:lnTo>
                    <a:pt x="5940552" y="3048"/>
                  </a:lnTo>
                </a:path>
              </a:pathLst>
            </a:custGeom>
            <a:ln w="6096" cap="flat">
              <a:solidFill>
                <a:srgbClr val="000000"/>
              </a:solidFill>
              <a:prstDash val="solid"/>
              <a:miter lim="10"/>
            </a:ln>
          </p:spPr>
        </p:sp>
        <p:sp>
          <p:nvSpPr>
            <p:cNvPr id="4" name="shape 4"/>
            <p:cNvSpPr/>
            <p:nvPr/>
          </p:nvSpPr>
          <p:spPr>
            <a:xfrm>
              <a:off x="0" y="33528"/>
              <a:ext cx="5940553" cy="6097"/>
            </a:xfrm>
            <a:custGeom>
              <a:pathLst>
                <a:path w="5940552" h="6096">
                  <a:moveTo>
                    <a:pt x="0" y="3048"/>
                  </a:moveTo>
                  <a:lnTo>
                    <a:pt x="5940552" y="3048"/>
                  </a:lnTo>
                </a:path>
              </a:pathLst>
            </a:custGeom>
            <a:ln w="6096" cap="flat">
              <a:solidFill>
                <a:srgbClr val="000000"/>
              </a:solidFill>
              <a:prstDash val="solid"/>
              <a:miter lim="10"/>
            </a:ln>
          </p:spPr>
        </p:sp>
      </p:grpSp>
      <p:grpSp>
        <p:nvGrpSpPr>
          <p:cNvPr id="5" name="shape 5"/>
          <p:cNvGrpSpPr/>
          <p:nvPr/>
        </p:nvGrpSpPr>
        <p:grpSpPr>
          <a:xfrm>
            <a:off x="0" y="0"/>
            <a:ext cx="55373" cy="72009"/>
            <a:chOff x="0" y="0"/>
            <a:chExt cx="55372" cy="72009"/>
          </a:xfrm>
        </p:grpSpPr>
        <p:sp>
          <p:nvSpPr>
            <p:cNvPr id="6" name="shape 6"/>
            <p:cNvSpPr/>
            <p:nvPr/>
          </p:nvSpPr>
          <p:spPr>
            <a:xfrm>
              <a:off x="8509" y="3556"/>
              <a:ext cx="6096" cy="9144"/>
            </a:xfrm>
            <a:custGeom>
              <a:pathLst>
                <a:path w="6095" h="9144">
                  <a:moveTo>
                    <a:pt x="3048" y="0"/>
                  </a:moveTo>
                  <a:lnTo>
                    <a:pt x="3048" y="9144"/>
                  </a:lnTo>
                </a:path>
              </a:pathLst>
            </a:custGeom>
            <a:ln w="6096" cap="flat">
              <a:solidFill>
                <a:srgbClr val="000000"/>
              </a:solidFill>
              <a:prstDash val="solid"/>
              <a:miter lim="10"/>
            </a:ln>
          </p:spPr>
        </p:sp>
        <p:sp>
          <p:nvSpPr>
            <p:cNvPr id="7" name="shape 7"/>
            <p:cNvSpPr/>
            <p:nvPr/>
          </p:nvSpPr>
          <p:spPr>
            <a:xfrm>
              <a:off x="0" y="0"/>
              <a:ext cx="55373" cy="72009"/>
            </a:xfrm>
            <a:prstGeom prst="rect">
              <a:avLst/>
            </a:prstGeom>
            <a:solidFill>
              <a:srgbClr val="FFFFFF"/>
            </a:solidFill>
          </p:spPr>
        </p:sp>
      </p:grpSp>
      <p:grpSp>
        <p:nvGrpSpPr>
          <p:cNvPr id="8" name="shape 8"/>
          <p:cNvGrpSpPr/>
          <p:nvPr/>
        </p:nvGrpSpPr>
        <p:grpSpPr>
          <a:xfrm>
            <a:off x="718693" y="2626360"/>
            <a:ext cx="5940553" cy="39625"/>
            <a:chOff x="0" y="0"/>
            <a:chExt cx="5940553" cy="39624"/>
          </a:xfrm>
        </p:grpSpPr>
        <p:sp>
          <p:nvSpPr>
            <p:cNvPr id="9" name="shape 9"/>
            <p:cNvSpPr/>
            <p:nvPr/>
          </p:nvSpPr>
          <p:spPr>
            <a:xfrm>
              <a:off x="0" y="0"/>
              <a:ext cx="5940553" cy="6097"/>
            </a:xfrm>
            <a:custGeom>
              <a:pathLst>
                <a:path w="5940552" h="6096">
                  <a:moveTo>
                    <a:pt x="0" y="3048"/>
                  </a:moveTo>
                  <a:lnTo>
                    <a:pt x="5940552" y="3048"/>
                  </a:lnTo>
                </a:path>
              </a:pathLst>
            </a:custGeom>
            <a:ln w="6096" cap="flat">
              <a:solidFill>
                <a:srgbClr val="000000"/>
              </a:solidFill>
              <a:prstDash val="solid"/>
              <a:miter lim="10"/>
            </a:ln>
          </p:spPr>
        </p:sp>
        <p:sp>
          <p:nvSpPr>
            <p:cNvPr id="10" name="shape 10"/>
            <p:cNvSpPr/>
            <p:nvPr/>
          </p:nvSpPr>
          <p:spPr>
            <a:xfrm>
              <a:off x="0" y="33528"/>
              <a:ext cx="5940553" cy="6097"/>
            </a:xfrm>
            <a:custGeom>
              <a:pathLst>
                <a:path w="5940552" h="6096">
                  <a:moveTo>
                    <a:pt x="0" y="3048"/>
                  </a:moveTo>
                  <a:lnTo>
                    <a:pt x="5940552" y="3048"/>
                  </a:lnTo>
                </a:path>
              </a:pathLst>
            </a:custGeom>
            <a:ln w="6096" cap="flat">
              <a:solidFill>
                <a:srgbClr val="000000"/>
              </a:solidFill>
              <a:prstDash val="solid"/>
              <a:miter lim="10"/>
            </a:ln>
          </p:spPr>
        </p:sp>
      </p:grpSp>
      <p:grpSp>
        <p:nvGrpSpPr>
          <p:cNvPr id="11" name="shape 11"/>
          <p:cNvGrpSpPr/>
          <p:nvPr/>
        </p:nvGrpSpPr>
        <p:grpSpPr>
          <a:xfrm>
            <a:off x="718693" y="4101592"/>
            <a:ext cx="5940553" cy="39624"/>
            <a:chOff x="0" y="0"/>
            <a:chExt cx="5940553" cy="39624"/>
          </a:xfrm>
        </p:grpSpPr>
        <p:sp>
          <p:nvSpPr>
            <p:cNvPr id="12" name="shape 12"/>
            <p:cNvSpPr/>
            <p:nvPr/>
          </p:nvSpPr>
          <p:spPr>
            <a:xfrm>
              <a:off x="0" y="0"/>
              <a:ext cx="5940553" cy="6096"/>
            </a:xfrm>
            <a:custGeom>
              <a:pathLst>
                <a:path w="5940552" h="6095">
                  <a:moveTo>
                    <a:pt x="0" y="3047"/>
                  </a:moveTo>
                  <a:lnTo>
                    <a:pt x="5940552" y="3047"/>
                  </a:lnTo>
                </a:path>
              </a:pathLst>
            </a:custGeom>
            <a:ln w="6096" cap="flat">
              <a:solidFill>
                <a:srgbClr val="000000"/>
              </a:solidFill>
              <a:prstDash val="solid"/>
              <a:miter lim="10"/>
            </a:ln>
          </p:spPr>
        </p:sp>
        <p:sp>
          <p:nvSpPr>
            <p:cNvPr id="13" name="shape 13"/>
            <p:cNvSpPr/>
            <p:nvPr/>
          </p:nvSpPr>
          <p:spPr>
            <a:xfrm>
              <a:off x="0" y="33528"/>
              <a:ext cx="5940553" cy="6096"/>
            </a:xfrm>
            <a:custGeom>
              <a:pathLst>
                <a:path w="5940552" h="6095">
                  <a:moveTo>
                    <a:pt x="0" y="3047"/>
                  </a:moveTo>
                  <a:lnTo>
                    <a:pt x="5940552" y="3047"/>
                  </a:lnTo>
                </a:path>
              </a:pathLst>
            </a:custGeom>
            <a:ln w="6096" cap="flat">
              <a:solidFill>
                <a:srgbClr val="000000"/>
              </a:solidFill>
              <a:prstDash val="solid"/>
              <a:miter lim="10"/>
            </a:ln>
          </p:spPr>
        </p:sp>
      </p:grpSp>
      <p:pic>
        <p:nvPicPr>
          <p:cNvPr id="14" name="shape 1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815461" y="9434068"/>
            <a:ext cx="2764583" cy="393193"/>
          </a:xfrm>
          <a:prstGeom prst="rect"/>
        </p:spPr>
      </p:pic>
      <p:sp>
        <p:nvSpPr>
          <p:cNvPr id="15" name="shape 15"/>
          <p:cNvSpPr txBox="1"/>
          <p:nvPr/>
        </p:nvSpPr>
        <p:spPr>
          <a:xfrm>
            <a:off x="705485" y="372364"/>
            <a:ext cx="5965190" cy="1828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>
              <a:tabLst>
                <a:tab pos="4371975" algn="l"/>
              </a:tabLst>
            </a:pPr>
            <a:r>
              <a:rPr sz="1200">
                <a:latin typeface="Times New Roman"/>
                <a:cs typeface="Times New Roman"/>
              </a:rPr>
              <a:t>Êë³í³÷íà òà åêñïåðèìåíòàëüíà ïàòîëîã³ÿ</a:t>
            </a:r>
            <a:r>
              <a:rPr sz="1200">
                <a:latin typeface="Times New Roman"/>
                <a:cs typeface="Times New Roman"/>
              </a:rPr>
              <a:t>	</a:t>
            </a:r>
            <a:r>
              <a:rPr sz="1800" spc="-22" baseline="-4629">
                <a:latin typeface="Arial"/>
                <a:cs typeface="Arial"/>
              </a:rPr>
              <a:t>Òîì XI²²,</a:t>
            </a:r>
            <a:r>
              <a:rPr sz="1800" spc="330" baseline="-4629">
                <a:latin typeface="Arial"/>
                <a:cs typeface="Arial"/>
              </a:rPr>
              <a:t> </a:t>
            </a:r>
            <a:r>
              <a:rPr sz="1800" spc="-22" baseline="-4629">
                <a:latin typeface="Arial"/>
                <a:cs typeface="Arial"/>
              </a:rPr>
              <a:t>¹3 (49), 2014</a:t>
            </a:r>
            <a:endParaRPr/>
          </a:p>
        </p:txBody>
      </p:sp>
      <p:sp>
        <p:nvSpPr>
          <p:cNvPr id="16" name="shape 16"/>
          <p:cNvSpPr txBox="1"/>
          <p:nvPr/>
        </p:nvSpPr>
        <p:spPr>
          <a:xfrm>
            <a:off x="699770" y="714756"/>
            <a:ext cx="2224405" cy="18669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8415"/>
            <a:r>
              <a:rPr sz="1000" spc="5">
                <a:latin typeface="Times New Roman"/>
                <a:cs typeface="Times New Roman"/>
              </a:rPr>
              <a:t>ÓÄÊ  547.77'575'495.6:615.33:616-092.4</a:t>
            </a:r>
            <a:endParaRPr/>
          </a:p>
          <a:p>
            <a:pPr marL="12700">
              <a:spcBef>
                <a:spcPts val="500"/>
              </a:spcBef>
            </a:pPr>
            <a:r>
              <a:rPr sz="1200">
                <a:latin typeface="Times New Roman"/>
                <a:cs typeface="Times New Roman"/>
              </a:rPr>
              <a:t>².Ï. Áóðäåíþê,</a:t>
            </a:r>
            <a:endParaRPr/>
          </a:p>
          <a:p>
            <a:pPr marL="12700">
              <a:spcBef>
                <a:spcPts val="700"/>
              </a:spcBef>
            </a:pPr>
            <a:r>
              <a:rPr sz="1200" spc="-10">
                <a:latin typeface="Times New Roman"/>
                <a:cs typeface="Times New Roman"/>
              </a:rPr>
              <a:t>Ì.Ê. Áðàòåíêî,</a:t>
            </a:r>
            <a:endParaRPr/>
          </a:p>
          <a:p>
            <a:pPr marL="12700">
              <a:spcBef>
                <a:spcPts val="800"/>
              </a:spcBef>
            </a:pPr>
            <a:r>
              <a:rPr sz="1200" spc="-15">
                <a:latin typeface="Times New Roman"/>
                <a:cs typeface="Times New Roman"/>
              </a:rPr>
              <a:t>Ì.Ì. Áàðóñ,</a:t>
            </a:r>
            <a:endParaRPr/>
          </a:p>
          <a:p>
            <a:pPr marL="12700" marR="983615" algn="just">
              <a:lnSpc>
                <a:spcPct val="150124"/>
              </a:lnSpc>
            </a:pPr>
            <a:r>
              <a:rPr sz="1200" spc="-5">
                <a:latin typeface="Times New Roman"/>
                <a:cs typeface="Times New Roman"/>
              </a:rPr>
              <a:t>Â.Ô. Ìèñëèöüêèé, </a:t>
            </a:r>
            <a:r>
              <a:rPr sz="1200" spc="5">
                <a:latin typeface="Times New Roman"/>
                <a:cs typeface="Times New Roman"/>
              </a:rPr>
              <a:t>Ê.Ã. Òàùóê</a:t>
            </a:r>
            <a:endParaRPr/>
          </a:p>
          <a:p>
            <a:pPr marL="12700" marR="487045" algn="just">
              <a:lnSpc>
                <a:spcPct val="100083"/>
              </a:lnSpc>
              <a:spcBef>
                <a:spcPts val="700"/>
              </a:spcBef>
            </a:pPr>
            <a:r>
              <a:rPr sz="900" spc="-5">
                <a:latin typeface="Times New Roman"/>
                <a:cs typeface="Times New Roman"/>
              </a:rPr>
              <a:t>Áóêîâèíñüêèé äåðæàâíèé ìåäè÷íèé </a:t>
            </a:r>
            <a:r>
              <a:rPr sz="900" spc="5">
                <a:latin typeface="Times New Roman"/>
                <a:cs typeface="Times New Roman"/>
              </a:rPr>
              <a:t>óí³âåðñèòåò, ì. </a:t>
            </a:r>
            <a:r>
              <a:rPr sz="900">
                <a:latin typeface="Times New Roman"/>
                <a:cs typeface="Times New Roman"/>
              </a:rPr>
              <a:t>×åðí³âö³</a:t>
            </a:r>
            <a:endParaRPr/>
          </a:p>
        </p:txBody>
      </p:sp>
      <p:sp>
        <p:nvSpPr>
          <p:cNvPr id="17" name="shape 17"/>
          <p:cNvSpPr txBox="1"/>
          <p:nvPr/>
        </p:nvSpPr>
        <p:spPr>
          <a:xfrm>
            <a:off x="699770" y="2677668"/>
            <a:ext cx="2224405" cy="13716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8415" marR="309245">
              <a:lnSpc>
                <a:spcPct val="100083"/>
              </a:lnSpc>
            </a:pPr>
            <a:r>
              <a:rPr sz="1000" spc="-5">
                <a:latin typeface="Times New Roman"/>
                <a:cs typeface="Times New Roman"/>
              </a:rPr>
              <a:t>Êëþ÷îâ³ ñëîâà: </a:t>
            </a:r>
            <a:r>
              <a:rPr sz="1000">
                <a:latin typeface="Times New Roman"/>
                <a:cs typeface="Times New Roman"/>
              </a:rPr>
              <a:t>ñèíòåòè÷í³ õ³ì³î-òåðàïåâòè÷í³ ïðåïàðàòè, ïîõ³äí³ </a:t>
            </a:r>
            <a:r>
              <a:rPr sz="1000" spc="25">
                <a:latin typeface="Times New Roman"/>
                <a:cs typeface="Times New Roman"/>
              </a:rPr>
              <a:t>ï³ðàçîëó, æèâèëüí³ ñåðåäîâèùà </a:t>
            </a:r>
            <a:r>
              <a:rPr sz="1000" spc="5">
                <a:latin typeface="Times New Roman"/>
                <a:cs typeface="Times New Roman"/>
              </a:rPr>
              <a:t>ì'ÿñî-ïåïòîííèé áóëüéîí (ÌÏÁ), </a:t>
            </a:r>
            <a:r>
              <a:rPr sz="1000">
                <a:latin typeface="Times New Roman"/>
                <a:cs typeface="Times New Roman"/>
              </a:rPr>
              <a:t>³íã³áóþ÷³ êîíöåíòðàö³¿ ì³í³ìàëüíà </a:t>
            </a:r>
            <a:r>
              <a:rPr sz="1000" spc="35">
                <a:latin typeface="Times New Roman"/>
                <a:cs typeface="Times New Roman"/>
              </a:rPr>
              <a:t>áàêòåð³îñòàòè÷íà (ÌÁñÊ), </a:t>
            </a:r>
            <a:r>
              <a:rPr sz="1000">
                <a:latin typeface="Times New Roman"/>
                <a:cs typeface="Times New Roman"/>
              </a:rPr>
              <a:t>ì³í³ìàëüíà áàêòåðèöèäíà (ÌÁöÊ), òåñò-êóëüòóðè ì³êðîîðãàí³çì³â, ñåð³éí³ ðîçâåäåííÿ ïðåïàðàò³â.</a:t>
            </a:r>
            <a:endParaRPr/>
          </a:p>
        </p:txBody>
      </p:sp>
      <p:sp>
        <p:nvSpPr>
          <p:cNvPr id="18" name="shape 18"/>
          <p:cNvSpPr txBox="1"/>
          <p:nvPr/>
        </p:nvSpPr>
        <p:spPr>
          <a:xfrm>
            <a:off x="699770" y="4149344"/>
            <a:ext cx="2224405" cy="16764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98755"/>
            <a:r>
              <a:rPr sz="1100" spc="45">
                <a:latin typeface="Times New Roman"/>
                <a:cs typeface="Times New Roman"/>
              </a:rPr>
              <a:t>Âñòóï</a:t>
            </a:r>
            <a:endParaRPr/>
          </a:p>
        </p:txBody>
      </p:sp>
      <p:sp>
        <p:nvSpPr>
          <p:cNvPr id="19" name="shape 19"/>
          <p:cNvSpPr txBox="1"/>
          <p:nvPr/>
        </p:nvSpPr>
        <p:spPr>
          <a:xfrm>
            <a:off x="3046730" y="953516"/>
            <a:ext cx="3629661" cy="14935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39700">
              <a:lnSpc>
                <a:spcPct val="100083"/>
              </a:lnSpc>
            </a:pPr>
            <a:r>
              <a:rPr sz="1400" spc="20">
                <a:latin typeface="Arial"/>
                <a:cs typeface="Arial"/>
              </a:rPr>
              <a:t>ÀÍÒÈÌ²ÊÐÎÁÍÀ  ÀÊÒÈÂÍ²ÑÒÜ  ÒÀ </a:t>
            </a:r>
            <a:r>
              <a:rPr sz="1400">
                <a:latin typeface="Arial"/>
                <a:cs typeface="Arial"/>
              </a:rPr>
              <a:t>ÑÏÅÊÒÐ  ÀÍÒÈÌ²ÊÐÎÁÍÎ¯  Ä²¯  ÄÅßÊÈÕ </a:t>
            </a:r>
            <a:r>
              <a:rPr sz="1400" spc="65">
                <a:latin typeface="Arial"/>
                <a:cs typeface="Arial"/>
              </a:rPr>
              <a:t>ÍÎÂÈÕ  ÑÈÍÒÅÒÈ×ÍÈÕ  ÑÏÎËÓÊ </a:t>
            </a:r>
            <a:r>
              <a:rPr sz="1400">
                <a:latin typeface="Arial"/>
                <a:cs typeface="Arial"/>
              </a:rPr>
              <a:t>ÏÎÕ²ÄÍÈÕ  Ï²ÐÀÇÎËÓ  Ç²  ÑÒÐÓÊÒÓÐÍÈÌ </a:t>
            </a:r>
            <a:r>
              <a:rPr sz="1400" spc="-5">
                <a:latin typeface="Arial"/>
                <a:cs typeface="Arial"/>
              </a:rPr>
              <a:t>ÂÌ²ÑÒÎÌ  Ó  ÌÎËÅÊÓËÀÕ </a:t>
            </a:r>
            <a:r>
              <a:rPr sz="1400" spc="10">
                <a:latin typeface="Arial"/>
                <a:cs typeface="Arial"/>
              </a:rPr>
              <a:t>Ã²ÄÐÎÊÑÈÌÅÒÈËÜÍÎ¯  ÒÀ  ÓÐÅ¯ÄÍÎ¯ </a:t>
            </a:r>
            <a:r>
              <a:rPr sz="1400" spc="-5">
                <a:latin typeface="Arial"/>
                <a:cs typeface="Arial"/>
              </a:rPr>
              <a:t>ÓÃÐÓÏÓÂÀÍÜ  ²N  V²TRÎ</a:t>
            </a:r>
            <a:endParaRPr/>
          </a:p>
        </p:txBody>
      </p:sp>
      <p:sp>
        <p:nvSpPr>
          <p:cNvPr id="20" name="shape 20"/>
          <p:cNvSpPr txBox="1"/>
          <p:nvPr/>
        </p:nvSpPr>
        <p:spPr>
          <a:xfrm>
            <a:off x="3046730" y="2668524"/>
            <a:ext cx="3629661" cy="9144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02235">
              <a:lnSpc>
                <a:spcPct val="100083"/>
              </a:lnSpc>
            </a:pPr>
            <a:r>
              <a:rPr sz="1000" spc="50">
                <a:latin typeface="Times New Roman"/>
                <a:cs typeface="Times New Roman"/>
              </a:rPr>
              <a:t>Ðåçþìå. Ïðîâåäåíî äîñë³äæåííÿ in vitro á³îëîã³÷íî¿ àêòèâíîñò³ </a:t>
            </a:r>
            <a:r>
              <a:rPr sz="1000" spc="10">
                <a:latin typeface="Times New Roman"/>
                <a:cs typeface="Times New Roman"/>
              </a:rPr>
              <a:t>òà ñïåêòðó àíòèì³êðîáíî¿ ä³¿ â³äíîñíî ãðàìïîçèòèâíèõ òà </a:t>
            </a:r>
            <a:r>
              <a:rPr sz="1000">
                <a:latin typeface="Times New Roman"/>
                <a:cs typeface="Times New Roman"/>
              </a:rPr>
              <a:t>ãðàìíåãàòèâíèõ òåñò-êóëüòóð áàêòåð³é ³ ãðèá³â äåñÿòè âïåðøå </a:t>
            </a:r>
            <a:r>
              <a:rPr sz="1000" spc="25">
                <a:latin typeface="Times New Roman"/>
                <a:cs typeface="Times New Roman"/>
              </a:rPr>
              <a:t>ñèíòåçîâàíèõ îðèã³íàëüíèõ õ³ì³÷íèõ ïðåïàðàò³â. Ñïîëóêè </a:t>
            </a:r>
            <a:r>
              <a:rPr sz="1000">
                <a:latin typeface="Times New Roman"/>
                <a:cs typeface="Times New Roman"/>
              </a:rPr>
              <a:t>â³äíîñÿòüñÿ äî ïîõ³äíèõ ï³ðàçîëó, ùî ì³ñòÿòü ó ñâî¿é ñòðóêòóð³ ã³äðîêñèìåòèëüíó òà óðå¿äíó ãðóïè.</a:t>
            </a:r>
            <a:endParaRPr/>
          </a:p>
        </p:txBody>
      </p:sp>
      <p:sp>
        <p:nvSpPr>
          <p:cNvPr id="21" name="shape 21"/>
          <p:cNvSpPr txBox="1"/>
          <p:nvPr/>
        </p:nvSpPr>
        <p:spPr>
          <a:xfrm>
            <a:off x="3046730" y="4149347"/>
            <a:ext cx="3629661" cy="16764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731520"/>
            <a:r>
              <a:rPr sz="1100" spc="25">
                <a:latin typeface="Times New Roman"/>
                <a:cs typeface="Times New Roman"/>
              </a:rPr>
              <a:t>ïðîòèçàïàëüíèõ</a:t>
            </a:r>
            <a:r>
              <a:rPr sz="1100" spc="120">
                <a:latin typeface="Times New Roman"/>
                <a:cs typeface="Times New Roman"/>
              </a:rPr>
              <a:t> </a:t>
            </a:r>
            <a:r>
              <a:rPr sz="1100" spc="25">
                <a:latin typeface="Times New Roman"/>
                <a:cs typeface="Times New Roman"/>
              </a:rPr>
              <a:t>çàñîá³â</a:t>
            </a:r>
            <a:r>
              <a:rPr sz="1100" spc="120">
                <a:latin typeface="Times New Roman"/>
                <a:cs typeface="Times New Roman"/>
              </a:rPr>
              <a:t> </a:t>
            </a:r>
            <a:r>
              <a:rPr sz="1100" spc="25">
                <a:latin typeface="Times New Roman"/>
                <a:cs typeface="Times New Roman"/>
              </a:rPr>
              <a:t>[19]</a:t>
            </a:r>
            <a:r>
              <a:rPr sz="1100" spc="120">
                <a:latin typeface="Times New Roman"/>
                <a:cs typeface="Times New Roman"/>
              </a:rPr>
              <a:t> </a:t>
            </a:r>
            <a:r>
              <a:rPr sz="1100" spc="25">
                <a:latin typeface="Times New Roman"/>
                <a:cs typeface="Times New Roman"/>
              </a:rPr>
              <a:t>òà</a:t>
            </a:r>
            <a:r>
              <a:rPr sz="1100" spc="120">
                <a:latin typeface="Times New Roman"/>
                <a:cs typeface="Times New Roman"/>
              </a:rPr>
              <a:t> </a:t>
            </a:r>
            <a:r>
              <a:rPr sz="1100" spc="25">
                <a:latin typeface="Times New Roman"/>
                <a:cs typeface="Times New Roman"/>
              </a:rPr>
              <a:t>àíòèíåîïëàñ-</a:t>
            </a:r>
            <a:endParaRPr/>
          </a:p>
        </p:txBody>
      </p:sp>
      <p:sp>
        <p:nvSpPr>
          <p:cNvPr id="22" name="shape 22"/>
          <p:cNvSpPr txBox="1"/>
          <p:nvPr/>
        </p:nvSpPr>
        <p:spPr>
          <a:xfrm>
            <a:off x="705485" y="4316984"/>
            <a:ext cx="2910840" cy="55321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2700" indent="180340" algn="just">
              <a:lnSpc>
                <a:spcPct val="100083"/>
              </a:lnSpc>
            </a:pPr>
            <a:r>
              <a:rPr sz="1100" spc="15">
                <a:latin typeface="Times New Roman"/>
                <a:cs typeface="Times New Roman"/>
              </a:rPr>
              <a:t>Øèðîêå çàñòîñóâàííÿ àíòèá³îòèê³â òà àíòè-</a:t>
            </a:r>
            <a:r>
              <a:rPr sz="1100" spc="25">
                <a:latin typeface="Times New Roman"/>
                <a:cs typeface="Times New Roman"/>
              </a:rPr>
              <a:t>ì³êðîáíèõ õ³ì³îòåðàïåâòè÷íèõ ïðåïàðàò³â ó </a:t>
            </a:r>
            <a:r>
              <a:rPr sz="1100" spc="10">
                <a:latin typeface="Times New Roman"/>
                <a:cs typeface="Times New Roman"/>
              </a:rPr>
              <a:t>ë³êóâàëüíèõ çàêëàäàõ ð³çíèõ êðà¿í ñâ³òó ïðèâåëî </a:t>
            </a:r>
            <a:r>
              <a:rPr sz="1100" spc="35">
                <a:latin typeface="Times New Roman"/>
                <a:cs typeface="Times New Roman"/>
              </a:rPr>
              <a:t>äî ïîÿâè òà øèðîêîãî ðîçïîâñþäæåííÿ ñò³éêèõ äî </a:t>
            </a:r>
            <a:r>
              <a:rPr sz="1100" spc="-10">
                <a:latin typeface="Times New Roman"/>
                <a:cs typeface="Times New Roman"/>
              </a:rPr>
              <a:t>ä³¿ àíòèñåïòèê³â øòàì³â ì³êðîîðãàí³çì³â [13].</a:t>
            </a:r>
            <a:endParaRPr/>
          </a:p>
          <a:p>
            <a:pPr marL="12700" marR="14605" indent="180340" algn="just">
              <a:lnSpc>
                <a:spcPct val="100083"/>
              </a:lnSpc>
            </a:pPr>
            <a:r>
              <a:rPr sz="1100" spc="10">
                <a:latin typeface="Times New Roman"/>
                <a:cs typeface="Times New Roman"/>
              </a:rPr>
              <a:t>Ðåçèñòåíòí³ñòü äî àíòèì³êðîáíèõ ïðåïàðàò³â, ÿêà íåãàòèâíî âïëèâàº íà ðåçóëüòàòè ë³êóâàííÿ </a:t>
            </a:r>
            <a:r>
              <a:rPr sz="1100" spc="20">
                <a:latin typeface="Times New Roman"/>
                <a:cs typeface="Times New Roman"/>
              </a:rPr>
              <a:t>õâîðèõ, º àêòóàëüíîþ ïðîáëåìîþ äëÿ âñ³õ êðà¿í </a:t>
            </a:r>
            <a:r>
              <a:rPr sz="1100">
                <a:latin typeface="Times New Roman"/>
                <a:cs typeface="Times New Roman"/>
              </a:rPr>
              <a:t>[14]. Àíàëîã³÷íà ñèòóàö³ÿ ñïîñòåð³ãàºòüñÿ òàêîæ ³ </a:t>
            </a:r>
            <a:r>
              <a:rPr sz="1100" spc="-5">
                <a:latin typeface="Times New Roman"/>
                <a:cs typeface="Times New Roman"/>
              </a:rPr>
              <a:t>â Óêðà¿í³ [15].</a:t>
            </a:r>
            <a:endParaRPr/>
          </a:p>
          <a:p>
            <a:pPr marL="12700" marR="13970" indent="180340" algn="just">
              <a:lnSpc>
                <a:spcPct val="100083"/>
              </a:lnSpc>
            </a:pPr>
            <a:r>
              <a:rPr sz="1100" spc="15">
                <a:latin typeface="Times New Roman"/>
                <a:cs typeface="Times New Roman"/>
              </a:rPr>
              <a:t>Îñòàíí³ì ÷àñîì ó ñâ³ò³ ñïîñòåð³ãàºòüñÿ ð³ñò </a:t>
            </a:r>
            <a:r>
              <a:rPr sz="1100" spc="25">
                <a:latin typeface="Times New Roman"/>
                <a:cs typeface="Times New Roman"/>
              </a:rPr>
              <a:t>àíòèá³îòèêîðåçèñòåíòíèõ øòàì³â </a:t>
            </a:r>
            <a:r>
              <a:rPr sz="1100" spc="20">
                <a:latin typeface="Times New Roman"/>
                <a:cs typeface="Times New Roman"/>
              </a:rPr>
              <a:t>ÿê ïàòîãåííèõ, </a:t>
            </a:r>
            <a:r>
              <a:rPr sz="1100" spc="50">
                <a:latin typeface="Times New Roman"/>
                <a:cs typeface="Times New Roman"/>
              </a:rPr>
              <a:t>òàê ³ óìîâíî ïàòîãåííèõ ì³êðîîðãàí³çì³â, ÿê³ º </a:t>
            </a:r>
            <a:r>
              <a:rPr sz="1100" spc="45">
                <a:latin typeface="Times New Roman"/>
                <a:cs typeface="Times New Roman"/>
              </a:rPr>
              <a:t>îäíèì ³ç ïðîâ³äíèõ çáóäíèê³â íîçîêîì³àëüíèõ ãí³é-</a:t>
            </a:r>
            <a:r>
              <a:rPr sz="1100" spc="-20">
                <a:latin typeface="Times New Roman"/>
                <a:cs typeface="Times New Roman"/>
              </a:rPr>
              <a:t>íî-çàïàëüíèõ ³íôåêö³é [5].</a:t>
            </a:r>
            <a:endParaRPr/>
          </a:p>
          <a:p>
            <a:pPr marL="12700" marR="12700" indent="180340" algn="just">
              <a:lnSpc>
                <a:spcPct val="100083"/>
              </a:lnSpc>
            </a:pPr>
            <a:r>
              <a:rPr sz="1100" spc="-15">
                <a:latin typeface="Times New Roman"/>
                <a:cs typeface="Times New Roman"/>
              </a:rPr>
              <a:t>Ñò³éê³ äî ä³¿ àíòèá³îòèê³â ì³êðîîðãàí³çìè âîëî-</a:t>
            </a:r>
            <a:r>
              <a:rPr sz="1100" spc="50">
                <a:latin typeface="Times New Roman"/>
                <a:cs typeface="Times New Roman"/>
              </a:rPr>
              <a:t>ä³þòü ï³äâèùåíîþ â³ðóëåíòí³ñòþ, à âèêëèêàí³ </a:t>
            </a:r>
            <a:r>
              <a:rPr sz="1100" spc="15">
                <a:latin typeface="Times New Roman"/>
                <a:cs typeface="Times New Roman"/>
              </a:rPr>
              <a:t>íèìè çàõâîðþâàííÿ õàðàêòåðèçóþòüñÿ òÿæêèì </a:t>
            </a:r>
            <a:r>
              <a:rPr sz="1100" spc="25">
                <a:latin typeface="Times New Roman"/>
                <a:cs typeface="Times New Roman"/>
              </a:rPr>
              <a:t>ïåðåá³ãîì, ïîãàíî ï³ääàþòüñÿ ë³êóâàííþ. Öå </a:t>
            </a:r>
            <a:r>
              <a:rPr sz="1100" spc="-10">
                <a:latin typeface="Times New Roman"/>
                <a:cs typeface="Times New Roman"/>
              </a:rPr>
              <a:t>ñâ³ä÷èòü ïðî òå, ùî äëÿ îðãàí³çàö³¿ òà ïðîâåäåííÿ </a:t>
            </a:r>
            <a:r>
              <a:rPr sz="1100" spc="-20">
                <a:latin typeface="Times New Roman"/>
                <a:cs typeface="Times New Roman"/>
              </a:rPr>
              <a:t>åôåêòèâíèõ çàñîá³â áîðîòüáè ç ³íôåêö³ÿìè, âèêëè-</a:t>
            </a:r>
            <a:r>
              <a:rPr sz="1100" spc="70">
                <a:latin typeface="Times New Roman"/>
                <a:cs typeface="Times New Roman"/>
              </a:rPr>
              <a:t>êàíèìè ðåçèñòåíòíèìè ì³êðîîðãàí³çìàìè, äî </a:t>
            </a:r>
            <a:r>
              <a:rPr sz="1100" spc="25">
                <a:latin typeface="Times New Roman"/>
                <a:cs typeface="Times New Roman"/>
              </a:rPr>
              <a:t>óâàãè ñë³ä áðàòè íå ëèøå ðàö³îíàëüí³ ìåòîäè </a:t>
            </a:r>
            <a:r>
              <a:rPr sz="1100" spc="40">
                <a:latin typeface="Times New Roman"/>
                <a:cs typeface="Times New Roman"/>
              </a:rPr>
              <a:t>õ³ì³îòåðàï³¿ ³ñíóþ÷èìè ë³êàðñüêèìè çàñîáàìè, àëå é ïðîâîäèòè ïîñò³éíèé ïîøóê âèñîêîåôåê-</a:t>
            </a:r>
            <a:r>
              <a:rPr sz="1100" spc="-10">
                <a:latin typeface="Times New Roman"/>
                <a:cs typeface="Times New Roman"/>
              </a:rPr>
              <a:t>òèâíèõ àíòèñåïòè÷íèõ ë³êàðñüêèõ ïðåïàðàò³â.</a:t>
            </a:r>
            <a:endParaRPr/>
          </a:p>
          <a:p>
            <a:pPr marL="12700" marR="13335" indent="180340" algn="just">
              <a:lnSpc>
                <a:spcPct val="100083"/>
              </a:lnSpc>
            </a:pPr>
            <a:r>
              <a:rPr sz="1100" spc="20">
                <a:latin typeface="Times New Roman"/>
                <a:cs typeface="Times New Roman"/>
              </a:rPr>
              <a:t>Â³äîìî, ùî ôóíêö³îíàëüí³ ïîõ³äí³ ï³ðàçîëó ç </a:t>
            </a:r>
            <a:r>
              <a:rPr sz="1100" spc="30">
                <a:latin typeface="Times New Roman"/>
                <a:cs typeface="Times New Roman"/>
              </a:rPr>
              <a:t>âì³ñòîì ó ñâî¿é ñòðóêòóð³ ã³äðîêñèìåòèëåíîâî¿ </a:t>
            </a:r>
            <a:r>
              <a:rPr sz="1100" spc="10">
                <a:latin typeface="Times New Roman"/>
                <a:cs typeface="Times New Roman"/>
              </a:rPr>
              <a:t>àáî óðå¿äíî¿ ãðóïè íàëåæàòü äî ñèíòåòè÷íî ö³êà-</a:t>
            </a:r>
            <a:r>
              <a:rPr sz="1100" spc="25">
                <a:latin typeface="Times New Roman"/>
                <a:cs typeface="Times New Roman"/>
              </a:rPr>
              <a:t>âèõ á³îëîã³÷íî âàæëèâèõ ñïîëóê. Îñîáèñòî 4-</a:t>
            </a:r>
            <a:r>
              <a:rPr sz="1100" spc="-10">
                <a:latin typeface="Times New Roman"/>
                <a:cs typeface="Times New Roman"/>
              </a:rPr>
              <a:t>ã³äðîêñèìåòèëï³ðàçîëè ïðîÿâëÿþòü âèðàæåíó àí-</a:t>
            </a:r>
            <a:r>
              <a:rPr sz="1100">
                <a:latin typeface="Times New Roman"/>
                <a:cs typeface="Times New Roman"/>
              </a:rPr>
              <a:t>òèíåâðîëîã³÷íó ä³þ [6], à òàêîæ âèêîðèñòîâóþòüñÿ </a:t>
            </a:r>
            <a:r>
              <a:rPr sz="1100" spc="10">
                <a:latin typeface="Times New Roman"/>
                <a:cs typeface="Times New Roman"/>
              </a:rPr>
              <a:t>ÿê ñèíòåòè÷í³ áëîêè äëÿ äèçàéíó íåñòåðî¿äíèõ</a:t>
            </a:r>
            <a:endParaRPr/>
          </a:p>
        </p:txBody>
      </p:sp>
      <p:sp>
        <p:nvSpPr>
          <p:cNvPr id="23" name="shape 23"/>
          <p:cNvSpPr txBox="1"/>
          <p:nvPr/>
        </p:nvSpPr>
        <p:spPr>
          <a:xfrm>
            <a:off x="3765550" y="4316987"/>
            <a:ext cx="2910206" cy="5013328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1100" spc="-5">
                <a:latin typeface="Times New Roman"/>
                <a:cs typeface="Times New Roman"/>
              </a:rPr>
              <a:t>òè÷íèõ àãåíò³â [1].</a:t>
            </a:r>
            <a:endParaRPr/>
          </a:p>
          <a:p>
            <a:pPr marL="12700" marR="12700" indent="180340" algn="just">
              <a:lnSpc>
                <a:spcPct val="100083"/>
              </a:lnSpc>
            </a:pPr>
            <a:r>
              <a:rPr sz="1100" spc="25">
                <a:latin typeface="Times New Roman"/>
                <a:cs typeface="Times New Roman"/>
              </a:rPr>
              <a:t>Ó ñâîþ ÷åðãó, 3-óðå¿äîï³ðàç</a:t>
            </a:r>
            <a:r>
              <a:rPr sz="1100" spc="30">
                <a:latin typeface="Times New Roman"/>
                <a:cs typeface="Times New Roman"/>
              </a:rPr>
              <a:t>îëè õàðàêòåðè-</a:t>
            </a:r>
            <a:r>
              <a:rPr sz="1100" spc="-20">
                <a:latin typeface="Times New Roman"/>
                <a:cs typeface="Times New Roman"/>
              </a:rPr>
              <a:t>çóþòüñÿ ïðîòèïóõëèííèìè [17], ïðîòèçàïàëüíèìè </a:t>
            </a:r>
            <a:r>
              <a:rPr sz="1100">
                <a:latin typeface="Times New Roman"/>
                <a:cs typeface="Times New Roman"/>
              </a:rPr>
              <a:t>âëàñòèâîñòÿìè [7, 8] </a:t>
            </a:r>
            <a:r>
              <a:rPr sz="1100" spc="-5">
                <a:latin typeface="Times New Roman"/>
                <a:cs typeface="Times New Roman"/>
              </a:rPr>
              <a:t>³ ñõèëüí³ñòþ äî </a:t>
            </a:r>
            <a:r>
              <a:rPr sz="1100">
                <a:latin typeface="Times New Roman"/>
                <a:cs typeface="Times New Roman"/>
              </a:rPr>
              <a:t>³íã³áóâàííÿ </a:t>
            </a:r>
            <a:r>
              <a:rPr sz="1100" spc="15">
                <a:latin typeface="Times New Roman"/>
                <a:cs typeface="Times New Roman"/>
              </a:rPr>
              <a:t>äåÿêèõ âèä³â ê³íàç [2, 9]. Êð³ì öüîãî âîíè çíà-</a:t>
            </a:r>
            <a:r>
              <a:rPr sz="1100" spc="40">
                <a:latin typeface="Times New Roman"/>
                <a:cs typeface="Times New Roman"/>
              </a:rPr>
              <a:t>õîäÿòü çàñòîñóâàííÿ ÿê ïîïåðåäíèêè ïðè î</a:t>
            </a:r>
            <a:r>
              <a:rPr sz="1100" spc="55">
                <a:latin typeface="Times New Roman"/>
                <a:cs typeface="Times New Roman"/>
              </a:rPr>
              <a:t>òðè-</a:t>
            </a:r>
            <a:r>
              <a:rPr sz="1100" spc="5">
                <a:latin typeface="Times New Roman"/>
                <a:cs typeface="Times New Roman"/>
              </a:rPr>
              <a:t>ìàíí³ ôàðìàêîëîã³÷íî ö³ííèõ ï³ðàçîëî ïèðèì³äèí³â </a:t>
            </a:r>
            <a:r>
              <a:rPr sz="1100" spc="-20">
                <a:latin typeface="Times New Roman"/>
                <a:cs typeface="Times New Roman"/>
              </a:rPr>
              <a:t>[2,3,4].</a:t>
            </a:r>
            <a:endParaRPr/>
          </a:p>
          <a:p>
            <a:pPr marL="12700" marR="15240" indent="180340" algn="just">
              <a:lnSpc>
                <a:spcPct val="100083"/>
              </a:lnSpc>
            </a:pPr>
            <a:r>
              <a:rPr sz="1100" spc="45">
                <a:latin typeface="Times New Roman"/>
                <a:cs typeface="Times New Roman"/>
              </a:rPr>
              <a:t>Òàêèì ÷èíîì, ç âðàõóâàííÿì öèõ äàíèõ âèíè-</a:t>
            </a:r>
            <a:r>
              <a:rPr sz="1100">
                <a:latin typeface="Times New Roman"/>
                <a:cs typeface="Times New Roman"/>
              </a:rPr>
              <a:t>êàº ïèòàííÿ äîö³ëüíîñò³ ñèíòåçó íîâèõ ñòðóêòóð </a:t>
            </a:r>
            <a:r>
              <a:rPr sz="1100" spc="50">
                <a:latin typeface="Times New Roman"/>
                <a:cs typeface="Times New Roman"/>
              </a:rPr>
              <a:t>ï³ðàçîëüíîãî òèïó, ÿê³ îäíî÷àñíî âì³ùóþòü íàç-</a:t>
            </a:r>
            <a:r>
              <a:rPr sz="1100" spc="-5">
                <a:latin typeface="Times New Roman"/>
                <a:cs typeface="Times New Roman"/>
              </a:rPr>
              <a:t>âàí³ ôðàãìåíòè â ÿêîñò³ ïîòåíö³éíèõ á³îàêòèâíèõ </a:t>
            </a:r>
            <a:r>
              <a:rPr sz="1100">
                <a:latin typeface="Times New Roman"/>
                <a:cs typeface="Times New Roman"/>
              </a:rPr>
              <a:t>ñïîëóê ç äîñë³äæåííÿì ¿õíüî¿ àíòèì³êðîáíî¿ àê-</a:t>
            </a:r>
            <a:r>
              <a:rPr sz="1100" spc="-10">
                <a:latin typeface="Times New Roman"/>
                <a:cs typeface="Times New Roman"/>
              </a:rPr>
              <a:t>òèâíîñò³ ³ ñïåêòðà àíòèì³êðîáíî¿ ä³¿ [12, 16] .</a:t>
            </a:r>
            <a:endParaRPr/>
          </a:p>
          <a:p>
            <a:pPr marL="193040" algn="just">
              <a:spcBef>
                <a:spcPts val="1300"/>
              </a:spcBef>
            </a:pPr>
            <a:r>
              <a:rPr sz="1100" spc="30">
                <a:latin typeface="Times New Roman"/>
                <a:cs typeface="Times New Roman"/>
              </a:rPr>
              <a:t>Ìåòà äîñë³äæåííÿ</a:t>
            </a:r>
            <a:endParaRPr/>
          </a:p>
          <a:p>
            <a:pPr marL="193040" algn="just">
              <a:lnSpc>
                <a:spcPts val="1340"/>
              </a:lnSpc>
            </a:pPr>
            <a:r>
              <a:rPr sz="1100" spc="5">
                <a:latin typeface="Times New Roman"/>
                <a:cs typeface="Times New Roman"/>
              </a:rPr>
              <a:t>Äîñë³äèòè ì³ðó àíòèì³êðîáíî¿ àêòèâíîñò³ òà</a:t>
            </a:r>
            <a:endParaRPr/>
          </a:p>
          <a:p>
            <a:pPr marL="12700" algn="just">
              <a:lnSpc>
                <a:spcPts val="1315"/>
              </a:lnSpc>
            </a:pPr>
            <a:r>
              <a:rPr sz="1100" spc="10">
                <a:latin typeface="Times New Roman"/>
                <a:cs typeface="Times New Roman"/>
              </a:rPr>
              <a:t>ñïåêòð àíòèì³êðîáíî¿ ä³¿ âïåðøå ñèíòåçîâàíèõ</a:t>
            </a:r>
            <a:endParaRPr/>
          </a:p>
          <a:p>
            <a:pPr marL="12700" algn="just">
              <a:lnSpc>
                <a:spcPts val="1320"/>
              </a:lnSpc>
            </a:pPr>
            <a:r>
              <a:rPr sz="1100" spc="10">
                <a:latin typeface="Times New Roman"/>
                <a:cs typeface="Times New Roman"/>
              </a:rPr>
              <a:t>õ³ì³÷íèõ ñïîëóê ïîõ³äíèõ ï³ðàçîëó ç âì³ñòîì ó</a:t>
            </a:r>
            <a:endParaRPr/>
          </a:p>
          <a:p>
            <a:pPr marL="12700" algn="just">
              <a:lnSpc>
                <a:spcPts val="1320"/>
              </a:lnSpc>
            </a:pPr>
            <a:r>
              <a:rPr sz="1100" spc="-10">
                <a:latin typeface="Times New Roman"/>
                <a:cs typeface="Times New Roman"/>
              </a:rPr>
              <a:t>ñòðóêòóð³ ìîëåêóë ã³äðîêñèìåòèëüíî¿ òà óðå¿äíî¿</a:t>
            </a:r>
            <a:endParaRPr/>
          </a:p>
          <a:p>
            <a:pPr marL="12700" algn="just">
              <a:lnSpc>
                <a:spcPts val="1320"/>
              </a:lnSpc>
            </a:pPr>
            <a:r>
              <a:rPr sz="1100" spc="15">
                <a:latin typeface="Times New Roman"/>
                <a:cs typeface="Times New Roman"/>
              </a:rPr>
              <a:t>ãðóï íà êóëüò</a:t>
            </a:r>
            <a:r>
              <a:rPr sz="1100" spc="10">
                <a:latin typeface="Times New Roman"/>
                <a:cs typeface="Times New Roman"/>
              </a:rPr>
              <a:t>óðàõ ìóçåéíèõ øòàì³â ì³êðîîðãà-</a:t>
            </a:r>
            <a:endParaRPr/>
          </a:p>
          <a:p>
            <a:pPr marL="12700" algn="just">
              <a:lnSpc>
                <a:spcPts val="1320"/>
              </a:lnSpc>
            </a:pPr>
            <a:r>
              <a:rPr sz="1100" spc="-15">
                <a:latin typeface="Times New Roman"/>
                <a:cs typeface="Times New Roman"/>
              </a:rPr>
              <a:t>í³çì³â. Âèçíà÷èòè ñòóï³íü âèñíàæóâàíîñò³ ñïîëóê</a:t>
            </a:r>
            <a:endParaRPr/>
          </a:p>
          <a:p>
            <a:pPr marL="12700" algn="just">
              <a:lnSpc>
                <a:spcPts val="1320"/>
              </a:lnSpc>
            </a:pPr>
            <a:r>
              <a:rPr sz="1100" spc="-15">
                <a:latin typeface="Times New Roman"/>
                <a:cs typeface="Times New Roman"/>
              </a:rPr>
              <a:t>ïðè ïîâòîðíîìó âíåñåíí³ òåñò-êóëüòóð â æèâèëüí³</a:t>
            </a:r>
            <a:endParaRPr/>
          </a:p>
          <a:p>
            <a:pPr marL="12700" algn="just">
              <a:lnSpc>
                <a:spcPts val="1320"/>
              </a:lnSpc>
            </a:pPr>
            <a:r>
              <a:rPr sz="1100" spc="5">
                <a:latin typeface="Times New Roman"/>
                <a:cs typeface="Times New Roman"/>
              </a:rPr>
              <a:t>ðîç÷èíè ç ïðåïàðàòàìè òà çàëåæí³ñòü "àíòèì³ê-</a:t>
            </a:r>
            <a:endParaRPr/>
          </a:p>
          <a:p>
            <a:pPr marL="12700" algn="just">
              <a:lnSpc>
                <a:spcPts val="1320"/>
              </a:lnSpc>
            </a:pPr>
            <a:r>
              <a:rPr sz="1100" spc="-5">
                <a:latin typeface="Times New Roman"/>
                <a:cs typeface="Times New Roman"/>
              </a:rPr>
              <a:t>ðîáíà àêòèâí³ñòü - ñòðóêòóðà" äîñë³äæóâàíèõ ñî-</a:t>
            </a:r>
            <a:endParaRPr/>
          </a:p>
          <a:p>
            <a:pPr marL="12700" algn="just">
              <a:lnSpc>
                <a:spcPts val="1320"/>
              </a:lnSpc>
            </a:pPr>
            <a:r>
              <a:rPr sz="1100" spc="-10">
                <a:latin typeface="Times New Roman"/>
                <a:cs typeface="Times New Roman"/>
              </a:rPr>
              <a:t>ëåé.</a:t>
            </a:r>
            <a:endParaRPr/>
          </a:p>
          <a:p>
            <a:pPr marL="193040" algn="just">
              <a:spcBef>
                <a:spcPts val="1200"/>
              </a:spcBef>
            </a:pPr>
            <a:r>
              <a:rPr sz="1100" spc="25">
                <a:latin typeface="Times New Roman"/>
                <a:cs typeface="Times New Roman"/>
              </a:rPr>
              <a:t>Ìàòåð³àëè ³ ìåòîäè</a:t>
            </a:r>
            <a:endParaRPr/>
          </a:p>
          <a:p>
            <a:pPr marL="12700" marR="15240" indent="180340" algn="just">
              <a:lnSpc>
                <a:spcPct val="100083"/>
              </a:lnSpc>
            </a:pPr>
            <a:r>
              <a:rPr sz="1100">
                <a:latin typeface="Times New Roman"/>
                <a:cs typeface="Times New Roman"/>
              </a:rPr>
              <a:t>Ç ìåòîþ ïîøóêó á³îëîã³÷íî àêòèâíèõ ³ ìàëî-</a:t>
            </a:r>
            <a:r>
              <a:rPr sz="1100" spc="-15">
                <a:latin typeface="Times New Roman"/>
                <a:cs typeface="Times New Roman"/>
              </a:rPr>
              <a:t>òîêñè÷íèõ àíòèì³êðîáíèõ õ³ì³÷íèõ ïðåïàðàò³â íà</a:t>
            </a:r>
            <a:endParaRPr/>
          </a:p>
        </p:txBody>
      </p:sp>
      <p:sp>
        <p:nvSpPr>
          <p:cNvPr id="24" name="shape 24"/>
          <p:cNvSpPr txBox="1"/>
          <p:nvPr/>
        </p:nvSpPr>
        <p:spPr>
          <a:xfrm>
            <a:off x="705485" y="9993884"/>
            <a:ext cx="3788411" cy="3810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800">
                <a:latin typeface="Arial"/>
                <a:cs typeface="Arial"/>
              </a:rPr>
              <a:t>©</a:t>
            </a:r>
            <a:r>
              <a:rPr sz="800" spc="95">
                <a:latin typeface="Arial"/>
                <a:cs typeface="Arial"/>
              </a:rPr>
              <a:t> </a:t>
            </a:r>
            <a:r>
              <a:rPr sz="800" spc="5">
                <a:latin typeface="Times New Roman"/>
                <a:cs typeface="Times New Roman"/>
              </a:rPr>
              <a:t>².Ï.</a:t>
            </a:r>
            <a:r>
              <a:rPr sz="800" spc="100">
                <a:latin typeface="Times New Roman"/>
                <a:cs typeface="Times New Roman"/>
              </a:rPr>
              <a:t> </a:t>
            </a:r>
            <a:r>
              <a:rPr sz="800" spc="5">
                <a:latin typeface="Times New Roman"/>
                <a:cs typeface="Times New Roman"/>
              </a:rPr>
              <a:t>Áóðäåíþê,</a:t>
            </a:r>
            <a:r>
              <a:rPr sz="800" spc="100">
                <a:latin typeface="Times New Roman"/>
                <a:cs typeface="Times New Roman"/>
              </a:rPr>
              <a:t> </a:t>
            </a:r>
            <a:r>
              <a:rPr sz="800" spc="5">
                <a:latin typeface="Times New Roman"/>
                <a:cs typeface="Times New Roman"/>
              </a:rPr>
              <a:t>Ì.Ê.</a:t>
            </a:r>
            <a:r>
              <a:rPr sz="800" spc="100">
                <a:latin typeface="Times New Roman"/>
                <a:cs typeface="Times New Roman"/>
              </a:rPr>
              <a:t> </a:t>
            </a:r>
            <a:r>
              <a:rPr sz="800" spc="5">
                <a:latin typeface="Times New Roman"/>
                <a:cs typeface="Times New Roman"/>
              </a:rPr>
              <a:t>Áðàòåíêî,</a:t>
            </a:r>
            <a:r>
              <a:rPr sz="800" spc="95">
                <a:latin typeface="Times New Roman"/>
                <a:cs typeface="Times New Roman"/>
              </a:rPr>
              <a:t> </a:t>
            </a:r>
            <a:r>
              <a:rPr sz="800" spc="5">
                <a:latin typeface="Times New Roman"/>
                <a:cs typeface="Times New Roman"/>
              </a:rPr>
              <a:t>Ì.Ì.</a:t>
            </a:r>
            <a:r>
              <a:rPr sz="800" spc="95">
                <a:latin typeface="Times New Roman"/>
                <a:cs typeface="Times New Roman"/>
              </a:rPr>
              <a:t> </a:t>
            </a:r>
            <a:r>
              <a:rPr sz="800" spc="5">
                <a:latin typeface="Times New Roman"/>
                <a:cs typeface="Times New Roman"/>
              </a:rPr>
              <a:t>Áàðóñ,</a:t>
            </a:r>
            <a:r>
              <a:rPr sz="800" spc="100">
                <a:latin typeface="Times New Roman"/>
                <a:cs typeface="Times New Roman"/>
              </a:rPr>
              <a:t> </a:t>
            </a:r>
            <a:r>
              <a:rPr sz="800" spc="5">
                <a:latin typeface="Times New Roman"/>
                <a:cs typeface="Times New Roman"/>
              </a:rPr>
              <a:t>Â.Ô.</a:t>
            </a:r>
            <a:r>
              <a:rPr sz="800" spc="100">
                <a:latin typeface="Times New Roman"/>
                <a:cs typeface="Times New Roman"/>
              </a:rPr>
              <a:t> </a:t>
            </a:r>
            <a:r>
              <a:rPr sz="800" spc="5">
                <a:latin typeface="Times New Roman"/>
                <a:cs typeface="Times New Roman"/>
              </a:rPr>
              <a:t>Ìèñëèöüêèé,</a:t>
            </a:r>
            <a:r>
              <a:rPr sz="800" spc="100">
                <a:latin typeface="Times New Roman"/>
                <a:cs typeface="Times New Roman"/>
              </a:rPr>
              <a:t> </a:t>
            </a:r>
            <a:r>
              <a:rPr sz="800" spc="5">
                <a:latin typeface="Times New Roman"/>
                <a:cs typeface="Times New Roman"/>
              </a:rPr>
              <a:t>Ê.Ã.</a:t>
            </a:r>
            <a:r>
              <a:rPr sz="800" spc="95">
                <a:latin typeface="Times New Roman"/>
                <a:cs typeface="Times New Roman"/>
              </a:rPr>
              <a:t> </a:t>
            </a:r>
            <a:r>
              <a:rPr sz="800" spc="5">
                <a:latin typeface="Times New Roman"/>
                <a:cs typeface="Times New Roman"/>
              </a:rPr>
              <a:t>Òàùóê,</a:t>
            </a:r>
            <a:r>
              <a:rPr sz="800" spc="100">
                <a:latin typeface="Times New Roman"/>
                <a:cs typeface="Times New Roman"/>
              </a:rPr>
              <a:t> </a:t>
            </a:r>
            <a:r>
              <a:rPr sz="800" spc="5">
                <a:latin typeface="Times New Roman"/>
                <a:cs typeface="Times New Roman"/>
              </a:rPr>
              <a:t>2014</a:t>
            </a:r>
            <a:endParaRPr/>
          </a:p>
          <a:p>
            <a:pPr marL="12700">
              <a:spcBef>
                <a:spcPts val="600"/>
              </a:spcBef>
            </a:pPr>
            <a:r>
              <a:rPr sz="1200" spc="25">
                <a:latin typeface="Arial"/>
                <a:cs typeface="Arial"/>
              </a:rPr>
              <a:t>28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shape 2"/>
          <p:cNvGrpSpPr/>
          <p:nvPr/>
        </p:nvGrpSpPr>
        <p:grpSpPr>
          <a:xfrm>
            <a:off x="897255" y="562864"/>
            <a:ext cx="5940553" cy="39625"/>
            <a:chOff x="0" y="0"/>
            <a:chExt cx="5940553" cy="39624"/>
          </a:xfrm>
        </p:grpSpPr>
        <p:sp>
          <p:nvSpPr>
            <p:cNvPr id="3" name="shape 3"/>
            <p:cNvSpPr/>
            <p:nvPr/>
          </p:nvSpPr>
          <p:spPr>
            <a:xfrm>
              <a:off x="0" y="0"/>
              <a:ext cx="5940553" cy="6097"/>
            </a:xfrm>
            <a:custGeom>
              <a:pathLst>
                <a:path w="5940552" h="6096">
                  <a:moveTo>
                    <a:pt x="0" y="3048"/>
                  </a:moveTo>
                  <a:lnTo>
                    <a:pt x="5940552" y="3048"/>
                  </a:lnTo>
                </a:path>
              </a:pathLst>
            </a:custGeom>
            <a:ln w="6096" cap="flat">
              <a:solidFill>
                <a:srgbClr val="000000"/>
              </a:solidFill>
              <a:prstDash val="solid"/>
              <a:miter lim="10"/>
            </a:ln>
          </p:spPr>
        </p:sp>
        <p:sp>
          <p:nvSpPr>
            <p:cNvPr id="4" name="shape 4"/>
            <p:cNvSpPr/>
            <p:nvPr/>
          </p:nvSpPr>
          <p:spPr>
            <a:xfrm>
              <a:off x="0" y="33528"/>
              <a:ext cx="5940553" cy="6097"/>
            </a:xfrm>
            <a:custGeom>
              <a:pathLst>
                <a:path w="5940552" h="6096">
                  <a:moveTo>
                    <a:pt x="0" y="3048"/>
                  </a:moveTo>
                  <a:lnTo>
                    <a:pt x="5940552" y="3048"/>
                  </a:lnTo>
                </a:path>
              </a:pathLst>
            </a:custGeom>
            <a:ln w="6096" cap="flat">
              <a:solidFill>
                <a:srgbClr val="000000"/>
              </a:solidFill>
              <a:prstDash val="solid"/>
              <a:miter lim="10"/>
            </a:ln>
          </p:spPr>
        </p:sp>
      </p:grpSp>
      <p:pic>
        <p:nvPicPr>
          <p:cNvPr id="5" name="shape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5580" y="2209343"/>
            <a:ext cx="1777000" cy="775299"/>
          </a:xfrm>
          <a:prstGeom prst="rect"/>
        </p:spPr>
      </p:pic>
      <p:pic>
        <p:nvPicPr>
          <p:cNvPr id="6" name="shape 6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583055" y="3575507"/>
            <a:ext cx="4668553" cy="6231256"/>
          </a:xfrm>
          <a:prstGeom prst="rect"/>
        </p:spPr>
      </p:pic>
      <p:sp>
        <p:nvSpPr>
          <p:cNvPr id="7" name="shape 7"/>
          <p:cNvSpPr txBox="1"/>
          <p:nvPr/>
        </p:nvSpPr>
        <p:spPr>
          <a:xfrm>
            <a:off x="5111750" y="387604"/>
            <a:ext cx="1736725" cy="1828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1200" spc="-20">
                <a:latin typeface="Arial"/>
                <a:cs typeface="Arial"/>
              </a:rPr>
              <a:t>Îðèã³íàëüí³ äîñë³äæåííÿ</a:t>
            </a:r>
            <a:endParaRPr/>
          </a:p>
        </p:txBody>
      </p:sp>
      <p:sp>
        <p:nvSpPr>
          <p:cNvPr id="8" name="shape 8"/>
          <p:cNvSpPr txBox="1"/>
          <p:nvPr/>
        </p:nvSpPr>
        <p:spPr>
          <a:xfrm>
            <a:off x="884555" y="692848"/>
            <a:ext cx="2907666" cy="100584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3970" algn="just">
              <a:lnSpc>
                <a:spcPct val="100083"/>
              </a:lnSpc>
            </a:pPr>
            <a:r>
              <a:rPr sz="1100" spc="-5">
                <a:latin typeface="Times New Roman"/>
                <a:cs typeface="Times New Roman"/>
              </a:rPr>
              <a:t>îñíîâ³ ï³ðàçîëó, ñå÷îâèíè, ÿê³ ì³ñòèëè äèìåòèëà-</a:t>
            </a:r>
            <a:r>
              <a:rPr sz="1100" spc="-25">
                <a:latin typeface="Times New Roman"/>
                <a:cs typeface="Times New Roman"/>
              </a:rPr>
              <a:t>ì³íîãðóïó, áóëè êâàòåðèçîâàí³ àëê³ëîâèìè åô³ðàìè </a:t>
            </a:r>
            <a:r>
              <a:rPr sz="1100" spc="35">
                <a:latin typeface="Times New Roman"/>
                <a:cs typeface="Times New Roman"/>
              </a:rPr>
              <a:t>õëîðîöòîâî¿ êèñëîòè ó â³äïîâ³äí³ ñîë³. Îòðèìàí³ </a:t>
            </a:r>
            <a:r>
              <a:rPr sz="1100" spc="-25">
                <a:latin typeface="Times New Roman"/>
                <a:cs typeface="Times New Roman"/>
              </a:rPr>
              <a:t>ñîë³ º âîäîðîç÷èííèìè ³ âèÿâèëè âèñîêó áàêòåð³îñ-</a:t>
            </a:r>
            <a:r>
              <a:rPr sz="1100">
                <a:latin typeface="Times New Roman"/>
                <a:cs typeface="Times New Roman"/>
              </a:rPr>
              <a:t>òàòè÷íó òà áàêòåðèöèäíó ä³þ.</a:t>
            </a:r>
            <a:endParaRPr/>
          </a:p>
          <a:p>
            <a:pPr marL="192405"/>
            <a:r>
              <a:rPr sz="1100" spc="-5">
                <a:latin typeface="Times New Roman"/>
                <a:cs typeface="Times New Roman"/>
              </a:rPr>
              <a:t>Çàãàëüíà ñòðóêòóðíà ôîð</a:t>
            </a:r>
            <a:r>
              <a:rPr sz="1100">
                <a:latin typeface="Times New Roman"/>
                <a:cs typeface="Times New Roman"/>
              </a:rPr>
              <a:t>ìóëà, õ³ì³÷íà áóäîâà</a:t>
            </a:r>
            <a:endParaRPr/>
          </a:p>
        </p:txBody>
      </p:sp>
      <p:sp>
        <p:nvSpPr>
          <p:cNvPr id="9" name="shape 9"/>
          <p:cNvSpPr txBox="1"/>
          <p:nvPr/>
        </p:nvSpPr>
        <p:spPr>
          <a:xfrm>
            <a:off x="3944620" y="692849"/>
            <a:ext cx="2910205" cy="115824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2700" algn="just">
              <a:lnSpc>
                <a:spcPct val="100083"/>
              </a:lnSpc>
            </a:pPr>
            <a:r>
              <a:rPr sz="1100" spc="25">
                <a:latin typeface="Times New Roman"/>
                <a:cs typeface="Times New Roman"/>
              </a:rPr>
              <a:t>ðàäèêàë³â äîñë³äæóâàíèõ ñïîëóê ïðèâåäåí³ â òàáëèö³ 1. Ïðè çâè÷àéíèõ óìîâàõ äîñë³äæóâàí³ </a:t>
            </a:r>
            <a:r>
              <a:rPr sz="1100" spc="35">
                <a:latin typeface="Times New Roman"/>
                <a:cs typeface="Times New Roman"/>
              </a:rPr>
              <a:t>ñîë³ ÿâëÿþòü ñîáîþ ìèëîïîä³áí³ ðå÷îâèíè, ÿê³ </a:t>
            </a:r>
            <a:r>
              <a:rPr sz="1100" spc="25">
                <a:latin typeface="Times New Roman"/>
                <a:cs typeface="Times New Roman"/>
              </a:rPr>
              <a:t>äîáðå ðîç÷èíÿþòüñÿ ó âîä³ òà 0.82 % ðîç÷èí³ </a:t>
            </a:r>
            <a:r>
              <a:rPr sz="1100" spc="-15">
                <a:latin typeface="Times New Roman"/>
                <a:cs typeface="Times New Roman"/>
              </a:rPr>
              <a:t>õëîðèäó íàòð³þ.</a:t>
            </a:r>
            <a:endParaRPr/>
          </a:p>
          <a:p>
            <a:pPr marL="2146300">
              <a:spcBef>
                <a:spcPts val="1200"/>
              </a:spcBef>
            </a:pPr>
            <a:r>
              <a:rPr sz="1100" spc="15">
                <a:latin typeface="Times New Roman"/>
                <a:cs typeface="Times New Roman"/>
              </a:rPr>
              <a:t>Òàáëèöÿ 1</a:t>
            </a:r>
            <a:endParaRPr/>
          </a:p>
        </p:txBody>
      </p:sp>
      <p:sp>
        <p:nvSpPr>
          <p:cNvPr id="10" name="shape 10"/>
          <p:cNvSpPr txBox="1"/>
          <p:nvPr/>
        </p:nvSpPr>
        <p:spPr>
          <a:xfrm>
            <a:off x="1264920" y="1857248"/>
            <a:ext cx="5314950" cy="16764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1100" spc="5">
                <a:latin typeface="Times New Roman"/>
                <a:cs typeface="Times New Roman"/>
              </a:rPr>
              <a:t>Çàãàëüíà ñòðóêòóðíà ôîðìóëà òà õ³ì³÷íà áóäîâà ðàäèêàë³â äîñë³äæóâàíèõ ñïîëóê</a:t>
            </a:r>
            <a:endParaRPr/>
          </a:p>
        </p:txBody>
      </p:sp>
      <p:sp>
        <p:nvSpPr>
          <p:cNvPr id="11" name="shape 11"/>
          <p:cNvSpPr txBox="1"/>
          <p:nvPr/>
        </p:nvSpPr>
        <p:spPr>
          <a:xfrm>
            <a:off x="6650990" y="10226548"/>
            <a:ext cx="202566" cy="1828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1200" spc="25">
                <a:latin typeface="Arial"/>
                <a:cs typeface="Arial"/>
              </a:rPr>
              <a:t>29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shape 2"/>
          <p:cNvGrpSpPr/>
          <p:nvPr/>
        </p:nvGrpSpPr>
        <p:grpSpPr>
          <a:xfrm>
            <a:off x="718693" y="565912"/>
            <a:ext cx="5940553" cy="39625"/>
            <a:chOff x="0" y="0"/>
            <a:chExt cx="5940553" cy="39624"/>
          </a:xfrm>
        </p:grpSpPr>
        <p:sp>
          <p:nvSpPr>
            <p:cNvPr id="3" name="shape 3"/>
            <p:cNvSpPr/>
            <p:nvPr/>
          </p:nvSpPr>
          <p:spPr>
            <a:xfrm>
              <a:off x="0" y="0"/>
              <a:ext cx="5940553" cy="6097"/>
            </a:xfrm>
            <a:custGeom>
              <a:pathLst>
                <a:path w="5940552" h="6096">
                  <a:moveTo>
                    <a:pt x="0" y="3048"/>
                  </a:moveTo>
                  <a:lnTo>
                    <a:pt x="5940552" y="3048"/>
                  </a:lnTo>
                </a:path>
              </a:pathLst>
            </a:custGeom>
            <a:ln w="6096" cap="flat">
              <a:solidFill>
                <a:srgbClr val="000000"/>
              </a:solidFill>
              <a:prstDash val="solid"/>
              <a:miter lim="10"/>
            </a:ln>
          </p:spPr>
        </p:sp>
        <p:sp>
          <p:nvSpPr>
            <p:cNvPr id="4" name="shape 4"/>
            <p:cNvSpPr/>
            <p:nvPr/>
          </p:nvSpPr>
          <p:spPr>
            <a:xfrm>
              <a:off x="0" y="33528"/>
              <a:ext cx="5940553" cy="6097"/>
            </a:xfrm>
            <a:custGeom>
              <a:pathLst>
                <a:path w="5940552" h="6096">
                  <a:moveTo>
                    <a:pt x="0" y="3048"/>
                  </a:moveTo>
                  <a:lnTo>
                    <a:pt x="5940552" y="3048"/>
                  </a:lnTo>
                </a:path>
              </a:pathLst>
            </a:custGeom>
            <a:ln w="6096" cap="flat">
              <a:solidFill>
                <a:srgbClr val="000000"/>
              </a:solidFill>
              <a:prstDash val="solid"/>
              <a:miter lim="10"/>
            </a:ln>
          </p:spPr>
        </p:sp>
      </p:grpSp>
      <p:grpSp>
        <p:nvGrpSpPr>
          <p:cNvPr id="5" name="shape 5"/>
          <p:cNvGrpSpPr/>
          <p:nvPr/>
        </p:nvGrpSpPr>
        <p:grpSpPr>
          <a:xfrm>
            <a:off x="0" y="0"/>
            <a:ext cx="55373" cy="72009"/>
            <a:chOff x="0" y="0"/>
            <a:chExt cx="55372" cy="72009"/>
          </a:xfrm>
        </p:grpSpPr>
        <p:sp>
          <p:nvSpPr>
            <p:cNvPr id="6" name="shape 6"/>
            <p:cNvSpPr/>
            <p:nvPr/>
          </p:nvSpPr>
          <p:spPr>
            <a:xfrm>
              <a:off x="8509" y="3556"/>
              <a:ext cx="6096" cy="9144"/>
            </a:xfrm>
            <a:custGeom>
              <a:pathLst>
                <a:path w="6095" h="9144">
                  <a:moveTo>
                    <a:pt x="3048" y="0"/>
                  </a:moveTo>
                  <a:lnTo>
                    <a:pt x="3048" y="9144"/>
                  </a:lnTo>
                </a:path>
              </a:pathLst>
            </a:custGeom>
            <a:ln w="6096" cap="flat">
              <a:solidFill>
                <a:srgbClr val="000000"/>
              </a:solidFill>
              <a:prstDash val="solid"/>
              <a:miter lim="10"/>
            </a:ln>
          </p:spPr>
        </p:sp>
        <p:sp>
          <p:nvSpPr>
            <p:cNvPr id="7" name="shape 7"/>
            <p:cNvSpPr/>
            <p:nvPr/>
          </p:nvSpPr>
          <p:spPr>
            <a:xfrm>
              <a:off x="0" y="0"/>
              <a:ext cx="55373" cy="72009"/>
            </a:xfrm>
            <a:prstGeom prst="rect">
              <a:avLst/>
            </a:prstGeom>
            <a:solidFill>
              <a:srgbClr val="FFFFFF"/>
            </a:solidFill>
          </p:spPr>
        </p:sp>
      </p:grpSp>
      <p:sp>
        <p:nvSpPr>
          <p:cNvPr id="8" name="shape 8"/>
          <p:cNvSpPr txBox="1"/>
          <p:nvPr/>
        </p:nvSpPr>
        <p:spPr>
          <a:xfrm>
            <a:off x="705485" y="372364"/>
            <a:ext cx="2910205" cy="1828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1200">
                <a:latin typeface="Times New Roman"/>
                <a:cs typeface="Times New Roman"/>
              </a:rPr>
              <a:t>Êë³í³÷íà òà åêñïåðèìåíòàëüíà ïàòîëîã³ÿ</a:t>
            </a:r>
            <a:endParaRPr/>
          </a:p>
        </p:txBody>
      </p:sp>
      <p:sp>
        <p:nvSpPr>
          <p:cNvPr id="9" name="shape 9"/>
          <p:cNvSpPr txBox="1"/>
          <p:nvPr/>
        </p:nvSpPr>
        <p:spPr>
          <a:xfrm>
            <a:off x="705485" y="692910"/>
            <a:ext cx="2910205" cy="402336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2700" algn="r">
              <a:lnSpc>
                <a:spcPct val="100083"/>
              </a:lnSpc>
            </a:pPr>
            <a:r>
              <a:rPr sz="1100" spc="20">
                <a:latin typeface="Times New Roman"/>
                <a:cs typeface="Times New Roman"/>
              </a:rPr>
              <a:t>Äëÿ äîñë³äæåííÿ àíòèì³êðîáíî¿ àêòèâíîñò³ </a:t>
            </a:r>
            <a:r>
              <a:rPr sz="1100" spc="5">
                <a:latin typeface="Times New Roman"/>
                <a:cs typeface="Times New Roman"/>
              </a:rPr>
              <a:t>ñèíòåçîâàíèõ ïðåïàðàò³â çàñòîñîâàíî ìåòîäèêó </a:t>
            </a:r>
            <a:r>
              <a:rPr sz="1100" spc="25">
                <a:latin typeface="Times New Roman"/>
                <a:cs typeface="Times New Roman"/>
              </a:rPr>
              <a:t>äâîêðàòíèõ  ïîñë³äîâíèõ  ñåð³éíèõ  ðîçâåäåíü ñïîëóê ó ð³äêèõ æèâèëüíèõ ñåðåäîâèùàõ [3]. </a:t>
            </a:r>
            <a:r>
              <a:rPr sz="1100" spc="-5">
                <a:latin typeface="Times New Roman"/>
                <a:cs typeface="Times New Roman"/>
              </a:rPr>
              <a:t>Âèêîðèñòàíî ð³çí³ æèâèëüí³ ñåðåäîâèùà â çàëåæ-</a:t>
            </a:r>
            <a:r>
              <a:rPr sz="1100" spc="-10">
                <a:latin typeface="Times New Roman"/>
                <a:cs typeface="Times New Roman"/>
              </a:rPr>
              <a:t>íîñò³ â³ä âèä³â òåñò-êóëüòóð ì³êðîîðãàí³çì³â. Äëÿ </a:t>
            </a:r>
            <a:r>
              <a:rPr sz="1100" spc="-5">
                <a:latin typeface="Times New Roman"/>
                <a:cs typeface="Times New Roman"/>
              </a:rPr>
              <a:t>á³ëüøîñò³ í</a:t>
            </a:r>
            <a:r>
              <a:rPr sz="1100">
                <a:latin typeface="Times New Roman"/>
                <a:cs typeface="Times New Roman"/>
              </a:rPr>
              <a:t>åâèìîãëèâèõ ãðàìïîçèòèâíèõ ³ ãðàì-íåãàòèâíèõ áàêòåð³é áðàëè 1% ì'ÿñî-ïåïòîííèé </a:t>
            </a:r>
            <a:r>
              <a:rPr sz="1100" spc="-5">
                <a:latin typeface="Times New Roman"/>
                <a:cs typeface="Times New Roman"/>
              </a:rPr>
              <a:t>áóëüéîí (ÌÏÁ ðÍ 7.2-7.3); äëÿ ñòðåïòîêîê³â - 1% </a:t>
            </a:r>
            <a:r>
              <a:rPr sz="1100" spc="40">
                <a:latin typeface="Times New Roman"/>
                <a:cs typeface="Times New Roman"/>
              </a:rPr>
              <a:t>öóêðîâèé ÌÏÁ, à äëÿ äð³æäæåïîä³áíèõ ãðèá³â </a:t>
            </a:r>
            <a:r>
              <a:rPr sz="1100">
                <a:latin typeface="Times New Roman"/>
                <a:cs typeface="Times New Roman"/>
              </a:rPr>
              <a:t>ðîäó Candida-ð³äêå ñåðåäîâèùå Ñàáóðî (ðÍ-6.8). </a:t>
            </a:r>
            <a:r>
              <a:rPr sz="1100" spc="-10">
                <a:latin typeface="Times New Roman"/>
                <a:cs typeface="Times New Roman"/>
              </a:rPr>
              <a:t>Âèñíàæóâàí³ñòü áàêòåð³àëüíî¿ àêòèâíîñò³ ïðå-</a:t>
            </a:r>
            <a:r>
              <a:rPr sz="1100">
                <a:latin typeface="Times New Roman"/>
                <a:cs typeface="Times New Roman"/>
              </a:rPr>
              <a:t>ïàðàò³â ïðè ïîâòîðíîìó êîíòàêò³ ç ³íôåêö³éíèì </a:t>
            </a:r>
            <a:r>
              <a:rPr sz="1100" spc="35">
                <a:latin typeface="Times New Roman"/>
                <a:cs typeface="Times New Roman"/>
              </a:rPr>
              <a:t>ìàòåð³àëîì äîñë³äæóâàëè çà êëàñè÷íîþ ìåòî-</a:t>
            </a:r>
            <a:r>
              <a:rPr sz="1100" spc="20">
                <a:latin typeface="Times New Roman"/>
                <a:cs typeface="Times New Roman"/>
              </a:rPr>
              <a:t>äèêîþ, çàïðîïîíîâàíîþ À. Cantor, M. Shelanski </a:t>
            </a:r>
            <a:r>
              <a:rPr sz="1100" spc="25">
                <a:latin typeface="Times New Roman"/>
                <a:cs typeface="Times New Roman"/>
              </a:rPr>
              <a:t>[18]. Äëÿ öüîãî äî 10 ìë äîñë³äæóâàíîãî ïðå-</a:t>
            </a:r>
            <a:r>
              <a:rPr sz="1100" spc="15">
                <a:latin typeface="Times New Roman"/>
                <a:cs typeface="Times New Roman"/>
              </a:rPr>
              <a:t>ïàðàòó ïåâíî¿ êîíöåíòðàö³¿ </a:t>
            </a:r>
            <a:r>
              <a:rPr sz="1100" spc="10">
                <a:latin typeface="Times New Roman"/>
                <a:cs typeface="Times New Roman"/>
              </a:rPr>
              <a:t>(0,01 %) äîäàâàëè 0.1 </a:t>
            </a:r>
            <a:r>
              <a:rPr sz="1100" spc="25">
                <a:latin typeface="Times New Roman"/>
                <a:cs typeface="Times New Roman"/>
              </a:rPr>
              <a:t>ìë</a:t>
            </a:r>
            <a:r>
              <a:rPr sz="1100" spc="160">
                <a:latin typeface="Times New Roman"/>
                <a:cs typeface="Times New Roman"/>
              </a:rPr>
              <a:t> </a:t>
            </a:r>
            <a:r>
              <a:rPr sz="1100" spc="25">
                <a:latin typeface="Times New Roman"/>
                <a:cs typeface="Times New Roman"/>
              </a:rPr>
              <a:t>äâîõì³ëüÿðäíîãî</a:t>
            </a:r>
            <a:r>
              <a:rPr sz="1100" spc="160">
                <a:latin typeface="Times New Roman"/>
                <a:cs typeface="Times New Roman"/>
              </a:rPr>
              <a:t> </a:t>
            </a:r>
            <a:r>
              <a:rPr sz="1100" spc="25">
                <a:latin typeface="Times New Roman"/>
                <a:cs typeface="Times New Roman"/>
              </a:rPr>
              <a:t>çàâèñó</a:t>
            </a:r>
            <a:r>
              <a:rPr sz="1100" spc="160">
                <a:latin typeface="Times New Roman"/>
                <a:cs typeface="Times New Roman"/>
              </a:rPr>
              <a:t> </a:t>
            </a:r>
            <a:r>
              <a:rPr sz="1100" spc="25">
                <a:latin typeface="Times New Roman"/>
                <a:cs typeface="Times New Roman"/>
              </a:rPr>
              <a:t>äîáîâî¿</a:t>
            </a:r>
            <a:r>
              <a:rPr sz="1100" spc="160">
                <a:latin typeface="Times New Roman"/>
                <a:cs typeface="Times New Roman"/>
              </a:rPr>
              <a:t> </a:t>
            </a:r>
            <a:r>
              <a:rPr sz="1100" spc="25">
                <a:latin typeface="Times New Roman"/>
                <a:cs typeface="Times New Roman"/>
              </a:rPr>
              <a:t>àãàðîâî¿ </a:t>
            </a:r>
            <a:r>
              <a:rPr sz="1100" spc="-10">
                <a:latin typeface="Times New Roman"/>
                <a:cs typeface="Times New Roman"/>
              </a:rPr>
              <a:t>êóëüòóðè çîëîòèñòîãî ñò</a:t>
            </a:r>
            <a:r>
              <a:rPr sz="1100" spc="-20">
                <a:latin typeface="Times New Roman"/>
                <a:cs typeface="Times New Roman"/>
              </a:rPr>
              <a:t>àô³ëîêîêó ç ³íòåðâàëîì 10 </a:t>
            </a:r>
            <a:r>
              <a:rPr sz="1100" spc="5">
                <a:latin typeface="Times New Roman"/>
                <a:cs typeface="Times New Roman"/>
              </a:rPr>
              <a:t>õâèëèí; ÷åðåç õâèëèíó ï³ñëÿ êîæíîãî äîäàâàííÿ ðîáèëè âèñ³â 0.1 ìë ñóì³ø³ äåç³íôåêòàíòà ç ì³ê-</a:t>
            </a:r>
            <a:r>
              <a:rPr sz="1100" spc="25">
                <a:latin typeface="Times New Roman"/>
                <a:cs typeface="Times New Roman"/>
              </a:rPr>
              <a:t>ðîáíîþ ñóñïåíç³ºþ â 10,0 ìë öóêðîâîãî ì'ÿñî-</a:t>
            </a:r>
            <a:r>
              <a:rPr sz="1100">
                <a:latin typeface="Times New Roman"/>
                <a:cs typeface="Times New Roman"/>
              </a:rPr>
              <a:t>ïåïòîííîãî áóëüéîíó ç íåéòðàë³çàòîðîì. Ïîñ³âè ³íêóáóâàëè â òåðìîñòàò³ ïðè 37°Ñ ïðîòÿãîì ñåìè</a:t>
            </a:r>
            <a:endParaRPr/>
          </a:p>
        </p:txBody>
      </p:sp>
      <p:sp>
        <p:nvSpPr>
          <p:cNvPr id="10" name="shape 10"/>
          <p:cNvSpPr txBox="1"/>
          <p:nvPr/>
        </p:nvSpPr>
        <p:spPr>
          <a:xfrm>
            <a:off x="3766185" y="387604"/>
            <a:ext cx="2910206" cy="1828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310640"/>
            <a:r>
              <a:rPr sz="1200" spc="-15">
                <a:latin typeface="Arial"/>
                <a:cs typeface="Arial"/>
              </a:rPr>
              <a:t>Òîì XI²²,</a:t>
            </a:r>
            <a:r>
              <a:rPr sz="1200" spc="220">
                <a:latin typeface="Arial"/>
                <a:cs typeface="Arial"/>
              </a:rPr>
              <a:t> </a:t>
            </a:r>
            <a:r>
              <a:rPr sz="1200" spc="-15">
                <a:latin typeface="Arial"/>
                <a:cs typeface="Arial"/>
              </a:rPr>
              <a:t>¹3 (49), 2014</a:t>
            </a:r>
            <a:endParaRPr/>
          </a:p>
        </p:txBody>
      </p:sp>
      <p:sp>
        <p:nvSpPr>
          <p:cNvPr id="11" name="shape 11"/>
          <p:cNvSpPr txBox="1"/>
          <p:nvPr/>
        </p:nvSpPr>
        <p:spPr>
          <a:xfrm>
            <a:off x="3766185" y="692914"/>
            <a:ext cx="2910206" cy="4228467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2700" algn="just">
              <a:lnSpc>
                <a:spcPct val="100083"/>
              </a:lnSpc>
            </a:pPr>
            <a:r>
              <a:rPr sz="1100" spc="25">
                <a:latin typeface="Times New Roman"/>
                <a:cs typeface="Times New Roman"/>
              </a:rPr>
              <a:t>ä³á. Àêòèâí³ñòü ïðåïàðàòó îö³íþâàëè çà ìàê-</a:t>
            </a:r>
            <a:r>
              <a:rPr sz="1100" spc="55">
                <a:latin typeface="Times New Roman"/>
                <a:cs typeface="Times New Roman"/>
              </a:rPr>
              <a:t>ñèìàëüíîþ ê³ëüê³ñòþ äîäàâàíü ì³êðîáíîãî </a:t>
            </a:r>
            <a:r>
              <a:rPr sz="1100" spc="50">
                <a:latin typeface="Times New Roman"/>
                <a:cs typeface="Times New Roman"/>
              </a:rPr>
              <a:t>çàâèñó, ùî íå äàëè ðîñòó âèäèìîãî ì³êðîîð-</a:t>
            </a:r>
            <a:r>
              <a:rPr sz="1100" spc="20">
                <a:latin typeface="Times New Roman"/>
                <a:cs typeface="Times New Roman"/>
              </a:rPr>
              <a:t>ãàí³çìó â æèâèëüíîìó ñåðåäîâèù³. Ðåçóëüòàòè </a:t>
            </a:r>
            <a:r>
              <a:rPr sz="1100" spc="-5">
                <a:latin typeface="Times New Roman"/>
                <a:cs typeface="Times New Roman"/>
              </a:rPr>
              <a:t>äîñë³ä³â âðàõîâóâàëè ÷åðåç 18-24 ãîäèíè òåðìîñ-</a:t>
            </a:r>
            <a:r>
              <a:rPr sz="1100" spc="40">
                <a:latin typeface="Times New Roman"/>
                <a:cs typeface="Times New Roman"/>
              </a:rPr>
              <a:t>òàòóâàííÿ ïðè 37°Ñ. Îñòàííº ðîçâåäåííÿ, ïðè </a:t>
            </a:r>
            <a:r>
              <a:rPr sz="1100" spc="-5">
                <a:latin typeface="Times New Roman"/>
                <a:cs typeface="Times New Roman"/>
              </a:rPr>
              <a:t>ÿêîìó íå â³äì³÷àâñÿ âèäèìèé ð³ñò êóëüòóðè, ïðèé-</a:t>
            </a:r>
            <a:r>
              <a:rPr sz="1100" spc="35">
                <a:latin typeface="Times New Roman"/>
                <a:cs typeface="Times New Roman"/>
              </a:rPr>
              <a:t>ìàëè çà ì³í³ìàëüíó áàê</a:t>
            </a:r>
            <a:r>
              <a:rPr sz="1100" spc="30">
                <a:latin typeface="Times New Roman"/>
                <a:cs typeface="Times New Roman"/>
              </a:rPr>
              <a:t>òåð³îñòà</a:t>
            </a:r>
            <a:r>
              <a:rPr sz="1100" spc="40">
                <a:latin typeface="Times New Roman"/>
                <a:cs typeface="Times New Roman"/>
              </a:rPr>
              <a:t>òè÷íó êîíöåíò-</a:t>
            </a:r>
            <a:r>
              <a:rPr sz="1100" spc="-10">
                <a:latin typeface="Times New Roman"/>
                <a:cs typeface="Times New Roman"/>
              </a:rPr>
              <a:t>ðàö³þ ïðåïàðàòó.</a:t>
            </a:r>
            <a:endParaRPr/>
          </a:p>
          <a:p>
            <a:pPr marL="192405">
              <a:spcBef>
                <a:spcPts val="1300"/>
              </a:spcBef>
            </a:pPr>
            <a:r>
              <a:rPr sz="1100" spc="25">
                <a:latin typeface="Times New Roman"/>
                <a:cs typeface="Times New Roman"/>
              </a:rPr>
              <a:t>Îáãîâîðåííÿ ðåçóëüòàò³â äîñë³äæåííÿ</a:t>
            </a:r>
            <a:endParaRPr/>
          </a:p>
          <a:p>
            <a:pPr marL="192405" algn="just">
              <a:lnSpc>
                <a:spcPts val="1340"/>
              </a:lnSpc>
            </a:pPr>
            <a:r>
              <a:rPr sz="1100" spc="-10">
                <a:latin typeface="Times New Roman"/>
                <a:cs typeface="Times New Roman"/>
              </a:rPr>
              <a:t>Ðåçóëüòàòè äîñë³äæåííÿ àíòèì³êðîáíî¿ àê</a:t>
            </a:r>
            <a:r>
              <a:rPr sz="1100" spc="5">
                <a:latin typeface="Times New Roman"/>
                <a:cs typeface="Times New Roman"/>
              </a:rPr>
              <a:t>òèâ-</a:t>
            </a:r>
            <a:endParaRPr/>
          </a:p>
          <a:p>
            <a:pPr marL="12700" algn="just">
              <a:lnSpc>
                <a:spcPts val="1315"/>
              </a:lnSpc>
            </a:pPr>
            <a:r>
              <a:rPr sz="1100" spc="-15">
                <a:latin typeface="Times New Roman"/>
                <a:cs typeface="Times New Roman"/>
              </a:rPr>
              <a:t>íîñò³ ôóíêö³îíàëüíèõ ïîõ³äíèõ ï³ðàçîëó, â ñòðóê-</a:t>
            </a:r>
            <a:endParaRPr/>
          </a:p>
          <a:p>
            <a:pPr marL="12700" algn="just">
              <a:lnSpc>
                <a:spcPts val="1320"/>
              </a:lnSpc>
            </a:pPr>
            <a:r>
              <a:rPr sz="1100">
                <a:latin typeface="Times New Roman"/>
                <a:cs typeface="Times New Roman"/>
              </a:rPr>
              <a:t>òóð³ ÿêèõ ì³ñòÿòüñÿ ã³äðîêñèìåòèëüí³ òà óðå¿äí³</a:t>
            </a:r>
            <a:endParaRPr/>
          </a:p>
          <a:p>
            <a:pPr marL="12700" algn="just">
              <a:lnSpc>
                <a:spcPts val="1320"/>
              </a:lnSpc>
            </a:pPr>
            <a:r>
              <a:rPr sz="1100" spc="15">
                <a:latin typeface="Times New Roman"/>
                <a:cs typeface="Times New Roman"/>
              </a:rPr>
              <a:t>ãðóïè, â³äíîñíî îêðåìèõ òåñò-êóëüòóð ãðàìïî-</a:t>
            </a:r>
            <a:endParaRPr/>
          </a:p>
          <a:p>
            <a:pPr marL="12700" algn="just">
              <a:lnSpc>
                <a:spcPts val="1320"/>
              </a:lnSpc>
            </a:pPr>
            <a:r>
              <a:rPr sz="1100" spc="15">
                <a:latin typeface="Times New Roman"/>
                <a:cs typeface="Times New Roman"/>
              </a:rPr>
              <a:t>çèòèâíèõ òà ãðàìíåãàòèâíèõ áàêòåð³é ³ ãðèá³â,</a:t>
            </a:r>
            <a:endParaRPr/>
          </a:p>
          <a:p>
            <a:pPr marL="12700" algn="just">
              <a:lnSpc>
                <a:spcPts val="1320"/>
              </a:lnSpc>
            </a:pPr>
            <a:r>
              <a:rPr sz="1100" spc="-5">
                <a:latin typeface="Times New Roman"/>
                <a:cs typeface="Times New Roman"/>
              </a:rPr>
              <a:t>ïðåäñòàâëåí³ â òàáëèö³ 2:</a:t>
            </a:r>
            <a:endParaRPr/>
          </a:p>
          <a:p>
            <a:pPr marL="192405" algn="just">
              <a:lnSpc>
                <a:spcPts val="1320"/>
              </a:lnSpc>
            </a:pPr>
            <a:r>
              <a:rPr sz="1100" spc="15">
                <a:latin typeface="Times New Roman"/>
                <a:cs typeface="Times New Roman"/>
              </a:rPr>
              <a:t>Àíàë³çóþ÷è ïðèâåäåí³ â òàáëèö³ 2 äàí³ ñë³ä</a:t>
            </a:r>
            <a:endParaRPr/>
          </a:p>
          <a:p>
            <a:pPr marL="12700" algn="just">
              <a:lnSpc>
                <a:spcPts val="1320"/>
              </a:lnSpc>
            </a:pPr>
            <a:r>
              <a:rPr sz="1100" spc="5">
                <a:latin typeface="Times New Roman"/>
                <a:cs typeface="Times New Roman"/>
              </a:rPr>
              <a:t>â³äì³òèòè íàÿâí³ñòü àíòèì³êðîáíî¿ àêòèâíîñò³ ³</a:t>
            </a:r>
            <a:endParaRPr/>
          </a:p>
          <a:p>
            <a:pPr marL="12700" algn="just">
              <a:lnSpc>
                <a:spcPts val="1320"/>
              </a:lnSpc>
            </a:pPr>
            <a:r>
              <a:rPr sz="1100" spc="5">
                <a:latin typeface="Times New Roman"/>
                <a:cs typeface="Times New Roman"/>
              </a:rPr>
              <a:t>øèðîêîãî ñïåêòðó ä³¿ ó êîæíî¿ ç äîñë³äæóâàíèõ</a:t>
            </a:r>
            <a:endParaRPr/>
          </a:p>
          <a:p>
            <a:pPr marL="12700" algn="just">
              <a:lnSpc>
                <a:spcPts val="1320"/>
              </a:lnSpc>
            </a:pPr>
            <a:r>
              <a:rPr sz="1100" spc="-5">
                <a:latin typeface="Times New Roman"/>
                <a:cs typeface="Times New Roman"/>
              </a:rPr>
              <a:t>ñïîëóê. Ó ïîð³âíÿíí³ á³ëüø âèñîêà ÷óòëèâ³ñòü äî</a:t>
            </a:r>
            <a:endParaRPr/>
          </a:p>
          <a:p>
            <a:pPr marL="12700" algn="just">
              <a:lnSpc>
                <a:spcPts val="1320"/>
              </a:lnSpc>
            </a:pPr>
            <a:r>
              <a:rPr sz="1100" spc="-5">
                <a:latin typeface="Times New Roman"/>
                <a:cs typeface="Times New Roman"/>
              </a:rPr>
              <a:t>³íã³áóþ÷î¿ ä³¿ ïðåïàðà</a:t>
            </a:r>
            <a:r>
              <a:rPr sz="1100">
                <a:latin typeface="Times New Roman"/>
                <a:cs typeface="Times New Roman"/>
              </a:rPr>
              <a:t>ò³â â³äì³÷àºòüñÿ ó ãðàìïî-</a:t>
            </a:r>
            <a:endParaRPr/>
          </a:p>
          <a:p>
            <a:pPr marL="12700" algn="just">
              <a:lnSpc>
                <a:spcPts val="1320"/>
              </a:lnSpc>
            </a:pPr>
            <a:r>
              <a:rPr sz="1100" spc="-20">
                <a:latin typeface="Times New Roman"/>
                <a:cs typeface="Times New Roman"/>
              </a:rPr>
              <a:t>çèòèâíèõ ì³êðîîðãàí³çì³â, îñîáëèâî â êîêîâî¿ ãðó-</a:t>
            </a:r>
            <a:endParaRPr/>
          </a:p>
          <a:p>
            <a:pPr marL="12700" algn="just">
              <a:lnSpc>
                <a:spcPts val="1320"/>
              </a:lnSpc>
            </a:pPr>
            <a:r>
              <a:rPr sz="1100" spc="25">
                <a:latin typeface="Times New Roman"/>
                <a:cs typeface="Times New Roman"/>
              </a:rPr>
              <a:t>ïè</a:t>
            </a:r>
            <a:r>
              <a:rPr sz="1100" spc="110">
                <a:latin typeface="Times New Roman"/>
                <a:cs typeface="Times New Roman"/>
              </a:rPr>
              <a:t> </a:t>
            </a:r>
            <a:r>
              <a:rPr sz="1100" spc="25">
                <a:latin typeface="Times New Roman"/>
                <a:cs typeface="Times New Roman"/>
              </a:rPr>
              <a:t>áàêòåð³é.</a:t>
            </a:r>
            <a:r>
              <a:rPr sz="1100" spc="110">
                <a:latin typeface="Times New Roman"/>
                <a:cs typeface="Times New Roman"/>
              </a:rPr>
              <a:t> </a:t>
            </a:r>
            <a:r>
              <a:rPr sz="1100" spc="25">
                <a:latin typeface="Times New Roman"/>
                <a:cs typeface="Times New Roman"/>
              </a:rPr>
              <a:t>Ì³í³ìàëüí³,</a:t>
            </a:r>
            <a:r>
              <a:rPr sz="1100" spc="110">
                <a:latin typeface="Times New Roman"/>
                <a:cs typeface="Times New Roman"/>
              </a:rPr>
              <a:t> </a:t>
            </a:r>
            <a:r>
              <a:rPr sz="1100" spc="25">
                <a:latin typeface="Times New Roman"/>
                <a:cs typeface="Times New Roman"/>
              </a:rPr>
              <a:t>³íã³áóþ÷³</a:t>
            </a:r>
            <a:r>
              <a:rPr sz="1100" spc="110">
                <a:latin typeface="Times New Roman"/>
                <a:cs typeface="Times New Roman"/>
              </a:rPr>
              <a:t> </a:t>
            </a:r>
            <a:r>
              <a:rPr sz="1100" spc="25">
                <a:latin typeface="Times New Roman"/>
                <a:cs typeface="Times New Roman"/>
              </a:rPr>
              <a:t>ð³ñò</a:t>
            </a:r>
            <a:r>
              <a:rPr sz="1100" spc="110">
                <a:latin typeface="Times New Roman"/>
                <a:cs typeface="Times New Roman"/>
              </a:rPr>
              <a:t> </a:t>
            </a:r>
            <a:r>
              <a:rPr sz="1100" spc="25">
                <a:latin typeface="Times New Roman"/>
                <a:cs typeface="Times New Roman"/>
              </a:rPr>
              <a:t>òåñò-</a:t>
            </a:r>
            <a:endParaRPr/>
          </a:p>
          <a:p>
            <a:pPr marL="2143125">
              <a:spcBef>
                <a:spcPts val="300"/>
              </a:spcBef>
            </a:pPr>
            <a:r>
              <a:rPr sz="1100" spc="15">
                <a:latin typeface="Times New Roman"/>
                <a:cs typeface="Times New Roman"/>
              </a:rPr>
              <a:t>Òàáëèöÿ 1</a:t>
            </a:r>
            <a:endParaRPr/>
          </a:p>
        </p:txBody>
      </p:sp>
      <p:sp>
        <p:nvSpPr>
          <p:cNvPr id="12" name="shape 12"/>
          <p:cNvSpPr txBox="1"/>
          <p:nvPr/>
        </p:nvSpPr>
        <p:spPr>
          <a:xfrm>
            <a:off x="940435" y="4917440"/>
            <a:ext cx="5608956" cy="16764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1100" spc="15">
                <a:latin typeface="Times New Roman"/>
                <a:cs typeface="Times New Roman"/>
              </a:rPr>
              <a:t>Àíòèì³êðîáíà àêòèâí³ñòü òà ñïåêòð àíòèì³êðîáíî¿ ä³¿ äîñë³äæóâàíèõ ñïîëóê in vitro</a:t>
            </a:r>
            <a:endParaRPr/>
          </a:p>
        </p:txBody>
      </p:sp>
      <p:sp>
        <p:nvSpPr>
          <p:cNvPr id="13" name="shape 13"/>
          <p:cNvSpPr txBox="1"/>
          <p:nvPr/>
        </p:nvSpPr>
        <p:spPr>
          <a:xfrm>
            <a:off x="705485" y="10189972"/>
            <a:ext cx="203201" cy="1828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1200" spc="25">
                <a:latin typeface="Arial"/>
                <a:cs typeface="Arial"/>
              </a:rPr>
              <a:t>30</a:t>
            </a:r>
            <a:endParaRPr/>
          </a:p>
        </p:txBody>
      </p:sp>
      <p:graphicFrame>
        <p:nvGraphicFramePr>
          <p:cNvPr id="14" name="shape 14"/>
          <p:cNvGraphicFramePr>
            <a:graphicFrameLocks noGrp="1"/>
          </p:cNvGraphicFramePr>
          <p:nvPr/>
        </p:nvGraphicFramePr>
        <p:xfrm>
          <a:off x="826135" y="5189728"/>
          <a:ext cx="5705857" cy="467791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23520"/>
                <a:gridCol w="410845"/>
                <a:gridCol w="393065"/>
                <a:gridCol w="386715"/>
                <a:gridCol w="395605"/>
                <a:gridCol w="380365"/>
                <a:gridCol w="392430"/>
                <a:gridCol w="386080"/>
                <a:gridCol w="389255"/>
                <a:gridCol w="386080"/>
                <a:gridCol w="394970"/>
                <a:gridCol w="382905"/>
                <a:gridCol w="386080"/>
                <a:gridCol w="386080"/>
                <a:gridCol w="401321"/>
              </a:tblGrid>
              <a:tr h="227965">
                <a:tc rowSpan="4">
                  <a:txBody>
                    <a:bodyPr/>
                    <a:p>
                      <a:pPr marL="57150" marR="43815" algn="ctr"/>
                      <a:r>
                        <a:rPr sz="1000" spc="-130">
                          <a:latin typeface="Arial"/>
                          <a:cs typeface="Arial"/>
                        </a:rPr>
                        <a:t>№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2857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gridSpan="14" vMerge="1">
                  <a:txBody>
                    <a:bodyPr/>
                    <a:p>
                      <a:pPr marL="1268730" marR="1242060">
                        <a:spcBef>
                          <a:spcPts val="200"/>
                        </a:spcBef>
                      </a:pPr>
                      <a:r>
                        <a:rPr sz="1100" spc="-5">
                          <a:latin typeface="Arial"/>
                          <a:cs typeface="Arial"/>
                        </a:rPr>
                        <a:t>Тест-культури досліджуваних мікроорганізмів</a:t>
                      </a:r>
                      <a:endParaRPr/>
                    </a:p>
                  </a:txBody>
                  <a:tcPr marL="0" marR="0" marT="25400" marB="0">
                    <a:lnL w="9525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222884">
                <a:tc rowSpan="4">
                  <a:txBody>
                    <a:bodyPr/>
                    <a:p>
                      <a:pPr marL="57150" marR="43815" algn="ctr"/>
                      <a:r>
                        <a:rPr sz="1000" spc="-130">
                          <a:latin typeface="Arial"/>
                          <a:cs typeface="Arial"/>
                        </a:rPr>
                        <a:t>№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2857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gridSpan="14" vMerge="1">
                  <a:txBody>
                    <a:bodyPr/>
                    <a:p>
                      <a:pPr marL="595630" marR="571500">
                        <a:spcBef>
                          <a:spcPts val="100"/>
                        </a:spcBef>
                      </a:pPr>
                      <a:r>
                        <a:rPr sz="1100">
                          <a:latin typeface="Arial"/>
                          <a:cs typeface="Arial"/>
                        </a:rPr>
                        <a:t>Інгібуючі ріст мікроорганізмів концентрації препаратів (в ммоль/л)</a:t>
                      </a:r>
                      <a:endParaRPr/>
                    </a:p>
                  </a:txBody>
                  <a:tcPr marL="0" marR="0" marT="12700" marB="0">
                    <a:lnL w="9525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51155">
                <a:tc rowSpan="4">
                  <a:txBody>
                    <a:bodyPr/>
                    <a:p>
                      <a:pPr marL="57150" marR="43815" algn="ctr"/>
                      <a:r>
                        <a:rPr sz="1000" spc="-130">
                          <a:latin typeface="Arial"/>
                          <a:cs typeface="Arial"/>
                        </a:rPr>
                        <a:t>№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2857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gridSpan="2" vMerge="1">
                  <a:txBody>
                    <a:bodyPr/>
                    <a:p>
                      <a:pPr marL="52705" marR="34290" algn="ctr">
                        <a:lnSpc>
                          <a:spcPct val="93914"/>
                        </a:lnSpc>
                        <a:spcBef>
                          <a:spcPts val="300"/>
                        </a:spcBef>
                      </a:pPr>
                      <a:r>
                        <a:rPr sz="900" spc="-20">
                          <a:latin typeface="Times New Roman"/>
                          <a:cs typeface="Times New Roman"/>
                        </a:rPr>
                        <a:t>Staphylococcus </a:t>
                      </a:r>
                      <a:r>
                        <a:rPr sz="1000">
                          <a:latin typeface="Arial"/>
                          <a:cs typeface="Arial"/>
                        </a:rPr>
                        <a:t>aureus</a:t>
                      </a:r>
                      <a:endParaRPr/>
                    </a:p>
                  </a:txBody>
                  <a:tcPr marL="0" marR="0" marT="38100" marB="0">
                    <a:lnL w="28575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 vMerge="1">
                  <a:txBody>
                    <a:bodyPr/>
                    <a:p>
                      <a:pPr marL="38100" marR="33020" algn="ctr">
                        <a:lnSpc>
                          <a:spcPct val="96320"/>
                        </a:lnSpc>
                        <a:spcBef>
                          <a:spcPts val="200"/>
                        </a:spcBef>
                      </a:pPr>
                      <a:r>
                        <a:rPr sz="1000" spc="-75">
                          <a:latin typeface="Arial"/>
                          <a:cs typeface="Arial"/>
                        </a:rPr>
                        <a:t>Streptococcus </a:t>
                      </a:r>
                      <a:r>
                        <a:rPr sz="1000">
                          <a:latin typeface="Arial"/>
                          <a:cs typeface="Arial"/>
                        </a:rPr>
                        <a:t>pyogenes</a:t>
                      </a:r>
                      <a:endParaRPr/>
                    </a:p>
                  </a:txBody>
                  <a:tcPr marL="0" marR="0" marT="2540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 vMerge="1">
                  <a:txBody>
                    <a:bodyPr/>
                    <a:p>
                      <a:pPr marL="91440" marR="86360" algn="ctr">
                        <a:lnSpc>
                          <a:spcPct val="96320"/>
                        </a:lnSpc>
                        <a:spcBef>
                          <a:spcPts val="200"/>
                        </a:spcBef>
                      </a:pPr>
                      <a:r>
                        <a:rPr sz="1000" spc="-65">
                          <a:latin typeface="Arial"/>
                          <a:cs typeface="Arial"/>
                        </a:rPr>
                        <a:t>Escherichia </a:t>
                      </a:r>
                      <a:r>
                        <a:rPr sz="1000">
                          <a:latin typeface="Arial"/>
                          <a:cs typeface="Arial"/>
                        </a:rPr>
                        <a:t>coli</a:t>
                      </a:r>
                      <a:endParaRPr/>
                    </a:p>
                  </a:txBody>
                  <a:tcPr marL="0" marR="0" marT="2540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 vMerge="1">
                  <a:txBody>
                    <a:bodyPr/>
                    <a:p>
                      <a:pPr marL="205105" marR="191135">
                        <a:spcBef>
                          <a:spcPts val="100"/>
                        </a:spcBef>
                      </a:pPr>
                      <a:r>
                        <a:rPr sz="1000" spc="-70">
                          <a:latin typeface="Arial"/>
                          <a:cs typeface="Arial"/>
                        </a:rPr>
                        <a:t>Proteus</a:t>
                      </a:r>
                      <a:endParaRPr/>
                    </a:p>
                    <a:p>
                      <a:pPr marL="189865" marR="175895">
                        <a:lnSpc>
                          <a:spcPts val="1220"/>
                        </a:lnSpc>
                      </a:pPr>
                      <a:r>
                        <a:rPr sz="1000" spc="-30">
                          <a:latin typeface="Arial"/>
                          <a:cs typeface="Arial"/>
                        </a:rPr>
                        <a:t>vulgaris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p>
                      <a:pPr marL="45720" marR="33655" algn="ctr">
                        <a:lnSpc>
                          <a:spcPct val="96320"/>
                        </a:lnSpc>
                        <a:spcBef>
                          <a:spcPts val="200"/>
                        </a:spcBef>
                      </a:pPr>
                      <a:r>
                        <a:rPr sz="1000" spc="-95">
                          <a:latin typeface="Arial"/>
                          <a:cs typeface="Arial"/>
                        </a:rPr>
                        <a:t>Pseudomonas </a:t>
                      </a:r>
                      <a:r>
                        <a:rPr sz="1000">
                          <a:latin typeface="Arial"/>
                          <a:cs typeface="Arial"/>
                        </a:rPr>
                        <a:t>aeruginosa</a:t>
                      </a:r>
                      <a:endParaRPr/>
                    </a:p>
                  </a:txBody>
                  <a:tcPr marL="0" marR="0" marT="2540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p>
                      <a:pPr marL="75565" marR="52705" algn="ctr">
                        <a:lnSpc>
                          <a:spcPct val="96320"/>
                        </a:lnSpc>
                        <a:spcBef>
                          <a:spcPts val="200"/>
                        </a:spcBef>
                      </a:pPr>
                      <a:r>
                        <a:rPr sz="1000">
                          <a:latin typeface="Arial"/>
                          <a:cs typeface="Arial"/>
                        </a:rPr>
                        <a:t>Bacillus </a:t>
                      </a:r>
                      <a:r>
                        <a:rPr sz="1000" spc="-60">
                          <a:latin typeface="Arial"/>
                          <a:cs typeface="Arial"/>
                        </a:rPr>
                        <a:t>anthracoides</a:t>
                      </a:r>
                      <a:endParaRPr/>
                    </a:p>
                  </a:txBody>
                  <a:tcPr marL="0" marR="0" marT="2540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p>
                      <a:pPr marL="193675" marR="166370">
                        <a:spcBef>
                          <a:spcPts val="100"/>
                        </a:spcBef>
                      </a:pPr>
                      <a:r>
                        <a:rPr sz="1000" spc="-55">
                          <a:latin typeface="Arial"/>
                          <a:cs typeface="Arial"/>
                        </a:rPr>
                        <a:t>Candida</a:t>
                      </a:r>
                      <a:endParaRPr/>
                    </a:p>
                    <a:p>
                      <a:pPr marL="196215" marR="172720">
                        <a:lnSpc>
                          <a:spcPts val="1220"/>
                        </a:lnSpc>
                      </a:pPr>
                      <a:r>
                        <a:rPr sz="1000" spc="-50">
                          <a:latin typeface="Arial"/>
                          <a:cs typeface="Arial"/>
                        </a:rPr>
                        <a:t>albicans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54330">
                <a:tc rowSpan="4">
                  <a:txBody>
                    <a:bodyPr/>
                    <a:p>
                      <a:pPr marL="57150" marR="43815" algn="ctr"/>
                      <a:r>
                        <a:rPr sz="1000" spc="-130">
                          <a:latin typeface="Arial"/>
                          <a:cs typeface="Arial"/>
                        </a:rPr>
                        <a:t>№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2857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vMerge="1">
                  <a:txBody>
                    <a:bodyPr/>
                    <a:p>
                      <a:pPr marL="49530" marR="34290" algn="r"/>
                      <a:r>
                        <a:rPr sz="1000" spc="-10">
                          <a:latin typeface="Arial"/>
                          <a:cs typeface="Arial"/>
                        </a:rPr>
                        <a:t>МБсК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vMerge="1">
                  <a:txBody>
                    <a:bodyPr/>
                    <a:p>
                      <a:pPr marL="32385" marR="22225" algn="ctr"/>
                      <a:r>
                        <a:rPr sz="1000" spc="-5">
                          <a:latin typeface="Arial"/>
                          <a:cs typeface="Arial"/>
                        </a:rPr>
                        <a:t>МБцК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vMerge="1">
                  <a:txBody>
                    <a:bodyPr/>
                    <a:p>
                      <a:pPr marL="32385" marR="27940" algn="ctr"/>
                      <a:r>
                        <a:rPr sz="1000" spc="-10">
                          <a:latin typeface="Arial"/>
                          <a:cs typeface="Arial"/>
                        </a:rPr>
                        <a:t>МБсК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vMerge="1">
                  <a:txBody>
                    <a:bodyPr/>
                    <a:p>
                      <a:pPr marL="29845" marR="27305" algn="ctr"/>
                      <a:r>
                        <a:rPr sz="1000" spc="-5">
                          <a:latin typeface="Arial"/>
                          <a:cs typeface="Arial"/>
                        </a:rPr>
                        <a:t>МБцК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30480" marR="23495" algn="ctr"/>
                      <a:r>
                        <a:rPr sz="1000" spc="-10">
                          <a:latin typeface="Arial"/>
                          <a:cs typeface="Arial"/>
                        </a:rPr>
                        <a:t>МБсК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31115" marR="22860" algn="ctr"/>
                      <a:r>
                        <a:rPr sz="1000" spc="-5">
                          <a:latin typeface="Arial"/>
                          <a:cs typeface="Arial"/>
                        </a:rPr>
                        <a:t>МБцК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37465" marR="21590" algn="ctr"/>
                      <a:r>
                        <a:rPr sz="1000" spc="-10">
                          <a:latin typeface="Arial"/>
                          <a:cs typeface="Arial"/>
                        </a:rPr>
                        <a:t>МБсК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29845" marR="20955" algn="ctr"/>
                      <a:r>
                        <a:rPr sz="1000" spc="-5">
                          <a:latin typeface="Arial"/>
                          <a:cs typeface="Arial"/>
                        </a:rPr>
                        <a:t>МБцК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36830" marR="22860" algn="ctr"/>
                      <a:r>
                        <a:rPr sz="1000" spc="-10">
                          <a:latin typeface="Arial"/>
                          <a:cs typeface="Arial"/>
                        </a:rPr>
                        <a:t>МБсК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34290" marR="21590" algn="ctr"/>
                      <a:r>
                        <a:rPr sz="1000" spc="-5">
                          <a:latin typeface="Arial"/>
                          <a:cs typeface="Arial"/>
                        </a:rPr>
                        <a:t>МБцК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35560" marR="20320" algn="ctr"/>
                      <a:r>
                        <a:rPr sz="1000" spc="-10">
                          <a:latin typeface="Arial"/>
                          <a:cs typeface="Arial"/>
                        </a:rPr>
                        <a:t>МБсК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36830" marR="10160" algn="ctr"/>
                      <a:r>
                        <a:rPr sz="1000" spc="-5">
                          <a:latin typeface="Arial"/>
                          <a:cs typeface="Arial"/>
                        </a:rPr>
                        <a:t>МБцК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41275" marR="18415" algn="ctr"/>
                      <a:r>
                        <a:rPr sz="1000" spc="-10">
                          <a:latin typeface="Arial"/>
                          <a:cs typeface="Arial"/>
                        </a:rPr>
                        <a:t>МБсК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41910" marR="20320" algn="ctr"/>
                      <a:r>
                        <a:rPr sz="1000" spc="-5">
                          <a:latin typeface="Arial"/>
                          <a:cs typeface="Arial"/>
                        </a:rPr>
                        <a:t>МБцК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</a:tr>
              <a:tr h="354330">
                <a:tc>
                  <a:txBody>
                    <a:bodyPr/>
                    <a:p>
                      <a:pPr marL="84455" marR="74930" algn="ctr"/>
                      <a:r>
                        <a:rPr sz="1000" spc="-65">
                          <a:latin typeface="Arial"/>
                          <a:cs typeface="Arial"/>
                        </a:rPr>
                        <a:t>1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67945" marR="52705" algn="r"/>
                      <a:r>
                        <a:rPr sz="1000" spc="-45">
                          <a:latin typeface="Arial"/>
                          <a:cs typeface="Arial"/>
                        </a:rPr>
                        <a:t>0.241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6515" marR="49530" algn="ctr"/>
                      <a:r>
                        <a:rPr sz="1000" spc="-50">
                          <a:latin typeface="Arial"/>
                          <a:cs typeface="Arial"/>
                        </a:rPr>
                        <a:t>0.482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0800" marR="45720" algn="ctr"/>
                      <a:r>
                        <a:rPr sz="1000" spc="-45">
                          <a:latin typeface="Arial"/>
                          <a:cs typeface="Arial"/>
                        </a:rPr>
                        <a:t>0.121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3975" marR="51435" algn="ctr"/>
                      <a:r>
                        <a:rPr sz="1000" spc="-45">
                          <a:latin typeface="Arial"/>
                          <a:cs typeface="Arial"/>
                        </a:rPr>
                        <a:t>0.241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48260" marR="41910" algn="ctr"/>
                      <a:r>
                        <a:rPr sz="1000" spc="-45">
                          <a:latin typeface="Arial"/>
                          <a:cs typeface="Arial"/>
                        </a:rPr>
                        <a:t>0.482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5245" marR="46990" algn="ctr"/>
                      <a:r>
                        <a:rPr sz="1000" spc="-45">
                          <a:latin typeface="Arial"/>
                          <a:cs typeface="Arial"/>
                        </a:rPr>
                        <a:t>0.965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5880" marR="40005" algn="ctr"/>
                      <a:r>
                        <a:rPr sz="1000" spc="-45">
                          <a:latin typeface="Arial"/>
                          <a:cs typeface="Arial"/>
                        </a:rPr>
                        <a:t>0.965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3975" marR="45085" algn="ctr"/>
                      <a:r>
                        <a:rPr sz="1000" spc="-45">
                          <a:latin typeface="Arial"/>
                          <a:cs typeface="Arial"/>
                        </a:rPr>
                        <a:t>1.930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4610" marR="41275" algn="ctr"/>
                      <a:r>
                        <a:rPr sz="1000" spc="-45">
                          <a:latin typeface="Arial"/>
                          <a:cs typeface="Arial"/>
                        </a:rPr>
                        <a:t>0.482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9055" marR="45720" algn="ctr"/>
                      <a:r>
                        <a:rPr sz="1000" spc="-45">
                          <a:latin typeface="Arial"/>
                          <a:cs typeface="Arial"/>
                        </a:rPr>
                        <a:t>0.965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3975" marR="38735" algn="ctr"/>
                      <a:r>
                        <a:rPr sz="1000" spc="-45">
                          <a:latin typeface="Arial"/>
                          <a:cs typeface="Arial"/>
                        </a:rPr>
                        <a:t>0.241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61595" marR="34290" algn="ctr"/>
                      <a:r>
                        <a:rPr sz="1000" spc="-45">
                          <a:latin typeface="Arial"/>
                          <a:cs typeface="Arial"/>
                        </a:rPr>
                        <a:t>0.482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9055" marR="36830" algn="ctr"/>
                      <a:r>
                        <a:rPr sz="1000" spc="-45">
                          <a:latin typeface="Arial"/>
                          <a:cs typeface="Arial"/>
                        </a:rPr>
                        <a:t>0.121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66675" marR="44450" algn="ctr"/>
                      <a:r>
                        <a:rPr sz="1000" spc="-45">
                          <a:latin typeface="Arial"/>
                          <a:cs typeface="Arial"/>
                        </a:rPr>
                        <a:t>0.241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</a:tr>
              <a:tr h="351155">
                <a:tc>
                  <a:txBody>
                    <a:bodyPr/>
                    <a:p>
                      <a:pPr marL="84455" marR="74930" algn="ctr"/>
                      <a:r>
                        <a:rPr sz="1000" spc="-65">
                          <a:latin typeface="Arial"/>
                          <a:cs typeface="Arial"/>
                        </a:rPr>
                        <a:t>2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67945" marR="52705" algn="r"/>
                      <a:r>
                        <a:rPr sz="1000" spc="-45">
                          <a:latin typeface="Arial"/>
                          <a:cs typeface="Arial"/>
                        </a:rPr>
                        <a:t>0.255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6515" marR="49530" algn="ctr"/>
                      <a:r>
                        <a:rPr sz="1000" spc="-50">
                          <a:latin typeface="Arial"/>
                          <a:cs typeface="Arial"/>
                        </a:rPr>
                        <a:t>0.510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0800" marR="45720" algn="ctr"/>
                      <a:r>
                        <a:rPr sz="1000" spc="-45">
                          <a:latin typeface="Arial"/>
                          <a:cs typeface="Arial"/>
                        </a:rPr>
                        <a:t>0.128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3975" marR="51435" algn="ctr"/>
                      <a:r>
                        <a:rPr sz="1000" spc="-45">
                          <a:latin typeface="Arial"/>
                          <a:cs typeface="Arial"/>
                        </a:rPr>
                        <a:t>0.255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48260" marR="41910" algn="ctr"/>
                      <a:r>
                        <a:rPr sz="1000" spc="-45">
                          <a:latin typeface="Arial"/>
                          <a:cs typeface="Arial"/>
                        </a:rPr>
                        <a:t>1.020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5245" marR="46990" algn="ctr"/>
                      <a:r>
                        <a:rPr sz="1000" spc="-45">
                          <a:latin typeface="Arial"/>
                          <a:cs typeface="Arial"/>
                        </a:rPr>
                        <a:t>2.040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5880" marR="40005" algn="ctr"/>
                      <a:r>
                        <a:rPr sz="1000" spc="-45">
                          <a:latin typeface="Arial"/>
                          <a:cs typeface="Arial"/>
                        </a:rPr>
                        <a:t>2.040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3975" marR="45085" algn="ctr"/>
                      <a:r>
                        <a:rPr sz="1000" spc="-45">
                          <a:latin typeface="Arial"/>
                          <a:cs typeface="Arial"/>
                        </a:rPr>
                        <a:t>2.040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4610" marR="41275" algn="ctr"/>
                      <a:r>
                        <a:rPr sz="1000" spc="-45">
                          <a:latin typeface="Arial"/>
                          <a:cs typeface="Arial"/>
                        </a:rPr>
                        <a:t>1.020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9055" marR="45720" algn="ctr"/>
                      <a:r>
                        <a:rPr sz="1000" spc="-45">
                          <a:latin typeface="Arial"/>
                          <a:cs typeface="Arial"/>
                        </a:rPr>
                        <a:t>2.040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3975" marR="38735" algn="ctr"/>
                      <a:r>
                        <a:rPr sz="1000" spc="-45">
                          <a:latin typeface="Arial"/>
                          <a:cs typeface="Arial"/>
                        </a:rPr>
                        <a:t>0.510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61595" marR="34290" algn="ctr"/>
                      <a:r>
                        <a:rPr sz="1000" spc="-45">
                          <a:latin typeface="Arial"/>
                          <a:cs typeface="Arial"/>
                        </a:rPr>
                        <a:t>1.020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9055" marR="36830" algn="ctr"/>
                      <a:r>
                        <a:rPr sz="1000" spc="-45">
                          <a:latin typeface="Arial"/>
                          <a:cs typeface="Arial"/>
                        </a:rPr>
                        <a:t>0.255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66675" marR="44450" algn="ctr"/>
                      <a:r>
                        <a:rPr sz="1000" spc="-45">
                          <a:latin typeface="Arial"/>
                          <a:cs typeface="Arial"/>
                        </a:rPr>
                        <a:t>0.510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</a:tr>
              <a:tr h="354330">
                <a:tc>
                  <a:txBody>
                    <a:bodyPr/>
                    <a:p>
                      <a:pPr marL="84455" marR="74930" algn="ctr"/>
                      <a:r>
                        <a:rPr sz="1000" spc="-65">
                          <a:latin typeface="Arial"/>
                          <a:cs typeface="Arial"/>
                        </a:rPr>
                        <a:t>3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67945" marR="52705" algn="r"/>
                      <a:r>
                        <a:rPr sz="1000" spc="-45">
                          <a:latin typeface="Arial"/>
                          <a:cs typeface="Arial"/>
                        </a:rPr>
                        <a:t>0.490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6515" marR="49530" algn="ctr"/>
                      <a:r>
                        <a:rPr sz="1000" spc="-50">
                          <a:latin typeface="Arial"/>
                          <a:cs typeface="Arial"/>
                        </a:rPr>
                        <a:t>0.980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0800" marR="45720" algn="ctr"/>
                      <a:r>
                        <a:rPr sz="1000" spc="-45">
                          <a:latin typeface="Arial"/>
                          <a:cs typeface="Arial"/>
                        </a:rPr>
                        <a:t>0.245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3975" marR="51435" algn="ctr"/>
                      <a:r>
                        <a:rPr sz="1000" spc="-45">
                          <a:latin typeface="Arial"/>
                          <a:cs typeface="Arial"/>
                        </a:rPr>
                        <a:t>0.490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48260" marR="41910" algn="ctr"/>
                      <a:r>
                        <a:rPr sz="1000" spc="-45">
                          <a:latin typeface="Arial"/>
                          <a:cs typeface="Arial"/>
                        </a:rPr>
                        <a:t>1.960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5245" marR="46990" algn="ctr"/>
                      <a:r>
                        <a:rPr sz="1000" spc="-45">
                          <a:latin typeface="Arial"/>
                          <a:cs typeface="Arial"/>
                        </a:rPr>
                        <a:t>1.960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5880" marR="40005" algn="ctr"/>
                      <a:r>
                        <a:rPr sz="1000" spc="-45">
                          <a:latin typeface="Arial"/>
                          <a:cs typeface="Arial"/>
                        </a:rPr>
                        <a:t>1.960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3975" marR="45085" algn="ctr"/>
                      <a:r>
                        <a:rPr sz="1000" spc="-45">
                          <a:latin typeface="Arial"/>
                          <a:cs typeface="Arial"/>
                        </a:rPr>
                        <a:t>1.960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4610" marR="41275" algn="ctr"/>
                      <a:r>
                        <a:rPr sz="1000" spc="-45">
                          <a:latin typeface="Arial"/>
                          <a:cs typeface="Arial"/>
                        </a:rPr>
                        <a:t>1.960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9055" marR="45720" algn="ctr"/>
                      <a:r>
                        <a:rPr sz="1000" spc="-45">
                          <a:latin typeface="Arial"/>
                          <a:cs typeface="Arial"/>
                        </a:rPr>
                        <a:t>1.960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3975" marR="38735" algn="ctr"/>
                      <a:r>
                        <a:rPr sz="1000" spc="-45">
                          <a:latin typeface="Arial"/>
                          <a:cs typeface="Arial"/>
                        </a:rPr>
                        <a:t>0.490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61595" marR="34290" algn="ctr"/>
                      <a:r>
                        <a:rPr sz="1000" spc="-45">
                          <a:latin typeface="Arial"/>
                          <a:cs typeface="Arial"/>
                        </a:rPr>
                        <a:t>0.980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9055" marR="36830" algn="ctr"/>
                      <a:r>
                        <a:rPr sz="1000" spc="-45">
                          <a:latin typeface="Arial"/>
                          <a:cs typeface="Arial"/>
                        </a:rPr>
                        <a:t>0.245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66675" marR="44450" algn="ctr"/>
                      <a:r>
                        <a:rPr sz="1000" spc="-45">
                          <a:latin typeface="Arial"/>
                          <a:cs typeface="Arial"/>
                        </a:rPr>
                        <a:t>0.490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</a:tr>
              <a:tr h="351155">
                <a:tc>
                  <a:txBody>
                    <a:bodyPr/>
                    <a:p>
                      <a:pPr marL="84455" marR="74930" algn="ctr"/>
                      <a:r>
                        <a:rPr sz="1000" spc="-65">
                          <a:latin typeface="Arial"/>
                          <a:cs typeface="Arial"/>
                        </a:rPr>
                        <a:t>4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67945" marR="52705" algn="r"/>
                      <a:r>
                        <a:rPr sz="1000" spc="-45">
                          <a:latin typeface="Arial"/>
                          <a:cs typeface="Arial"/>
                        </a:rPr>
                        <a:t>0.028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6515" marR="49530" algn="ctr"/>
                      <a:r>
                        <a:rPr sz="1000" spc="-50">
                          <a:latin typeface="Arial"/>
                          <a:cs typeface="Arial"/>
                        </a:rPr>
                        <a:t>0.057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0800" marR="45720" algn="ctr"/>
                      <a:r>
                        <a:rPr sz="1000" spc="-45">
                          <a:latin typeface="Arial"/>
                          <a:cs typeface="Arial"/>
                        </a:rPr>
                        <a:t>0.007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3975" marR="51435" algn="ctr"/>
                      <a:r>
                        <a:rPr sz="1000" spc="-45">
                          <a:latin typeface="Arial"/>
                          <a:cs typeface="Arial"/>
                        </a:rPr>
                        <a:t>0.014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48260" marR="41910" algn="ctr"/>
                      <a:r>
                        <a:rPr sz="1000" spc="-45">
                          <a:latin typeface="Arial"/>
                          <a:cs typeface="Arial"/>
                        </a:rPr>
                        <a:t>0.113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5245" marR="46990" algn="ctr"/>
                      <a:r>
                        <a:rPr sz="1000" spc="-45">
                          <a:latin typeface="Arial"/>
                          <a:cs typeface="Arial"/>
                        </a:rPr>
                        <a:t>0.226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5880" marR="40005" algn="ctr"/>
                      <a:r>
                        <a:rPr sz="1000" spc="-45">
                          <a:latin typeface="Arial"/>
                          <a:cs typeface="Arial"/>
                        </a:rPr>
                        <a:t>0.226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3975" marR="45085" algn="ctr"/>
                      <a:r>
                        <a:rPr sz="1000" spc="-45">
                          <a:latin typeface="Arial"/>
                          <a:cs typeface="Arial"/>
                        </a:rPr>
                        <a:t>0.453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4610" marR="41275" algn="ctr"/>
                      <a:r>
                        <a:rPr sz="1000" spc="-45">
                          <a:latin typeface="Arial"/>
                          <a:cs typeface="Arial"/>
                        </a:rPr>
                        <a:t>0.226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9055" marR="45720" algn="ctr"/>
                      <a:r>
                        <a:rPr sz="1000" spc="-45">
                          <a:latin typeface="Arial"/>
                          <a:cs typeface="Arial"/>
                        </a:rPr>
                        <a:t>0.905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3975" marR="38735" algn="ctr"/>
                      <a:r>
                        <a:rPr sz="1000" spc="-45">
                          <a:latin typeface="Arial"/>
                          <a:cs typeface="Arial"/>
                        </a:rPr>
                        <a:t>0.113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61595" marR="34290" algn="ctr"/>
                      <a:r>
                        <a:rPr sz="1000" spc="-45">
                          <a:latin typeface="Arial"/>
                          <a:cs typeface="Arial"/>
                        </a:rPr>
                        <a:t>0.226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9055" marR="36830" algn="ctr"/>
                      <a:r>
                        <a:rPr sz="1000" spc="-45">
                          <a:latin typeface="Arial"/>
                          <a:cs typeface="Arial"/>
                        </a:rPr>
                        <a:t>0.057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66675" marR="44450" algn="ctr"/>
                      <a:r>
                        <a:rPr sz="1000" spc="-45">
                          <a:latin typeface="Arial"/>
                          <a:cs typeface="Arial"/>
                        </a:rPr>
                        <a:t>0.113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</a:tr>
              <a:tr h="354330">
                <a:tc>
                  <a:txBody>
                    <a:bodyPr/>
                    <a:p>
                      <a:pPr marL="84455" marR="74930" algn="ctr"/>
                      <a:r>
                        <a:rPr sz="1000" spc="-65">
                          <a:latin typeface="Arial"/>
                          <a:cs typeface="Arial"/>
                        </a:rPr>
                        <a:t>5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67945" marR="52705" algn="r"/>
                      <a:r>
                        <a:rPr sz="1000" spc="-45">
                          <a:latin typeface="Arial"/>
                          <a:cs typeface="Arial"/>
                        </a:rPr>
                        <a:t>1.644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6515" marR="49530" algn="ctr"/>
                      <a:r>
                        <a:rPr sz="1000" spc="-50">
                          <a:latin typeface="Arial"/>
                          <a:cs typeface="Arial"/>
                        </a:rPr>
                        <a:t>1.644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0800" marR="45720" algn="ctr"/>
                      <a:r>
                        <a:rPr sz="1000" spc="-45">
                          <a:latin typeface="Arial"/>
                          <a:cs typeface="Arial"/>
                        </a:rPr>
                        <a:t>0.822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3975" marR="51435" algn="ctr"/>
                      <a:r>
                        <a:rPr sz="1000" spc="-45">
                          <a:latin typeface="Arial"/>
                          <a:cs typeface="Arial"/>
                        </a:rPr>
                        <a:t>1.644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48260" marR="41910" algn="ctr"/>
                      <a:r>
                        <a:rPr sz="1000" spc="-45">
                          <a:latin typeface="Arial"/>
                          <a:cs typeface="Arial"/>
                        </a:rPr>
                        <a:t>1.644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5245" marR="46990" algn="ctr"/>
                      <a:r>
                        <a:rPr sz="1000" spc="-45">
                          <a:latin typeface="Arial"/>
                          <a:cs typeface="Arial"/>
                        </a:rPr>
                        <a:t>1.644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5880" marR="40005" algn="ctr"/>
                      <a:r>
                        <a:rPr sz="1000" spc="-45">
                          <a:latin typeface="Arial"/>
                          <a:cs typeface="Arial"/>
                        </a:rPr>
                        <a:t>1.644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3975" marR="45085" algn="ctr"/>
                      <a:r>
                        <a:rPr sz="1000" spc="-45">
                          <a:latin typeface="Arial"/>
                          <a:cs typeface="Arial"/>
                        </a:rPr>
                        <a:t>1.644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4610" marR="41275" algn="ctr"/>
                      <a:r>
                        <a:rPr sz="1000" spc="-45">
                          <a:latin typeface="Arial"/>
                          <a:cs typeface="Arial"/>
                        </a:rPr>
                        <a:t>1.644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9055" marR="45720" algn="ctr"/>
                      <a:r>
                        <a:rPr sz="1000" spc="-45">
                          <a:latin typeface="Arial"/>
                          <a:cs typeface="Arial"/>
                        </a:rPr>
                        <a:t>1.644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3975" marR="38735" algn="ctr"/>
                      <a:r>
                        <a:rPr sz="1000" spc="-45">
                          <a:latin typeface="Arial"/>
                          <a:cs typeface="Arial"/>
                        </a:rPr>
                        <a:t>0.822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61595" marR="34290" algn="ctr"/>
                      <a:r>
                        <a:rPr sz="1000" spc="-45">
                          <a:latin typeface="Arial"/>
                          <a:cs typeface="Arial"/>
                        </a:rPr>
                        <a:t>1.644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9055" marR="36830" algn="ctr"/>
                      <a:r>
                        <a:rPr sz="1000" spc="-45">
                          <a:latin typeface="Arial"/>
                          <a:cs typeface="Arial"/>
                        </a:rPr>
                        <a:t>0.822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66675" marR="44450" algn="ctr"/>
                      <a:r>
                        <a:rPr sz="1000" spc="-45">
                          <a:latin typeface="Arial"/>
                          <a:cs typeface="Arial"/>
                        </a:rPr>
                        <a:t>1.644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</a:tr>
              <a:tr h="354330">
                <a:tc>
                  <a:txBody>
                    <a:bodyPr/>
                    <a:p>
                      <a:pPr marL="84455" marR="74930" algn="ctr"/>
                      <a:r>
                        <a:rPr sz="1000" spc="-65">
                          <a:latin typeface="Arial"/>
                          <a:cs typeface="Arial"/>
                        </a:rPr>
                        <a:t>6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67945" marR="52705" algn="r"/>
                      <a:r>
                        <a:rPr sz="1000" spc="-45">
                          <a:latin typeface="Arial"/>
                          <a:cs typeface="Arial"/>
                        </a:rPr>
                        <a:t>0.496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6515" marR="49530" algn="ctr"/>
                      <a:r>
                        <a:rPr sz="1000" spc="-50">
                          <a:latin typeface="Arial"/>
                          <a:cs typeface="Arial"/>
                        </a:rPr>
                        <a:t>0.992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0800" marR="45720" algn="ctr"/>
                      <a:r>
                        <a:rPr sz="1000" spc="-45">
                          <a:latin typeface="Arial"/>
                          <a:cs typeface="Arial"/>
                        </a:rPr>
                        <a:t>0.248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3975" marR="51435" algn="ctr"/>
                      <a:r>
                        <a:rPr sz="1000" spc="-45">
                          <a:latin typeface="Arial"/>
                          <a:cs typeface="Arial"/>
                        </a:rPr>
                        <a:t>0.496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48260" marR="41910" algn="ctr"/>
                      <a:r>
                        <a:rPr sz="1000" spc="-45">
                          <a:latin typeface="Arial"/>
                          <a:cs typeface="Arial"/>
                        </a:rPr>
                        <a:t>0.992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5245" marR="46990" algn="ctr"/>
                      <a:r>
                        <a:rPr sz="1000" spc="-45">
                          <a:latin typeface="Arial"/>
                          <a:cs typeface="Arial"/>
                        </a:rPr>
                        <a:t>1.983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5880" marR="40005" algn="ctr"/>
                      <a:r>
                        <a:rPr sz="1000" spc="-45">
                          <a:latin typeface="Arial"/>
                          <a:cs typeface="Arial"/>
                        </a:rPr>
                        <a:t>1.983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3975" marR="45085" algn="ctr"/>
                      <a:r>
                        <a:rPr sz="1000" spc="-45">
                          <a:latin typeface="Arial"/>
                          <a:cs typeface="Arial"/>
                        </a:rPr>
                        <a:t>1.983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4610" marR="41275" algn="ctr"/>
                      <a:r>
                        <a:rPr sz="1000" spc="-45">
                          <a:latin typeface="Arial"/>
                          <a:cs typeface="Arial"/>
                        </a:rPr>
                        <a:t>1.983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9055" marR="45720" algn="ctr"/>
                      <a:r>
                        <a:rPr sz="1000" spc="-45">
                          <a:latin typeface="Arial"/>
                          <a:cs typeface="Arial"/>
                        </a:rPr>
                        <a:t>1.983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3975" marR="38735" algn="ctr"/>
                      <a:r>
                        <a:rPr sz="1000" spc="-45">
                          <a:latin typeface="Arial"/>
                          <a:cs typeface="Arial"/>
                        </a:rPr>
                        <a:t>0.496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61595" marR="34290" algn="ctr"/>
                      <a:r>
                        <a:rPr sz="1000" spc="-45">
                          <a:latin typeface="Arial"/>
                          <a:cs typeface="Arial"/>
                        </a:rPr>
                        <a:t>0.992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9055" marR="36830" algn="ctr"/>
                      <a:r>
                        <a:rPr sz="1000" spc="-45">
                          <a:latin typeface="Arial"/>
                          <a:cs typeface="Arial"/>
                        </a:rPr>
                        <a:t>0.248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66675" marR="44450" algn="ctr"/>
                      <a:r>
                        <a:rPr sz="1000" spc="-45">
                          <a:latin typeface="Arial"/>
                          <a:cs typeface="Arial"/>
                        </a:rPr>
                        <a:t>0.496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</a:tr>
              <a:tr h="351155">
                <a:tc>
                  <a:txBody>
                    <a:bodyPr/>
                    <a:p>
                      <a:pPr marL="84455" marR="74930" algn="ctr"/>
                      <a:r>
                        <a:rPr sz="1000" spc="-65">
                          <a:latin typeface="Arial"/>
                          <a:cs typeface="Arial"/>
                        </a:rPr>
                        <a:t>7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67945" marR="52705" algn="r"/>
                      <a:r>
                        <a:rPr sz="1000" spc="-45">
                          <a:latin typeface="Arial"/>
                          <a:cs typeface="Arial"/>
                        </a:rPr>
                        <a:t>0.131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6515" marR="49530" algn="ctr"/>
                      <a:r>
                        <a:rPr sz="1000" spc="-50">
                          <a:latin typeface="Arial"/>
                          <a:cs typeface="Arial"/>
                        </a:rPr>
                        <a:t>0.263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0800" marR="45720" algn="ctr"/>
                      <a:r>
                        <a:rPr sz="1000" spc="-45">
                          <a:latin typeface="Arial"/>
                          <a:cs typeface="Arial"/>
                        </a:rPr>
                        <a:t>0.066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3975" marR="51435" algn="ctr"/>
                      <a:r>
                        <a:rPr sz="1000" spc="-45">
                          <a:latin typeface="Arial"/>
                          <a:cs typeface="Arial"/>
                        </a:rPr>
                        <a:t>0.131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48260" marR="41910" algn="ctr"/>
                      <a:r>
                        <a:rPr sz="1000" spc="-45">
                          <a:latin typeface="Arial"/>
                          <a:cs typeface="Arial"/>
                        </a:rPr>
                        <a:t>0.525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5245" marR="46990" algn="ctr"/>
                      <a:r>
                        <a:rPr sz="1000" spc="-45">
                          <a:latin typeface="Arial"/>
                          <a:cs typeface="Arial"/>
                        </a:rPr>
                        <a:t>1.050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5880" marR="40005" algn="ctr"/>
                      <a:r>
                        <a:rPr sz="1000" spc="-45">
                          <a:latin typeface="Arial"/>
                          <a:cs typeface="Arial"/>
                        </a:rPr>
                        <a:t>0.525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3975" marR="45085" algn="ctr"/>
                      <a:r>
                        <a:rPr sz="1000" spc="-45">
                          <a:latin typeface="Arial"/>
                          <a:cs typeface="Arial"/>
                        </a:rPr>
                        <a:t>2.100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4610" marR="41275" algn="ctr"/>
                      <a:r>
                        <a:rPr sz="1000" spc="-45">
                          <a:latin typeface="Arial"/>
                          <a:cs typeface="Arial"/>
                        </a:rPr>
                        <a:t>0.525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9055" marR="45720" algn="ctr"/>
                      <a:r>
                        <a:rPr sz="1000" spc="-45">
                          <a:latin typeface="Arial"/>
                          <a:cs typeface="Arial"/>
                        </a:rPr>
                        <a:t>2.100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3975" marR="38735" algn="ctr"/>
                      <a:r>
                        <a:rPr sz="1000" spc="-45">
                          <a:latin typeface="Arial"/>
                          <a:cs typeface="Arial"/>
                        </a:rPr>
                        <a:t>0.253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61595" marR="34290" algn="ctr"/>
                      <a:r>
                        <a:rPr sz="1000" spc="-45">
                          <a:latin typeface="Arial"/>
                          <a:cs typeface="Arial"/>
                        </a:rPr>
                        <a:t>0.525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9055" marR="36830" algn="ctr"/>
                      <a:r>
                        <a:rPr sz="1000" spc="-45">
                          <a:latin typeface="Arial"/>
                          <a:cs typeface="Arial"/>
                        </a:rPr>
                        <a:t>0.263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188595" marR="166370">
                        <a:spcBef>
                          <a:spcPts val="100"/>
                        </a:spcBef>
                      </a:pPr>
                      <a:r>
                        <a:rPr sz="1000" spc="-70">
                          <a:latin typeface="Arial"/>
                          <a:cs typeface="Arial"/>
                        </a:rPr>
                        <a:t>ґ</a:t>
                      </a:r>
                      <a:endParaRPr/>
                    </a:p>
                    <a:p>
                      <a:pPr marL="66675" marR="44450">
                        <a:lnSpc>
                          <a:spcPts val="1215"/>
                        </a:lnSpc>
                      </a:pPr>
                      <a:r>
                        <a:rPr sz="1000" spc="-45">
                          <a:latin typeface="Arial"/>
                          <a:cs typeface="Arial"/>
                        </a:rPr>
                        <a:t>0.525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</a:tr>
              <a:tr h="354330">
                <a:tc>
                  <a:txBody>
                    <a:bodyPr/>
                    <a:p>
                      <a:pPr marL="84455" marR="74930" algn="ctr"/>
                      <a:r>
                        <a:rPr sz="1000" spc="-65">
                          <a:latin typeface="Arial"/>
                          <a:cs typeface="Arial"/>
                        </a:rPr>
                        <a:t>8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67945" marR="52705" algn="r"/>
                      <a:r>
                        <a:rPr sz="1000" spc="-45">
                          <a:latin typeface="Arial"/>
                          <a:cs typeface="Arial"/>
                        </a:rPr>
                        <a:t>0.054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6515" marR="49530" algn="ctr"/>
                      <a:r>
                        <a:rPr sz="1000" spc="-50">
                          <a:latin typeface="Arial"/>
                          <a:cs typeface="Arial"/>
                        </a:rPr>
                        <a:t>0.108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0800" marR="45720" algn="ctr"/>
                      <a:r>
                        <a:rPr sz="1000" spc="-45">
                          <a:latin typeface="Arial"/>
                          <a:cs typeface="Arial"/>
                        </a:rPr>
                        <a:t>0.013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3975" marR="51435" algn="ctr"/>
                      <a:r>
                        <a:rPr sz="1000" spc="-45">
                          <a:latin typeface="Arial"/>
                          <a:cs typeface="Arial"/>
                        </a:rPr>
                        <a:t>0.027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48260" marR="41910" algn="ctr"/>
                      <a:r>
                        <a:rPr sz="1000" spc="-45">
                          <a:latin typeface="Arial"/>
                          <a:cs typeface="Arial"/>
                        </a:rPr>
                        <a:t>0.108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5245" marR="46990" algn="ctr"/>
                      <a:r>
                        <a:rPr sz="1000" spc="-45">
                          <a:latin typeface="Arial"/>
                          <a:cs typeface="Arial"/>
                        </a:rPr>
                        <a:t>0.215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5880" marR="40005" algn="ctr"/>
                      <a:r>
                        <a:rPr sz="1000" spc="-45">
                          <a:latin typeface="Arial"/>
                          <a:cs typeface="Arial"/>
                        </a:rPr>
                        <a:t>0.215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3975" marR="45085" algn="ctr"/>
                      <a:r>
                        <a:rPr sz="1000" spc="-45">
                          <a:latin typeface="Arial"/>
                          <a:cs typeface="Arial"/>
                        </a:rPr>
                        <a:t>0.862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4610" marR="41275" algn="ctr"/>
                      <a:r>
                        <a:rPr sz="1000" spc="-45">
                          <a:latin typeface="Arial"/>
                          <a:cs typeface="Arial"/>
                        </a:rPr>
                        <a:t>0.215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9055" marR="45720" algn="ctr"/>
                      <a:r>
                        <a:rPr sz="1000" spc="-45">
                          <a:latin typeface="Arial"/>
                          <a:cs typeface="Arial"/>
                        </a:rPr>
                        <a:t>0.862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3975" marR="38735" algn="ctr"/>
                      <a:r>
                        <a:rPr sz="1000" spc="-45">
                          <a:latin typeface="Arial"/>
                          <a:cs typeface="Arial"/>
                        </a:rPr>
                        <a:t>0.215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61595" marR="34290" algn="ctr"/>
                      <a:r>
                        <a:rPr sz="1000" spc="-45">
                          <a:latin typeface="Arial"/>
                          <a:cs typeface="Arial"/>
                        </a:rPr>
                        <a:t>0.431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9055" marR="36830" algn="ctr"/>
                      <a:r>
                        <a:rPr sz="1000" spc="-45">
                          <a:latin typeface="Arial"/>
                          <a:cs typeface="Arial"/>
                        </a:rPr>
                        <a:t>0.215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66675" marR="44450" algn="ctr"/>
                      <a:r>
                        <a:rPr sz="1000" spc="-45">
                          <a:latin typeface="Arial"/>
                          <a:cs typeface="Arial"/>
                        </a:rPr>
                        <a:t>0.431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</a:tr>
              <a:tr h="354330">
                <a:tc>
                  <a:txBody>
                    <a:bodyPr/>
                    <a:p>
                      <a:pPr marL="84455" marR="74930" algn="ctr"/>
                      <a:r>
                        <a:rPr sz="1000" spc="-65">
                          <a:latin typeface="Arial"/>
                          <a:cs typeface="Arial"/>
                        </a:rPr>
                        <a:t>9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67945" marR="52705" algn="r"/>
                      <a:r>
                        <a:rPr sz="1000" spc="-45">
                          <a:latin typeface="Arial"/>
                          <a:cs typeface="Arial"/>
                        </a:rPr>
                        <a:t>0.126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6515" marR="49530" algn="ctr"/>
                      <a:r>
                        <a:rPr sz="1000" spc="-50">
                          <a:latin typeface="Arial"/>
                          <a:cs typeface="Arial"/>
                        </a:rPr>
                        <a:t>0.252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0800" marR="45720" algn="ctr"/>
                      <a:r>
                        <a:rPr sz="1000" spc="-45">
                          <a:latin typeface="Arial"/>
                          <a:cs typeface="Arial"/>
                        </a:rPr>
                        <a:t>0.063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3975" marR="51435" algn="ctr"/>
                      <a:r>
                        <a:rPr sz="1000" spc="-45">
                          <a:latin typeface="Arial"/>
                          <a:cs typeface="Arial"/>
                        </a:rPr>
                        <a:t>0.126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48260" marR="41910" algn="ctr"/>
                      <a:r>
                        <a:rPr sz="1000" spc="-45">
                          <a:latin typeface="Arial"/>
                          <a:cs typeface="Arial"/>
                        </a:rPr>
                        <a:t>0.504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5245" marR="46990" algn="ctr"/>
                      <a:r>
                        <a:rPr sz="1000" spc="-45">
                          <a:latin typeface="Arial"/>
                          <a:cs typeface="Arial"/>
                        </a:rPr>
                        <a:t>500,0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5880" marR="40005" algn="ctr"/>
                      <a:r>
                        <a:rPr sz="1000" spc="-45">
                          <a:latin typeface="Arial"/>
                          <a:cs typeface="Arial"/>
                        </a:rPr>
                        <a:t>0.504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3975" marR="45085" algn="ctr"/>
                      <a:r>
                        <a:rPr sz="1000" spc="-45">
                          <a:latin typeface="Arial"/>
                          <a:cs typeface="Arial"/>
                        </a:rPr>
                        <a:t>1.008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4610" marR="41275" algn="ctr"/>
                      <a:r>
                        <a:rPr sz="1000" spc="-45">
                          <a:latin typeface="Arial"/>
                          <a:cs typeface="Arial"/>
                        </a:rPr>
                        <a:t>0.504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9055" marR="45720" algn="ctr"/>
                      <a:r>
                        <a:rPr sz="1000" spc="-45">
                          <a:latin typeface="Arial"/>
                          <a:cs typeface="Arial"/>
                        </a:rPr>
                        <a:t>1.008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3975" marR="38735" algn="ctr"/>
                      <a:r>
                        <a:rPr sz="1000" spc="-45">
                          <a:latin typeface="Arial"/>
                          <a:cs typeface="Arial"/>
                        </a:rPr>
                        <a:t>0.252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61595" marR="34290" algn="ctr"/>
                      <a:r>
                        <a:rPr sz="1000" spc="-45">
                          <a:latin typeface="Arial"/>
                          <a:cs typeface="Arial"/>
                        </a:rPr>
                        <a:t>0.504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9055" marR="36830" algn="ctr"/>
                      <a:r>
                        <a:rPr sz="1000" spc="-45">
                          <a:latin typeface="Arial"/>
                          <a:cs typeface="Arial"/>
                        </a:rPr>
                        <a:t>0.252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66675" marR="44450" algn="ctr"/>
                      <a:r>
                        <a:rPr sz="1000" spc="-45">
                          <a:latin typeface="Arial"/>
                          <a:cs typeface="Arial"/>
                        </a:rPr>
                        <a:t>0.504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</a:tr>
              <a:tr h="351155">
                <a:tc>
                  <a:txBody>
                    <a:bodyPr/>
                    <a:p>
                      <a:pPr marL="53975" marR="41275" algn="ctr"/>
                      <a:r>
                        <a:rPr sz="1000" spc="-55">
                          <a:latin typeface="Arial"/>
                          <a:cs typeface="Arial"/>
                        </a:rPr>
                        <a:t>10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67945" marR="52705" algn="r"/>
                      <a:r>
                        <a:rPr sz="1000" spc="-45">
                          <a:latin typeface="Arial"/>
                          <a:cs typeface="Arial"/>
                        </a:rPr>
                        <a:t>0.221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6515" marR="49530" algn="ctr"/>
                      <a:r>
                        <a:rPr sz="1000" spc="-50">
                          <a:latin typeface="Arial"/>
                          <a:cs typeface="Arial"/>
                        </a:rPr>
                        <a:t>0.442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0800" marR="45720" algn="ctr"/>
                      <a:r>
                        <a:rPr sz="1000" spc="-45">
                          <a:latin typeface="Arial"/>
                          <a:cs typeface="Arial"/>
                        </a:rPr>
                        <a:t>0.110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3975" marR="51435" algn="ctr"/>
                      <a:r>
                        <a:rPr sz="1000" spc="-45">
                          <a:latin typeface="Arial"/>
                          <a:cs typeface="Arial"/>
                        </a:rPr>
                        <a:t>0.221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48260" marR="41910" algn="ctr"/>
                      <a:r>
                        <a:rPr sz="1000" spc="-45">
                          <a:latin typeface="Arial"/>
                          <a:cs typeface="Arial"/>
                        </a:rPr>
                        <a:t>0.883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5245" marR="46990" algn="ctr"/>
                      <a:r>
                        <a:rPr sz="1000" spc="-45">
                          <a:latin typeface="Arial"/>
                          <a:cs typeface="Arial"/>
                        </a:rPr>
                        <a:t>1.766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5880" marR="40005" algn="ctr"/>
                      <a:r>
                        <a:rPr sz="1000" spc="-45">
                          <a:latin typeface="Arial"/>
                          <a:cs typeface="Arial"/>
                        </a:rPr>
                        <a:t>1.766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3975" marR="45085" algn="ctr"/>
                      <a:r>
                        <a:rPr sz="1000" spc="-45">
                          <a:latin typeface="Arial"/>
                          <a:cs typeface="Arial"/>
                        </a:rPr>
                        <a:t>1.766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4610" marR="41275" algn="ctr"/>
                      <a:r>
                        <a:rPr sz="1000" spc="-45">
                          <a:latin typeface="Arial"/>
                          <a:cs typeface="Arial"/>
                        </a:rPr>
                        <a:t>1.766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9055" marR="45720" algn="ctr"/>
                      <a:r>
                        <a:rPr sz="1000" spc="-45">
                          <a:latin typeface="Arial"/>
                          <a:cs typeface="Arial"/>
                        </a:rPr>
                        <a:t>1.766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3975" marR="38735" algn="ctr"/>
                      <a:r>
                        <a:rPr sz="1000" spc="-45">
                          <a:latin typeface="Arial"/>
                          <a:cs typeface="Arial"/>
                        </a:rPr>
                        <a:t>0.442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61595" marR="34290" algn="ctr"/>
                      <a:r>
                        <a:rPr sz="1000" spc="-45">
                          <a:latin typeface="Arial"/>
                          <a:cs typeface="Arial"/>
                        </a:rPr>
                        <a:t>0.883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9055" marR="36830" algn="ctr"/>
                      <a:r>
                        <a:rPr sz="1000" spc="-45">
                          <a:latin typeface="Arial"/>
                          <a:cs typeface="Arial"/>
                        </a:rPr>
                        <a:t>0.442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66675" marR="44450" algn="ctr"/>
                      <a:r>
                        <a:rPr sz="1000" spc="-45">
                          <a:latin typeface="Arial"/>
                          <a:cs typeface="Arial"/>
                        </a:rPr>
                        <a:t>0.883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shape 2"/>
          <p:cNvGraphicFramePr>
            <a:graphicFrameLocks noGrp="1"/>
          </p:cNvGraphicFramePr>
          <p:nvPr/>
        </p:nvGraphicFramePr>
        <p:xfrm>
          <a:off x="850960" y="655123"/>
          <a:ext cx="6038164" cy="722621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19480"/>
                <a:gridCol w="353060"/>
                <a:gridCol w="1118235"/>
                <a:gridCol w="628650"/>
                <a:gridCol w="843915"/>
                <a:gridCol w="666750"/>
                <a:gridCol w="1296035"/>
                <a:gridCol w="212090"/>
              </a:tblGrid>
              <a:tr h="220345">
                <a:tc gridSpan="4">
                  <a:txBody>
                    <a:bodyPr/>
                    <a:p>
                      <a:pPr marL="46355" marR="90805">
                        <a:lnSpc>
                          <a:spcPct val="83334"/>
                        </a:lnSpc>
                      </a:pPr>
                      <a:r>
                        <a:rPr sz="1100" spc="25">
                          <a:latin typeface="Times New Roman"/>
                          <a:cs typeface="Times New Roman"/>
                        </a:rPr>
                        <a:t>êóëüòóð </a:t>
                      </a:r>
                      <a:r>
                        <a:rPr sz="1000">
                          <a:latin typeface="Arial"/>
                          <a:cs typeface="Arial"/>
                        </a:rPr>
                        <a:t>β</a:t>
                      </a:r>
                      <a:r>
                        <a:rPr sz="1100" spc="15">
                          <a:latin typeface="Times New Roman"/>
                          <a:cs typeface="Times New Roman"/>
                        </a:rPr>
                        <a:t>-ãåìîë³òè÷íîãî ñòðåïòîêîêà òà ñòàô³-</a:t>
                      </a:r>
                      <a:endParaRPr/>
                    </a:p>
                  </a:txBody>
                  <a:tcPr anchor="b" marL="0" marR="0" marT="0" marB="0">
                    <a:lnL/>
                    <a:lnR/>
                    <a:lnT w="6350" cmpd="sng">
                      <a:solidFill>
                        <a:srgbClr val="000000"/>
                      </a:solidFill>
                    </a:lnT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4">
                  <a:txBody>
                    <a:bodyPr/>
                    <a:p>
                      <a:pPr marL="266700" marR="46990" algn="ctr">
                        <a:lnSpc>
                          <a:spcPct val="83333"/>
                        </a:lnSpc>
                        <a:tabLst>
                          <a:tab pos="1261745" algn="l"/>
                          <a:tab pos="2027555" algn="l"/>
                        </a:tabLst>
                      </a:pPr>
                      <a:r>
                        <a:rPr sz="1100" spc="25">
                          <a:latin typeface="Times New Roman"/>
                          <a:cs typeface="Times New Roman"/>
                        </a:rPr>
                        <a:t>Àíòèì³êðîáíà</a:t>
                      </a:r>
                      <a:r>
                        <a:rPr sz="1100" spc="25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100" spc="25">
                          <a:latin typeface="Times New Roman"/>
                          <a:cs typeface="Times New Roman"/>
                        </a:rPr>
                        <a:t>àêòèâí³ñòü</a:t>
                      </a:r>
                      <a:r>
                        <a:rPr sz="1100" spc="25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100" spc="25">
                          <a:latin typeface="Times New Roman"/>
                          <a:cs typeface="Times New Roman"/>
                        </a:rPr>
                        <a:t>äîñë³äæóâàíèõ</a:t>
                      </a:r>
                      <a:endParaRPr/>
                    </a:p>
                  </a:txBody>
                  <a:tcPr anchor="b" marL="0" marR="0" marT="0" marB="0">
                    <a:lnL/>
                    <a:lnR/>
                    <a:lnT w="6350" cmpd="sng">
                      <a:solidFill>
                        <a:srgbClr val="000000"/>
                      </a:solidFill>
                    </a:lnT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67640">
                <a:tc gridSpan="4">
                  <a:txBody>
                    <a:bodyPr/>
                    <a:p>
                      <a:pPr marL="46355" marR="90170">
                        <a:lnSpc>
                          <a:spcPct val="91666"/>
                        </a:lnSpc>
                      </a:pPr>
                      <a:r>
                        <a:rPr sz="1100" spc="-10">
                          <a:latin typeface="Times New Roman"/>
                          <a:cs typeface="Times New Roman"/>
                        </a:rPr>
                        <a:t>ëîêîêà êîíöåíòðàö³¿ ñïîëóê çíàõîäèëèñÿ â ìåæàõ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4">
                  <a:txBody>
                    <a:bodyPr/>
                    <a:p>
                      <a:pPr marL="86995" marR="46355" algn="ctr">
                        <a:lnSpc>
                          <a:spcPct val="91666"/>
                        </a:lnSpc>
                      </a:pPr>
                      <a:r>
                        <a:rPr sz="1100" spc="25">
                          <a:latin typeface="Times New Roman"/>
                          <a:cs typeface="Times New Roman"/>
                        </a:rPr>
                        <a:t>ñïîëóê</a:t>
                      </a:r>
                      <a:r>
                        <a:rPr sz="1100" spc="1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25">
                          <a:latin typeface="Times New Roman"/>
                          <a:cs typeface="Times New Roman"/>
                        </a:rPr>
                        <a:t>ð³çíà</a:t>
                      </a:r>
                      <a:r>
                        <a:rPr sz="1100" spc="1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25">
                          <a:latin typeface="Times New Roman"/>
                          <a:cs typeface="Times New Roman"/>
                        </a:rPr>
                        <a:t>³</a:t>
                      </a:r>
                      <a:r>
                        <a:rPr sz="1100" spc="1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25">
                          <a:latin typeface="Times New Roman"/>
                          <a:cs typeface="Times New Roman"/>
                        </a:rPr>
                        <a:t>çàëåæèòü</a:t>
                      </a:r>
                      <a:r>
                        <a:rPr sz="1100" spc="1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25">
                          <a:latin typeface="Times New Roman"/>
                          <a:cs typeface="Times New Roman"/>
                        </a:rPr>
                        <a:t>â³ä</a:t>
                      </a:r>
                      <a:r>
                        <a:rPr sz="1100" spc="1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25">
                          <a:latin typeface="Times New Roman"/>
                          <a:cs typeface="Times New Roman"/>
                        </a:rPr>
                        <a:t>õ³ì³÷íî¿</a:t>
                      </a:r>
                      <a:r>
                        <a:rPr sz="1100" spc="1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25">
                          <a:latin typeface="Times New Roman"/>
                          <a:cs typeface="Times New Roman"/>
                        </a:rPr>
                        <a:t>áóäîâè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67640">
                <a:tc gridSpan="4">
                  <a:txBody>
                    <a:bodyPr/>
                    <a:p>
                      <a:pPr marL="46355" marR="92075">
                        <a:lnSpc>
                          <a:spcPct val="91666"/>
                        </a:lnSpc>
                      </a:pPr>
                      <a:r>
                        <a:rPr sz="1100">
                          <a:latin typeface="Times New Roman"/>
                          <a:cs typeface="Times New Roman"/>
                        </a:rPr>
                        <a:t>0.007-0.014 ììîëü/ë. Êóëüòóðà äð³æäæîïîä³áíèõ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4">
                  <a:txBody>
                    <a:bodyPr/>
                    <a:p>
                      <a:pPr marL="86995" marR="48895" algn="ctr">
                        <a:lnSpc>
                          <a:spcPct val="91666"/>
                        </a:lnSpc>
                      </a:pPr>
                      <a:r>
                        <a:rPr sz="1100" spc="10">
                          <a:latin typeface="Times New Roman"/>
                          <a:cs typeface="Times New Roman"/>
                        </a:rPr>
                        <a:t>ðå÷îâèí. Ñòðóêòóðè äîñë³äæóâàíèõ ïðåïàðàò³â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67640">
                <a:tc gridSpan="4">
                  <a:txBody>
                    <a:bodyPr/>
                    <a:p>
                      <a:pPr marL="46355" marR="92075">
                        <a:lnSpc>
                          <a:spcPct val="91665"/>
                        </a:lnSpc>
                      </a:pPr>
                      <a:r>
                        <a:rPr sz="1100">
                          <a:latin typeface="Times New Roman"/>
                          <a:cs typeface="Times New Roman"/>
                        </a:rPr>
                        <a:t>ãðèá³â ðîäó Candida ïðîÿâëÿëà äåùî ìåíøó ÷óò-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p>
                      <a:pPr marL="86995" marR="223520" algn="ctr">
                        <a:lnSpc>
                          <a:spcPct val="91665"/>
                        </a:lnSpc>
                      </a:pPr>
                      <a:r>
                        <a:rPr sz="1100" spc="-10">
                          <a:latin typeface="Times New Roman"/>
                          <a:cs typeface="Times New Roman"/>
                        </a:rPr>
                        <a:t>â³äð³çíÿþòüñÿ ëèøå: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67640">
                <a:tc gridSpan="4">
                  <a:txBody>
                    <a:bodyPr/>
                    <a:p>
                      <a:pPr marL="46355" marR="90805">
                        <a:lnSpc>
                          <a:spcPct val="91667"/>
                        </a:lnSpc>
                      </a:pPr>
                      <a:r>
                        <a:rPr sz="1100">
                          <a:latin typeface="Times New Roman"/>
                          <a:cs typeface="Times New Roman"/>
                        </a:rPr>
                        <a:t>ëèâ³ñòü äî ä³¿ äîñë³äæóâàíèõ ïîõ³äíèõ ï³ðàçîëó.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4">
                  <a:txBody>
                    <a:bodyPr/>
                    <a:p>
                      <a:pPr marL="422910" marR="48895" indent="-155575" algn="ctr">
                        <a:lnSpc>
                          <a:spcPct val="91667"/>
                        </a:lnSpc>
                        <a:buSzPts val="1100"/>
                        <a:buFont typeface="Times New Roman"/>
                        <a:buAutoNum type="arabicParenR"/>
                      </a:pPr>
                      <a:r>
                        <a:rPr sz="1100">
                          <a:latin typeface="Times New Roman"/>
                          <a:cs typeface="Times New Roman"/>
                        </a:rPr>
                        <a:t>äîâæèíîþ àëêîêñèàöåòèëüíîãî ôðàãìåíòà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67640">
                <a:tc gridSpan="4">
                  <a:txBody>
                    <a:bodyPr/>
                    <a:p>
                      <a:pPr marL="46355" marR="94615">
                        <a:lnSpc>
                          <a:spcPct val="91666"/>
                        </a:lnSpc>
                      </a:pPr>
                      <a:r>
                        <a:rPr sz="1100" spc="-25">
                          <a:latin typeface="Times New Roman"/>
                          <a:cs typeface="Times New Roman"/>
                        </a:rPr>
                        <a:t>Ì³í³ìàëüí³ ôàíã³ñòàòè÷í³ </a:t>
                      </a:r>
                      <a:r>
                        <a:rPr sz="1100" spc="-20">
                          <a:latin typeface="Times New Roman"/>
                          <a:cs typeface="Times New Roman"/>
                        </a:rPr>
                        <a:t>êîíöåíòðàö³¿ ïðåïàðàò³â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p>
                      <a:pPr marL="86995" marR="25400" algn="ctr">
                        <a:lnSpc>
                          <a:spcPct val="91666"/>
                        </a:lnSpc>
                      </a:pPr>
                      <a:r>
                        <a:rPr sz="1100" spc="-15">
                          <a:latin typeface="Times New Roman"/>
                          <a:cs typeface="Times New Roman"/>
                        </a:rPr>
                        <a:t>á³ëÿ àìîí³éíîãî öåíòðó;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67640">
                <a:tc gridSpan="3">
                  <a:txBody>
                    <a:bodyPr/>
                    <a:p>
                      <a:pPr marL="46355" marR="403225" algn="ctr">
                        <a:lnSpc>
                          <a:spcPct val="91666"/>
                        </a:lnSpc>
                      </a:pPr>
                      <a:r>
                        <a:rPr sz="1100" spc="-5">
                          <a:latin typeface="Times New Roman"/>
                          <a:cs typeface="Times New Roman"/>
                        </a:rPr>
                        <a:t>â³äïîâ³äàëè 0.054-0.992 ììîëü/ë.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/>
                    <a:lnR/>
                    <a:lnT/>
                    <a:lnB/>
                  </a:tcPr>
                </a:tc>
                <a:tc gridSpan="4">
                  <a:txBody>
                    <a:bodyPr/>
                    <a:p>
                      <a:pPr marL="422910" marR="50800" indent="-155575" algn="ctr">
                        <a:lnSpc>
                          <a:spcPct val="91666"/>
                        </a:lnSpc>
                        <a:buSzPts val="1100"/>
                        <a:buFont typeface="Times New Roman"/>
                        <a:buAutoNum startAt="2" type="arabicParenR"/>
                      </a:pPr>
                      <a:r>
                        <a:rPr sz="1100" spc="-5">
                          <a:latin typeface="Times New Roman"/>
                          <a:cs typeface="Times New Roman"/>
                        </a:rPr>
                        <a:t>ïðèðîäîþ ðàäèêàëà â 1-ìó ïîëîæåíí³ ï³ðà-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67640">
                <a:tc gridSpan="4">
                  <a:txBody>
                    <a:bodyPr/>
                    <a:p>
                      <a:pPr marL="226060" marR="93345">
                        <a:lnSpc>
                          <a:spcPct val="91665"/>
                        </a:lnSpc>
                      </a:pPr>
                      <a:r>
                        <a:rPr sz="1100" spc="-10">
                          <a:latin typeface="Times New Roman"/>
                          <a:cs typeface="Times New Roman"/>
                        </a:rPr>
                        <a:t>Ñë³ä â³äì³òèòè ÷óòëèâ³ñòü âåãåòàòèâíî¿ ôîðìè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p>
                      <a:pPr marL="86995" marR="433705" algn="ctr">
                        <a:lnSpc>
                          <a:spcPct val="91665"/>
                        </a:lnSpc>
                      </a:pPr>
                      <a:r>
                        <a:rPr sz="1100" spc="-15">
                          <a:latin typeface="Times New Roman"/>
                          <a:cs typeface="Times New Roman"/>
                        </a:rPr>
                        <a:t>çîëüíîãî öåíòðó;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67640">
                <a:tc gridSpan="4">
                  <a:txBody>
                    <a:bodyPr/>
                    <a:p>
                      <a:pPr marL="46355" marR="88900">
                        <a:lnSpc>
                          <a:spcPct val="91667"/>
                        </a:lnSpc>
                      </a:pPr>
                      <a:r>
                        <a:rPr sz="1100" spc="-5">
                          <a:latin typeface="Times New Roman"/>
                          <a:cs typeface="Times New Roman"/>
                        </a:rPr>
                        <a:t>ñïîðîóòâîðþþ÷îã</a:t>
                      </a:r>
                      <a:r>
                        <a:rPr sz="1100">
                          <a:latin typeface="Times New Roman"/>
                          <a:cs typeface="Times New Roman"/>
                        </a:rPr>
                        <a:t>î òåñò-ì³êðîîðãàí³çìà - àíòðà-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4">
                  <a:txBody>
                    <a:bodyPr/>
                    <a:p>
                      <a:pPr marL="422910" marR="48260" indent="-155575" algn="ctr">
                        <a:lnSpc>
                          <a:spcPct val="91667"/>
                        </a:lnSpc>
                        <a:buSzPts val="1100"/>
                        <a:buFont typeface="Times New Roman"/>
                        <a:buAutoNum startAt="3" type="arabicParenR"/>
                      </a:pPr>
                      <a:r>
                        <a:rPr sz="1100" spc="15">
                          <a:latin typeface="Times New Roman"/>
                          <a:cs typeface="Times New Roman"/>
                        </a:rPr>
                        <a:t>äîâæèíîþ àëê³ëüíîãî ðàäèêàëà ì³æ àìî-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67640">
                <a:tc gridSpan="4">
                  <a:txBody>
                    <a:bodyPr/>
                    <a:p>
                      <a:pPr marL="46355" marR="93980">
                        <a:lnSpc>
                          <a:spcPct val="91666"/>
                        </a:lnSpc>
                      </a:pPr>
                      <a:r>
                        <a:rPr sz="1100" spc="-15">
                          <a:latin typeface="Times New Roman"/>
                          <a:cs typeface="Times New Roman"/>
                        </a:rPr>
                        <a:t>êî¿äíî¿ áàöèëè, äëÿ ÿêî¿ áàêòåð³îñòàòè÷íà ä³ÿ ïðå-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3">
                  <a:txBody>
                    <a:bodyPr/>
                    <a:p>
                      <a:pPr marL="86995" marR="413385" algn="r">
                        <a:lnSpc>
                          <a:spcPct val="91666"/>
                        </a:lnSpc>
                      </a:pPr>
                      <a:r>
                        <a:rPr sz="1100" spc="-5">
                          <a:latin typeface="Times New Roman"/>
                          <a:cs typeface="Times New Roman"/>
                        </a:rPr>
                        <a:t>í³éíèì òà óðå¿äíèì àòîìàìè í³òðîãåíó.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/>
                    <a:lnR/>
                    <a:lnT/>
                    <a:lnB/>
                  </a:tcPr>
                </a:tc>
              </a:tr>
              <a:tr h="167640">
                <a:tc gridSpan="4">
                  <a:txBody>
                    <a:bodyPr/>
                    <a:p>
                      <a:pPr marL="46355" marR="582930">
                        <a:lnSpc>
                          <a:spcPct val="91666"/>
                        </a:lnSpc>
                      </a:pPr>
                      <a:r>
                        <a:rPr sz="1100">
                          <a:latin typeface="Times New Roman"/>
                          <a:cs typeface="Times New Roman"/>
                        </a:rPr>
                        <a:t>ïàðàò³â íå ïåðåâèùóâàëà 0.992 ììîëü/ë.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4">
                  <a:txBody>
                    <a:bodyPr/>
                    <a:p>
                      <a:pPr marL="266700" marR="48260" algn="ctr">
                        <a:lnSpc>
                          <a:spcPct val="91666"/>
                        </a:lnSpc>
                      </a:pPr>
                      <a:r>
                        <a:rPr sz="1100" spc="20">
                          <a:latin typeface="Times New Roman"/>
                          <a:cs typeface="Times New Roman"/>
                        </a:rPr>
                        <a:t>Àíàë³ç çàëåæíîñò³ "ñòðóêòóðà - àêòèâí³ñòü"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67640">
                <a:tc gridSpan="4">
                  <a:txBody>
                    <a:bodyPr/>
                    <a:p>
                      <a:pPr marL="226060" marR="91440">
                        <a:lnSpc>
                          <a:spcPct val="91666"/>
                        </a:lnSpc>
                      </a:pPr>
                      <a:r>
                        <a:rPr sz="1100" spc="5">
                          <a:latin typeface="Times New Roman"/>
                          <a:cs typeface="Times New Roman"/>
                        </a:rPr>
                        <a:t>Çíà÷íî íèùó ³íã³áóþ÷ó àêòèâí³ñòü ïðîÿâèëè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4">
                  <a:txBody>
                    <a:bodyPr/>
                    <a:p>
                      <a:pPr marL="86995" marR="52705" algn="ctr">
                        <a:lnSpc>
                          <a:spcPct val="91666"/>
                        </a:lnSpc>
                      </a:pPr>
                      <a:r>
                        <a:rPr sz="1100" spc="-15">
                          <a:latin typeface="Times New Roman"/>
                          <a:cs typeface="Times New Roman"/>
                        </a:rPr>
                        <a:t>äîçâîëÿº çðîáèòè íàñòóïí³ âèñíîâêè. Íàéá³ëüøèé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67640">
                <a:tc>
                  <a:txBody>
                    <a:bodyPr/>
                    <a:p>
                      <a:pPr marL="46355" marR="38100">
                        <a:lnSpc>
                          <a:spcPct val="91666"/>
                        </a:lnSpc>
                      </a:pPr>
                      <a:r>
                        <a:rPr sz="1100" spc="25">
                          <a:latin typeface="Times New Roman"/>
                          <a:cs typeface="Times New Roman"/>
                        </a:rPr>
                        <a:t>äîñë³äæóâàí³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38735" marR="57785" algn="ctr">
                        <a:lnSpc>
                          <a:spcPct val="91666"/>
                        </a:lnSpc>
                      </a:pPr>
                      <a:r>
                        <a:rPr sz="1100" spc="25">
                          <a:latin typeface="Times New Roman"/>
                          <a:cs typeface="Times New Roman"/>
                        </a:rPr>
                        <a:t>ñîë³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gridSpan="2">
                  <a:txBody>
                    <a:bodyPr/>
                    <a:p>
                      <a:pPr marL="19685" marR="88265">
                        <a:lnSpc>
                          <a:spcPct val="91666"/>
                        </a:lnSpc>
                      </a:pPr>
                      <a:r>
                        <a:rPr sz="1100" spc="25">
                          <a:latin typeface="Times New Roman"/>
                          <a:cs typeface="Times New Roman"/>
                        </a:rPr>
                        <a:t>â³äíîñíî  ãðàìíåãàòèâíèõ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4">
                  <a:txBody>
                    <a:bodyPr/>
                    <a:p>
                      <a:pPr marL="86995" marR="48260" algn="ctr">
                        <a:lnSpc>
                          <a:spcPct val="91666"/>
                        </a:lnSpc>
                      </a:pPr>
                      <a:r>
                        <a:rPr sz="1100" spc="25">
                          <a:latin typeface="Times New Roman"/>
                          <a:cs typeface="Times New Roman"/>
                        </a:rPr>
                        <a:t>âïëèâ</a:t>
                      </a:r>
                      <a:r>
                        <a:rPr sz="1100" spc="2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25">
                          <a:latin typeface="Times New Roman"/>
                          <a:cs typeface="Times New Roman"/>
                        </a:rPr>
                        <a:t>íà</a:t>
                      </a:r>
                      <a:r>
                        <a:rPr sz="1100" spc="2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25">
                          <a:latin typeface="Times New Roman"/>
                          <a:cs typeface="Times New Roman"/>
                        </a:rPr>
                        <a:t>àêòèâí³ñòü</a:t>
                      </a:r>
                      <a:r>
                        <a:rPr sz="1100" spc="2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25">
                          <a:latin typeface="Times New Roman"/>
                          <a:cs typeface="Times New Roman"/>
                        </a:rPr>
                        <a:t>ìàº</a:t>
                      </a:r>
                      <a:r>
                        <a:rPr sz="1100" spc="2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25">
                          <a:latin typeface="Times New Roman"/>
                          <a:cs typeface="Times New Roman"/>
                        </a:rPr>
                        <a:t>äîâæèíà</a:t>
                      </a:r>
                      <a:r>
                        <a:rPr sz="1100" spc="2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25">
                          <a:latin typeface="Times New Roman"/>
                          <a:cs typeface="Times New Roman"/>
                        </a:rPr>
                        <a:t>àëêîêñèà-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67640">
                <a:tc gridSpan="4">
                  <a:txBody>
                    <a:bodyPr/>
                    <a:p>
                      <a:pPr marL="46355" marR="92710">
                        <a:lnSpc>
                          <a:spcPct val="91666"/>
                        </a:lnSpc>
                      </a:pPr>
                      <a:r>
                        <a:rPr sz="1100" spc="-10">
                          <a:latin typeface="Times New Roman"/>
                          <a:cs typeface="Times New Roman"/>
                        </a:rPr>
                        <a:t>áàêòåð³é åíòåðàëüíî¿ ãðóïè - åøåð³õ³é, ïðîòå¿â òà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86995" marR="41910" algn="ctr">
                        <a:lnSpc>
                          <a:spcPct val="91666"/>
                        </a:lnSpc>
                      </a:pPr>
                      <a:r>
                        <a:rPr sz="1100" spc="25">
                          <a:latin typeface="Times New Roman"/>
                          <a:cs typeface="Times New Roman"/>
                        </a:rPr>
                        <a:t>öåòèëüíîãî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gridSpan="3">
                  <a:txBody>
                    <a:bodyPr/>
                    <a:p>
                      <a:pPr marL="45720" marR="46990" algn="ctr">
                        <a:lnSpc>
                          <a:spcPct val="91666"/>
                        </a:lnSpc>
                        <a:tabLst>
                          <a:tab pos="835025" algn="l"/>
                          <a:tab pos="1464310" algn="l"/>
                        </a:tabLst>
                      </a:pPr>
                      <a:r>
                        <a:rPr sz="1100" spc="25">
                          <a:latin typeface="Times New Roman"/>
                          <a:cs typeface="Times New Roman"/>
                        </a:rPr>
                        <a:t>ôðàãìåíòà,</a:t>
                      </a:r>
                      <a:r>
                        <a:rPr sz="1100" spc="25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100" spc="25">
                          <a:latin typeface="Times New Roman"/>
                          <a:cs typeface="Times New Roman"/>
                        </a:rPr>
                        <a:t>ïðè÷îìó</a:t>
                      </a:r>
                      <a:r>
                        <a:rPr sz="1100" spc="25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100" spc="25">
                          <a:latin typeface="Times New Roman"/>
                          <a:cs typeface="Times New Roman"/>
                        </a:rPr>
                        <a:t>íàéâèùîþ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67640">
                <a:tc gridSpan="4">
                  <a:txBody>
                    <a:bodyPr/>
                    <a:p>
                      <a:pPr marL="46355" marR="92075">
                        <a:lnSpc>
                          <a:spcPct val="91666"/>
                        </a:lnSpc>
                      </a:pPr>
                      <a:r>
                        <a:rPr sz="1100">
                          <a:latin typeface="Times New Roman"/>
                          <a:cs typeface="Times New Roman"/>
                        </a:rPr>
                        <a:t>ïñåâäîìîíàä. Ì³í³ìàëüí³ ïðèãí³÷óþ÷è ð³ñò öèõ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86995" marR="48260" algn="ctr">
                        <a:lnSpc>
                          <a:spcPct val="91666"/>
                        </a:lnSpc>
                      </a:pPr>
                      <a:r>
                        <a:rPr sz="1100" spc="25">
                          <a:latin typeface="Times New Roman"/>
                          <a:cs typeface="Times New Roman"/>
                        </a:rPr>
                        <a:t>àêòèâí³ñòþ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42545" marR="65405" algn="ctr">
                        <a:lnSpc>
                          <a:spcPct val="91666"/>
                        </a:lnSpc>
                        <a:tabLst>
                          <a:tab pos="349885" algn="l"/>
                        </a:tabLst>
                      </a:pPr>
                      <a:r>
                        <a:rPr sz="1100" spc="25">
                          <a:latin typeface="Times New Roman"/>
                          <a:cs typeface="Times New Roman"/>
                        </a:rPr>
                        <a:t>äëÿ</a:t>
                      </a:r>
                      <a:r>
                        <a:rPr sz="1100" spc="25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100" spc="10">
                          <a:latin typeface="Times New Roman"/>
                          <a:cs typeface="Times New Roman"/>
                        </a:rPr>
                        <a:t>âñ³õ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gridSpan="2">
                  <a:txBody>
                    <a:bodyPr/>
                    <a:p>
                      <a:pPr marL="26035" marR="46990" algn="ctr">
                        <a:lnSpc>
                          <a:spcPct val="91666"/>
                        </a:lnSpc>
                        <a:tabLst>
                          <a:tab pos="451485" algn="l"/>
                        </a:tabLst>
                      </a:pPr>
                      <a:r>
                        <a:rPr sz="1100" spc="25">
                          <a:latin typeface="Times New Roman"/>
                          <a:cs typeface="Times New Roman"/>
                        </a:rPr>
                        <a:t>âèä³â</a:t>
                      </a:r>
                      <a:r>
                        <a:rPr sz="1100" spc="25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100" spc="25">
                          <a:latin typeface="Times New Roman"/>
                          <a:cs typeface="Times New Roman"/>
                        </a:rPr>
                        <a:t>ì³êðîîðãàí³çì³â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67640">
                <a:tc gridSpan="4">
                  <a:txBody>
                    <a:bodyPr/>
                    <a:p>
                      <a:pPr marL="46355" marR="90170">
                        <a:lnSpc>
                          <a:spcPct val="91667"/>
                        </a:lnSpc>
                      </a:pPr>
                      <a:r>
                        <a:rPr sz="1100">
                          <a:latin typeface="Times New Roman"/>
                          <a:cs typeface="Times New Roman"/>
                        </a:rPr>
                        <a:t>ì³êðîîðãàí³çì³â êîíöåíòðàö³¿ ñïîëóê ñòàíîâèëè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4">
                  <a:txBody>
                    <a:bodyPr/>
                    <a:p>
                      <a:pPr marL="86995" marR="48260" algn="ctr">
                        <a:lnSpc>
                          <a:spcPct val="91667"/>
                        </a:lnSpc>
                      </a:pPr>
                      <a:r>
                        <a:rPr sz="1100" spc="15">
                          <a:latin typeface="Times New Roman"/>
                          <a:cs typeface="Times New Roman"/>
                        </a:rPr>
                        <a:t>âîëîä³þòü ñïîëóêè ç ê³ëüê³ñòþ àòîì³â êàðáîíó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67640">
                <a:tc gridSpan="2">
                  <a:txBody>
                    <a:bodyPr/>
                    <a:p>
                      <a:pPr marL="46355" marR="3810" algn="ctr">
                        <a:lnSpc>
                          <a:spcPct val="91665"/>
                        </a:lnSpc>
                      </a:pPr>
                      <a:r>
                        <a:rPr sz="1100">
                          <a:latin typeface="Times New Roman"/>
                          <a:cs typeface="Times New Roman"/>
                        </a:rPr>
                        <a:t>0.113-1.766 ììîëü/ë.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4">
                  <a:txBody>
                    <a:bodyPr/>
                    <a:p>
                      <a:pPr marL="86995" marR="49530" algn="ctr">
                        <a:lnSpc>
                          <a:spcPct val="91665"/>
                        </a:lnSpc>
                      </a:pPr>
                      <a:r>
                        <a:rPr sz="1100" spc="10">
                          <a:latin typeface="Times New Roman"/>
                          <a:cs typeface="Times New Roman"/>
                        </a:rPr>
                        <a:t>àëêîêñèëüíîãî ðàäèêàëà ð³âíîãî äåñÿòè. Òàêîæ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67640">
                <a:tc gridSpan="4">
                  <a:txBody>
                    <a:bodyPr/>
                    <a:p>
                      <a:pPr marL="226060" marR="85725">
                        <a:lnSpc>
                          <a:spcPct val="91666"/>
                        </a:lnSpc>
                      </a:pPr>
                      <a:r>
                        <a:rPr sz="1100" spc="20">
                          <a:latin typeface="Times New Roman"/>
                          <a:cs typeface="Times New Roman"/>
                        </a:rPr>
                        <a:t>Îòðèìàí³ ðåçóëüòàòè ïðîÿâó àíòèì³êðîáíî¿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4">
                  <a:txBody>
                    <a:bodyPr/>
                    <a:p>
                      <a:pPr marL="86995" marR="50165" algn="ctr">
                        <a:lnSpc>
                          <a:spcPct val="91666"/>
                        </a:lnSpc>
                      </a:pPr>
                      <a:r>
                        <a:rPr sz="1100">
                          <a:latin typeface="Times New Roman"/>
                          <a:cs typeface="Times New Roman"/>
                        </a:rPr>
                        <a:t>ñïîëóêè ç ôåí³ëüíèì ðàäèêàëîì â ïîëîæåíí³ 1-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67640">
                <a:tc gridSpan="4">
                  <a:txBody>
                    <a:bodyPr/>
                    <a:p>
                      <a:pPr marL="46355" marR="88900">
                        <a:lnSpc>
                          <a:spcPct val="91666"/>
                        </a:lnSpc>
                      </a:pPr>
                      <a:r>
                        <a:rPr sz="1100" spc="25">
                          <a:latin typeface="Times New Roman"/>
                          <a:cs typeface="Times New Roman"/>
                        </a:rPr>
                        <a:t>àêòèâíîñò³  äîñë³äæóâàíèõ  ïðåïàðàò³â  ùîäî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4">
                  <a:txBody>
                    <a:bodyPr/>
                    <a:p>
                      <a:pPr marL="86995" marR="46355" algn="ctr">
                        <a:lnSpc>
                          <a:spcPct val="91666"/>
                        </a:lnSpc>
                      </a:pPr>
                      <a:r>
                        <a:rPr sz="1100" spc="25">
                          <a:latin typeface="Times New Roman"/>
                          <a:cs typeface="Times New Roman"/>
                        </a:rPr>
                        <a:t>ï³ðàçîëüíîãî</a:t>
                      </a:r>
                      <a:r>
                        <a:rPr sz="1100" spc="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25">
                          <a:latin typeface="Times New Roman"/>
                          <a:cs typeface="Times New Roman"/>
                        </a:rPr>
                        <a:t>ÿäðà</a:t>
                      </a:r>
                      <a:r>
                        <a:rPr sz="1100" spc="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25">
                          <a:latin typeface="Times New Roman"/>
                          <a:cs typeface="Times New Roman"/>
                        </a:rPr>
                        <a:t>ìàþòü</a:t>
                      </a:r>
                      <a:r>
                        <a:rPr sz="1100" spc="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25">
                          <a:latin typeface="Times New Roman"/>
                          <a:cs typeface="Times New Roman"/>
                        </a:rPr>
                        <a:t>çíà÷íî</a:t>
                      </a:r>
                      <a:r>
                        <a:rPr sz="1100" spc="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25">
                          <a:latin typeface="Times New Roman"/>
                          <a:cs typeface="Times New Roman"/>
                        </a:rPr>
                        <a:t>âèùó</a:t>
                      </a:r>
                      <a:r>
                        <a:rPr sz="1100" spc="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25">
                          <a:latin typeface="Times New Roman"/>
                          <a:cs typeface="Times New Roman"/>
                        </a:rPr>
                        <a:t>àê</a:t>
                      </a:r>
                      <a:r>
                        <a:rPr sz="1100" spc="35">
                          <a:latin typeface="Times New Roman"/>
                          <a:cs typeface="Times New Roman"/>
                        </a:rPr>
                        <a:t>òèâ-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67640">
                <a:tc gridSpan="4">
                  <a:txBody>
                    <a:bodyPr/>
                    <a:p>
                      <a:pPr marL="46355" marR="88265">
                        <a:lnSpc>
                          <a:spcPct val="91666"/>
                        </a:lnSpc>
                      </a:pPr>
                      <a:r>
                        <a:rPr sz="1100" spc="25">
                          <a:latin typeface="Times New Roman"/>
                          <a:cs typeface="Times New Roman"/>
                        </a:rPr>
                        <a:t>ãðàìïîçèòèâíèõ  òà  ãðàìíåãàòèâíèõ  ì³êðîîð-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3">
                  <a:txBody>
                    <a:bodyPr/>
                    <a:p>
                      <a:pPr marL="86995" marR="155575" algn="r">
                        <a:lnSpc>
                          <a:spcPct val="91666"/>
                        </a:lnSpc>
                      </a:pPr>
                      <a:r>
                        <a:rPr sz="1100" spc="-5">
                          <a:latin typeface="Times New Roman"/>
                          <a:cs typeface="Times New Roman"/>
                        </a:rPr>
                        <a:t>í³ñòü, í³æ ñïîëóêè ç ìåòèëüíèì ðàäèêàëîì.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/>
                    <a:lnR/>
                    <a:lnT/>
                    <a:lnB/>
                  </a:tcPr>
                </a:tc>
              </a:tr>
              <a:tr h="167640">
                <a:tc gridSpan="4">
                  <a:txBody>
                    <a:bodyPr/>
                    <a:p>
                      <a:pPr marL="46355" marR="90805">
                        <a:lnSpc>
                          <a:spcPct val="91666"/>
                        </a:lnSpc>
                      </a:pPr>
                      <a:r>
                        <a:rPr sz="1100" spc="5">
                          <a:latin typeface="Times New Roman"/>
                          <a:cs typeface="Times New Roman"/>
                        </a:rPr>
                        <a:t>ãàí³çì³â óçãîäæóþòüñÿ ç ë³òåðàòóðíèìè äàíèìè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4">
                  <a:txBody>
                    <a:bodyPr/>
                    <a:p>
                      <a:pPr marL="266700" marR="50800" algn="ctr">
                        <a:lnSpc>
                          <a:spcPct val="91666"/>
                        </a:lnSpc>
                      </a:pPr>
                      <a:r>
                        <a:rPr sz="1100">
                          <a:latin typeface="Times New Roman"/>
                          <a:cs typeface="Times New Roman"/>
                        </a:rPr>
                        <a:t>Ùî ñòîñóºòüñÿ äîâæèíè àëê³ëüíîãî ðàäèêàëà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67640">
                <a:tc gridSpan="4">
                  <a:txBody>
                    <a:bodyPr/>
                    <a:p>
                      <a:pPr marL="46355" marR="90170">
                        <a:lnSpc>
                          <a:spcPct val="91666"/>
                        </a:lnSpc>
                      </a:pPr>
                      <a:r>
                        <a:rPr sz="1100" spc="10">
                          <a:latin typeface="Times New Roman"/>
                          <a:cs typeface="Times New Roman"/>
                        </a:rPr>
                        <a:t>ðÿäó àâò</a:t>
                      </a:r>
                      <a:r>
                        <a:rPr sz="1100" spc="5">
                          <a:latin typeface="Times New Roman"/>
                          <a:cs typeface="Times New Roman"/>
                        </a:rPr>
                        <a:t>îð³â [10]. Òàêà çàêîíîì³ðí³ñòü âëàñòèâà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4">
                  <a:txBody>
                    <a:bodyPr/>
                    <a:p>
                      <a:pPr marL="86995" marR="50800" algn="ctr">
                        <a:lnSpc>
                          <a:spcPct val="91666"/>
                        </a:lnSpc>
                      </a:pPr>
                      <a:r>
                        <a:rPr sz="1100" spc="-5">
                          <a:latin typeface="Times New Roman"/>
                          <a:cs typeface="Times New Roman"/>
                        </a:rPr>
                        <a:t>ì³æ àòîìàìè àçîòó, òî âîíà ïðàêòè÷íî íå âïëèâàº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67640">
                <a:tc gridSpan="4">
                  <a:txBody>
                    <a:bodyPr/>
                    <a:p>
                      <a:pPr marL="46355" marR="93980">
                        <a:lnSpc>
                          <a:spcPct val="91666"/>
                        </a:lnSpc>
                      </a:pPr>
                      <a:r>
                        <a:rPr sz="1100" spc="-15">
                          <a:latin typeface="Times New Roman"/>
                          <a:cs typeface="Times New Roman"/>
                        </a:rPr>
                        <a:t>ÿê ïîõ³äíèì ï³ðàçîëó, òàê ³ ïîõ³äíèì ìîíî- òà á³ñ-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p>
                      <a:pPr marL="86995" marR="146050" algn="ctr">
                        <a:lnSpc>
                          <a:spcPct val="91666"/>
                        </a:lnSpc>
                      </a:pPr>
                      <a:r>
                        <a:rPr sz="1100" spc="-5">
                          <a:latin typeface="Times New Roman"/>
                          <a:cs typeface="Times New Roman"/>
                        </a:rPr>
                        <a:t>íà àêòèâí³ñòü ñïîëóê.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67640">
                <a:tc gridSpan="4">
                  <a:txBody>
                    <a:bodyPr/>
                    <a:p>
                      <a:pPr marL="46355" marR="91440">
                        <a:lnSpc>
                          <a:spcPct val="91666"/>
                        </a:lnSpc>
                      </a:pPr>
                      <a:r>
                        <a:rPr sz="1100">
                          <a:latin typeface="Times New Roman"/>
                          <a:cs typeface="Times New Roman"/>
                        </a:rPr>
                        <a:t>÷åòâåðòèííèì àìîí³ºâèì òà ôîñôîí³ºâèì ñîëÿì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4">
                  <a:txBody>
                    <a:bodyPr/>
                    <a:p>
                      <a:pPr marL="266700" marR="48895" algn="ctr">
                        <a:lnSpc>
                          <a:spcPct val="91666"/>
                        </a:lnSpc>
                      </a:pPr>
                      <a:r>
                        <a:rPr sz="1100" spc="15">
                          <a:latin typeface="Times New Roman"/>
                          <a:cs typeface="Times New Roman"/>
                        </a:rPr>
                        <a:t>Ïîçèòèâíèì â õàðàêòåðèñòèö³ ð³çíèõ êëàñ³â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67640">
                <a:tc gridSpan="4">
                  <a:txBody>
                    <a:bodyPr/>
                    <a:p>
                      <a:pPr marL="46355" marR="90805">
                        <a:lnSpc>
                          <a:spcPct val="91666"/>
                        </a:lnSpc>
                      </a:pPr>
                      <a:r>
                        <a:rPr sz="1100" spc="10">
                          <a:latin typeface="Times New Roman"/>
                          <a:cs typeface="Times New Roman"/>
                        </a:rPr>
                        <a:t>(ïðåïàðàòè äåêàì³í, åòîí³é, äåêàìåòîêñèí), ùî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4">
                  <a:txBody>
                    <a:bodyPr/>
                    <a:p>
                      <a:pPr marL="86995" marR="52070" algn="ctr">
                        <a:lnSpc>
                          <a:spcPct val="91666"/>
                        </a:lnSpc>
                      </a:pPr>
                      <a:r>
                        <a:rPr sz="1100" spc="-15">
                          <a:latin typeface="Times New Roman"/>
                          <a:cs typeface="Times New Roman"/>
                        </a:rPr>
                        <a:t>àíòèì³êðîáíèõ õ³ì³îïðåïàðàò³â º çäàòí³ñòü ¿õ ðîç-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67640">
                <a:tc gridSpan="4">
                  <a:txBody>
                    <a:bodyPr/>
                    <a:p>
                      <a:pPr marL="46355" marR="88265">
                        <a:lnSpc>
                          <a:spcPct val="91667"/>
                        </a:lnSpc>
                      </a:pPr>
                      <a:r>
                        <a:rPr sz="1100" spc="30">
                          <a:latin typeface="Times New Roman"/>
                          <a:cs typeface="Times New Roman"/>
                        </a:rPr>
                        <a:t>çíàéøëè</a:t>
                      </a:r>
                      <a:r>
                        <a:rPr sz="1100" spc="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30">
                          <a:latin typeface="Times New Roman"/>
                          <a:cs typeface="Times New Roman"/>
                        </a:rPr>
                        <a:t>øèðîêå</a:t>
                      </a:r>
                      <a:r>
                        <a:rPr sz="1100" spc="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30">
                          <a:latin typeface="Times New Roman"/>
                          <a:cs typeface="Times New Roman"/>
                        </a:rPr>
                        <a:t>çàñòîñóâàííÿ</a:t>
                      </a:r>
                      <a:r>
                        <a:rPr sz="1100" spc="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30">
                          <a:latin typeface="Times New Roman"/>
                          <a:cs typeface="Times New Roman"/>
                        </a:rPr>
                        <a:t>â</a:t>
                      </a:r>
                      <a:r>
                        <a:rPr sz="1100" spc="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30">
                          <a:latin typeface="Times New Roman"/>
                          <a:cs typeface="Times New Roman"/>
                        </a:rPr>
                        <a:t>ìåäèöèí³</a:t>
                      </a:r>
                      <a:r>
                        <a:rPr sz="1100" spc="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30">
                          <a:latin typeface="Times New Roman"/>
                          <a:cs typeface="Times New Roman"/>
                        </a:rPr>
                        <a:t>òà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4">
                  <a:txBody>
                    <a:bodyPr/>
                    <a:p>
                      <a:pPr marL="86995" marR="46355" algn="ctr">
                        <a:lnSpc>
                          <a:spcPct val="91667"/>
                        </a:lnSpc>
                      </a:pPr>
                      <a:r>
                        <a:rPr sz="1100" spc="25">
                          <a:latin typeface="Times New Roman"/>
                          <a:cs typeface="Times New Roman"/>
                        </a:rPr>
                        <a:t>÷èí³â</a:t>
                      </a:r>
                      <a:r>
                        <a:rPr sz="1100" spc="1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25">
                          <a:latin typeface="Times New Roman"/>
                          <a:cs typeface="Times New Roman"/>
                        </a:rPr>
                        <a:t>áàãàòîðàçîâî</a:t>
                      </a:r>
                      <a:r>
                        <a:rPr sz="1100" spc="1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25">
                          <a:latin typeface="Times New Roman"/>
                          <a:cs typeface="Times New Roman"/>
                        </a:rPr>
                        <a:t>çãóáíî</a:t>
                      </a:r>
                      <a:r>
                        <a:rPr sz="1100" spc="1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25">
                          <a:latin typeface="Times New Roman"/>
                          <a:cs typeface="Times New Roman"/>
                        </a:rPr>
                        <a:t>ä³ÿòè</a:t>
                      </a:r>
                      <a:r>
                        <a:rPr sz="1100" spc="1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25">
                          <a:latin typeface="Times New Roman"/>
                          <a:cs typeface="Times New Roman"/>
                        </a:rPr>
                        <a:t>íà</a:t>
                      </a:r>
                      <a:r>
                        <a:rPr sz="1100" spc="1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25">
                          <a:latin typeface="Times New Roman"/>
                          <a:cs typeface="Times New Roman"/>
                        </a:rPr>
                        <a:t>ì³êðîîð-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67640">
                <a:tc gridSpan="2">
                  <a:txBody>
                    <a:bodyPr/>
                    <a:p>
                      <a:pPr marL="46355" marR="276225" algn="ctr">
                        <a:lnSpc>
                          <a:spcPct val="91665"/>
                        </a:lnSpc>
                      </a:pPr>
                      <a:r>
                        <a:rPr sz="1100" spc="-15">
                          <a:latin typeface="Times New Roman"/>
                          <a:cs typeface="Times New Roman"/>
                        </a:rPr>
                        <a:t>âåòåðèíàð³¿ [11].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4">
                  <a:txBody>
                    <a:bodyPr/>
                    <a:p>
                      <a:pPr marL="86995" marR="46990" algn="ctr">
                        <a:lnSpc>
                          <a:spcPct val="91665"/>
                        </a:lnSpc>
                      </a:pPr>
                      <a:r>
                        <a:rPr sz="1100">
                          <a:latin typeface="Times New Roman"/>
                          <a:cs typeface="Times New Roman"/>
                        </a:rPr>
                        <a:t>ãàí³çìè, íåéòðàë³çóþ÷è ïðîòèä³þ çàõèñíèõ ôàê-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67640">
                <a:tc gridSpan="4">
                  <a:txBody>
                    <a:bodyPr/>
                    <a:p>
                      <a:pPr marL="226060" marR="90805">
                        <a:lnSpc>
                          <a:spcPct val="91666"/>
                        </a:lnSpc>
                      </a:pPr>
                      <a:r>
                        <a:rPr sz="1100">
                          <a:latin typeface="Times New Roman"/>
                          <a:cs typeface="Times New Roman"/>
                        </a:rPr>
                        <a:t>Â³ðîã³äíî âçàºìîä³þ÷è ç òðüîõøàðîâîþ ðèõ-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4">
                  <a:txBody>
                    <a:bodyPr/>
                    <a:p>
                      <a:pPr marL="86995" marR="47625" algn="ctr">
                        <a:lnSpc>
                          <a:spcPct val="91666"/>
                        </a:lnSpc>
                      </a:pPr>
                      <a:r>
                        <a:rPr sz="1100" spc="20">
                          <a:latin typeface="Times New Roman"/>
                          <a:cs typeface="Times New Roman"/>
                        </a:rPr>
                        <a:t>òîð³â áàêòåð³é. Äîñë³äæåííÿ ì³ðè âèñíàæåííÿ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67640">
                <a:tc gridSpan="4">
                  <a:txBody>
                    <a:bodyPr/>
                    <a:p>
                      <a:pPr marL="46355" marR="95250">
                        <a:lnSpc>
                          <a:spcPct val="91666"/>
                        </a:lnSpc>
                      </a:pPr>
                      <a:r>
                        <a:rPr sz="1100" spc="-25">
                          <a:latin typeface="Times New Roman"/>
                          <a:cs typeface="Times New Roman"/>
                        </a:rPr>
                        <a:t>ëîþ, ïðîíèçàíîþ ïîðèíàìè, ãë³êîïðîòå¿íîâîþ êë³-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4">
                  <a:txBody>
                    <a:bodyPr/>
                    <a:p>
                      <a:pPr marL="86995" marR="50165" algn="ctr">
                        <a:lnSpc>
                          <a:spcPct val="91666"/>
                        </a:lnSpc>
                      </a:pPr>
                      <a:r>
                        <a:rPr sz="1100">
                          <a:latin typeface="Times New Roman"/>
                          <a:cs typeface="Times New Roman"/>
                        </a:rPr>
                        <a:t>àíòèì³êðîáíî¿ àêòèâíîñò³ ïðåïàðàò³â ¹4 òà ¹8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67640">
                <a:tc gridSpan="4">
                  <a:txBody>
                    <a:bodyPr/>
                    <a:p>
                      <a:pPr marL="46355" marR="90170">
                        <a:lnSpc>
                          <a:spcPct val="91666"/>
                        </a:lnSpc>
                      </a:pPr>
                      <a:r>
                        <a:rPr sz="1100" spc="5">
                          <a:latin typeface="Times New Roman"/>
                          <a:cs typeface="Times New Roman"/>
                        </a:rPr>
                        <a:t>òèííîþ îáîëîíêîþ ãðàìïîçèòèâíèõ ì³êðîîðãà-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4">
                  <a:txBody>
                    <a:bodyPr/>
                    <a:p>
                      <a:pPr marL="86995" marR="50800" algn="ctr">
                        <a:lnSpc>
                          <a:spcPct val="91666"/>
                        </a:lnSpc>
                      </a:pPr>
                      <a:r>
                        <a:rPr sz="1100">
                          <a:latin typeface="Times New Roman"/>
                          <a:cs typeface="Times New Roman"/>
                        </a:rPr>
                        <a:t>ïðè 10-òè ðàçîâîìó äîäàâàíí³ ïîñ³âíèõ äîç òåñò-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67640">
                <a:tc gridSpan="4">
                  <a:txBody>
                    <a:bodyPr/>
                    <a:p>
                      <a:pPr marL="46355" marR="88900">
                        <a:lnSpc>
                          <a:spcPct val="91666"/>
                        </a:lnSpc>
                      </a:pPr>
                      <a:r>
                        <a:rPr sz="1100" spc="20">
                          <a:latin typeface="Times New Roman"/>
                          <a:cs typeface="Times New Roman"/>
                        </a:rPr>
                        <a:t>í³çì³â, êàò³îí³òè äàíèõ êëàñ³â õ³ì³îïðåïàðàò³â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4">
                  <a:txBody>
                    <a:bodyPr/>
                    <a:p>
                      <a:pPr marL="86995" marR="50800" algn="ctr">
                        <a:lnSpc>
                          <a:spcPct val="91666"/>
                        </a:lnSpc>
                      </a:pPr>
                      <a:r>
                        <a:rPr sz="1100">
                          <a:latin typeface="Times New Roman"/>
                          <a:cs typeface="Times New Roman"/>
                        </a:rPr>
                        <a:t>êóëüòóð çîëîòèñòîãî ñòàô³ëîêîêà ïîêàçàëè êîìó-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67640">
                <a:tc gridSpan="4">
                  <a:txBody>
                    <a:bodyPr/>
                    <a:p>
                      <a:pPr marL="46355" marR="88265">
                        <a:lnSpc>
                          <a:spcPct val="91666"/>
                        </a:lnSpc>
                      </a:pPr>
                      <a:r>
                        <a:rPr sz="1100" spc="20">
                          <a:latin typeface="Times New Roman"/>
                          <a:cs typeface="Times New Roman"/>
                        </a:rPr>
                        <a:t>øëÿõîì ïîëåãøåíî¿ äèôóç³¿ ç ðîç÷èí³â ïðîíè-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4">
                  <a:txBody>
                    <a:bodyPr/>
                    <a:p>
                      <a:pPr marL="86995" marR="50165" algn="ctr">
                        <a:lnSpc>
                          <a:spcPct val="91666"/>
                        </a:lnSpc>
                      </a:pPr>
                      <a:r>
                        <a:rPr sz="1100">
                          <a:latin typeface="Times New Roman"/>
                          <a:cs typeface="Times New Roman"/>
                        </a:rPr>
                        <a:t>ëÿòèâíî âèñîêó áàêòåðèöèäíó àêòèâí³ñòü ïðåïà-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67640">
                <a:tc gridSpan="4">
                  <a:txBody>
                    <a:bodyPr/>
                    <a:p>
                      <a:pPr marL="46355" marR="92075">
                        <a:lnSpc>
                          <a:spcPct val="91666"/>
                        </a:lnSpc>
                      </a:pPr>
                      <a:r>
                        <a:rPr sz="1100">
                          <a:latin typeface="Times New Roman"/>
                          <a:cs typeface="Times New Roman"/>
                        </a:rPr>
                        <a:t>êàþòü â ïàðàïëàçìàòè÷íèé ïðîñò³ð öèõ ì³êðîîð-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p>
                      <a:pPr marL="86995" marR="633095" algn="ctr">
                        <a:lnSpc>
                          <a:spcPct val="91666"/>
                        </a:lnSpc>
                      </a:pPr>
                      <a:r>
                        <a:rPr sz="1100" spc="5">
                          <a:latin typeface="Times New Roman"/>
                          <a:cs typeface="Times New Roman"/>
                        </a:rPr>
                        <a:t>ðàò³â òàáë. 3.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67640">
                <a:tc gridSpan="4">
                  <a:txBody>
                    <a:bodyPr/>
                    <a:p>
                      <a:pPr marL="46355" marR="88900">
                        <a:lnSpc>
                          <a:spcPct val="91666"/>
                        </a:lnSpc>
                      </a:pPr>
                      <a:r>
                        <a:rPr sz="1100" spc="25">
                          <a:latin typeface="Times New Roman"/>
                          <a:cs typeface="Times New Roman"/>
                        </a:rPr>
                        <a:t>ãàí³çì³â ³, âçàºìîä³þ÷è ç ôåðìåíòíèìè ñèñòå-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4">
                  <a:txBody>
                    <a:bodyPr/>
                    <a:p>
                      <a:pPr marL="266700" marR="50800" algn="ctr">
                        <a:lnSpc>
                          <a:spcPct val="91666"/>
                        </a:lnSpc>
                      </a:pPr>
                      <a:r>
                        <a:rPr sz="1100" spc="-5">
                          <a:latin typeface="Times New Roman"/>
                          <a:cs typeface="Times New Roman"/>
                        </a:rPr>
                        <a:t>Îòæå, âîëîä³þ÷è, </a:t>
                      </a:r>
                      <a:r>
                        <a:rPr sz="1100" spc="-10">
                          <a:latin typeface="Times New Roman"/>
                          <a:cs typeface="Times New Roman"/>
                        </a:rPr>
                        <a:t>çã³äíî äàíèõ ë³òåðà</a:t>
                      </a:r>
                      <a:r>
                        <a:rPr sz="1100">
                          <a:latin typeface="Times New Roman"/>
                          <a:cs typeface="Times New Roman"/>
                        </a:rPr>
                        <a:t>òóðè, ðÿ-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67640">
                <a:tc gridSpan="4">
                  <a:txBody>
                    <a:bodyPr/>
                    <a:p>
                      <a:pPr marL="46355" marR="88265">
                        <a:lnSpc>
                          <a:spcPct val="91666"/>
                        </a:lnSpc>
                      </a:pPr>
                      <a:r>
                        <a:rPr sz="1100" spc="25">
                          <a:latin typeface="Times New Roman"/>
                          <a:cs typeface="Times New Roman"/>
                        </a:rPr>
                        <a:t>ìàìè  ìåçîñîì  öèòîïëàçìàòè÷íî¿  ìåìáðàíè,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4">
                  <a:txBody>
                    <a:bodyPr/>
                    <a:p>
                      <a:pPr marL="86995" marR="46990" algn="ctr">
                        <a:lnSpc>
                          <a:spcPct val="91666"/>
                        </a:lnSpc>
                      </a:pPr>
                      <a:r>
                        <a:rPr sz="1100" spc="20">
                          <a:latin typeface="Times New Roman"/>
                          <a:cs typeface="Times New Roman"/>
                        </a:rPr>
                        <a:t>äîì êîðèñíèõ äëÿ ìåäèöèíè ôàðìàêîëîã³÷íèõ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67640">
                <a:tc gridSpan="4">
                  <a:txBody>
                    <a:bodyPr/>
                    <a:p>
                      <a:pPr marL="46355" marR="88265">
                        <a:lnSpc>
                          <a:spcPct val="91667"/>
                        </a:lnSpc>
                      </a:pPr>
                      <a:r>
                        <a:rPr sz="1100" spc="25">
                          <a:latin typeface="Times New Roman"/>
                          <a:cs typeface="Times New Roman"/>
                        </a:rPr>
                        <a:t>ïðèãí³÷óþòü ïðîöåñè ìåòàáîë³çìó ì³êðîáíèõ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4">
                  <a:txBody>
                    <a:bodyPr/>
                    <a:p>
                      <a:pPr marL="86995" marR="50800" algn="ctr">
                        <a:lnSpc>
                          <a:spcPct val="91667"/>
                        </a:lnSpc>
                      </a:pPr>
                      <a:r>
                        <a:rPr sz="1100">
                          <a:latin typeface="Times New Roman"/>
                          <a:cs typeface="Times New Roman"/>
                        </a:rPr>
                        <a:t>âëàñòèâîñòåé, à ñàìå: àíòèíåâðîëîã³÷íîþ, àíòè-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67640">
                <a:tc>
                  <a:txBody>
                    <a:bodyPr/>
                    <a:p>
                      <a:pPr marL="46355" marR="477520">
                        <a:lnSpc>
                          <a:spcPct val="91665"/>
                        </a:lnSpc>
                      </a:pPr>
                      <a:r>
                        <a:rPr sz="1100" spc="-30">
                          <a:latin typeface="Times New Roman"/>
                          <a:cs typeface="Times New Roman"/>
                        </a:rPr>
                        <a:t>êë³òèí.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gridSpan="3"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4">
                  <a:txBody>
                    <a:bodyPr/>
                    <a:p>
                      <a:pPr marL="86995" marR="46990" algn="ctr">
                        <a:lnSpc>
                          <a:spcPct val="91665"/>
                        </a:lnSpc>
                      </a:pPr>
                      <a:r>
                        <a:rPr sz="1100" spc="25">
                          <a:latin typeface="Times New Roman"/>
                          <a:cs typeface="Times New Roman"/>
                        </a:rPr>
                        <a:t>íåîïëàñòè÷íîþ, ïðîòèïóõëèííîþ òà ïðîòèçà-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67640">
                <a:tc gridSpan="4">
                  <a:txBody>
                    <a:bodyPr/>
                    <a:p>
                      <a:pPr marL="226060" marR="88900">
                        <a:lnSpc>
                          <a:spcPct val="91666"/>
                        </a:lnSpc>
                      </a:pPr>
                      <a:r>
                        <a:rPr sz="1100" spc="20">
                          <a:latin typeface="Times New Roman"/>
                          <a:cs typeface="Times New Roman"/>
                        </a:rPr>
                        <a:t>Ë³ïîïîë³ñàõàðèäíèì êë³òèííèì îáîëîíêàì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4">
                  <a:txBody>
                    <a:bodyPr/>
                    <a:p>
                      <a:pPr marL="86995" marR="46990" algn="ctr">
                        <a:lnSpc>
                          <a:spcPct val="91666"/>
                        </a:lnSpc>
                      </a:pPr>
                      <a:r>
                        <a:rPr sz="1100" spc="25">
                          <a:latin typeface="Times New Roman"/>
                          <a:cs typeface="Times New Roman"/>
                        </a:rPr>
                        <a:t>ïàëüíîþ</a:t>
                      </a:r>
                      <a:r>
                        <a:rPr sz="1100" spc="1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25">
                          <a:latin typeface="Times New Roman"/>
                          <a:cs typeface="Times New Roman"/>
                        </a:rPr>
                        <a:t>ä³ÿìè</a:t>
                      </a:r>
                      <a:r>
                        <a:rPr sz="1100" spc="1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25">
                          <a:latin typeface="Times New Roman"/>
                          <a:cs typeface="Times New Roman"/>
                        </a:rPr>
                        <a:t>³</a:t>
                      </a:r>
                      <a:r>
                        <a:rPr sz="1100" spc="1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25">
                          <a:latin typeface="Times New Roman"/>
                          <a:cs typeface="Times New Roman"/>
                        </a:rPr>
                        <a:t>áóäó÷è</a:t>
                      </a:r>
                      <a:r>
                        <a:rPr sz="1100" spc="1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25">
                          <a:latin typeface="Times New Roman"/>
                          <a:cs typeface="Times New Roman"/>
                        </a:rPr>
                        <a:t>ïîïåðåäíèêàìè</a:t>
                      </a:r>
                      <a:r>
                        <a:rPr sz="1100" spc="1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25">
                          <a:latin typeface="Times New Roman"/>
                          <a:cs typeface="Times New Roman"/>
                        </a:rPr>
                        <a:t>ïðè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67640">
                <a:tc gridSpan="4">
                  <a:txBody>
                    <a:bodyPr/>
                    <a:p>
                      <a:pPr marL="46355" marR="92710">
                        <a:lnSpc>
                          <a:spcPct val="91666"/>
                        </a:lnSpc>
                      </a:pPr>
                      <a:r>
                        <a:rPr sz="1100" spc="-10">
                          <a:latin typeface="Times New Roman"/>
                          <a:cs typeface="Times New Roman"/>
                        </a:rPr>
                        <a:t>ãðàìíåãàòèâíèõ áàêòåð³é ó á³ëüø³é ì³ð³ âëàñòèâà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4">
                  <a:txBody>
                    <a:bodyPr/>
                    <a:p>
                      <a:pPr marL="86995" marR="45720" algn="ctr">
                        <a:lnSpc>
                          <a:spcPct val="91666"/>
                        </a:lnSpc>
                      </a:pPr>
                      <a:r>
                        <a:rPr sz="1100" spc="25">
                          <a:latin typeface="Times New Roman"/>
                          <a:cs typeface="Times New Roman"/>
                        </a:rPr>
                        <a:t>îòðèìàíí³  ôàðìàêîëîã³÷íî  ö³ííèõ  ï³ðàçîëï³-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67640">
                <a:tc gridSpan="3">
                  <a:txBody>
                    <a:bodyPr/>
                    <a:p>
                      <a:pPr marL="46355" marR="41910" algn="ctr">
                        <a:lnSpc>
                          <a:spcPct val="91666"/>
                        </a:lnSpc>
                      </a:pPr>
                      <a:r>
                        <a:rPr sz="1100" spc="25">
                          <a:latin typeface="Times New Roman"/>
                          <a:cs typeface="Times New Roman"/>
                        </a:rPr>
                        <a:t>ã³äðîôîáí³ñòü  ³,  âîëîä³þ÷è  çíà÷íî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43180" marR="87630">
                        <a:lnSpc>
                          <a:spcPct val="91666"/>
                        </a:lnSpc>
                      </a:pPr>
                      <a:r>
                        <a:rPr sz="1100" spc="25">
                          <a:latin typeface="Times New Roman"/>
                          <a:cs typeface="Times New Roman"/>
                        </a:rPr>
                        <a:t>íèæ÷èì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gridSpan="4">
                  <a:txBody>
                    <a:bodyPr/>
                    <a:p>
                      <a:pPr marL="86995" marR="50165" algn="ctr">
                        <a:lnSpc>
                          <a:spcPct val="91666"/>
                        </a:lnSpc>
                      </a:pPr>
                      <a:r>
                        <a:rPr sz="1100">
                          <a:latin typeface="Times New Roman"/>
                          <a:cs typeface="Times New Roman"/>
                        </a:rPr>
                        <a:t>ðèì³äèí³â, äîñë³äæåí³ ñïîëóêè, êð³ì òîãî, ïðîÿ-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67640">
                <a:tc gridSpan="4">
                  <a:txBody>
                    <a:bodyPr/>
                    <a:p>
                      <a:pPr marL="46355" marR="93345">
                        <a:lnSpc>
                          <a:spcPct val="91666"/>
                        </a:lnSpc>
                      </a:pPr>
                      <a:r>
                        <a:rPr sz="1100" spc="-5">
                          <a:latin typeface="Times New Roman"/>
                          <a:cs typeface="Times New Roman"/>
                        </a:rPr>
                        <a:t>êîåô³ö³ºíòî</a:t>
                      </a:r>
                      <a:r>
                        <a:rPr sz="1100" spc="-10">
                          <a:latin typeface="Times New Roman"/>
                          <a:cs typeface="Times New Roman"/>
                        </a:rPr>
                        <a:t>ì äèô</a:t>
                      </a:r>
                      <a:r>
                        <a:rPr sz="1100">
                          <a:latin typeface="Times New Roman"/>
                          <a:cs typeface="Times New Roman"/>
                        </a:rPr>
                        <a:t>óç³¿, âîíè ïðî</a:t>
                      </a:r>
                      <a:r>
                        <a:rPr sz="1100" spc="-5">
                          <a:latin typeface="Times New Roman"/>
                          <a:cs typeface="Times New Roman"/>
                        </a:rPr>
                        <a:t>ÿâëÿþòü ñò³éê³ñòü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4">
                  <a:txBody>
                    <a:bodyPr/>
                    <a:p>
                      <a:pPr marL="86995" marR="47625" algn="ctr">
                        <a:lnSpc>
                          <a:spcPct val="91666"/>
                        </a:lnSpc>
                      </a:pPr>
                      <a:r>
                        <a:rPr sz="1100" spc="25">
                          <a:latin typeface="Times New Roman"/>
                          <a:cs typeface="Times New Roman"/>
                        </a:rPr>
                        <a:t>âèëè â äîñòàòí³é ì³ð³ âèðàæåíó àíòèì³êðîáíó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00355">
                <a:tc gridSpan="4">
                  <a:txBody>
                    <a:bodyPr/>
                    <a:p>
                      <a:pPr marL="46355" marR="422910">
                        <a:lnSpc>
                          <a:spcPts val="1230"/>
                        </a:lnSpc>
                      </a:pPr>
                      <a:r>
                        <a:rPr sz="1100" spc="-15">
                          <a:latin typeface="Times New Roman"/>
                          <a:cs typeface="Times New Roman"/>
                        </a:rPr>
                        <a:t>äî ³íã³áóþ÷î¿ ä³¿ àíòèñåïòè÷íèõ ïðåïàðàò³â.</a:t>
                      </a:r>
                      <a:endParaRPr/>
                    </a:p>
                  </a:txBody>
                  <a:tcPr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86995" marR="88900" algn="ctr">
                        <a:lnSpc>
                          <a:spcPts val="1230"/>
                        </a:lnSpc>
                      </a:pPr>
                      <a:r>
                        <a:rPr sz="1100">
                          <a:latin typeface="Times New Roman"/>
                          <a:cs typeface="Times New Roman"/>
                        </a:rPr>
                        <a:t>àêòèâí³ñòü.</a:t>
                      </a:r>
                      <a:endParaRPr/>
                    </a:p>
                  </a:txBody>
                  <a:tcPr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709930" marR="20320" algn="r">
                        <a:lnSpc>
                          <a:spcPct val="83333"/>
                        </a:lnSpc>
                      </a:pPr>
                      <a:r>
                        <a:rPr sz="1100" spc="15">
                          <a:latin typeface="Times New Roman"/>
                          <a:cs typeface="Times New Roman"/>
                        </a:rPr>
                        <a:t>Òàáëèöÿ</a:t>
                      </a:r>
                      <a:endParaRPr/>
                    </a:p>
                  </a:txBody>
                  <a:tcPr anchor="b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20320" marR="118745" algn="ctr">
                        <a:lnSpc>
                          <a:spcPct val="83333"/>
                        </a:lnSpc>
                      </a:pPr>
                      <a:r>
                        <a:rPr sz="1100" spc="10">
                          <a:latin typeface="Times New Roman"/>
                          <a:cs typeface="Times New Roman"/>
                        </a:rPr>
                        <a:t>3</a:t>
                      </a:r>
                      <a:endParaRPr/>
                    </a:p>
                  </a:txBody>
                  <a:tcPr anchor="b" marL="0" marR="0" marT="0" marB="0">
                    <a:lnL/>
                    <a:lnR/>
                    <a:lnT/>
                    <a:lnB/>
                  </a:tcPr>
                </a:tc>
              </a:tr>
            </a:tbl>
          </a:graphicData>
        </a:graphic>
      </p:graphicFrame>
      <p:sp>
        <p:nvSpPr>
          <p:cNvPr id="3" name="shape 3"/>
          <p:cNvSpPr txBox="1"/>
          <p:nvPr/>
        </p:nvSpPr>
        <p:spPr>
          <a:xfrm>
            <a:off x="5111750" y="387604"/>
            <a:ext cx="1736725" cy="1828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1200" spc="-20">
                <a:latin typeface="Arial"/>
                <a:cs typeface="Arial"/>
              </a:rPr>
              <a:t>Îðèã³íàëüí³ äîñë³äæåííÿ</a:t>
            </a:r>
            <a:endParaRPr/>
          </a:p>
        </p:txBody>
      </p:sp>
      <p:sp>
        <p:nvSpPr>
          <p:cNvPr id="4" name="shape 4"/>
          <p:cNvSpPr txBox="1"/>
          <p:nvPr/>
        </p:nvSpPr>
        <p:spPr>
          <a:xfrm>
            <a:off x="1341755" y="7843466"/>
            <a:ext cx="5161280" cy="3352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1100" spc="20">
                <a:latin typeface="Times New Roman"/>
                <a:cs typeface="Times New Roman"/>
              </a:rPr>
              <a:t>Áàêòåðèöèäíà àêòèâí³ñòü 0.01% âîäíèõ ðîç÷èí³â ïðåïàðàòà ïðè ïîâòîðíîìó</a:t>
            </a:r>
            <a:endParaRPr/>
          </a:p>
          <a:p>
            <a:pPr marL="1308100"/>
            <a:r>
              <a:rPr sz="1100" spc="20">
                <a:latin typeface="Times New Roman"/>
                <a:cs typeface="Times New Roman"/>
              </a:rPr>
              <a:t>êîíòàêò³ ç ³íôåêö³éíèì ìàòåð³àëîì</a:t>
            </a:r>
            <a:endParaRPr/>
          </a:p>
        </p:txBody>
      </p:sp>
      <p:sp>
        <p:nvSpPr>
          <p:cNvPr id="5" name="shape 5"/>
          <p:cNvSpPr txBox="1"/>
          <p:nvPr/>
        </p:nvSpPr>
        <p:spPr>
          <a:xfrm>
            <a:off x="6650990" y="10226548"/>
            <a:ext cx="202566" cy="1828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1200" spc="25">
                <a:latin typeface="Arial"/>
                <a:cs typeface="Arial"/>
              </a:rPr>
              <a:t>31</a:t>
            </a:r>
            <a:endParaRPr/>
          </a:p>
        </p:txBody>
      </p:sp>
      <p:graphicFrame>
        <p:nvGraphicFramePr>
          <p:cNvPr id="6" name="shape 6"/>
          <p:cNvGraphicFramePr>
            <a:graphicFrameLocks noGrp="1"/>
          </p:cNvGraphicFramePr>
          <p:nvPr/>
        </p:nvGraphicFramePr>
        <p:xfrm>
          <a:off x="1078611" y="8224012"/>
          <a:ext cx="5709666" cy="159334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72235"/>
                <a:gridCol w="1414145"/>
                <a:gridCol w="1450975"/>
                <a:gridCol w="1472565"/>
              </a:tblGrid>
              <a:tr h="883285">
                <a:tc>
                  <a:txBody>
                    <a:bodyPr/>
                    <a:p>
                      <a:pPr marL="205105" marR="206375" algn="ctr"/>
                      <a:r>
                        <a:rPr sz="1200" spc="-15">
                          <a:latin typeface="Arial"/>
                          <a:cs typeface="Arial"/>
                        </a:rPr>
                        <a:t>№ препаратів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6350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229235" marR="230505" algn="ctr">
                        <a:lnSpc>
                          <a:spcPct val="96589"/>
                        </a:lnSpc>
                      </a:pPr>
                      <a:r>
                        <a:rPr sz="1200" spc="-25">
                          <a:latin typeface="Arial"/>
                          <a:cs typeface="Arial"/>
                        </a:rPr>
                        <a:t>Тест-мікроорганізм</a:t>
                      </a:r>
                      <a:endParaRPr/>
                    </a:p>
                  </a:txBody>
                  <a:tcPr anchor="ctr" marL="0" marR="0" marT="0" marB="0"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6350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183515" marR="188595" algn="ctr">
                        <a:lnSpc>
                          <a:spcPct val="96569"/>
                        </a:lnSpc>
                      </a:pPr>
                      <a:r>
                        <a:rPr sz="1200" spc="-25">
                          <a:latin typeface="Arial"/>
                          <a:cs typeface="Arial"/>
                        </a:rPr>
                        <a:t>Кількість повторних добавок мікроорганізмів</a:t>
                      </a:r>
                      <a:endParaRPr/>
                    </a:p>
                  </a:txBody>
                  <a:tcPr anchor="ctr" marL="0" marR="0" marT="0" marB="0"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6350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277495" marR="292100" algn="ctr">
                        <a:lnSpc>
                          <a:spcPct val="96589"/>
                        </a:lnSpc>
                      </a:pPr>
                      <a:r>
                        <a:rPr sz="1200" spc="-45">
                          <a:latin typeface="Arial"/>
                          <a:cs typeface="Arial"/>
                        </a:rPr>
                        <a:t>Наявність (+) </a:t>
                      </a:r>
                      <a:r>
                        <a:rPr sz="1200" spc="-25">
                          <a:latin typeface="Arial"/>
                          <a:cs typeface="Arial"/>
                        </a:rPr>
                        <a:t>або</a:t>
                      </a:r>
                      <a:endParaRPr/>
                    </a:p>
                    <a:p>
                      <a:pPr marL="256540" marR="273685" algn="ctr">
                        <a:lnSpc>
                          <a:spcPts val="1075"/>
                        </a:lnSpc>
                      </a:pPr>
                      <a:r>
                        <a:rPr sz="1200" spc="-25">
                          <a:latin typeface="Arial"/>
                          <a:cs typeface="Arial"/>
                        </a:rPr>
                        <a:t>відсутність (-)</a:t>
                      </a:r>
                      <a:endParaRPr/>
                    </a:p>
                    <a:p>
                      <a:pPr marL="207645" marR="225425" algn="ctr">
                        <a:lnSpc>
                          <a:spcPct val="95250"/>
                        </a:lnSpc>
                      </a:pPr>
                      <a:r>
                        <a:rPr sz="1200" spc="-25">
                          <a:latin typeface="Arial"/>
                          <a:cs typeface="Arial"/>
                        </a:rPr>
                        <a:t>росту тест-мікроорганізма</a:t>
                      </a:r>
                      <a:endParaRPr/>
                    </a:p>
                  </a:txBody>
                  <a:tcPr anchor="b" marL="0" marR="0" marT="0" marB="0"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6350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</a:tr>
              <a:tr h="353695">
                <a:tc>
                  <a:txBody>
                    <a:bodyPr/>
                    <a:p>
                      <a:pPr marL="574040" marR="575310" algn="ctr"/>
                      <a:r>
                        <a:rPr sz="1200" spc="-110">
                          <a:latin typeface="Arial"/>
                          <a:cs typeface="Arial"/>
                        </a:rPr>
                        <a:t>№4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219710" marR="242570" algn="ctr">
                        <a:lnSpc>
                          <a:spcPct val="89326"/>
                        </a:lnSpc>
                      </a:pPr>
                      <a:r>
                        <a:rPr sz="1200" spc="-85">
                          <a:latin typeface="Arial"/>
                          <a:cs typeface="Arial"/>
                        </a:rPr>
                        <a:t>Staphylococcus </a:t>
                      </a:r>
                      <a:r>
                        <a:rPr sz="1200">
                          <a:latin typeface="Arial"/>
                          <a:cs typeface="Arial"/>
                        </a:rPr>
                        <a:t>aureus</a:t>
                      </a:r>
                      <a:endParaRPr/>
                    </a:p>
                  </a:txBody>
                  <a:tcPr anchor="b" marL="0" marR="0" marT="0" marB="0"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643890" marR="654685" algn="ctr"/>
                      <a:r>
                        <a:rPr sz="1200" spc="-75">
                          <a:latin typeface="Arial"/>
                          <a:cs typeface="Arial"/>
                        </a:rPr>
                        <a:t>10</a:t>
                      </a:r>
                      <a:endParaRPr/>
                    </a:p>
                  </a:txBody>
                  <a:tcPr anchor="ctr" marL="0" marR="0" marT="0" marB="0"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655955" marR="661035" algn="ctr"/>
                      <a:r>
                        <a:rPr sz="1200">
                          <a:latin typeface="Arial"/>
                          <a:cs typeface="Arial"/>
                        </a:rPr>
                        <a:t>(-)</a:t>
                      </a:r>
                      <a:endParaRPr/>
                    </a:p>
                  </a:txBody>
                  <a:tcPr anchor="ctr" marL="0" marR="0" marT="0" marB="0"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</a:tr>
              <a:tr h="356870">
                <a:tc>
                  <a:txBody>
                    <a:bodyPr/>
                    <a:p>
                      <a:pPr marL="574040" marR="575310" algn="ctr"/>
                      <a:r>
                        <a:rPr sz="1200" spc="-110">
                          <a:latin typeface="Arial"/>
                          <a:cs typeface="Arial"/>
                        </a:rPr>
                        <a:t>№8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219710" marR="242570" algn="ctr">
                        <a:lnSpc>
                          <a:spcPct val="89326"/>
                        </a:lnSpc>
                      </a:pPr>
                      <a:r>
                        <a:rPr sz="1200" spc="-85">
                          <a:latin typeface="Arial"/>
                          <a:cs typeface="Arial"/>
                        </a:rPr>
                        <a:t>Staphylococcus </a:t>
                      </a:r>
                      <a:r>
                        <a:rPr sz="1200">
                          <a:latin typeface="Arial"/>
                          <a:cs typeface="Arial"/>
                        </a:rPr>
                        <a:t>aureus</a:t>
                      </a:r>
                      <a:endParaRPr/>
                    </a:p>
                  </a:txBody>
                  <a:tcPr anchor="b" marL="0" marR="0" marT="0" marB="0"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643890" marR="654685" algn="ctr"/>
                      <a:r>
                        <a:rPr sz="1200" spc="-75">
                          <a:latin typeface="Arial"/>
                          <a:cs typeface="Arial"/>
                        </a:rPr>
                        <a:t>10</a:t>
                      </a:r>
                      <a:endParaRPr/>
                    </a:p>
                  </a:txBody>
                  <a:tcPr anchor="ctr" marL="0" marR="0" marT="0" marB="0"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655955" marR="661035" algn="ctr"/>
                      <a:r>
                        <a:rPr sz="1200">
                          <a:latin typeface="Arial"/>
                          <a:cs typeface="Arial"/>
                        </a:rPr>
                        <a:t>(-)</a:t>
                      </a:r>
                      <a:endParaRPr/>
                    </a:p>
                  </a:txBody>
                  <a:tcPr anchor="ctr" marL="0" marR="0" marT="0" marB="0"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shape 2"/>
          <p:cNvGrpSpPr/>
          <p:nvPr/>
        </p:nvGrpSpPr>
        <p:grpSpPr>
          <a:xfrm>
            <a:off x="718693" y="565912"/>
            <a:ext cx="5940553" cy="39625"/>
            <a:chOff x="0" y="0"/>
            <a:chExt cx="5940553" cy="39624"/>
          </a:xfrm>
        </p:grpSpPr>
        <p:sp>
          <p:nvSpPr>
            <p:cNvPr id="3" name="shape 3"/>
            <p:cNvSpPr/>
            <p:nvPr/>
          </p:nvSpPr>
          <p:spPr>
            <a:xfrm>
              <a:off x="0" y="0"/>
              <a:ext cx="5940553" cy="6097"/>
            </a:xfrm>
            <a:custGeom>
              <a:pathLst>
                <a:path w="5940552" h="6096">
                  <a:moveTo>
                    <a:pt x="0" y="3048"/>
                  </a:moveTo>
                  <a:lnTo>
                    <a:pt x="5940552" y="3048"/>
                  </a:lnTo>
                </a:path>
              </a:pathLst>
            </a:custGeom>
            <a:ln w="6096" cap="flat">
              <a:solidFill>
                <a:srgbClr val="000000"/>
              </a:solidFill>
              <a:prstDash val="solid"/>
              <a:miter lim="10"/>
            </a:ln>
          </p:spPr>
        </p:sp>
        <p:sp>
          <p:nvSpPr>
            <p:cNvPr id="4" name="shape 4"/>
            <p:cNvSpPr/>
            <p:nvPr/>
          </p:nvSpPr>
          <p:spPr>
            <a:xfrm>
              <a:off x="0" y="33528"/>
              <a:ext cx="5940553" cy="6097"/>
            </a:xfrm>
            <a:custGeom>
              <a:pathLst>
                <a:path w="5940552" h="6096">
                  <a:moveTo>
                    <a:pt x="0" y="3048"/>
                  </a:moveTo>
                  <a:lnTo>
                    <a:pt x="5940552" y="3048"/>
                  </a:lnTo>
                </a:path>
              </a:pathLst>
            </a:custGeom>
            <a:ln w="6096" cap="flat">
              <a:solidFill>
                <a:srgbClr val="000000"/>
              </a:solidFill>
              <a:prstDash val="solid"/>
              <a:miter lim="10"/>
            </a:ln>
          </p:spPr>
        </p:sp>
      </p:grpSp>
      <p:grpSp>
        <p:nvGrpSpPr>
          <p:cNvPr id="5" name="shape 5"/>
          <p:cNvGrpSpPr/>
          <p:nvPr/>
        </p:nvGrpSpPr>
        <p:grpSpPr>
          <a:xfrm>
            <a:off x="0" y="0"/>
            <a:ext cx="55373" cy="72009"/>
            <a:chOff x="0" y="0"/>
            <a:chExt cx="55372" cy="72009"/>
          </a:xfrm>
        </p:grpSpPr>
        <p:sp>
          <p:nvSpPr>
            <p:cNvPr id="6" name="shape 6"/>
            <p:cNvSpPr/>
            <p:nvPr/>
          </p:nvSpPr>
          <p:spPr>
            <a:xfrm>
              <a:off x="8509" y="3556"/>
              <a:ext cx="6096" cy="9144"/>
            </a:xfrm>
            <a:custGeom>
              <a:pathLst>
                <a:path w="6095" h="9144">
                  <a:moveTo>
                    <a:pt x="3048" y="0"/>
                  </a:moveTo>
                  <a:lnTo>
                    <a:pt x="3048" y="9144"/>
                  </a:lnTo>
                </a:path>
              </a:pathLst>
            </a:custGeom>
            <a:ln w="6096" cap="flat">
              <a:solidFill>
                <a:srgbClr val="000000"/>
              </a:solidFill>
              <a:prstDash val="solid"/>
              <a:miter lim="10"/>
            </a:ln>
          </p:spPr>
        </p:sp>
        <p:sp>
          <p:nvSpPr>
            <p:cNvPr id="7" name="shape 7"/>
            <p:cNvSpPr/>
            <p:nvPr/>
          </p:nvSpPr>
          <p:spPr>
            <a:xfrm>
              <a:off x="0" y="0"/>
              <a:ext cx="55373" cy="72009"/>
            </a:xfrm>
            <a:prstGeom prst="rect">
              <a:avLst/>
            </a:prstGeom>
            <a:solidFill>
              <a:srgbClr val="FFFFFF"/>
            </a:solidFill>
          </p:spPr>
        </p:sp>
      </p:grpSp>
      <p:sp>
        <p:nvSpPr>
          <p:cNvPr id="8" name="shape 8"/>
          <p:cNvSpPr/>
          <p:nvPr/>
        </p:nvSpPr>
        <p:spPr>
          <a:xfrm>
            <a:off x="3166237" y="9756775"/>
            <a:ext cx="1054763" cy="19050"/>
          </a:xfrm>
          <a:custGeom>
            <a:pathLst>
              <a:path w="1054762" h="19050">
                <a:moveTo>
                  <a:pt x="0" y="9525"/>
                </a:moveTo>
                <a:lnTo>
                  <a:pt x="1054762" y="9525"/>
                </a:lnTo>
              </a:path>
            </a:pathLst>
          </a:custGeom>
          <a:ln w="19050" cap="flat">
            <a:solidFill>
              <a:srgbClr val="000000"/>
            </a:solidFill>
            <a:prstDash val="solid"/>
            <a:miter lim="10"/>
          </a:ln>
        </p:spPr>
      </p:sp>
      <p:sp>
        <p:nvSpPr>
          <p:cNvPr id="9" name="shape 9"/>
          <p:cNvSpPr txBox="1"/>
          <p:nvPr/>
        </p:nvSpPr>
        <p:spPr>
          <a:xfrm>
            <a:off x="705485" y="372364"/>
            <a:ext cx="2911475" cy="1828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1200">
                <a:latin typeface="Times New Roman"/>
                <a:cs typeface="Times New Roman"/>
              </a:rPr>
              <a:t>Êë³í³÷íà òà åêñïåðèìåíòàëüíà ïàòîëîã³ÿ</a:t>
            </a:r>
            <a:endParaRPr/>
          </a:p>
        </p:txBody>
      </p:sp>
      <p:sp>
        <p:nvSpPr>
          <p:cNvPr id="10" name="shape 10"/>
          <p:cNvSpPr txBox="1"/>
          <p:nvPr/>
        </p:nvSpPr>
        <p:spPr>
          <a:xfrm>
            <a:off x="705485" y="692910"/>
            <a:ext cx="2911475" cy="4581525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6510" indent="180340" algn="just">
              <a:lnSpc>
                <a:spcPct val="100083"/>
              </a:lnSpc>
            </a:pPr>
            <a:r>
              <a:rPr sz="1100">
                <a:latin typeface="Times New Roman"/>
                <a:cs typeface="Times New Roman"/>
              </a:rPr>
              <a:t>Âèÿâëåí³ ïîçèòèâí³ âëàñòèâîñò³ ñïîëóê öüîãî </a:t>
            </a:r>
            <a:r>
              <a:rPr sz="1100" spc="20">
                <a:latin typeface="Times New Roman"/>
                <a:cs typeface="Times New Roman"/>
              </a:rPr>
              <a:t>êëàñó âêàçóþòü íà äîö³ëüí³ñòü ïîäàëüøîãî ñèí-</a:t>
            </a:r>
            <a:r>
              <a:rPr sz="1100">
                <a:latin typeface="Times New Roman"/>
                <a:cs typeface="Times New Roman"/>
              </a:rPr>
              <a:t>òåçó íîâèõ ïîõ³äíèõ ï³ðàçîëó, â³äáîðó íàéá³ëüø </a:t>
            </a:r>
            <a:r>
              <a:rPr sz="1100" spc="-25">
                <a:latin typeface="Times New Roman"/>
                <a:cs typeface="Times New Roman"/>
              </a:rPr>
              <a:t>á³îàêòèâíèõ </a:t>
            </a:r>
            <a:r>
              <a:rPr sz="1100" spc="-20">
                <a:latin typeface="Times New Roman"/>
                <a:cs typeface="Times New Roman"/>
              </a:rPr>
              <a:t>ñïîëóê äëÿ ¿õ ïîãëèáëåíîãî âèâ÷åííÿ.</a:t>
            </a:r>
            <a:endParaRPr/>
          </a:p>
          <a:p>
            <a:pPr marL="193040" algn="just">
              <a:spcBef>
                <a:spcPts val="1300"/>
              </a:spcBef>
            </a:pPr>
            <a:r>
              <a:rPr sz="1100" spc="45">
                <a:latin typeface="Times New Roman"/>
                <a:cs typeface="Times New Roman"/>
              </a:rPr>
              <a:t>Âèñíîâêè</a:t>
            </a:r>
            <a:endParaRPr/>
          </a:p>
          <a:p>
            <a:pPr marL="193040" algn="just">
              <a:lnSpc>
                <a:spcPts val="1340"/>
              </a:lnSpc>
            </a:pPr>
            <a:r>
              <a:rPr sz="1100">
                <a:latin typeface="Times New Roman"/>
                <a:cs typeface="Times New Roman"/>
              </a:rPr>
              <a:t>1.Ôóíêö³îíàëüí³ ïîõ³äí³ ï³ðàçîëó ç âì³ñòîì ó</a:t>
            </a:r>
            <a:endParaRPr/>
          </a:p>
          <a:p>
            <a:pPr marL="13335" algn="just">
              <a:lnSpc>
                <a:spcPts val="1315"/>
              </a:lnSpc>
            </a:pPr>
            <a:r>
              <a:rPr sz="1100" spc="25">
                <a:latin typeface="Times New Roman"/>
                <a:cs typeface="Times New Roman"/>
              </a:rPr>
              <a:t>ñòðóêòóð³  ìîëåêóë  ã³äðîêñèìåòèëåíîâî¿  àáî</a:t>
            </a:r>
            <a:endParaRPr/>
          </a:p>
          <a:p>
            <a:pPr marL="13335" algn="just">
              <a:lnSpc>
                <a:spcPts val="1320"/>
              </a:lnSpc>
            </a:pPr>
            <a:r>
              <a:rPr sz="1100" spc="-15">
                <a:latin typeface="Times New Roman"/>
                <a:cs typeface="Times New Roman"/>
              </a:rPr>
              <a:t>óðå¿äíî¿ óãðóïîâàíü âîëîä³þòü âèðàæåíîþ àêòèâ-</a:t>
            </a:r>
            <a:endParaRPr/>
          </a:p>
          <a:p>
            <a:pPr marL="13335" algn="just">
              <a:lnSpc>
                <a:spcPts val="1320"/>
              </a:lnSpc>
            </a:pPr>
            <a:r>
              <a:rPr sz="1100" spc="-5">
                <a:latin typeface="Times New Roman"/>
                <a:cs typeface="Times New Roman"/>
              </a:rPr>
              <a:t>í³ñòþ òà ñïåêòðîì àíòèì³êðîáíî¿ ä³¿ in vitro.</a:t>
            </a:r>
            <a:endParaRPr/>
          </a:p>
          <a:p>
            <a:pPr marL="193040" algn="just">
              <a:lnSpc>
                <a:spcPts val="1320"/>
              </a:lnSpc>
            </a:pPr>
            <a:r>
              <a:rPr sz="1100" spc="-10">
                <a:latin typeface="Times New Roman"/>
                <a:cs typeface="Times New Roman"/>
              </a:rPr>
              <a:t>2.Àíòèáàêòåð³àëüíà ³ àíòèãðèáêîâà àêòèâí³ñòü</a:t>
            </a:r>
            <a:endParaRPr/>
          </a:p>
          <a:p>
            <a:pPr marL="13335" algn="just">
              <a:lnSpc>
                <a:spcPts val="1320"/>
              </a:lnSpc>
            </a:pPr>
            <a:r>
              <a:rPr sz="1100" spc="20">
                <a:latin typeface="Times New Roman"/>
                <a:cs typeface="Times New Roman"/>
              </a:rPr>
              <a:t>ïðåïàðàò³â çàëåæàòü ÿê â³ä âèäó òåñò-ì³êðîîð-</a:t>
            </a:r>
            <a:endParaRPr/>
          </a:p>
          <a:p>
            <a:pPr marL="13335" algn="just">
              <a:lnSpc>
                <a:spcPts val="1320"/>
              </a:lnSpc>
            </a:pPr>
            <a:r>
              <a:rPr sz="1100">
                <a:latin typeface="Times New Roman"/>
                <a:cs typeface="Times New Roman"/>
              </a:rPr>
              <a:t>ãàí³çìó, òàê ³ â³ä õ³ì³÷íî¿ áóäîâè äîñë³äæóâàíèõ</a:t>
            </a:r>
            <a:endParaRPr/>
          </a:p>
          <a:p>
            <a:pPr marL="13335" algn="just">
              <a:lnSpc>
                <a:spcPts val="1320"/>
              </a:lnSpc>
            </a:pPr>
            <a:r>
              <a:rPr sz="1100" spc="-15">
                <a:latin typeface="Times New Roman"/>
                <a:cs typeface="Times New Roman"/>
              </a:rPr>
              <a:t>ñïîëóê.</a:t>
            </a:r>
            <a:endParaRPr/>
          </a:p>
          <a:p>
            <a:pPr marL="193040" algn="just">
              <a:spcBef>
                <a:spcPts val="1200"/>
              </a:spcBef>
            </a:pPr>
            <a:r>
              <a:rPr sz="1100" spc="30">
                <a:latin typeface="Times New Roman"/>
                <a:cs typeface="Times New Roman"/>
              </a:rPr>
              <a:t>Ïåðñïåêòèâè ïîäàëüøèõ äîñë³äæåíü</a:t>
            </a:r>
            <a:endParaRPr/>
          </a:p>
          <a:p>
            <a:pPr marL="13335" marR="12700" indent="179705" algn="just">
              <a:lnSpc>
                <a:spcPct val="100083"/>
              </a:lnSpc>
            </a:pPr>
            <a:r>
              <a:rPr sz="1100" spc="25">
                <a:latin typeface="Times New Roman"/>
                <a:cs typeface="Times New Roman"/>
              </a:rPr>
              <a:t>Çâàæàþ÷è íà êîðèñí³ ôàðìàêîëîã³÷í³ âëàñ-</a:t>
            </a:r>
            <a:r>
              <a:rPr sz="1100">
                <a:latin typeface="Times New Roman"/>
                <a:cs typeface="Times New Roman"/>
              </a:rPr>
              <a:t>òèâîñò³ ïîõ³äíèõ ï³ðàçîëó ç âì³ñòîì ó ñòðóêòóðó </a:t>
            </a:r>
            <a:r>
              <a:rPr sz="1100" spc="25">
                <a:latin typeface="Times New Roman"/>
                <a:cs typeface="Times New Roman"/>
              </a:rPr>
              <a:t>ìîëåêóë ã³äðîêñèìåòèëüíèõ ãðóï òà ïîõ³äíèõ </a:t>
            </a:r>
            <a:r>
              <a:rPr sz="1100" spc="-25">
                <a:latin typeface="Times New Roman"/>
                <a:cs typeface="Times New Roman"/>
              </a:rPr>
              <a:t>óðå¿äîï³ðàçîë³â, âîëîä³þ÷èõ àíòèíåîïëàñòè÷íèìè, </a:t>
            </a:r>
            <a:r>
              <a:rPr sz="1100" spc="15">
                <a:latin typeface="Times New Roman"/>
                <a:cs typeface="Times New Roman"/>
              </a:rPr>
              <a:t>ïðîòèçàïàëüíèìè, àíòèíåâðîëîã³÷íèìè âëàñòèâîñ-</a:t>
            </a:r>
            <a:r>
              <a:rPr sz="1100" spc="25">
                <a:latin typeface="Times New Roman"/>
                <a:cs typeface="Times New Roman"/>
              </a:rPr>
              <a:t>òÿìè, çäàòí³ñòþ ³íã³áóâàòè ïåâí³ âèäè ê³íàç, à </a:t>
            </a:r>
            <a:r>
              <a:rPr sz="1100" spc="20">
                <a:latin typeface="Times New Roman"/>
                <a:cs typeface="Times New Roman"/>
              </a:rPr>
              <a:t>òàêîæ âèÿâëåí³ â äàí³é ðîáîò³ âèñîêó àêòèâí³ñòü </a:t>
            </a:r>
            <a:r>
              <a:rPr sz="1100">
                <a:latin typeface="Times New Roman"/>
                <a:cs typeface="Times New Roman"/>
              </a:rPr>
              <a:t>òà øèðîêèé ñïåêòð àíòèì³êðîáíî¿ ä³¿ ïðåïàðàò³â </a:t>
            </a:r>
            <a:r>
              <a:rPr sz="1100" spc="45">
                <a:latin typeface="Times New Roman"/>
                <a:cs typeface="Times New Roman"/>
              </a:rPr>
              <a:t>äîö³ëüíèì º ïîäàëüøå ïîãëèáëåíå äîñë³äæåííÿ </a:t>
            </a:r>
            <a:r>
              <a:rPr sz="1100" spc="-10">
                <a:latin typeface="Times New Roman"/>
                <a:cs typeface="Times New Roman"/>
              </a:rPr>
              <a:t>äàíîãî êëàñó ñïîëóê ³ ¿õí³õ àíàëîã³â.</a:t>
            </a:r>
            <a:endParaRPr/>
          </a:p>
          <a:p>
            <a:pPr marL="193040">
              <a:spcBef>
                <a:spcPts val="800"/>
              </a:spcBef>
            </a:pPr>
            <a:r>
              <a:rPr sz="900" spc="45">
                <a:latin typeface="Times New Roman"/>
                <a:cs typeface="Times New Roman"/>
              </a:rPr>
              <a:t>Ë³òåðàòóðà. 1.Andersan W. K., Janes A. N. J. Mad.</a:t>
            </a:r>
            <a:endParaRPr/>
          </a:p>
        </p:txBody>
      </p:sp>
      <p:sp>
        <p:nvSpPr>
          <p:cNvPr id="11" name="shape 11"/>
          <p:cNvSpPr txBox="1"/>
          <p:nvPr/>
        </p:nvSpPr>
        <p:spPr>
          <a:xfrm>
            <a:off x="3765550" y="387604"/>
            <a:ext cx="2914016" cy="1828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311275"/>
            <a:r>
              <a:rPr sz="1200" spc="-15">
                <a:latin typeface="Arial"/>
                <a:cs typeface="Arial"/>
              </a:rPr>
              <a:t>Òîì XI²²,</a:t>
            </a:r>
            <a:r>
              <a:rPr sz="1200" spc="220">
                <a:latin typeface="Arial"/>
                <a:cs typeface="Arial"/>
              </a:rPr>
              <a:t> </a:t>
            </a:r>
            <a:r>
              <a:rPr sz="1200" spc="-15">
                <a:latin typeface="Arial"/>
                <a:cs typeface="Arial"/>
              </a:rPr>
              <a:t>¹3 (49), 2014</a:t>
            </a:r>
            <a:endParaRPr/>
          </a:p>
        </p:txBody>
      </p:sp>
      <p:sp>
        <p:nvSpPr>
          <p:cNvPr id="12" name="shape 12"/>
          <p:cNvSpPr txBox="1"/>
          <p:nvPr/>
        </p:nvSpPr>
        <p:spPr>
          <a:xfrm>
            <a:off x="3765550" y="699986"/>
            <a:ext cx="2914016" cy="4584599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2700" algn="just">
              <a:lnSpc>
                <a:spcPct val="83567"/>
              </a:lnSpc>
            </a:pPr>
            <a:r>
              <a:rPr sz="900">
                <a:latin typeface="Times New Roman"/>
                <a:cs typeface="Times New Roman"/>
              </a:rPr>
              <a:t>Ô./Àíòèá³îòèêîðåçèñòåíòí³ñòü  êë³í³÷íèõ øòàì³â Escherichia </a:t>
            </a:r>
            <a:r>
              <a:rPr sz="900" spc="10">
                <a:latin typeface="Times New Roman"/>
                <a:cs typeface="Times New Roman"/>
              </a:rPr>
              <a:t>coli â õ³ðóðã³÷íèõ ñòàö³îíàðàõ Ó</a:t>
            </a:r>
            <a:r>
              <a:rPr sz="900" spc="5">
                <a:latin typeface="Times New Roman"/>
                <a:cs typeface="Times New Roman"/>
              </a:rPr>
              <a:t>êðà¿íè ó 2010 ð.//Óêð. ìåä. </a:t>
            </a:r>
            <a:r>
              <a:rPr sz="900" spc="15">
                <a:latin typeface="Times New Roman"/>
                <a:cs typeface="Times New Roman"/>
              </a:rPr>
              <a:t>÷àñîïèñ, - 2011. - 4(84), - Ñ.124-128. </a:t>
            </a:r>
            <a:r>
              <a:rPr sz="900" spc="20">
                <a:latin typeface="Times New Roman"/>
                <a:cs typeface="Times New Roman"/>
              </a:rPr>
              <a:t>14. Ñàëìàíîâ À. Ã., </a:t>
            </a:r>
            <a:r>
              <a:rPr sz="900" spc="55">
                <a:latin typeface="Times New Roman"/>
                <a:cs typeface="Times New Roman"/>
              </a:rPr>
              <a:t>Ìàð³ºâñüêèé Â. Ô., Ïîë³ùóê Î. ²., Ïîêàñ Î. Â. Ïîð³âíÿëü-</a:t>
            </a:r>
            <a:r>
              <a:rPr sz="900" spc="65">
                <a:latin typeface="Times New Roman"/>
                <a:cs typeface="Times New Roman"/>
              </a:rPr>
              <a:t>íèé àíàë³ç îñíîâíèõ çáóäíèê³â ³íôåêö³é ä³ëÿíêè </a:t>
            </a:r>
            <a:r>
              <a:rPr sz="900" spc="15">
                <a:latin typeface="Times New Roman"/>
                <a:cs typeface="Times New Roman"/>
              </a:rPr>
              <a:t>õ³ðóðã³÷íîãî âòðó÷àííÿ ó ñòàö³îíàðàõ ì. Êèºâà//Õ³ðóðã³ÿ </a:t>
            </a:r>
            <a:r>
              <a:rPr sz="900" spc="5">
                <a:latin typeface="Times New Roman"/>
                <a:cs typeface="Times New Roman"/>
              </a:rPr>
              <a:t>Óêðà¿íè. - 2009. -1(29). - Ñ.30-35.15.  Ñàëì</a:t>
            </a:r>
            <a:r>
              <a:rPr sz="900" spc="30">
                <a:latin typeface="Times New Roman"/>
                <a:cs typeface="Times New Roman"/>
              </a:rPr>
              <a:t>àíîâ À. Ã., Ìà-ð³ºâñüêèé Â. Ô., Äîàí Ñ. ². Àíòèá³îòèêîðåçèñòåíòí³ñòü </a:t>
            </a:r>
            <a:r>
              <a:rPr sz="900">
                <a:latin typeface="Times New Roman"/>
                <a:cs typeface="Times New Roman"/>
              </a:rPr>
              <a:t>êë³í³÷íèõ øòàì³â Escherichia coli â õ³ðóðã³÷íèõ ñòàö³îíàðàõ Óêðà¿íè ó 2009 ð.//Åêñïåðèìåíò. ³ êë³í. ìåäèöèíà. - 2010. - 3 </a:t>
            </a:r>
            <a:r>
              <a:rPr sz="900" spc="35">
                <a:latin typeface="Times New Roman"/>
                <a:cs typeface="Times New Roman"/>
              </a:rPr>
              <a:t>(48). - Ñ. 137-142. 16. Áðàòåíêî Ì. Ê., Áàðóñ Ì. Ì., Âîâê </a:t>
            </a:r>
            <a:r>
              <a:rPr sz="900" spc="55">
                <a:latin typeface="Times New Roman"/>
                <a:cs typeface="Times New Roman"/>
              </a:rPr>
              <a:t>Ì. Â./Ïîëèôóíêöèîíàëüíûå ïèðà-çîëû 6. óäîáíûé ìåòîä </a:t>
            </a:r>
            <a:r>
              <a:rPr sz="900" spc="-85">
                <a:latin typeface="Times New Roman"/>
                <a:cs typeface="Times New Roman"/>
              </a:rPr>
              <a:t>ñèíòåçà 1-àðèë/Í-ïèðàçîë-3,4-äèêàðáîíîâûõ êèñëîò//ÕÃÑ. -</a:t>
            </a:r>
            <a:endParaRPr/>
          </a:p>
          <a:p>
            <a:pPr marL="302895" indent="-290195" algn="just">
              <a:lnSpc>
                <a:spcPts val="845"/>
              </a:lnSpc>
              <a:tabLst>
                <a:tab pos="302895" algn="l"/>
                <a:tab pos="1421130" algn="l"/>
              </a:tabLst>
            </a:pPr>
            <a:r>
              <a:rPr sz="900" spc="3">
                <a:latin typeface="Times New Roman"/>
                <a:cs typeface="Times New Roman"/>
              </a:rPr>
              <a:t/>
            </a:r>
            <a:r>
              <a:rPr sz="900" spc="3">
                <a:latin typeface="Times New Roman"/>
                <a:cs typeface="Times New Roman"/>
              </a:rPr>
              <a:t>	</a:t>
            </a:r>
            <a:r>
              <a:rPr sz="900" spc="5">
                <a:latin typeface="Times New Roman"/>
                <a:cs typeface="Times New Roman"/>
              </a:rPr>
              <a:t>- ¹2. - Ñ.243-247. 17.</a:t>
            </a:r>
            <a:r>
              <a:rPr sz="900" spc="5">
                <a:latin typeface="Times New Roman"/>
                <a:cs typeface="Times New Roman"/>
              </a:rPr>
              <a:t>	</a:t>
            </a:r>
            <a:r>
              <a:rPr sz="900" spc="20">
                <a:latin typeface="Times New Roman"/>
                <a:cs typeface="Times New Roman"/>
              </a:rPr>
              <a:t>Cherrier M.-P., Parmantier E.,</a:t>
            </a:r>
            <a:endParaRPr/>
          </a:p>
          <a:p>
            <a:pPr marL="12700" algn="just">
              <a:lnSpc>
                <a:spcPts val="895"/>
              </a:lnSpc>
            </a:pPr>
            <a:r>
              <a:rPr sz="900" spc="5">
                <a:latin typeface="Times New Roman"/>
                <a:cs typeface="Times New Roman"/>
              </a:rPr>
              <a:t>Minaux H., Clerc F., Angouliant O., Brollo M., Schio L., US</a:t>
            </a:r>
            <a:endParaRPr/>
          </a:p>
          <a:p>
            <a:pPr marL="12700" marR="16510" algn="just">
              <a:lnSpc>
                <a:spcPct val="83041"/>
              </a:lnSpc>
              <a:tabLst>
                <a:tab pos="2336165" algn="l"/>
              </a:tabLst>
            </a:pPr>
            <a:r>
              <a:rPr sz="900" spc="-10">
                <a:latin typeface="Times New Roman"/>
                <a:cs typeface="Times New Roman"/>
              </a:rPr>
              <a:t>Pat. 2009197866. 18.Cantar A., </a:t>
            </a:r>
            <a:r>
              <a:rPr sz="900" spc="-5">
                <a:latin typeface="Times New Roman"/>
                <a:cs typeface="Times New Roman"/>
              </a:rPr>
              <a:t>Schelanski M./Jodophor iodine </a:t>
            </a:r>
            <a:r>
              <a:rPr sz="900" spc="5">
                <a:latin typeface="Times New Roman"/>
                <a:cs typeface="Times New Roman"/>
              </a:rPr>
              <a:t>sampoos//Sac. Casmet. Chem. 1956, 7, 419. 19.</a:t>
            </a:r>
            <a:r>
              <a:rPr sz="900" spc="5">
                <a:latin typeface="Times New Roman"/>
                <a:cs typeface="Times New Roman"/>
              </a:rPr>
              <a:t>	</a:t>
            </a:r>
            <a:r>
              <a:rPr sz="900" spc="5">
                <a:latin typeface="Times New Roman"/>
                <a:cs typeface="Times New Roman"/>
              </a:rPr>
              <a:t>Elkody M., </a:t>
            </a:r>
            <a:r>
              <a:rPr sz="900">
                <a:latin typeface="Times New Roman"/>
                <a:cs typeface="Times New Roman"/>
              </a:rPr>
              <a:t>Nieb K., Schaible M., Bauer J., Luderer S., Ambrosi G., Werz </a:t>
            </a:r>
            <a:r>
              <a:rPr sz="900" spc="5">
                <a:latin typeface="Times New Roman"/>
                <a:cs typeface="Times New Roman"/>
              </a:rPr>
              <a:t>O., Laufer S. A., J. Med. Chem., 55, 8958 (2012).</a:t>
            </a:r>
            <a:endParaRPr/>
          </a:p>
          <a:p>
            <a:pPr marL="100965" marR="109855" algn="ctr">
              <a:lnSpc>
                <a:spcPct val="100083"/>
              </a:lnSpc>
              <a:spcBef>
                <a:spcPts val="800"/>
              </a:spcBef>
            </a:pPr>
            <a:r>
              <a:rPr sz="900" spc="-5">
                <a:latin typeface="Times New Roman"/>
                <a:cs typeface="Times New Roman"/>
              </a:rPr>
              <a:t>ÀÍÒÈÌÈÊÐOÁÍÀß ÀÊÒÈÂÍÎÑÒÜ È ÑÏÅÊÒÐ </a:t>
            </a:r>
            <a:r>
              <a:rPr sz="900" spc="60">
                <a:latin typeface="Times New Roman"/>
                <a:cs typeface="Times New Roman"/>
              </a:rPr>
              <a:t>ÀÍÒÈÌÈÊÐÎÁÍÎÃÎ ÄÅÉÑÒÂÈß ÍÅÊÎÒÎÐÛÕ </a:t>
            </a:r>
            <a:r>
              <a:rPr sz="900" spc="-5">
                <a:latin typeface="Times New Roman"/>
                <a:cs typeface="Times New Roman"/>
              </a:rPr>
              <a:t>ÍÎÂÛÕ ÑÈÍÒÅÒÈ×ÅÑÊÈÕ ÑÎÅÄÈÍÅÍÈÉ ÏÐÎÈÇÂÎÄÍÛÕ ÏÈÐÀÇÎËÀ ÑÎ ÑÒÐÓÊÒÓÐÍÛÌ </a:t>
            </a:r>
            <a:r>
              <a:rPr sz="900" spc="-20">
                <a:latin typeface="Times New Roman"/>
                <a:cs typeface="Times New Roman"/>
              </a:rPr>
              <a:t>ÑÎÄÅÐÆÀÍÈÅÌ Â ÌÎËÅÊÓËÀÕ </a:t>
            </a:r>
            <a:r>
              <a:rPr sz="900" spc="30">
                <a:latin typeface="Times New Roman"/>
                <a:cs typeface="Times New Roman"/>
              </a:rPr>
              <a:t>ÃÈÄÐÎÊÑÈÌÅÒÈËÜÍÎÃÎ È ÓÐÅÈÄÍÎÈ </a:t>
            </a:r>
            <a:r>
              <a:rPr sz="900">
                <a:latin typeface="Times New Roman"/>
                <a:cs typeface="Times New Roman"/>
              </a:rPr>
              <a:t>ÃÐÓÏÏÈÐÎÂÎÊ ²N V²TRÎ</a:t>
            </a:r>
            <a:endParaRPr/>
          </a:p>
          <a:p>
            <a:pPr marL="198755" marR="210185" algn="ctr">
              <a:lnSpc>
                <a:spcPct val="100083"/>
              </a:lnSpc>
              <a:spcBef>
                <a:spcPts val="400"/>
              </a:spcBef>
            </a:pPr>
            <a:r>
              <a:rPr sz="900" spc="-5">
                <a:latin typeface="Times New Roman"/>
                <a:cs typeface="Times New Roman"/>
              </a:rPr>
              <a:t>È.Ï. Áóðäåíþê, Ì.Ê. Áðàòåíêî, Ì.Ì. Áàðóñ, Â.Ô. </a:t>
            </a:r>
            <a:r>
              <a:rPr sz="900">
                <a:latin typeface="Times New Roman"/>
                <a:cs typeface="Times New Roman"/>
              </a:rPr>
              <a:t>Ìûñëèöêèé, Ê.Ã. Òàùóê</a:t>
            </a:r>
            <a:endParaRPr/>
          </a:p>
          <a:p>
            <a:pPr marL="13335" marR="13970" indent="179705" algn="just">
              <a:lnSpc>
                <a:spcPct val="100083"/>
              </a:lnSpc>
              <a:spcBef>
                <a:spcPts val="500"/>
              </a:spcBef>
            </a:pPr>
            <a:r>
              <a:rPr sz="900">
                <a:latin typeface="Times New Roman"/>
                <a:cs typeface="Times New Roman"/>
              </a:rPr>
              <a:t>Ðåçþìå. </a:t>
            </a:r>
            <a:r>
              <a:rPr sz="900" spc="-10">
                <a:latin typeface="Times New Roman"/>
                <a:cs typeface="Times New Roman"/>
              </a:rPr>
              <a:t>Ïðîâåäåíî èññëåäîâàíèå in vitro áèîëîãè÷åñêîé </a:t>
            </a:r>
            <a:r>
              <a:rPr sz="900" spc="-15">
                <a:latin typeface="Times New Roman"/>
                <a:cs typeface="Times New Roman"/>
              </a:rPr>
              <a:t>àêòèâíîñòè è ñïåêòðà àíòèìèêðîáíîãî äåéñòâèÿ â îòíîøåíèè </a:t>
            </a:r>
            <a:r>
              <a:rPr sz="900" spc="20">
                <a:latin typeface="Times New Roman"/>
                <a:cs typeface="Times New Roman"/>
              </a:rPr>
              <a:t>ãðàìïîëîæèòåëüíûõ è ãðàìîòðèöàòåëüíûõ òåñò-êóëüòóð </a:t>
            </a:r>
            <a:r>
              <a:rPr sz="900" spc="45">
                <a:latin typeface="Times New Roman"/>
                <a:cs typeface="Times New Roman"/>
              </a:rPr>
              <a:t>áàêòåðèé è ãðèáîâ, äåñÿòè âïåðâûå ñèíòåçèðîâàííûõ </a:t>
            </a:r>
            <a:r>
              <a:rPr sz="900" spc="30">
                <a:latin typeface="Times New Roman"/>
                <a:cs typeface="Times New Roman"/>
              </a:rPr>
              <a:t>îðèãèíàëüíûõ õèìè÷åñêèõ ïðåïàðàòîâ. Ñîåäèíåíèÿ îòíî-</a:t>
            </a:r>
            <a:r>
              <a:rPr sz="900" spc="50">
                <a:latin typeface="Times New Roman"/>
                <a:cs typeface="Times New Roman"/>
              </a:rPr>
              <a:t>ñÿòñÿ ê ïðîèçâîäíûì ïèðàçîëà, ñîäåðæàùèõ â ñâîåé </a:t>
            </a:r>
            <a:r>
              <a:rPr sz="900" spc="10">
                <a:latin typeface="Times New Roman"/>
                <a:cs typeface="Times New Roman"/>
              </a:rPr>
              <a:t>ñòðóêòóðå ãèäðîêñèìåòèëüíóþ è óðåèäíóþ ãðóïïû.</a:t>
            </a:r>
            <a:endParaRPr/>
          </a:p>
        </p:txBody>
      </p:sp>
      <p:sp>
        <p:nvSpPr>
          <p:cNvPr id="13" name="shape 13"/>
          <p:cNvSpPr txBox="1"/>
          <p:nvPr/>
        </p:nvSpPr>
        <p:spPr>
          <a:xfrm>
            <a:off x="705485" y="5261323"/>
            <a:ext cx="2914015" cy="4130014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2700" algn="just">
              <a:lnSpc>
                <a:spcPct val="83870"/>
              </a:lnSpc>
              <a:tabLst>
                <a:tab pos="1384935" algn="l"/>
              </a:tabLst>
            </a:pPr>
            <a:r>
              <a:rPr sz="900" spc="5">
                <a:latin typeface="Times New Roman"/>
                <a:cs typeface="Times New Roman"/>
              </a:rPr>
              <a:t>Chem. 27.1559 (1984). 2.</a:t>
            </a:r>
            <a:r>
              <a:rPr sz="900" spc="5">
                <a:latin typeface="Times New Roman"/>
                <a:cs typeface="Times New Roman"/>
              </a:rPr>
              <a:t>	</a:t>
            </a:r>
            <a:r>
              <a:rPr sz="900" spc="-30">
                <a:latin typeface="Times New Roman"/>
                <a:cs typeface="Times New Roman"/>
              </a:rPr>
              <a:t>Anikin V., Gantla V. P., Greguz V. </a:t>
            </a:r>
            <a:r>
              <a:rPr sz="900" spc="-15">
                <a:latin typeface="Times New Roman"/>
                <a:cs typeface="Times New Roman"/>
              </a:rPr>
              <a:t>E., Jiang L., Liu Y., Me Gee D. P. C., Mikel C. C., Pickent J. C., </a:t>
            </a:r>
            <a:r>
              <a:rPr sz="900" spc="40">
                <a:latin typeface="Times New Roman"/>
                <a:cs typeface="Times New Roman"/>
              </a:rPr>
              <a:t>Webb T. R., Cheug J., Zhu T., Kadushkin A., Zaruly S., </a:t>
            </a:r>
            <a:r>
              <a:rPr sz="900" spc="60">
                <a:latin typeface="Times New Roman"/>
                <a:cs typeface="Times New Roman"/>
              </a:rPr>
              <a:t>Chuchalowski A., Me Grath D. E., Sviridov. Pat WO </a:t>
            </a:r>
            <a:r>
              <a:rPr sz="900" spc="45">
                <a:latin typeface="Times New Roman"/>
                <a:cs typeface="Times New Roman"/>
              </a:rPr>
              <a:t>2007056155. 3.Âåäüìèíû Å. À., Ôóðåð Í. Ì. Ëàáîðà-</a:t>
            </a:r>
            <a:r>
              <a:rPr sz="900" spc="60">
                <a:latin typeface="Times New Roman"/>
                <a:cs typeface="Times New Roman"/>
              </a:rPr>
              <a:t>òîðíûå èññëåäîâàíèÿ àíòèáèîòèêîâ/Ðóêîâîäñòâî ïî </a:t>
            </a:r>
            <a:r>
              <a:rPr sz="900" spc="5">
                <a:latin typeface="Times New Roman"/>
                <a:cs typeface="Times New Roman"/>
              </a:rPr>
              <a:t>ìèêðîáèîëîãèè, êëèíèêà è åïèäåìèîëîãèÿ èíôåêöèîííûõ </a:t>
            </a:r>
            <a:r>
              <a:rPr sz="900" spc="30">
                <a:latin typeface="Times New Roman"/>
                <a:cs typeface="Times New Roman"/>
              </a:rPr>
              <a:t>áîëåçíåé//Èçä-âî "Ìåäèöèíà", Ì., 1964. Ò. 4, 602-625. </a:t>
            </a:r>
            <a:r>
              <a:rPr sz="900" spc="-5">
                <a:latin typeface="Times New Roman"/>
                <a:cs typeface="Times New Roman"/>
              </a:rPr>
              <a:t>4.Hirota K., Sajiki H., Isabe Y., Ohba Y., Morita H., Takatu h., </a:t>
            </a:r>
            <a:r>
              <a:rPr sz="900" spc="20">
                <a:latin typeface="Times New Roman"/>
                <a:cs typeface="Times New Roman"/>
              </a:rPr>
              <a:t>Chibo N. US Pat. 5849779. 5.European Centre for Disease </a:t>
            </a:r>
            <a:r>
              <a:rPr sz="900" spc="10">
                <a:latin typeface="Times New Roman"/>
                <a:cs typeface="Times New Roman"/>
              </a:rPr>
              <a:t>Prevention and Central (2007). The European Antimicrobial </a:t>
            </a:r>
            <a:r>
              <a:rPr sz="900">
                <a:latin typeface="Times New Roman"/>
                <a:cs typeface="Times New Roman"/>
              </a:rPr>
              <a:t>Resistance Surveliance System (EARSS) </a:t>
            </a:r>
            <a:r>
              <a:rPr sz="900" spc="-5">
                <a:latin typeface="Times New Roman"/>
                <a:cs typeface="Times New Roman"/>
              </a:rPr>
              <a:t>Annual Report 2007 </a:t>
            </a:r>
            <a:r>
              <a:rPr sz="900" spc="-30">
                <a:latin typeface="Times New Roman"/>
                <a:cs typeface="Times New Roman"/>
              </a:rPr>
              <a:t>(</a:t>
            </a:r>
            <a:r>
              <a:rPr sz="900" spc="-30">
                <a:latin typeface="Times New Roman"/>
                <a:cs typeface="Times New Roman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</a:t>
            </a:r>
            <a:r>
              <a:rPr sz="900" spc="-45">
                <a:latin typeface="Times New Roman"/>
                <a:cs typeface="Times New Roman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.rivm.nl/earss/</a:t>
            </a:r>
            <a:r>
              <a:rPr sz="900" spc="-45">
                <a:latin typeface="Times New Roman"/>
                <a:cs typeface="Times New Roman"/>
              </a:rPr>
              <a:t>(mages) EARSS %20 2077-FINAL-tcm61-</a:t>
            </a:r>
            <a:r>
              <a:rPr sz="900" spc="20">
                <a:latin typeface="Times New Roman"/>
                <a:cs typeface="Times New Roman"/>
              </a:rPr>
              <a:t>55933. pdf). 6.Jamieson C., Maclean L. K. F., Brown C. J., </a:t>
            </a:r>
            <a:r>
              <a:rPr sz="900" spc="-15">
                <a:latin typeface="Times New Roman"/>
                <a:cs typeface="Times New Roman"/>
              </a:rPr>
              <a:t>Campbell R. A., Gillen K.L., Gillespie L., Kazemier B., Kiczam </a:t>
            </a:r>
            <a:r>
              <a:rPr sz="900">
                <a:latin typeface="Times New Roman"/>
                <a:cs typeface="Times New Roman"/>
              </a:rPr>
              <a:t>M., Lamont Y., L</a:t>
            </a:r>
            <a:r>
              <a:rPr sz="900" spc="5">
                <a:latin typeface="Times New Roman"/>
                <a:cs typeface="Times New Roman"/>
              </a:rPr>
              <a:t>yans A., </a:t>
            </a:r>
            <a:r>
              <a:rPr sz="900">
                <a:latin typeface="Times New Roman"/>
                <a:cs typeface="Times New Roman"/>
              </a:rPr>
              <a:t>Moir E., Mazzaw L.A., Pantling L., </a:t>
            </a:r>
            <a:r>
              <a:rPr sz="900" spc="25">
                <a:latin typeface="Times New Roman"/>
                <a:cs typeface="Times New Roman"/>
              </a:rPr>
              <a:t>Rankovic Z., Smith L., Bioorg. Med. Chem. Lett., 21, 805 </a:t>
            </a:r>
            <a:r>
              <a:rPr sz="900" spc="5">
                <a:latin typeface="Times New Roman"/>
                <a:cs typeface="Times New Roman"/>
              </a:rPr>
              <a:t>(2011). 7.Clare M., Fletcher T. R., Hamper B. C., Hanson G. </a:t>
            </a:r>
            <a:r>
              <a:rPr sz="900" spc="-10">
                <a:latin typeface="Times New Roman"/>
                <a:cs typeface="Times New Roman"/>
              </a:rPr>
              <a:t>A., Heier R. F., Huang H., Lennon P., Oburn D. S., Redding M. </a:t>
            </a:r>
            <a:r>
              <a:rPr sz="900" spc="5">
                <a:latin typeface="Times New Roman"/>
                <a:cs typeface="Times New Roman"/>
              </a:rPr>
              <a:t>T., Stealay M. A., Woltson S. G. J. Xie. Pat. WO 200537797. </a:t>
            </a:r>
            <a:r>
              <a:rPr sz="900" spc="-5">
                <a:latin typeface="Times New Roman"/>
                <a:cs typeface="Times New Roman"/>
              </a:rPr>
              <a:t>8.Nakayama T., </a:t>
            </a:r>
            <a:r>
              <a:rPr sz="900" spc="-10">
                <a:latin typeface="Times New Roman"/>
                <a:cs typeface="Times New Roman"/>
              </a:rPr>
              <a:t>Kena K., Nomoto Y., Matsumoto Y., Yano H., Nakanischi S., Kotaro T., Kusaki H., Pat. EP 1637532. 9.Nauen </a:t>
            </a:r>
            <a:r>
              <a:rPr sz="900" spc="25">
                <a:latin typeface="Times New Roman"/>
                <a:cs typeface="Times New Roman"/>
              </a:rPr>
              <a:t>D., Kelly H., Moffett K., Michelotti E. L., Lui B., US Pat. </a:t>
            </a:r>
            <a:r>
              <a:rPr sz="900" spc="60">
                <a:latin typeface="Times New Roman"/>
                <a:cs typeface="Times New Roman"/>
              </a:rPr>
              <a:t>2001041642. 10.Ïàò. 89004 Óêðà¿íà ÌÏÊ (2009) </a:t>
            </a:r>
            <a:r>
              <a:rPr sz="900" spc="-10">
                <a:latin typeface="Times New Roman"/>
                <a:cs typeface="Times New Roman"/>
              </a:rPr>
              <a:t>Ñ2Ñ07Â231/00. Ñïîñ³á îäåðæàííÿ 1-àêðèë-3,4-ï³ðàçîë-</a:t>
            </a:r>
            <a:r>
              <a:rPr sz="900" spc="55">
                <a:latin typeface="Times New Roman"/>
                <a:cs typeface="Times New Roman"/>
              </a:rPr>
              <a:t>äèêàðáîíîâèõ êèñëîò/Âîâê Ì. Â., Áðàòåíêî Ì. Ê., Áàðóñ </a:t>
            </a:r>
            <a:r>
              <a:rPr sz="900" spc="65">
                <a:latin typeface="Times New Roman"/>
                <a:cs typeface="Times New Roman"/>
              </a:rPr>
              <a:t>Ì. Ì. ³íñòèòóò îðãàí³÷íî¿ õ³ì³¿ ÍÀÍ Óêðà¿íè. - ¹ </a:t>
            </a:r>
            <a:r>
              <a:rPr sz="900" spc="-5">
                <a:latin typeface="Times New Roman"/>
                <a:cs typeface="Times New Roman"/>
              </a:rPr>
              <a:t>200813927; çàÿâë. 03.12.2008; îïóáë. 12.10.2009, Áþë. ¹19.</a:t>
            </a:r>
            <a:endParaRPr/>
          </a:p>
          <a:p>
            <a:pPr marL="192405" indent="-179705" algn="just">
              <a:lnSpc>
                <a:spcPts val="770"/>
              </a:lnSpc>
              <a:tabLst>
                <a:tab pos="192405" algn="l"/>
              </a:tabLst>
            </a:pPr>
            <a:r>
              <a:rPr sz="900" spc="5">
                <a:latin typeface="Times New Roman"/>
                <a:cs typeface="Times New Roman"/>
              </a:rPr>
              <a:t>11.</a:t>
            </a:r>
            <a:r>
              <a:rPr sz="900" spc="5">
                <a:latin typeface="Times New Roman"/>
                <a:cs typeface="Times New Roman"/>
              </a:rPr>
              <a:t>	</a:t>
            </a:r>
            <a:r>
              <a:rPr sz="900" spc="15">
                <a:latin typeface="Times New Roman"/>
                <a:cs typeface="Times New Roman"/>
              </a:rPr>
              <a:t>Ïàëèé Ã. Ê., Òðîÿí Ã. À., Äåíèñåíêî Â. Ï., Íåâñêàÿ Ò.</a:t>
            </a:r>
            <a:endParaRPr/>
          </a:p>
          <a:p>
            <a:pPr marL="12700" marR="13335" algn="just">
              <a:lnSpc>
                <a:spcPct val="84282"/>
              </a:lnSpc>
            </a:pPr>
            <a:r>
              <a:rPr sz="900" spc="-5">
                <a:latin typeface="Times New Roman"/>
                <a:cs typeface="Times New Roman"/>
              </a:rPr>
              <a:t>Ë./Èçó÷åíèå àí-òèìèêðîáíûõ è ôàðìàêîëîãè÷åñêèõ ñâîéñòâ </a:t>
            </a:r>
            <a:r>
              <a:rPr sz="900" spc="60">
                <a:latin typeface="Times New Roman"/>
                <a:cs typeface="Times New Roman"/>
              </a:rPr>
              <a:t>àììîíèåâûõ ñîëåé, ïðîèç-âîäíûõ ãåêñà- è ãåïòàìå-</a:t>
            </a:r>
            <a:r>
              <a:rPr sz="900" spc="-5">
                <a:latin typeface="Times New Roman"/>
                <a:cs typeface="Times New Roman"/>
              </a:rPr>
              <a:t>òèëåíäèàìèíà.//Ñá. Àíòèáèîòèêà, Êèåâ, 1967. - ¹2., Ñ. 156-</a:t>
            </a:r>
            <a:endParaRPr/>
          </a:p>
          <a:p>
            <a:pPr marL="248920" indent="-235585" algn="just">
              <a:lnSpc>
                <a:spcPts val="905"/>
              </a:lnSpc>
              <a:tabLst>
                <a:tab pos="248920" algn="l"/>
              </a:tabLst>
            </a:pPr>
            <a:r>
              <a:rPr sz="900" spc="3">
                <a:latin typeface="Times New Roman"/>
                <a:cs typeface="Times New Roman"/>
              </a:rPr>
              <a:t>162.</a:t>
            </a:r>
            <a:r>
              <a:rPr sz="900" spc="3">
                <a:latin typeface="Times New Roman"/>
                <a:cs typeface="Times New Roman"/>
              </a:rPr>
              <a:t>	</a:t>
            </a:r>
            <a:r>
              <a:rPr sz="900" spc="5">
                <a:latin typeface="Times New Roman"/>
                <a:cs typeface="Times New Roman"/>
              </a:rPr>
              <a:t>12.Ïà</a:t>
            </a:r>
            <a:r>
              <a:rPr sz="900" spc="10">
                <a:latin typeface="Times New Roman"/>
                <a:cs typeface="Times New Roman"/>
              </a:rPr>
              <a:t>ëèé Ã. Ê., Óäàâèöêàÿ Â. Â., Ëàïóøèíñêèé À. È.,</a:t>
            </a:r>
            <a:endParaRPr/>
          </a:p>
          <a:p>
            <a:pPr marL="12700" marR="14605" algn="just">
              <a:lnSpc>
                <a:spcPct val="84282"/>
              </a:lnSpc>
            </a:pPr>
            <a:r>
              <a:rPr sz="900" spc="45">
                <a:latin typeface="Times New Roman"/>
                <a:cs typeface="Times New Roman"/>
              </a:rPr>
              <a:t>Áóðäåíþê È. Ï./Ñèíòåç è àíòèìèêðîáíàÿ àêòèâíîñòü </a:t>
            </a:r>
            <a:r>
              <a:rPr sz="900" spc="35">
                <a:latin typeface="Times New Roman"/>
                <a:cs typeface="Times New Roman"/>
              </a:rPr>
              <a:t>ïðîèçâîäíûõ öèêëîãåêñà-íà//Õèì. ôàðì. æóðí. - 1970. - 1. -</a:t>
            </a:r>
            <a:r>
              <a:rPr sz="900" spc="5">
                <a:latin typeface="Times New Roman"/>
                <a:cs typeface="Times New Roman"/>
              </a:rPr>
              <a:t>Ñ. 17-20. 13.Ñàëìàíîâ À. Ã., Õàáçåé Ì. Ê., Ìàð³ºâñüêèé Â.</a:t>
            </a:r>
            <a:endParaRPr/>
          </a:p>
        </p:txBody>
      </p:sp>
      <p:sp>
        <p:nvSpPr>
          <p:cNvPr id="14" name="shape 14"/>
          <p:cNvSpPr txBox="1"/>
          <p:nvPr/>
        </p:nvSpPr>
        <p:spPr>
          <a:xfrm>
            <a:off x="3766185" y="5281128"/>
            <a:ext cx="2913381" cy="4246357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2700" indent="179705" algn="just">
              <a:lnSpc>
                <a:spcPct val="100083"/>
              </a:lnSpc>
            </a:pPr>
            <a:r>
              <a:rPr sz="900" spc="5">
                <a:latin typeface="Times New Roman"/>
                <a:cs typeface="Times New Roman"/>
              </a:rPr>
              <a:t>Êëþ÷åâûå ñëîâà: ñèíòåòè÷åñêèå õèìïðåïàðàòû, ïðîèç-</a:t>
            </a:r>
            <a:r>
              <a:rPr sz="900" spc="55">
                <a:latin typeface="Times New Roman"/>
                <a:cs typeface="Times New Roman"/>
              </a:rPr>
              <a:t>âîäíûå ïèðàçîëà, ïèòàòåëüíûå ñðåäû ÌÏÁ è ÌÏÀ, </a:t>
            </a:r>
            <a:r>
              <a:rPr sz="900">
                <a:latin typeface="Times New Roman"/>
                <a:cs typeface="Times New Roman"/>
              </a:rPr>
              <a:t>èíãèáèð</a:t>
            </a:r>
            <a:r>
              <a:rPr sz="900" spc="5">
                <a:latin typeface="Times New Roman"/>
                <a:cs typeface="Times New Roman"/>
              </a:rPr>
              <a:t>óþùèå êîíöåíò</a:t>
            </a:r>
            <a:r>
              <a:rPr sz="900">
                <a:latin typeface="Times New Roman"/>
                <a:cs typeface="Times New Roman"/>
              </a:rPr>
              <a:t>ðàöèè ÌÁñÊ, ÌÁöÊ, òåñò-êóëüòóðû ìèêðîîðãàíèçìîâ, ñåðèéíûå ðàçâåäåíèÿ ïðåïàðàòîâ.</a:t>
            </a:r>
            <a:endParaRPr/>
          </a:p>
          <a:p>
            <a:pPr marL="43180" marR="52705" algn="ctr">
              <a:lnSpc>
                <a:spcPct val="100083"/>
              </a:lnSpc>
              <a:spcBef>
                <a:spcPts val="800"/>
              </a:spcBef>
            </a:pPr>
            <a:r>
              <a:rPr sz="900" spc="-15">
                <a:latin typeface="Times New Roman"/>
                <a:cs typeface="Times New Roman"/>
              </a:rPr>
              <a:t>ANTIMIKROBIALACTIVITYAND SPECTRUM OF </a:t>
            </a:r>
            <a:r>
              <a:rPr sz="900" spc="-10">
                <a:latin typeface="Times New Roman"/>
                <a:cs typeface="Times New Roman"/>
              </a:rPr>
              <a:t>ANTIMICROBIALACTION OFCERTAIN NEW </a:t>
            </a:r>
            <a:r>
              <a:rPr sz="900" spc="-5">
                <a:latin typeface="Times New Roman"/>
                <a:cs typeface="Times New Roman"/>
              </a:rPr>
              <a:t>SYNTHETIC COMBINATIONS PYRAZOLE DERIVATIVES WITH STRUCTURALCONTENTS IN </a:t>
            </a:r>
            <a:r>
              <a:rPr sz="900" spc="-15">
                <a:latin typeface="Times New Roman"/>
                <a:cs typeface="Times New Roman"/>
              </a:rPr>
              <a:t>THE MOLECULESAND THE HYDROXYMETHYLAND UREID GROUPING IN V²TRO</a:t>
            </a:r>
            <a:endParaRPr/>
          </a:p>
          <a:p>
            <a:pPr marL="52070" marR="61595" algn="ctr">
              <a:lnSpc>
                <a:spcPct val="100141"/>
              </a:lnSpc>
              <a:spcBef>
                <a:spcPts val="500"/>
              </a:spcBef>
            </a:pPr>
            <a:r>
              <a:rPr sz="900" spc="-10">
                <a:latin typeface="Times New Roman"/>
                <a:cs typeface="Times New Roman"/>
              </a:rPr>
              <a:t>I.P. Burdenyuk, M.K.. Bratenko, MM. Barus, V.F. Myslitsky, </a:t>
            </a:r>
            <a:r>
              <a:rPr sz="900" spc="-5">
                <a:latin typeface="Times New Roman"/>
                <a:cs typeface="Times New Roman"/>
              </a:rPr>
              <a:t>K.G. Taschuk</a:t>
            </a:r>
            <a:endParaRPr/>
          </a:p>
          <a:p>
            <a:pPr marL="12700" marR="12700" indent="179705" algn="just">
              <a:lnSpc>
                <a:spcPct val="100083"/>
              </a:lnSpc>
              <a:spcBef>
                <a:spcPts val="400"/>
              </a:spcBef>
            </a:pPr>
            <a:r>
              <a:rPr sz="900" spc="10">
                <a:latin typeface="Times New Roman"/>
                <a:cs typeface="Times New Roman"/>
              </a:rPr>
              <a:t>Abstract. </a:t>
            </a:r>
            <a:r>
              <a:rPr sz="900" spc="5">
                <a:latin typeface="Times New Roman"/>
                <a:cs typeface="Times New Roman"/>
              </a:rPr>
              <a:t>The investigation in vitro of biological activity </a:t>
            </a:r>
            <a:r>
              <a:rPr sz="900" spc="-20">
                <a:latin typeface="Times New Roman"/>
                <a:cs typeface="Times New Roman"/>
              </a:rPr>
              <a:t>and range of antimicrobial action against gram-positive and gram-</a:t>
            </a:r>
            <a:r>
              <a:rPr sz="900" spc="-10">
                <a:latin typeface="Times New Roman"/>
                <a:cs typeface="Times New Roman"/>
              </a:rPr>
              <a:t>negative test-cultures of bacteria and fungi, ten first synthesized </a:t>
            </a:r>
            <a:r>
              <a:rPr sz="900" spc="-20">
                <a:latin typeface="Times New Roman"/>
                <a:cs typeface="Times New Roman"/>
              </a:rPr>
              <a:t>original chemical drugs has been corried out. The compounds are </a:t>
            </a:r>
            <a:r>
              <a:rPr sz="900" spc="55">
                <a:latin typeface="Times New Roman"/>
                <a:cs typeface="Times New Roman"/>
              </a:rPr>
              <a:t>derivatives of pyrazole containing in its structure </a:t>
            </a:r>
            <a:r>
              <a:rPr sz="900">
                <a:latin typeface="Times New Roman"/>
                <a:cs typeface="Times New Roman"/>
              </a:rPr>
              <a:t>hydtoxymethyl and oregno group.</a:t>
            </a:r>
            <a:endParaRPr/>
          </a:p>
          <a:p>
            <a:pPr marL="12700" marR="17145" indent="179705" algn="just">
              <a:lnSpc>
                <a:spcPct val="100083"/>
              </a:lnSpc>
            </a:pPr>
            <a:r>
              <a:rPr sz="900" spc="5">
                <a:latin typeface="Times New Roman"/>
                <a:cs typeface="Times New Roman"/>
              </a:rPr>
              <a:t>Key words: </a:t>
            </a:r>
            <a:r>
              <a:rPr sz="900" spc="10">
                <a:latin typeface="Times New Roman"/>
                <a:cs typeface="Times New Roman"/>
              </a:rPr>
              <a:t>synthetic chemicals, derivatives of pyrazole, </a:t>
            </a:r>
            <a:r>
              <a:rPr sz="900" spc="-10">
                <a:latin typeface="Times New Roman"/>
                <a:cs typeface="Times New Roman"/>
              </a:rPr>
              <a:t>medium BCH and MPA, inhibiting concentration Mbsc, Mbck, </a:t>
            </a:r>
            <a:r>
              <a:rPr sz="900" spc="20">
                <a:latin typeface="Times New Roman"/>
                <a:cs typeface="Times New Roman"/>
              </a:rPr>
              <a:t>the test-culture of microorganisms, the serial cultivation of </a:t>
            </a:r>
            <a:r>
              <a:rPr sz="900" spc="-10">
                <a:latin typeface="Times New Roman"/>
                <a:cs typeface="Times New Roman"/>
              </a:rPr>
              <a:t>drugs.</a:t>
            </a:r>
            <a:endParaRPr/>
          </a:p>
          <a:p>
            <a:pPr marL="186055" marR="16510" indent="219710" algn="just">
              <a:lnSpc>
                <a:spcPct val="129002"/>
              </a:lnSpc>
              <a:spcBef>
                <a:spcPts val="600"/>
              </a:spcBef>
            </a:pPr>
            <a:r>
              <a:rPr sz="900" spc="10">
                <a:latin typeface="Times New Roman"/>
                <a:cs typeface="Times New Roman"/>
              </a:rPr>
              <a:t>Bukovinian State Medical University (Chernivtsi) </a:t>
            </a:r>
            <a:r>
              <a:rPr sz="800" spc="25">
                <a:latin typeface="Times New Roman"/>
                <a:cs typeface="Times New Roman"/>
              </a:rPr>
              <a:t>Clin. and experim. pathol.- 2014.- Vol.13, ¹3 (49).-P.28-32.</a:t>
            </a:r>
            <a:endParaRPr/>
          </a:p>
          <a:p>
            <a:pPr marR="19050" algn="r">
              <a:lnSpc>
                <a:spcPts val="930"/>
              </a:lnSpc>
            </a:pPr>
            <a:r>
              <a:rPr sz="800" spc="30">
                <a:latin typeface="Times New Roman"/>
                <a:cs typeface="Times New Roman"/>
              </a:rPr>
              <a:t>Íàä³éøëà äî ðåäàêö³¿ 01.08.2014</a:t>
            </a:r>
            <a:endParaRPr/>
          </a:p>
          <a:p>
            <a:pPr marR="16510" algn="r">
              <a:spcBef>
                <a:spcPts val="300"/>
              </a:spcBef>
            </a:pPr>
            <a:r>
              <a:rPr sz="800" spc="25">
                <a:latin typeface="Times New Roman"/>
                <a:cs typeface="Times New Roman"/>
              </a:rPr>
              <a:t>Ðåöåíçåíò – ïðîô. ².².Çàìîðñüêèé</a:t>
            </a:r>
            <a:endParaRPr/>
          </a:p>
          <a:p>
            <a:pPr marL="798830" marR="17780" algn="r">
              <a:lnSpc>
                <a:spcPct val="127933"/>
              </a:lnSpc>
              <a:spcBef>
                <a:spcPts val="100"/>
              </a:spcBef>
            </a:pPr>
            <a:r>
              <a:rPr sz="800" spc="15">
                <a:latin typeface="Arial"/>
                <a:cs typeface="Arial"/>
              </a:rPr>
              <a:t>©</a:t>
            </a:r>
            <a:r>
              <a:rPr sz="800" spc="80">
                <a:latin typeface="Arial"/>
                <a:cs typeface="Arial"/>
              </a:rPr>
              <a:t> </a:t>
            </a:r>
            <a:r>
              <a:rPr sz="800" spc="30">
                <a:latin typeface="Times New Roman"/>
                <a:cs typeface="Times New Roman"/>
              </a:rPr>
              <a:t>².Ï. Áóðäåíþê, Ì.Ê. Áðàòåíêî, Ì.Ì. Áàðóñ, </a:t>
            </a:r>
            <a:r>
              <a:rPr sz="800" spc="20">
                <a:latin typeface="Times New Roman"/>
                <a:cs typeface="Times New Roman"/>
              </a:rPr>
              <a:t>Â.Ô. Ìèñëèöüêèé, Ê.Ã. Òàùóê, 2014</a:t>
            </a:r>
            <a:endParaRPr/>
          </a:p>
        </p:txBody>
      </p:sp>
      <p:sp>
        <p:nvSpPr>
          <p:cNvPr id="15" name="shape 15"/>
          <p:cNvSpPr txBox="1"/>
          <p:nvPr/>
        </p:nvSpPr>
        <p:spPr>
          <a:xfrm>
            <a:off x="705485" y="10189972"/>
            <a:ext cx="203201" cy="1828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1200" spc="25">
                <a:latin typeface="Arial"/>
                <a:cs typeface="Arial"/>
              </a:rPr>
              <a:t>32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Company>Avanquest</Company>
  <Application>Avanquest Pdf2Office Converter v.0.91.2025103001.0</Application>
  <PresentationFormat>On-screen Show (4:3)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03_2014.pmd</dc:title>
  <dc:subject/>
  <dc:creator>Alex</dc:creator>
  <cp:keywords/>
  <dc:description/>
  <cp:lastModifiedBy>Alex</cp:lastModifiedBy>
  <cp:revision>1</cp:revision>
  <cp:category>pdf2pptx</cp:category>
  <cp:contentStatus>Created with Avanquest.Pdf 0.91.2025103001.0</cp:contentStatus>
  <dcterms:created xsi:type="dcterms:W3CDTF">2014-10-14T12:21:49+0000</dcterms:created>
  <dcterms:modified xsi:type="dcterms:W3CDTF">2014-10-15T16:31:02+0000</dcterms:modified>
</cp:coreProperties>
</file>