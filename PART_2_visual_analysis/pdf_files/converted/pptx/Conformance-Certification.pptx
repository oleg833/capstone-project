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2' Type='http://schemas.openxmlformats.org/officeDocument/2006/relationships/image' Target='../media/ab13a0394b6cd2e2.jpg'/><Relationship Id='rId1' Type='http://schemas.openxmlformats.org/officeDocument/2006/relationships/slideLayout' Target='../slideLayouts/slideLayout1.xml'/><Relationship Id='rId3' Type='http://schemas.openxmlformats.org/officeDocument/2006/relationships/image' Target='../media/3afba39bde471625.png'/><Relationship Id='rId5' Type='http://schemas.openxmlformats.org/officeDocument/2006/relationships/hyperlink' Target='https://www.gwg.org' TargetMode='External'/><Relationship Id='rId4' Type='http://schemas.openxmlformats.org/officeDocument/2006/relationships/hyperlink' Target='https://www.gwg.org/gos5/' TargetMode='External'/></Relationships>
</file>

<file path=ppt/slides/_rels/slide2.xml.rels>&#65279;<?xml version="1.0"?><Relationships xmlns='http://schemas.openxmlformats.org/package/2006/relationships'><Relationship Id='rId2' Type='http://schemas.openxmlformats.org/officeDocument/2006/relationships/image' Target='../media/ab13a0394b6cd2e2.jpg'/><Relationship Id='rId1' Type='http://schemas.openxmlformats.org/officeDocument/2006/relationships/slideLayout' Target='../slideLayouts/slideLayout1.xml'/><Relationship Id='rId3' Type='http://schemas.openxmlformats.org/officeDocument/2006/relationships/image' Target='../media/790f5e4e7d7b2643.png'/><Relationship Id='rId4' Type='http://schemas.openxmlformats.org/officeDocument/2006/relationships/image' Target='../media/a4f9c095bac7f76d.png'/><Relationship Id='rId5' Type='http://schemas.openxmlformats.org/officeDocument/2006/relationships/hyperlink' Target='https://www.gwg.org' TargetMode='External'/></Relationships>
</file>

<file path=ppt/slides/_rels/slide3.xml.rels>&#65279;<?xml version="1.0"?><Relationships xmlns='http://schemas.openxmlformats.org/package/2006/relationships'><Relationship Id='rId4' Type='http://schemas.openxmlformats.org/officeDocument/2006/relationships/hyperlink' Target='http://gwg.org/gos5/conformance-certificates/' TargetMode='External'/><Relationship Id='rId2' Type='http://schemas.openxmlformats.org/officeDocument/2006/relationships/image' Target='../media/ab13a0394b6cd2e2.jpg'/><Relationship Id='rId1' Type='http://schemas.openxmlformats.org/officeDocument/2006/relationships/slideLayout' Target='../slideLayouts/slideLayout1.xml'/><Relationship Id='rId3' Type='http://schemas.openxmlformats.org/officeDocument/2006/relationships/hyperlink' Target='https://www.fourpees.com/en/ghent-pdf-output-suite-certification-course' TargetMode='External'/><Relationship Id='rId5' Type='http://schemas.openxmlformats.org/officeDocument/2006/relationships/hyperlink' Target='https://www.gwg.org/gos5/conformance-certification' TargetMode='External'/><Relationship Id='rId6' Type='http://schemas.openxmlformats.org/officeDocument/2006/relationships/hyperlink' Target='https://www.gwg.org' TargetMode='External'/></Relationships>
</file>

<file path=ppt/slides/_rels/slide4.xml.rels>&#65279;<?xml version="1.0"?><Relationships xmlns='http://schemas.openxmlformats.org/package/2006/relationships'><Relationship Id='rId2' Type='http://schemas.openxmlformats.org/officeDocument/2006/relationships/image' Target='../media/ab13a0394b6cd2e2.jpg'/><Relationship Id='rId1' Type='http://schemas.openxmlformats.org/officeDocument/2006/relationships/slideLayout' Target='../slideLayouts/slideLayout1.xml'/><Relationship Id='rId4' Type='http://schemas.openxmlformats.org/officeDocument/2006/relationships/hyperlink' Target='mailto:marketing@gwg.org' TargetMode='External'/><Relationship Id='rId3' Type='http://schemas.openxmlformats.org/officeDocument/2006/relationships/hyperlink' Target='https://gwg.us11.list-manage.com/track/click?u=06cc60bfdfb54907030774dab&amp;id=492e4232e6&amp;e=d3c6923e2f' TargetMode='External'/><Relationship Id='rId5' Type='http://schemas.openxmlformats.org/officeDocument/2006/relationships/hyperlink' Target='https://www.gwg.org' TargetMode='Externa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81965" cy="10058395"/>
          </a:xfrm>
          <a:prstGeom prst="rect">
            <a:avLst/>
          </a:prstGeom>
          <a:solidFill>
            <a:srgbClr val="F6A400"/>
          </a:solidFill>
        </p:spPr>
      </p:sp>
      <p:pic>
        <p:nvPicPr>
          <p:cNvPr id="3" name="shap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46990" y="424728"/>
            <a:ext cx="1871232" cy="535957"/>
          </a:xfrm>
          <a:prstGeom prst="rect"/>
        </p:spPr>
      </p:pic>
      <p:grpSp>
        <p:nvGrpSpPr>
          <p:cNvPr id="4" name="shape 4"/>
          <p:cNvGrpSpPr/>
          <p:nvPr/>
        </p:nvGrpSpPr>
        <p:grpSpPr>
          <a:xfrm>
            <a:off x="1895539" y="5828360"/>
            <a:ext cx="3974973" cy="3529965"/>
            <a:chOff x="0" y="0"/>
            <a:chExt cx="3974973" cy="3529965"/>
          </a:xfrm>
        </p:grpSpPr>
        <p:pic>
          <p:nvPicPr>
            <p:cNvPr id="5" name="shape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1" y="38107"/>
              <a:ext cx="3955923" cy="3482333"/>
            </a:xfrm>
            <a:prstGeom prst="rect"/>
          </p:spPr>
        </p:pic>
        <p:sp>
          <p:nvSpPr>
            <p:cNvPr id="6" name="shape 6"/>
            <p:cNvSpPr/>
            <p:nvPr/>
          </p:nvSpPr>
          <p:spPr>
            <a:xfrm>
              <a:off x="0" y="0"/>
              <a:ext cx="3974973" cy="3529965"/>
            </a:xfrm>
            <a:prstGeom prst="rect">
              <a:avLst/>
            </a:prstGeom>
            <a:ln w="9525" cap="flat">
              <a:solidFill>
                <a:srgbClr val="CBCBCB"/>
              </a:solidFill>
              <a:prstDash val="solid"/>
              <a:round/>
            </a:ln>
          </p:spPr>
        </p:sp>
      </p:grpSp>
      <p:sp>
        <p:nvSpPr>
          <p:cNvPr id="7" name="shape 7"/>
          <p:cNvSpPr txBox="1"/>
          <p:nvPr/>
        </p:nvSpPr>
        <p:spPr>
          <a:xfrm>
            <a:off x="977900" y="1807210"/>
            <a:ext cx="5761990" cy="3685369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4450" algn="just"/>
            <a:r>
              <a:rPr sz="1800" b="1">
                <a:latin typeface="Arial"/>
                <a:cs typeface="Arial"/>
              </a:rPr>
              <a:t>NEWS RELEASE</a:t>
            </a:r>
            <a:endParaRPr/>
          </a:p>
          <a:p>
            <a:pPr marL="12700" marR="207645" algn="just">
              <a:lnSpc>
                <a:spcPct val="120715"/>
              </a:lnSpc>
              <a:spcBef>
                <a:spcPts val="1400"/>
              </a:spcBef>
            </a:pPr>
            <a:r>
              <a:rPr sz="1800" b="1" spc="-90">
                <a:latin typeface="Arial"/>
                <a:cs typeface="Arial"/>
              </a:rPr>
              <a:t>Ghent Workgroup launches Ghent PDF Output Suite 5.0 </a:t>
            </a:r>
            <a:r>
              <a:rPr sz="1800" b="1">
                <a:latin typeface="Arial"/>
                <a:cs typeface="Arial"/>
              </a:rPr>
              <a:t>Conformance Certification worldwide</a:t>
            </a:r>
            <a:endParaRPr/>
          </a:p>
          <a:p>
            <a:pPr marL="12700" marR="12700">
              <a:lnSpc>
                <a:spcPct val="156498"/>
              </a:lnSpc>
              <a:spcBef>
                <a:spcPts val="1700"/>
              </a:spcBef>
            </a:pPr>
            <a:r>
              <a:rPr sz="1200" b="1" spc="-70">
                <a:latin typeface="Arial"/>
                <a:cs typeface="Arial"/>
              </a:rPr>
              <a:t>GHENT, BELGIUM – 23 November </a:t>
            </a:r>
            <a:r>
              <a:rPr sz="1200" b="1" spc="-80">
                <a:latin typeface="Arial"/>
                <a:cs typeface="Arial"/>
              </a:rPr>
              <a:t>2021 </a:t>
            </a:r>
            <a:r>
              <a:rPr sz="1200" b="1" spc="-70">
                <a:latin typeface="Arial"/>
                <a:cs typeface="Arial"/>
              </a:rPr>
              <a:t>– The Ghent Workgroup (GWG) is offering a new </a:t>
            </a:r>
            <a:r>
              <a:rPr sz="1200" b="1" spc="-5">
                <a:latin typeface="Arial"/>
                <a:cs typeface="Arial"/>
              </a:rPr>
              <a:t>service called </a:t>
            </a:r>
            <a:r>
              <a:rPr sz="1200" b="1" i="1" spc="-5">
                <a:latin typeface="Arial"/>
                <a:cs typeface="Arial"/>
              </a:rPr>
              <a:t>Ghent PDF Output Suite 5.0 Conformance Certification</a:t>
            </a:r>
            <a:r>
              <a:rPr sz="1200" b="1" spc="-5">
                <a:latin typeface="Arial"/>
                <a:cs typeface="Arial"/>
              </a:rPr>
              <a:t>. With this </a:t>
            </a:r>
            <a:r>
              <a:rPr sz="1200" b="1">
                <a:latin typeface="Arial"/>
                <a:cs typeface="Arial"/>
              </a:rPr>
              <a:t>certificate print service providers can prove that their PDF output workflow is compliant with the PDF/X-4 standard (ISO </a:t>
            </a:r>
            <a:r>
              <a:rPr sz="1200" b="1" spc="-10">
                <a:latin typeface="Arial"/>
                <a:cs typeface="Arial"/>
              </a:rPr>
              <a:t>15930</a:t>
            </a:r>
            <a:r>
              <a:rPr sz="1200" b="1">
                <a:latin typeface="Arial"/>
                <a:cs typeface="Arial"/>
              </a:rPr>
              <a:t>-7:2010).</a:t>
            </a:r>
            <a:endParaRPr/>
          </a:p>
          <a:p>
            <a:pPr marL="12700" marR="71755">
              <a:lnSpc>
                <a:spcPct val="155895"/>
              </a:lnSpc>
              <a:spcBef>
                <a:spcPts val="1700"/>
              </a:spcBef>
            </a:pPr>
            <a:r>
              <a:rPr sz="1050" spc="-35">
                <a:latin typeface="Arial"/>
                <a:cs typeface="Arial"/>
              </a:rPr>
              <a:t>The certification is based on the globally recognized </a:t>
            </a:r>
            <a:r>
              <a:rPr sz="1050" b="1" u="sng" spc="-35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Ghent PDF Output Suite</a:t>
            </a:r>
            <a:r>
              <a:rPr sz="1050" b="1" spc="-35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 spc="-35">
                <a:latin typeface="Arial"/>
                <a:cs typeface="Arial"/>
              </a:rPr>
              <a:t>which was developed to </a:t>
            </a:r>
            <a:r>
              <a:rPr sz="1050" spc="-45">
                <a:latin typeface="Arial"/>
                <a:cs typeface="Arial"/>
              </a:rPr>
              <a:t>help </a:t>
            </a:r>
            <a:r>
              <a:rPr sz="1050" b="1" spc="-45">
                <a:latin typeface="Arial"/>
                <a:cs typeface="Arial"/>
              </a:rPr>
              <a:t>testing PDF/X-4 compliancy of PDF output workflows</a:t>
            </a:r>
            <a:r>
              <a:rPr sz="1050" spc="-45">
                <a:latin typeface="Arial"/>
                <a:cs typeface="Arial"/>
              </a:rPr>
              <a:t>. The Ghent PDF Output Suite 5.0 consists </a:t>
            </a:r>
            <a:r>
              <a:rPr sz="1050" spc="-25">
                <a:latin typeface="Arial"/>
                <a:cs typeface="Arial"/>
              </a:rPr>
              <a:t>of several dozen patches each testing a specific aspect of the PDF/X-4 standard. The GWG has put </a:t>
            </a:r>
            <a:r>
              <a:rPr sz="1050">
                <a:latin typeface="Arial"/>
                <a:cs typeface="Arial"/>
              </a:rPr>
              <a:t>together a great number of these patches into </a:t>
            </a:r>
            <a:r>
              <a:rPr sz="1050" b="1" spc="10">
                <a:latin typeface="Arial"/>
                <a:cs typeface="Arial"/>
              </a:rPr>
              <a:t>six </a:t>
            </a:r>
            <a:r>
              <a:rPr sz="1050" b="1">
                <a:latin typeface="Arial"/>
                <a:cs typeface="Arial"/>
              </a:rPr>
              <a:t>merged test pages</a:t>
            </a:r>
            <a:r>
              <a:rPr sz="1050">
                <a:latin typeface="Arial"/>
                <a:cs typeface="Arial"/>
              </a:rPr>
              <a:t>: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977900" y="9642475"/>
            <a:ext cx="76200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81965" cy="10058395"/>
          </a:xfrm>
          <a:prstGeom prst="rect">
            <a:avLst/>
          </a:prstGeom>
          <a:solidFill>
            <a:srgbClr val="F6A400"/>
          </a:solidFill>
        </p:spPr>
      </p:sp>
      <p:pic>
        <p:nvPicPr>
          <p:cNvPr id="3" name="shap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46990" y="424728"/>
            <a:ext cx="1871232" cy="535957"/>
          </a:xfrm>
          <a:prstGeom prst="rect"/>
        </p:spPr>
      </p:pic>
      <p:pic>
        <p:nvPicPr>
          <p:cNvPr id="4" name="shap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5616" y="5891319"/>
            <a:ext cx="1906154" cy="1650462"/>
          </a:xfrm>
          <a:prstGeom prst="rect"/>
        </p:spPr>
      </p:pic>
      <p:pic>
        <p:nvPicPr>
          <p:cNvPr id="5" name="shap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26669" y="5876190"/>
            <a:ext cx="1919162" cy="1660470"/>
          </a:xfrm>
          <a:prstGeom prst="rect"/>
        </p:spPr>
      </p:pic>
      <p:sp>
        <p:nvSpPr>
          <p:cNvPr id="6" name="shape 6"/>
          <p:cNvSpPr txBox="1"/>
          <p:nvPr/>
        </p:nvSpPr>
        <p:spPr>
          <a:xfrm>
            <a:off x="977900" y="2064385"/>
            <a:ext cx="5793740" cy="1246023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5875" algn="just">
              <a:lnSpc>
                <a:spcPct val="156368"/>
              </a:lnSpc>
            </a:pPr>
            <a:r>
              <a:rPr sz="1050" spc="-35">
                <a:latin typeface="Arial"/>
                <a:cs typeface="Arial"/>
              </a:rPr>
              <a:t>This test file is </a:t>
            </a:r>
            <a:r>
              <a:rPr sz="1050" b="1" spc="-35">
                <a:latin typeface="Arial"/>
                <a:cs typeface="Arial"/>
              </a:rPr>
              <a:t>fully PDF/X-4 compliant </a:t>
            </a:r>
            <a:r>
              <a:rPr sz="1050" spc="-40">
                <a:latin typeface="Arial"/>
                <a:cs typeface="Arial"/>
              </a:rPr>
              <a:t>an</a:t>
            </a:r>
            <a:r>
              <a:rPr sz="1050" spc="-35">
                <a:latin typeface="Arial"/>
                <a:cs typeface="Arial"/>
              </a:rPr>
              <a:t>d contains only valid PDF/X-4 features which represents what </a:t>
            </a:r>
            <a:r>
              <a:rPr sz="1050">
                <a:latin typeface="Arial"/>
                <a:cs typeface="Arial"/>
              </a:rPr>
              <a:t>could be part of every regular PDF/X-4 print production file.</a:t>
            </a:r>
            <a:endParaRPr/>
          </a:p>
          <a:p>
            <a:pPr marL="12700" algn="just"/>
            <a:r>
              <a:rPr sz="1050">
                <a:latin typeface="Arial"/>
                <a:cs typeface="Arial"/>
              </a:rPr>
              <a:t>The pages of the Ghent PDF Output Suite 5.0 are grouped into </a:t>
            </a:r>
            <a:r>
              <a:rPr sz="1050" b="1">
                <a:latin typeface="Arial"/>
                <a:cs typeface="Arial"/>
              </a:rPr>
              <a:t>two conformance levels</a:t>
            </a:r>
            <a:r>
              <a:rPr sz="1050">
                <a:latin typeface="Arial"/>
                <a:cs typeface="Arial"/>
              </a:rPr>
              <a:t>:</a:t>
            </a:r>
            <a:endParaRPr/>
          </a:p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470535" indent="-228600">
              <a:spcBef>
                <a:spcPts val="200"/>
              </a:spcBef>
              <a:buSzPts val="1050"/>
              <a:buFont typeface="Symbol"/>
              <a:buChar char="·"/>
            </a:pPr>
            <a:r>
              <a:rPr sz="1050" b="1">
                <a:latin typeface="Arial"/>
                <a:cs typeface="Arial"/>
              </a:rPr>
              <a:t>Conformance Level 1</a:t>
            </a:r>
            <a:r>
              <a:rPr sz="1050">
                <a:latin typeface="Arial"/>
                <a:cs typeface="Arial"/>
              </a:rPr>
              <a:t>: pages 1–</a:t>
            </a:r>
            <a:r>
              <a:rPr sz="1050" spc="5">
                <a:latin typeface="Arial"/>
                <a:cs typeface="Arial"/>
              </a:rPr>
              <a:t>4 </a:t>
            </a:r>
            <a:r>
              <a:rPr sz="1050">
                <a:latin typeface="Arial"/>
                <a:cs typeface="Arial"/>
              </a:rPr>
              <a:t>which includes CMYK and Spot color tests</a:t>
            </a:r>
            <a:endParaRPr/>
          </a:p>
          <a:p>
            <a:pPr marL="470535" indent="-228600">
              <a:spcBef>
                <a:spcPts val="700"/>
              </a:spcBef>
              <a:buSzPts val="1050"/>
              <a:buFont typeface="Symbol"/>
              <a:buChar char="·"/>
            </a:pPr>
            <a:r>
              <a:rPr sz="1050" b="1" spc="-10">
                <a:latin typeface="Arial"/>
                <a:cs typeface="Arial"/>
              </a:rPr>
              <a:t>Conformance Level 1+2</a:t>
            </a:r>
            <a:r>
              <a:rPr sz="1050" spc="-10">
                <a:latin typeface="Arial"/>
                <a:cs typeface="Arial"/>
              </a:rPr>
              <a:t>: pages 1–</a:t>
            </a:r>
            <a:r>
              <a:rPr sz="1050" spc="-5">
                <a:latin typeface="Arial"/>
                <a:cs typeface="Arial"/>
              </a:rPr>
              <a:t>4 </a:t>
            </a:r>
            <a:r>
              <a:rPr sz="1050" spc="-10">
                <a:latin typeface="Arial"/>
                <a:cs typeface="Arial"/>
              </a:rPr>
              <a:t>AND pages 5–</a:t>
            </a:r>
            <a:r>
              <a:rPr sz="1050" spc="-5">
                <a:latin typeface="Arial"/>
                <a:cs typeface="Arial"/>
              </a:rPr>
              <a:t>6 </a:t>
            </a:r>
            <a:r>
              <a:rPr sz="1050" spc="-10">
                <a:latin typeface="Arial"/>
                <a:cs typeface="Arial"/>
              </a:rPr>
              <a:t>which includes ICC based color tests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977900" y="3655695"/>
            <a:ext cx="5793740" cy="1600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50">
                <a:latin typeface="Arial"/>
                <a:cs typeface="Arial"/>
              </a:rPr>
              <a:t>Conformance Level 2 involves color management and is therefore more demanding.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977900" y="4192270"/>
            <a:ext cx="5793740" cy="1828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b="1">
                <a:latin typeface="Arial"/>
                <a:cs typeface="Arial"/>
              </a:rPr>
              <a:t>Certification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977900" y="4732274"/>
            <a:ext cx="5793740" cy="7467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50">
                <a:latin typeface="Arial"/>
                <a:cs typeface="Arial"/>
              </a:rPr>
              <a:t>The GWG is offering two separate Conformance Certificates Levels:</a:t>
            </a:r>
            <a:endParaRPr/>
          </a:p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470535" indent="-228600">
              <a:spcBef>
                <a:spcPts val="100"/>
              </a:spcBef>
              <a:buSzPts val="1050"/>
              <a:buFont typeface="Symbol"/>
              <a:buChar char="·"/>
            </a:pPr>
            <a:r>
              <a:rPr sz="1050">
                <a:latin typeface="Arial"/>
                <a:cs typeface="Arial"/>
              </a:rPr>
              <a:t>Ghent PDF Output Suite 5.0 Conformance Certification – Level 1</a:t>
            </a:r>
            <a:endParaRPr/>
          </a:p>
          <a:p>
            <a:pPr marL="470535" indent="-228600">
              <a:spcBef>
                <a:spcPts val="800"/>
              </a:spcBef>
              <a:buSzPts val="1050"/>
              <a:buFont typeface="Symbol"/>
              <a:buChar char="·"/>
            </a:pPr>
            <a:r>
              <a:rPr sz="1050">
                <a:latin typeface="Arial"/>
                <a:cs typeface="Arial"/>
              </a:rPr>
              <a:t>Ghent PDF Output Suite 5.0 Conformance Certification – Level 1+2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977900" y="7859948"/>
            <a:ext cx="5793740" cy="151699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>
              <a:lnSpc>
                <a:spcPct val="157730"/>
              </a:lnSpc>
            </a:pPr>
            <a:r>
              <a:rPr sz="1050" spc="-10">
                <a:latin typeface="Arial"/>
                <a:cs typeface="Arial"/>
              </a:rPr>
              <a:t>GWG has created the </a:t>
            </a:r>
            <a:r>
              <a:rPr sz="1050" b="1" spc="-10">
                <a:latin typeface="Arial"/>
                <a:cs typeface="Arial"/>
              </a:rPr>
              <a:t>Ghent PDF Output Suite 5.0 Conformance Certification </a:t>
            </a:r>
            <a:r>
              <a:rPr sz="1050" spc="-10">
                <a:latin typeface="Arial"/>
                <a:cs typeface="Arial"/>
              </a:rPr>
              <a:t>program in 2021. </a:t>
            </a:r>
            <a:r>
              <a:rPr sz="1050" spc="-25">
                <a:latin typeface="Arial"/>
                <a:cs typeface="Arial"/>
              </a:rPr>
              <a:t>Participating GWG members can offer this program to their members, customers, community, etc. The </a:t>
            </a:r>
            <a:r>
              <a:rPr sz="1050">
                <a:latin typeface="Arial"/>
                <a:cs typeface="Arial"/>
              </a:rPr>
              <a:t>certification program is for </a:t>
            </a:r>
            <a:r>
              <a:rPr sz="1050" b="1">
                <a:latin typeface="Arial"/>
                <a:cs typeface="Arial"/>
              </a:rPr>
              <a:t>companies </a:t>
            </a:r>
            <a:r>
              <a:rPr sz="1050">
                <a:latin typeface="Arial"/>
                <a:cs typeface="Arial"/>
              </a:rPr>
              <a:t>not individuals and targeted to </a:t>
            </a:r>
            <a:r>
              <a:rPr sz="1050" b="1">
                <a:latin typeface="Arial"/>
                <a:cs typeface="Arial"/>
              </a:rPr>
              <a:t>end users </a:t>
            </a:r>
            <a:r>
              <a:rPr sz="1050">
                <a:latin typeface="Arial"/>
                <a:cs typeface="Arial"/>
              </a:rPr>
              <a:t>(e.g., print and packaging service providers)</a:t>
            </a:r>
            <a:r>
              <a:rPr sz="1050" spc="-10">
                <a:latin typeface="Arial"/>
                <a:cs typeface="Arial"/>
              </a:rPr>
              <a:t>.</a:t>
            </a:r>
            <a:r>
              <a:rPr sz="1050" spc="20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Solution vendors, developers or system integrators who wish to </a:t>
            </a:r>
            <a:r>
              <a:rPr sz="1050" spc="-30">
                <a:latin typeface="Arial"/>
                <a:cs typeface="Arial"/>
              </a:rPr>
              <a:t>participate in the Ghent PDF Output Suite 5.0 Compliancy program for their products should contact the </a:t>
            </a:r>
            <a:r>
              <a:rPr sz="1050">
                <a:latin typeface="Arial"/>
                <a:cs typeface="Arial"/>
              </a:rPr>
              <a:t>GWG</a:t>
            </a:r>
            <a:r>
              <a:rPr sz="1050" spc="-10">
                <a:latin typeface="Arial"/>
                <a:cs typeface="Arial"/>
              </a:rPr>
              <a:t>.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977900" y="9642475"/>
            <a:ext cx="76200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81965" cy="10058395"/>
          </a:xfrm>
          <a:prstGeom prst="rect">
            <a:avLst/>
          </a:prstGeom>
          <a:solidFill>
            <a:srgbClr val="F6A400"/>
          </a:solidFill>
        </p:spPr>
      </p:sp>
      <p:pic>
        <p:nvPicPr>
          <p:cNvPr id="3" name="shap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46990" y="424728"/>
            <a:ext cx="1871232" cy="535957"/>
          </a:xfrm>
          <a:prstGeom prst="rect"/>
        </p:spPr>
      </p:pic>
      <p:sp>
        <p:nvSpPr>
          <p:cNvPr id="4" name="shape 4"/>
          <p:cNvSpPr txBox="1"/>
          <p:nvPr/>
        </p:nvSpPr>
        <p:spPr>
          <a:xfrm>
            <a:off x="977900" y="2064385"/>
            <a:ext cx="5724525" cy="567669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83515">
              <a:lnSpc>
                <a:spcPct val="156665"/>
              </a:lnSpc>
            </a:pPr>
            <a:r>
              <a:rPr sz="1050" spc="-30">
                <a:latin typeface="Arial"/>
                <a:cs typeface="Arial"/>
              </a:rPr>
              <a:t>The certification is not directly offered by the Ghent Workgroup but by participating GWG members </a:t>
            </a:r>
            <a:r>
              <a:rPr sz="1050" spc="-40">
                <a:latin typeface="Arial"/>
                <a:cs typeface="Arial"/>
              </a:rPr>
              <a:t>(associations, vendors, industry members, educational members). </a:t>
            </a:r>
            <a:r>
              <a:rPr sz="1050" b="1" spc="-40">
                <a:latin typeface="Arial"/>
                <a:cs typeface="Arial"/>
              </a:rPr>
              <a:t>The GWG member manages the </a:t>
            </a:r>
            <a:r>
              <a:rPr sz="1050" b="1">
                <a:latin typeface="Arial"/>
                <a:cs typeface="Arial"/>
              </a:rPr>
              <a:t>certification process. </a:t>
            </a:r>
            <a:r>
              <a:rPr sz="1050">
                <a:latin typeface="Arial"/>
                <a:cs typeface="Arial"/>
              </a:rPr>
              <a:t>They also determine the cost of the certification for their candidates.</a:t>
            </a:r>
            <a:endParaRPr/>
          </a:p>
          <a:p>
            <a:pPr marL="12700"/>
            <a:r>
              <a:rPr sz="1050">
                <a:latin typeface="Arial"/>
                <a:cs typeface="Arial"/>
              </a:rPr>
              <a:t>The following GWG members already expressed interest to offer this conformance certification:</a:t>
            </a:r>
            <a:endParaRPr/>
          </a:p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699135" indent="-228600">
              <a:spcBef>
                <a:spcPts val="2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ArtOption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(Germany)</a:t>
            </a:r>
            <a:endParaRPr/>
          </a:p>
          <a:p>
            <a:pPr marL="699135" indent="-228600">
              <a:spcBef>
                <a:spcPts val="2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CAPT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(China)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CEC LATAM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(Latin America)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EFI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(International)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 Pees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(Europe)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Future Schoolz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(India)</a:t>
            </a:r>
            <a:endParaRPr/>
          </a:p>
          <a:p>
            <a:pPr marL="699135" indent="-228600">
              <a:spcBef>
                <a:spcPts val="2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Government Institute of Printing Technology Mumbai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(India)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UiTM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(Malaysia)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University of Ljubljana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(Slovenia)</a:t>
            </a:r>
            <a:endParaRPr/>
          </a:p>
          <a:p>
            <a:pPr marL="699135" indent="-228600">
              <a:spcBef>
                <a:spcPts val="300"/>
              </a:spcBef>
              <a:buSzPts val="1050"/>
              <a:buFont typeface="Symbol"/>
              <a:buChar char="·"/>
            </a:pP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</a:rPr>
              <a:t>VIGC</a:t>
            </a:r>
            <a:r>
              <a:rPr sz="1050">
                <a:solidFill>
                  <a:srgbClr val="81024A"/>
                </a:solidFill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(Belgium)</a:t>
            </a:r>
            <a:endParaRPr/>
          </a:p>
          <a:p>
            <a:pPr marL="12700" marR="120650">
              <a:lnSpc>
                <a:spcPct val="157354"/>
              </a:lnSpc>
              <a:spcBef>
                <a:spcPts val="1700"/>
              </a:spcBef>
            </a:pPr>
            <a:r>
              <a:rPr sz="1050" spc="-55">
                <a:latin typeface="Arial"/>
                <a:cs typeface="Arial"/>
              </a:rPr>
              <a:t>In spring 2021 GWG successfully conducted a </a:t>
            </a:r>
            <a:r>
              <a:rPr sz="1050" b="1" spc="-55">
                <a:latin typeface="Arial"/>
                <a:cs typeface="Arial"/>
              </a:rPr>
              <a:t>pilot project </a:t>
            </a:r>
            <a:r>
              <a:rPr sz="1050" spc="-55">
                <a:latin typeface="Arial"/>
                <a:cs typeface="Arial"/>
              </a:rPr>
              <a:t>with the new GWG member </a:t>
            </a:r>
            <a:r>
              <a:rPr sz="1050" b="1" spc="-55">
                <a:latin typeface="Arial"/>
                <a:cs typeface="Arial"/>
              </a:rPr>
              <a:t>CEC LATAM </a:t>
            </a:r>
            <a:r>
              <a:rPr sz="1050" spc="-55">
                <a:latin typeface="Arial"/>
                <a:cs typeface="Arial"/>
              </a:rPr>
              <a:t>in </a:t>
            </a:r>
            <a:r>
              <a:rPr sz="1050" spc="-35">
                <a:latin typeface="Arial"/>
                <a:cs typeface="Arial"/>
              </a:rPr>
              <a:t>Latin America. They have also included the certification in their latest PDF training program. We were </a:t>
            </a:r>
            <a:r>
              <a:rPr sz="1050">
                <a:latin typeface="Arial"/>
                <a:cs typeface="Arial"/>
              </a:rPr>
              <a:t>able to award </a:t>
            </a:r>
            <a:r>
              <a:rPr sz="1050" b="1">
                <a:latin typeface="Arial"/>
                <a:cs typeface="Arial"/>
              </a:rPr>
              <a:t>four Level 1 certificates </a:t>
            </a:r>
            <a:r>
              <a:rPr sz="1050">
                <a:latin typeface="Arial"/>
                <a:cs typeface="Arial"/>
              </a:rPr>
              <a:t>and </a:t>
            </a:r>
            <a:r>
              <a:rPr sz="1050" b="1">
                <a:latin typeface="Arial"/>
                <a:cs typeface="Arial"/>
              </a:rPr>
              <a:t>five Level 1+2 certificates</a:t>
            </a:r>
            <a:r>
              <a:rPr sz="1050">
                <a:latin typeface="Arial"/>
                <a:cs typeface="Arial"/>
              </a:rPr>
              <a:t>: </a:t>
            </a: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http://gwg.org/gos5/conformance-certificates/</a:t>
            </a:r>
            <a:endParaRPr/>
          </a:p>
          <a:p>
            <a:pPr marL="12700" marR="12700">
              <a:lnSpc>
                <a:spcPct val="157170"/>
              </a:lnSpc>
              <a:spcBef>
                <a:spcPts val="1500"/>
              </a:spcBef>
            </a:pPr>
            <a:r>
              <a:rPr sz="1050" spc="-20">
                <a:latin typeface="Arial"/>
                <a:cs typeface="Arial"/>
              </a:rPr>
              <a:t>“The Ghent PDF Output Suite 5.0 was created to check if the settings of a PDF output workflow are </a:t>
            </a:r>
            <a:r>
              <a:rPr sz="1050" spc="-35">
                <a:latin typeface="Arial"/>
                <a:cs typeface="Arial"/>
              </a:rPr>
              <a:t>conform to the PDF/X-4 standard. The new Conformance Certification allows a print service provider to </a:t>
            </a:r>
            <a:r>
              <a:rPr sz="1050" spc="-15">
                <a:latin typeface="Arial"/>
                <a:cs typeface="Arial"/>
              </a:rPr>
              <a:t>proof that this output workflow is able to process PDF/X-4 print files without any problems</a:t>
            </a:r>
            <a:r>
              <a:rPr sz="1050" spc="-25">
                <a:latin typeface="Arial"/>
                <a:cs typeface="Arial"/>
              </a:rPr>
              <a:t>. </a:t>
            </a:r>
            <a:r>
              <a:rPr sz="1050" spc="-15">
                <a:latin typeface="Arial"/>
                <a:cs typeface="Arial"/>
              </a:rPr>
              <a:t>This will </a:t>
            </a:r>
            <a:r>
              <a:rPr sz="1050" spc="-35">
                <a:latin typeface="Arial"/>
                <a:cs typeface="Arial"/>
              </a:rPr>
              <a:t>help increase the reliability of PDF/X-4 workflows worldwide</a:t>
            </a:r>
            <a:r>
              <a:rPr sz="1050" i="1" spc="-40">
                <a:latin typeface="Arial"/>
                <a:cs typeface="Arial"/>
              </a:rPr>
              <a:t>”, </a:t>
            </a:r>
            <a:r>
              <a:rPr sz="1050" spc="-35">
                <a:latin typeface="Arial"/>
                <a:cs typeface="Arial"/>
              </a:rPr>
              <a:t>stated Stephan Jaeggi</a:t>
            </a:r>
            <a:r>
              <a:rPr sz="1050" spc="-45">
                <a:latin typeface="Arial"/>
                <a:cs typeface="Arial"/>
              </a:rPr>
              <a:t>, </a:t>
            </a:r>
            <a:r>
              <a:rPr sz="1050" spc="-35">
                <a:latin typeface="Arial"/>
                <a:cs typeface="Arial"/>
              </a:rPr>
              <a:t>CEO of PrePress-</a:t>
            </a:r>
            <a:r>
              <a:rPr sz="1050">
                <a:latin typeface="Arial"/>
                <a:cs typeface="Arial"/>
              </a:rPr>
              <a:t>Consulting in Switzerland and Co-Chair of the GWG Process Control Subcommittee.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977900" y="8060690"/>
            <a:ext cx="5173345" cy="1600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50" spc="-15">
                <a:latin typeface="Arial"/>
                <a:cs typeface="Arial"/>
              </a:rPr>
              <a:t>Additional information is available on </a:t>
            </a:r>
            <a:r>
              <a:rPr sz="1050" u="sng" spc="-15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https://www.gwg.org/gos5/conformance-certification</a:t>
            </a:r>
            <a:r>
              <a:rPr sz="105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977900" y="9642475"/>
            <a:ext cx="76200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-15"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81965" cy="10058395"/>
          </a:xfrm>
          <a:prstGeom prst="rect">
            <a:avLst/>
          </a:prstGeom>
          <a:solidFill>
            <a:srgbClr val="F6A400"/>
          </a:solidFill>
        </p:spPr>
      </p:sp>
      <p:pic>
        <p:nvPicPr>
          <p:cNvPr id="3" name="shap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46990" y="424728"/>
            <a:ext cx="1871232" cy="535957"/>
          </a:xfrm>
          <a:prstGeom prst="rect"/>
        </p:spPr>
      </p:pic>
      <p:sp>
        <p:nvSpPr>
          <p:cNvPr id="4" name="shape 4"/>
          <p:cNvSpPr txBox="1"/>
          <p:nvPr/>
        </p:nvSpPr>
        <p:spPr>
          <a:xfrm>
            <a:off x="977900" y="1813560"/>
            <a:ext cx="5807075" cy="431393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200" b="1">
                <a:latin typeface="Arial"/>
                <a:cs typeface="Arial"/>
              </a:rPr>
              <a:t>About Ghent Workgroup</a:t>
            </a:r>
            <a:endParaRPr/>
          </a:p>
          <a:p>
            <a:pPr marL="12700" marR="12700">
              <a:lnSpc>
                <a:spcPct val="104771"/>
              </a:lnSpc>
              <a:spcBef>
                <a:spcPts val="800"/>
              </a:spcBef>
            </a:pPr>
            <a:r>
              <a:rPr sz="1200">
                <a:solidFill>
                  <a:srgbClr val="919191"/>
                </a:solidFill>
                <a:latin typeface="Arial"/>
                <a:cs typeface="Arial"/>
              </a:rPr>
              <a:t>The Ghent Workgroup, formed in June 2002, is an international assembly of industry associations, suppliers, educators and industry members from around the globe. The </a:t>
            </a:r>
            <a:r>
              <a:rPr sz="1200" spc="-40">
                <a:solidFill>
                  <a:srgbClr val="919191"/>
                </a:solidFill>
                <a:latin typeface="Arial"/>
                <a:cs typeface="Arial"/>
              </a:rPr>
              <a:t>Ghent Workgroup’s objective is to establish and disseminate process specifications for bes</a:t>
            </a:r>
            <a:r>
              <a:rPr sz="1200" spc="-45">
                <a:solidFill>
                  <a:srgbClr val="919191"/>
                </a:solidFill>
                <a:latin typeface="Arial"/>
                <a:cs typeface="Arial"/>
              </a:rPr>
              <a:t>t </a:t>
            </a:r>
            <a:r>
              <a:rPr sz="1200">
                <a:solidFill>
                  <a:srgbClr val="919191"/>
                </a:solidFill>
                <a:latin typeface="Arial"/>
                <a:cs typeface="Arial"/>
              </a:rPr>
              <a:t>practices in graphic arts workflows.</a:t>
            </a:r>
            <a:endParaRPr/>
          </a:p>
          <a:p>
            <a:pPr marL="12700" marR="187325">
              <a:lnSpc>
                <a:spcPct val="105307"/>
              </a:lnSpc>
              <a:spcBef>
                <a:spcPts val="1500"/>
              </a:spcBef>
            </a:pPr>
            <a:r>
              <a:rPr sz="1200" spc="-10">
                <a:solidFill>
                  <a:srgbClr val="919191"/>
                </a:solidFill>
                <a:latin typeface="Arial"/>
                <a:cs typeface="Arial"/>
              </a:rPr>
              <a:t>Since its inception almost 20 years ago, the organization has consistently produced </a:t>
            </a:r>
            <a:r>
              <a:rPr sz="1200" spc="-45">
                <a:solidFill>
                  <a:srgbClr val="919191"/>
                </a:solidFill>
                <a:latin typeface="Arial"/>
                <a:cs typeface="Arial"/>
              </a:rPr>
              <a:t>numerous process specifications for PDF exchange, as well as developing useful tools for </a:t>
            </a:r>
            <a:r>
              <a:rPr sz="1200" spc="-35">
                <a:solidFill>
                  <a:srgbClr val="919191"/>
                </a:solidFill>
                <a:latin typeface="Arial"/>
                <a:cs typeface="Arial"/>
              </a:rPr>
              <a:t>automating processes and testing and establishing consistent PDFs for print, publishing </a:t>
            </a:r>
            <a:r>
              <a:rPr sz="1200">
                <a:solidFill>
                  <a:srgbClr val="919191"/>
                </a:solidFill>
                <a:latin typeface="Arial"/>
                <a:cs typeface="Arial"/>
              </a:rPr>
              <a:t>and packaging production – all available free </a:t>
            </a:r>
            <a:r>
              <a:rPr sz="1200">
                <a:solidFill>
                  <a:srgbClr val="919191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</a:t>
            </a:r>
            <a:r>
              <a:rPr sz="1200" u="sng">
                <a:solidFill>
                  <a:srgbClr val="919191"/>
                </a:solidFill>
                <a:uFill>
                  <a:solidFill>
                    <a:srgbClr val="919191"/>
                  </a:solidFill>
                </a:u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r>
              <a:rPr sz="1200">
                <a:solidFill>
                  <a:srgbClr val="919191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/>
          </a:p>
          <a:p>
            <a:pPr marL="12700" marR="32385">
              <a:lnSpc>
                <a:spcPct val="105137"/>
              </a:lnSpc>
              <a:spcBef>
                <a:spcPts val="1500"/>
              </a:spcBef>
            </a:pPr>
            <a:r>
              <a:rPr sz="1200" spc="-30">
                <a:solidFill>
                  <a:srgbClr val="919191"/>
                </a:solidFill>
                <a:latin typeface="Arial"/>
                <a:cs typeface="Arial"/>
              </a:rPr>
              <a:t>Members are comprised of graphic arts associations including CIP4 (Switzerland), KVGO </a:t>
            </a:r>
            <a:r>
              <a:rPr sz="1200" spc="-5">
                <a:solidFill>
                  <a:srgbClr val="919191"/>
                </a:solidFill>
                <a:latin typeface="Arial"/>
                <a:cs typeface="Arial"/>
              </a:rPr>
              <a:t>(the Netherlands), Febelgra (Belgium), Fespa (UK), Medibel+ (Belgium), PDFX-ready </a:t>
            </a:r>
            <a:r>
              <a:rPr sz="1200" spc="-50">
                <a:solidFill>
                  <a:srgbClr val="919191"/>
                </a:solidFill>
                <a:latin typeface="Arial"/>
                <a:cs typeface="Arial"/>
              </a:rPr>
              <a:t>(Switzerland), Printing United Alliance (USA), and VIGC (Belgium). Vendor members include </a:t>
            </a:r>
            <a:r>
              <a:rPr sz="1200" spc="-5">
                <a:solidFill>
                  <a:srgbClr val="919191"/>
                </a:solidFill>
                <a:latin typeface="Arial"/>
                <a:cs typeface="Arial"/>
              </a:rPr>
              <a:t>Agfa, callas software, Canon, DALIM Software, EFI, Enfocus, Esko, Global Graphics, </a:t>
            </a:r>
            <a:r>
              <a:rPr sz="1200" spc="-10">
                <a:solidFill>
                  <a:srgbClr val="919191"/>
                </a:solidFill>
                <a:latin typeface="Arial"/>
                <a:cs typeface="Arial"/>
              </a:rPr>
              <a:t>Heidelberg, HYBRID Software, Kodak, PageProof, Ricoh, Tech Research (TagG) and </a:t>
            </a:r>
            <a:r>
              <a:rPr sz="1200">
                <a:solidFill>
                  <a:srgbClr val="919191"/>
                </a:solidFill>
                <a:latin typeface="Arial"/>
                <a:cs typeface="Arial"/>
              </a:rPr>
              <a:t>Ultimate Technographics. Industry members are ArtOption, Four Pees, Igepa </a:t>
            </a:r>
            <a:r>
              <a:rPr sz="1200" spc="-35">
                <a:solidFill>
                  <a:srgbClr val="919191"/>
                </a:solidFill>
                <a:latin typeface="Arial"/>
                <a:cs typeface="Arial"/>
              </a:rPr>
              <a:t>Sagamgraphic, JP/Politikens Hus, Litografia Rosés, Prinovis, RRD and ybam. Educational </a:t>
            </a:r>
            <a:r>
              <a:rPr sz="1200" spc="-40">
                <a:solidFill>
                  <a:srgbClr val="919191"/>
                </a:solidFill>
                <a:latin typeface="Arial"/>
                <a:cs typeface="Arial"/>
              </a:rPr>
              <a:t>members are Arteveldehogeschool Gent, CEC LATAM, Future Schoolz India, Government </a:t>
            </a:r>
            <a:r>
              <a:rPr sz="1200" spc="-35">
                <a:solidFill>
                  <a:srgbClr val="919191"/>
                </a:solidFill>
                <a:latin typeface="Arial"/>
                <a:cs typeface="Arial"/>
              </a:rPr>
              <a:t>Institute of Printing Technology (GIPT), Media University Stuttgart, Ryerson University, the University of Ljubljana, the University of Novi Sad, Universiti Teknologi MARA (UiTM), The </a:t>
            </a:r>
            <a:r>
              <a:rPr sz="1200">
                <a:solidFill>
                  <a:srgbClr val="919191"/>
                </a:solidFill>
                <a:latin typeface="Arial"/>
                <a:cs typeface="Arial"/>
              </a:rPr>
              <a:t>Regional Institute of Printing Technology Kolkata and the University of Wuppertal.</a:t>
            </a:r>
            <a:endParaRPr/>
          </a:p>
        </p:txBody>
      </p:sp>
      <p:sp>
        <p:nvSpPr>
          <p:cNvPr id="5" name="shape 5"/>
          <p:cNvSpPr txBox="1"/>
          <p:nvPr/>
        </p:nvSpPr>
        <p:spPr>
          <a:xfrm>
            <a:off x="977900" y="6666485"/>
            <a:ext cx="5600065" cy="34442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12917"/>
              </a:lnSpc>
            </a:pPr>
            <a:r>
              <a:rPr sz="1000" i="1" spc="-45">
                <a:solidFill>
                  <a:srgbClr val="919191"/>
                </a:solidFill>
                <a:latin typeface="Arial"/>
                <a:cs typeface="Arial"/>
              </a:rPr>
              <a:t>All products and services are trademarks or registered trademarks of their respective owners and are  hereby </a:t>
            </a:r>
            <a:r>
              <a:rPr sz="1000" i="1">
                <a:solidFill>
                  <a:srgbClr val="919191"/>
                </a:solidFill>
                <a:latin typeface="Arial"/>
                <a:cs typeface="Arial"/>
              </a:rPr>
              <a:t>acknowledged.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977900" y="7628890"/>
            <a:ext cx="5600065" cy="928834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17805" algn="ctr"/>
            <a:r>
              <a:rPr sz="1050" b="1">
                <a:latin typeface="Arial"/>
                <a:cs typeface="Arial"/>
              </a:rPr>
              <a:t>Press contacts:</a:t>
            </a:r>
            <a:endParaRPr/>
          </a:p>
          <a:p>
            <a:pPr marL="219075" algn="ctr">
              <a:spcBef>
                <a:spcPts val="100"/>
              </a:spcBef>
            </a:pPr>
            <a:r>
              <a:rPr sz="1050" u="sng">
                <a:latin typeface="Arial"/>
                <a:cs typeface="Arial"/>
              </a:rPr>
              <a:t>Ghent Workgroup</a:t>
            </a:r>
            <a:endParaRPr/>
          </a:p>
          <a:p>
            <a:pPr marL="220345" algn="ctr">
              <a:spcBef>
                <a:spcPts val="200"/>
              </a:spcBef>
            </a:pPr>
            <a:r>
              <a:rPr sz="1050">
                <a:latin typeface="Arial"/>
                <a:cs typeface="Arial"/>
              </a:rPr>
              <a:t>Christian Blaise,</a:t>
            </a:r>
            <a:endParaRPr/>
          </a:p>
          <a:p>
            <a:pPr marL="2220595" marR="2002155" algn="ctr">
              <a:lnSpc>
                <a:spcPct val="120254"/>
              </a:lnSpc>
              <a:spcBef>
                <a:spcPts val="200"/>
              </a:spcBef>
            </a:pPr>
            <a:r>
              <a:rPr sz="1050" spc="-50">
                <a:latin typeface="Arial"/>
                <a:cs typeface="Arial"/>
              </a:rPr>
              <a:t>Carole Demeulemeester, </a:t>
            </a:r>
            <a:r>
              <a:rPr sz="1050" u="sng">
                <a:solidFill>
                  <a:srgbClr val="81024A"/>
                </a:solidFill>
                <a:uFill>
                  <a:solidFill>
                    <a:srgbClr val="81024A"/>
                  </a:solidFill>
                </a:u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marketing@gwg.org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977900" y="9642475"/>
            <a:ext cx="762000" cy="1524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000" spc="-15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www.gwg.org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Artoption joins GWG</dc:title>
  <dc:subject/>
  <dc:creator>Carole Demeulemeester</dc:creator>
  <cp:keywords/>
  <dc:description/>
  <cp:lastModifiedBy>Carole Demeulemeester</cp:lastModifiedBy>
  <cp:revision>1</cp:revision>
  <cp:category>pdf2pptx</cp:category>
  <cp:contentStatus>Created with Avanquest.Pdf 0.91.2025103001.0</cp:contentStatus>
  <dcterms:created xsi:type="dcterms:W3CDTF">2021-11-23T14:48:04+0000</dcterms:created>
  <dcterms:modified xsi:type="dcterms:W3CDTF">2021-11-23T14:48:04+0000</dcterms:modified>
</cp:coreProperties>
</file>