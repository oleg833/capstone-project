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8' Type='http://schemas.openxmlformats.org/officeDocument/2006/relationships/image' Target='../media/215893ae93f26a61.jpg'/><Relationship Id='rId6' Type='http://schemas.openxmlformats.org/officeDocument/2006/relationships/image' Target='../media/b5ce4c3ca10e5ad5.png'/><Relationship Id='rId1' Type='http://schemas.openxmlformats.org/officeDocument/2006/relationships/slideLayout' Target='../slideLayouts/slideLayout1.xml'/><Relationship Id='rId5' Type='http://schemas.openxmlformats.org/officeDocument/2006/relationships/image' Target='../media/dac5af257da29b76.jpg'/><Relationship Id='rId4' Type='http://schemas.openxmlformats.org/officeDocument/2006/relationships/image' Target='../media/351b0d1276debeec.jpg'/><Relationship Id='rId2' Type='http://schemas.openxmlformats.org/officeDocument/2006/relationships/image' Target='../media/8c929113f19481fb.jpg'/><Relationship Id='rId3' Type='http://schemas.openxmlformats.org/officeDocument/2006/relationships/image' Target='../media/dda6e0574b18fd5f.png'/><Relationship Id='rId7' Type='http://schemas.openxmlformats.org/officeDocument/2006/relationships/image' Target='../media/9114e636bbeef758.jpg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022f562a0ff84088.png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0" y="-6074"/>
            <a:ext cx="7772400" cy="2754295"/>
            <a:chOff x="0" y="0"/>
            <a:chExt cx="7772400" cy="2754294"/>
          </a:xfrm>
        </p:grpSpPr>
        <p:pic>
          <p:nvPicPr>
            <p:cNvPr id="3" name="shape 3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772399" cy="2754295"/>
            </a:xfrm>
            <a:prstGeom prst="rect"/>
          </p:spPr>
        </p:pic>
        <p:pic>
          <p:nvPicPr>
            <p:cNvPr id="4" name="shape 4"/>
            <p:cNvPicPr>
              <a:picLocks noChangeAspect="1"/>
            </p:cNvPicPr>
            <p:nvPr/>
          </p:nvPicPr>
          <p:blipFill>
            <a:blip r:embed="rId3" cstate="print">
              <a:alphaModFix amt="53999"/>
            </a:blip>
            <a:stretch>
              <a:fillRect/>
            </a:stretch>
          </p:blipFill>
          <p:spPr>
            <a:xfrm>
              <a:off x="0" y="6074"/>
              <a:ext cx="7772400" cy="2741621"/>
            </a:xfrm>
            <a:prstGeom prst="rect"/>
          </p:spPr>
        </p:pic>
        <p:sp>
          <p:nvSpPr>
            <p:cNvPr id="5" name="shape 5"/>
            <p:cNvSpPr/>
            <p:nvPr/>
          </p:nvSpPr>
          <p:spPr>
            <a:xfrm>
              <a:off x="727113" y="6074"/>
              <a:ext cx="4139997" cy="108002"/>
            </a:xfrm>
            <a:prstGeom prst="rect">
              <a:avLst/>
            </a:prstGeom>
            <a:solidFill>
              <a:srgbClr val="E71425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1359948" y="2074964"/>
              <a:ext cx="204991" cy="281242"/>
            </a:xfrm>
            <a:custGeom>
              <a:pathLst>
                <a:path w="204990" h="281241">
                  <a:moveTo>
                    <a:pt x="204990" y="0"/>
                  </a:moveTo>
                  <a:lnTo>
                    <a:pt x="193547" y="61633"/>
                  </a:lnTo>
                  <a:lnTo>
                    <a:pt x="74256" y="61633"/>
                  </a:lnTo>
                  <a:lnTo>
                    <a:pt x="74256" y="116154"/>
                  </a:lnTo>
                  <a:lnTo>
                    <a:pt x="186842" y="116154"/>
                  </a:lnTo>
                  <a:lnTo>
                    <a:pt x="175780" y="175806"/>
                  </a:lnTo>
                  <a:lnTo>
                    <a:pt x="74256" y="175806"/>
                  </a:lnTo>
                  <a:lnTo>
                    <a:pt x="74256" y="281241"/>
                  </a:lnTo>
                  <a:lnTo>
                    <a:pt x="0" y="281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1603271" y="2074973"/>
              <a:ext cx="241732" cy="281242"/>
            </a:xfrm>
            <a:custGeom>
              <a:pathLst>
                <a:path w="241731" h="281241">
                  <a:moveTo>
                    <a:pt x="117716" y="0"/>
                  </a:moveTo>
                  <a:lnTo>
                    <a:pt x="0" y="0"/>
                  </a:lnTo>
                  <a:lnTo>
                    <a:pt x="0" y="281241"/>
                  </a:lnTo>
                  <a:lnTo>
                    <a:pt x="75831" y="281241"/>
                  </a:lnTo>
                  <a:lnTo>
                    <a:pt x="75831" y="189611"/>
                  </a:lnTo>
                  <a:lnTo>
                    <a:pt x="113360" y="189611"/>
                  </a:lnTo>
                  <a:lnTo>
                    <a:pt x="159562" y="281241"/>
                  </a:lnTo>
                  <a:lnTo>
                    <a:pt x="241731" y="281241"/>
                  </a:lnTo>
                  <a:lnTo>
                    <a:pt x="181698" y="175806"/>
                  </a:lnTo>
                  <a:lnTo>
                    <a:pt x="217055" y="147751"/>
                  </a:lnTo>
                  <a:lnTo>
                    <a:pt x="226391" y="126307"/>
                  </a:lnTo>
                  <a:lnTo>
                    <a:pt x="229488" y="99148"/>
                  </a:lnTo>
                  <a:lnTo>
                    <a:pt x="229488" y="89662"/>
                  </a:lnTo>
                  <a:lnTo>
                    <a:pt x="225302" y="61226"/>
                  </a:lnTo>
                  <a:lnTo>
                    <a:pt x="114566" y="61226"/>
                  </a:lnTo>
                  <a:lnTo>
                    <a:pt x="132967" y="62895"/>
                  </a:lnTo>
                  <a:lnTo>
                    <a:pt x="144767" y="67945"/>
                  </a:lnTo>
                  <a:lnTo>
                    <a:pt x="151239" y="77719"/>
                  </a:lnTo>
                  <a:lnTo>
                    <a:pt x="153644" y="93637"/>
                  </a:lnTo>
                  <a:lnTo>
                    <a:pt x="153644" y="96774"/>
                  </a:lnTo>
                  <a:lnTo>
                    <a:pt x="151239" y="112682"/>
                  </a:lnTo>
                  <a:lnTo>
                    <a:pt x="144767" y="122428"/>
                  </a:lnTo>
                  <a:lnTo>
                    <a:pt x="132967" y="127496"/>
                  </a:lnTo>
                  <a:lnTo>
                    <a:pt x="114566" y="129184"/>
                  </a:lnTo>
                  <a:lnTo>
                    <a:pt x="75831" y="129184"/>
                  </a:lnTo>
                  <a:lnTo>
                    <a:pt x="75831" y="61226"/>
                  </a:lnTo>
                  <a:lnTo>
                    <a:pt x="114566" y="61226"/>
                  </a:lnTo>
                  <a:lnTo>
                    <a:pt x="225302" y="61226"/>
                  </a:lnTo>
                  <a:lnTo>
                    <a:pt x="223380" y="48171"/>
                  </a:lnTo>
                  <a:lnTo>
                    <a:pt x="203822" y="20535"/>
                  </a:lnTo>
                  <a:lnTo>
                    <a:pt x="169062" y="49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1882953" y="2074967"/>
              <a:ext cx="77001" cy="281242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2240310" y="2074973"/>
              <a:ext cx="289548" cy="281242"/>
            </a:xfrm>
            <a:custGeom>
              <a:pathLst>
                <a:path w="289547" h="281241">
                  <a:moveTo>
                    <a:pt x="190766" y="0"/>
                  </a:moveTo>
                  <a:lnTo>
                    <a:pt x="98348" y="0"/>
                  </a:lnTo>
                  <a:lnTo>
                    <a:pt x="0" y="281241"/>
                  </a:lnTo>
                  <a:lnTo>
                    <a:pt x="77038" y="281241"/>
                  </a:lnTo>
                  <a:lnTo>
                    <a:pt x="95973" y="219621"/>
                  </a:lnTo>
                  <a:lnTo>
                    <a:pt x="189610" y="219621"/>
                  </a:lnTo>
                  <a:lnTo>
                    <a:pt x="208940" y="281241"/>
                  </a:lnTo>
                  <a:lnTo>
                    <a:pt x="289547" y="281241"/>
                  </a:lnTo>
                  <a:lnTo>
                    <a:pt x="213787" y="65544"/>
                  </a:lnTo>
                  <a:lnTo>
                    <a:pt x="142570" y="65544"/>
                  </a:lnTo>
                  <a:lnTo>
                    <a:pt x="172199" y="160769"/>
                  </a:lnTo>
                  <a:lnTo>
                    <a:pt x="112953" y="160769"/>
                  </a:lnTo>
                  <a:lnTo>
                    <a:pt x="142570" y="65544"/>
                  </a:lnTo>
                  <a:lnTo>
                    <a:pt x="213787" y="655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2002225" y="2073619"/>
              <a:ext cx="221285" cy="284011"/>
            </a:xfrm>
            <a:custGeom>
              <a:pathLst>
                <a:path w="221284" h="284010">
                  <a:moveTo>
                    <a:pt x="111721" y="0"/>
                  </a:moveTo>
                  <a:lnTo>
                    <a:pt x="66383" y="3918"/>
                  </a:lnTo>
                  <a:lnTo>
                    <a:pt x="31076" y="17272"/>
                  </a:lnTo>
                  <a:lnTo>
                    <a:pt x="8162" y="42455"/>
                  </a:lnTo>
                  <a:lnTo>
                    <a:pt x="0" y="81864"/>
                  </a:lnTo>
                  <a:lnTo>
                    <a:pt x="4010" y="117670"/>
                  </a:lnTo>
                  <a:lnTo>
                    <a:pt x="18838" y="142686"/>
                  </a:lnTo>
                  <a:lnTo>
                    <a:pt x="48675" y="159836"/>
                  </a:lnTo>
                  <a:lnTo>
                    <a:pt x="70532" y="166376"/>
                  </a:lnTo>
                  <a:lnTo>
                    <a:pt x="97713" y="172046"/>
                  </a:lnTo>
                  <a:lnTo>
                    <a:pt x="123504" y="177821"/>
                  </a:lnTo>
                  <a:lnTo>
                    <a:pt x="138129" y="183845"/>
                  </a:lnTo>
                  <a:lnTo>
                    <a:pt x="144657" y="190917"/>
                  </a:lnTo>
                  <a:lnTo>
                    <a:pt x="146151" y="199834"/>
                  </a:lnTo>
                  <a:lnTo>
                    <a:pt x="144666" y="209822"/>
                  </a:lnTo>
                  <a:lnTo>
                    <a:pt x="138777" y="216985"/>
                  </a:lnTo>
                  <a:lnTo>
                    <a:pt x="126332" y="221301"/>
                  </a:lnTo>
                  <a:lnTo>
                    <a:pt x="105181" y="222745"/>
                  </a:lnTo>
                  <a:lnTo>
                    <a:pt x="79724" y="221374"/>
                  </a:lnTo>
                  <a:lnTo>
                    <a:pt x="47574" y="218189"/>
                  </a:lnTo>
                  <a:lnTo>
                    <a:pt x="18452" y="214580"/>
                  </a:lnTo>
                  <a:lnTo>
                    <a:pt x="2082" y="211937"/>
                  </a:lnTo>
                  <a:lnTo>
                    <a:pt x="2260" y="274840"/>
                  </a:lnTo>
                  <a:lnTo>
                    <a:pt x="16326" y="277361"/>
                  </a:lnTo>
                  <a:lnTo>
                    <a:pt x="39550" y="280392"/>
                  </a:lnTo>
                  <a:lnTo>
                    <a:pt x="69676" y="282940"/>
                  </a:lnTo>
                  <a:lnTo>
                    <a:pt x="104444" y="284010"/>
                  </a:lnTo>
                  <a:lnTo>
                    <a:pt x="157574" y="279029"/>
                  </a:lnTo>
                  <a:lnTo>
                    <a:pt x="193863" y="263777"/>
                  </a:lnTo>
                  <a:lnTo>
                    <a:pt x="214653" y="237788"/>
                  </a:lnTo>
                  <a:lnTo>
                    <a:pt x="221284" y="200596"/>
                  </a:lnTo>
                  <a:lnTo>
                    <a:pt x="217128" y="162925"/>
                  </a:lnTo>
                  <a:lnTo>
                    <a:pt x="201561" y="138258"/>
                  </a:lnTo>
                  <a:lnTo>
                    <a:pt x="169935" y="122126"/>
                  </a:lnTo>
                  <a:lnTo>
                    <a:pt x="146647" y="115863"/>
                  </a:lnTo>
                  <a:lnTo>
                    <a:pt x="117601" y="110058"/>
                  </a:lnTo>
                  <a:lnTo>
                    <a:pt x="94621" y="105265"/>
                  </a:lnTo>
                  <a:lnTo>
                    <a:pt x="81435" y="100150"/>
                  </a:lnTo>
                  <a:lnTo>
                    <a:pt x="75435" y="93318"/>
                  </a:lnTo>
                  <a:lnTo>
                    <a:pt x="74015" y="83375"/>
                  </a:lnTo>
                  <a:lnTo>
                    <a:pt x="82695" y="68268"/>
                  </a:lnTo>
                  <a:lnTo>
                    <a:pt x="94289" y="64158"/>
                  </a:lnTo>
                  <a:lnTo>
                    <a:pt x="111378" y="62725"/>
                  </a:lnTo>
                  <a:lnTo>
                    <a:pt x="141197" y="64592"/>
                  </a:lnTo>
                  <a:lnTo>
                    <a:pt x="174183" y="68700"/>
                  </a:lnTo>
                  <a:lnTo>
                    <a:pt x="200897" y="72808"/>
                  </a:lnTo>
                  <a:lnTo>
                    <a:pt x="208952" y="74162"/>
                  </a:lnTo>
                  <a:lnTo>
                    <a:pt x="211899" y="74676"/>
                  </a:lnTo>
                  <a:lnTo>
                    <a:pt x="211962" y="11049"/>
                  </a:lnTo>
                  <a:lnTo>
                    <a:pt x="204086" y="9322"/>
                  </a:lnTo>
                  <a:lnTo>
                    <a:pt x="182606" y="5524"/>
                  </a:lnTo>
                  <a:lnTo>
                    <a:pt x="150744" y="17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798878" y="2052236"/>
              <a:ext cx="328803" cy="328829"/>
            </a:xfrm>
            <a:custGeom>
              <a:pathLst>
                <a:path w="328803" h="328828">
                  <a:moveTo>
                    <a:pt x="164401" y="0"/>
                  </a:moveTo>
                  <a:lnTo>
                    <a:pt x="131266" y="3341"/>
                  </a:lnTo>
                  <a:lnTo>
                    <a:pt x="100405" y="12924"/>
                  </a:lnTo>
                  <a:lnTo>
                    <a:pt x="48148" y="48166"/>
                  </a:lnTo>
                  <a:lnTo>
                    <a:pt x="12918" y="100432"/>
                  </a:lnTo>
                  <a:lnTo>
                    <a:pt x="3339" y="131294"/>
                  </a:lnTo>
                  <a:lnTo>
                    <a:pt x="0" y="164426"/>
                  </a:lnTo>
                  <a:lnTo>
                    <a:pt x="3339" y="197562"/>
                  </a:lnTo>
                  <a:lnTo>
                    <a:pt x="12918" y="228423"/>
                  </a:lnTo>
                  <a:lnTo>
                    <a:pt x="48148" y="280679"/>
                  </a:lnTo>
                  <a:lnTo>
                    <a:pt x="100405" y="315910"/>
                  </a:lnTo>
                  <a:lnTo>
                    <a:pt x="131266" y="325488"/>
                  </a:lnTo>
                  <a:lnTo>
                    <a:pt x="164401" y="328828"/>
                  </a:lnTo>
                  <a:lnTo>
                    <a:pt x="197532" y="325488"/>
                  </a:lnTo>
                  <a:lnTo>
                    <a:pt x="228392" y="315910"/>
                  </a:lnTo>
                  <a:lnTo>
                    <a:pt x="280649" y="280679"/>
                  </a:lnTo>
                  <a:lnTo>
                    <a:pt x="315882" y="228422"/>
                  </a:lnTo>
                  <a:lnTo>
                    <a:pt x="325462" y="197561"/>
                  </a:lnTo>
                  <a:lnTo>
                    <a:pt x="328803" y="164426"/>
                  </a:lnTo>
                  <a:lnTo>
                    <a:pt x="325462" y="131294"/>
                  </a:lnTo>
                  <a:lnTo>
                    <a:pt x="315882" y="100432"/>
                  </a:lnTo>
                  <a:lnTo>
                    <a:pt x="285857" y="55892"/>
                  </a:lnTo>
                  <a:lnTo>
                    <a:pt x="226631" y="55892"/>
                  </a:lnTo>
                  <a:lnTo>
                    <a:pt x="246908" y="59989"/>
                  </a:lnTo>
                  <a:lnTo>
                    <a:pt x="263472" y="71161"/>
                  </a:lnTo>
                  <a:lnTo>
                    <a:pt x="274642" y="87728"/>
                  </a:lnTo>
                  <a:lnTo>
                    <a:pt x="278739" y="108013"/>
                  </a:lnTo>
                  <a:lnTo>
                    <a:pt x="274642" y="128281"/>
                  </a:lnTo>
                  <a:lnTo>
                    <a:pt x="263472" y="144837"/>
                  </a:lnTo>
                  <a:lnTo>
                    <a:pt x="246908" y="156001"/>
                  </a:lnTo>
                  <a:lnTo>
                    <a:pt x="226631" y="160096"/>
                  </a:lnTo>
                  <a:lnTo>
                    <a:pt x="206364" y="156001"/>
                  </a:lnTo>
                  <a:lnTo>
                    <a:pt x="189799" y="144837"/>
                  </a:lnTo>
                  <a:lnTo>
                    <a:pt x="178623" y="128281"/>
                  </a:lnTo>
                  <a:lnTo>
                    <a:pt x="174523" y="108013"/>
                  </a:lnTo>
                  <a:lnTo>
                    <a:pt x="178623" y="87728"/>
                  </a:lnTo>
                  <a:lnTo>
                    <a:pt x="189799" y="71161"/>
                  </a:lnTo>
                  <a:lnTo>
                    <a:pt x="206364" y="59989"/>
                  </a:lnTo>
                  <a:lnTo>
                    <a:pt x="226631" y="55892"/>
                  </a:lnTo>
                  <a:lnTo>
                    <a:pt x="285857" y="55892"/>
                  </a:lnTo>
                  <a:lnTo>
                    <a:pt x="280649" y="48166"/>
                  </a:lnTo>
                  <a:lnTo>
                    <a:pt x="228392" y="12924"/>
                  </a:lnTo>
                  <a:lnTo>
                    <a:pt x="197532" y="334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729853" y="1983230"/>
              <a:ext cx="174460" cy="174448"/>
            </a:xfrm>
            <a:custGeom>
              <a:pathLst>
                <a:path w="174459" h="174447">
                  <a:moveTo>
                    <a:pt x="174459" y="0"/>
                  </a:moveTo>
                  <a:lnTo>
                    <a:pt x="0" y="0"/>
                  </a:lnTo>
                  <a:lnTo>
                    <a:pt x="0" y="174447"/>
                  </a:lnTo>
                  <a:lnTo>
                    <a:pt x="11137" y="174447"/>
                  </a:lnTo>
                  <a:lnTo>
                    <a:pt x="34338" y="118263"/>
                  </a:lnTo>
                  <a:lnTo>
                    <a:pt x="70824" y="70791"/>
                  </a:lnTo>
                  <a:lnTo>
                    <a:pt x="118297" y="34313"/>
                  </a:lnTo>
                  <a:lnTo>
                    <a:pt x="174459" y="11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1022238" y="1983223"/>
              <a:ext cx="174460" cy="174460"/>
            </a:xfrm>
            <a:custGeom>
              <a:pathLst>
                <a:path w="174459" h="174459">
                  <a:moveTo>
                    <a:pt x="174459" y="0"/>
                  </a:moveTo>
                  <a:lnTo>
                    <a:pt x="0" y="0"/>
                  </a:lnTo>
                  <a:lnTo>
                    <a:pt x="0" y="11125"/>
                  </a:lnTo>
                  <a:lnTo>
                    <a:pt x="56173" y="34319"/>
                  </a:lnTo>
                  <a:lnTo>
                    <a:pt x="103647" y="70794"/>
                  </a:lnTo>
                  <a:lnTo>
                    <a:pt x="140135" y="118268"/>
                  </a:lnTo>
                  <a:lnTo>
                    <a:pt x="163347" y="174459"/>
                  </a:lnTo>
                  <a:lnTo>
                    <a:pt x="174459" y="17445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729853" y="2275622"/>
              <a:ext cx="174460" cy="174448"/>
            </a:xfrm>
            <a:custGeom>
              <a:pathLst>
                <a:path w="174459" h="174447">
                  <a:moveTo>
                    <a:pt x="11137" y="0"/>
                  </a:moveTo>
                  <a:lnTo>
                    <a:pt x="0" y="0"/>
                  </a:lnTo>
                  <a:lnTo>
                    <a:pt x="0" y="174447"/>
                  </a:lnTo>
                  <a:lnTo>
                    <a:pt x="174459" y="174447"/>
                  </a:lnTo>
                  <a:lnTo>
                    <a:pt x="174459" y="163347"/>
                  </a:lnTo>
                  <a:lnTo>
                    <a:pt x="118297" y="140138"/>
                  </a:lnTo>
                  <a:lnTo>
                    <a:pt x="70824" y="103657"/>
                  </a:lnTo>
                  <a:lnTo>
                    <a:pt x="34338" y="561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1022238" y="2275611"/>
              <a:ext cx="174460" cy="174473"/>
            </a:xfrm>
            <a:custGeom>
              <a:pathLst>
                <a:path w="174459" h="174472">
                  <a:moveTo>
                    <a:pt x="174459" y="0"/>
                  </a:moveTo>
                  <a:lnTo>
                    <a:pt x="163347" y="0"/>
                  </a:lnTo>
                  <a:lnTo>
                    <a:pt x="140135" y="56192"/>
                  </a:lnTo>
                  <a:lnTo>
                    <a:pt x="103647" y="103671"/>
                  </a:lnTo>
                  <a:lnTo>
                    <a:pt x="56173" y="140151"/>
                  </a:lnTo>
                  <a:lnTo>
                    <a:pt x="0" y="163347"/>
                  </a:lnTo>
                  <a:lnTo>
                    <a:pt x="0" y="174472"/>
                  </a:lnTo>
                  <a:lnTo>
                    <a:pt x="174459" y="1744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6" name="shape 1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47392" y="6853804"/>
            <a:ext cx="2288081" cy="1037481"/>
          </a:xfrm>
          <a:prstGeom prst="rect"/>
        </p:spPr>
      </p:pic>
      <p:pic>
        <p:nvPicPr>
          <p:cNvPr id="17" name="shape 1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15969" y="6854097"/>
            <a:ext cx="2287342" cy="2293859"/>
          </a:xfrm>
          <a:prstGeom prst="rect"/>
        </p:spPr>
      </p:pic>
      <p:pic>
        <p:nvPicPr>
          <p:cNvPr id="18" name="shape 1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15500" y="3388671"/>
            <a:ext cx="1142991" cy="736048"/>
          </a:xfrm>
          <a:prstGeom prst="rect"/>
        </p:spPr>
      </p:pic>
      <p:pic>
        <p:nvPicPr>
          <p:cNvPr id="19" name="shape 19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579755" y="6853869"/>
            <a:ext cx="1476579" cy="2294398"/>
          </a:xfrm>
          <a:prstGeom prst="rect"/>
        </p:spPr>
      </p:pic>
      <p:pic>
        <p:nvPicPr>
          <p:cNvPr id="20" name="shape 20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151800" y="8073410"/>
            <a:ext cx="2279401" cy="1074541"/>
          </a:xfrm>
          <a:prstGeom prst="rect"/>
        </p:spPr>
      </p:pic>
      <p:sp>
        <p:nvSpPr>
          <p:cNvPr id="21" name="shape 21"/>
          <p:cNvSpPr/>
          <p:nvPr/>
        </p:nvSpPr>
        <p:spPr>
          <a:xfrm>
            <a:off x="727113" y="9950399"/>
            <a:ext cx="4139997" cy="108002"/>
          </a:xfrm>
          <a:prstGeom prst="rect">
            <a:avLst/>
          </a:prstGeom>
          <a:solidFill>
            <a:srgbClr val="E71425"/>
          </a:solidFill>
        </p:spPr>
      </p:sp>
      <p:grpSp>
        <p:nvGrpSpPr>
          <p:cNvPr id="22" name="shape 22"/>
          <p:cNvGrpSpPr/>
          <p:nvPr/>
        </p:nvGrpSpPr>
        <p:grpSpPr>
          <a:xfrm>
            <a:off x="727104" y="9616908"/>
            <a:ext cx="577936" cy="149904"/>
            <a:chOff x="0" y="0"/>
            <a:chExt cx="577935" cy="149903"/>
          </a:xfrm>
        </p:grpSpPr>
        <p:sp>
          <p:nvSpPr>
            <p:cNvPr id="23" name="shape 23"/>
            <p:cNvSpPr/>
            <p:nvPr/>
          </p:nvSpPr>
          <p:spPr>
            <a:xfrm>
              <a:off x="202319" y="29461"/>
              <a:ext cx="65812" cy="90297"/>
            </a:xfrm>
            <a:custGeom>
              <a:pathLst>
                <a:path w="65811" h="90296">
                  <a:moveTo>
                    <a:pt x="65811" y="0"/>
                  </a:moveTo>
                  <a:lnTo>
                    <a:pt x="62141" y="19786"/>
                  </a:lnTo>
                  <a:lnTo>
                    <a:pt x="23837" y="19786"/>
                  </a:lnTo>
                  <a:lnTo>
                    <a:pt x="23837" y="37299"/>
                  </a:lnTo>
                  <a:lnTo>
                    <a:pt x="59982" y="37299"/>
                  </a:lnTo>
                  <a:lnTo>
                    <a:pt x="56438" y="56451"/>
                  </a:lnTo>
                  <a:lnTo>
                    <a:pt x="23837" y="56451"/>
                  </a:lnTo>
                  <a:lnTo>
                    <a:pt x="23837" y="90297"/>
                  </a:lnTo>
                  <a:lnTo>
                    <a:pt x="0" y="90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24" name="shape 24"/>
            <p:cNvSpPr/>
            <p:nvPr/>
          </p:nvSpPr>
          <p:spPr>
            <a:xfrm>
              <a:off x="280441" y="29466"/>
              <a:ext cx="77610" cy="90297"/>
            </a:xfrm>
            <a:custGeom>
              <a:pathLst>
                <a:path w="77609" h="90296">
                  <a:moveTo>
                    <a:pt x="37795" y="0"/>
                  </a:moveTo>
                  <a:lnTo>
                    <a:pt x="0" y="0"/>
                  </a:lnTo>
                  <a:lnTo>
                    <a:pt x="0" y="90296"/>
                  </a:lnTo>
                  <a:lnTo>
                    <a:pt x="24345" y="90296"/>
                  </a:lnTo>
                  <a:lnTo>
                    <a:pt x="24345" y="60883"/>
                  </a:lnTo>
                  <a:lnTo>
                    <a:pt x="36398" y="60883"/>
                  </a:lnTo>
                  <a:lnTo>
                    <a:pt x="51231" y="90296"/>
                  </a:lnTo>
                  <a:lnTo>
                    <a:pt x="77609" y="90296"/>
                  </a:lnTo>
                  <a:lnTo>
                    <a:pt x="58331" y="56438"/>
                  </a:lnTo>
                  <a:lnTo>
                    <a:pt x="69684" y="47434"/>
                  </a:lnTo>
                  <a:lnTo>
                    <a:pt x="73685" y="31826"/>
                  </a:lnTo>
                  <a:lnTo>
                    <a:pt x="73685" y="28778"/>
                  </a:lnTo>
                  <a:lnTo>
                    <a:pt x="72336" y="19659"/>
                  </a:lnTo>
                  <a:lnTo>
                    <a:pt x="36779" y="19659"/>
                  </a:lnTo>
                  <a:lnTo>
                    <a:pt x="46482" y="21818"/>
                  </a:lnTo>
                  <a:lnTo>
                    <a:pt x="49326" y="30060"/>
                  </a:lnTo>
                  <a:lnTo>
                    <a:pt x="49326" y="31064"/>
                  </a:lnTo>
                  <a:lnTo>
                    <a:pt x="46482" y="39306"/>
                  </a:lnTo>
                  <a:lnTo>
                    <a:pt x="36779" y="41478"/>
                  </a:lnTo>
                  <a:lnTo>
                    <a:pt x="24345" y="41478"/>
                  </a:lnTo>
                  <a:lnTo>
                    <a:pt x="24345" y="19659"/>
                  </a:lnTo>
                  <a:lnTo>
                    <a:pt x="36779" y="19659"/>
                  </a:lnTo>
                  <a:lnTo>
                    <a:pt x="72336" y="19659"/>
                  </a:lnTo>
                  <a:lnTo>
                    <a:pt x="71716" y="15468"/>
                  </a:lnTo>
                  <a:lnTo>
                    <a:pt x="65443" y="6591"/>
                  </a:lnTo>
                  <a:lnTo>
                    <a:pt x="54279" y="1587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370239" y="29466"/>
              <a:ext cx="24727" cy="90297"/>
            </a:xfrm>
            <a:prstGeom prst="rect">
              <a:avLst/>
            </a:prstGeom>
            <a:solidFill>
              <a:srgbClr val="888A8D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484971" y="29469"/>
              <a:ext cx="92964" cy="90297"/>
            </a:xfrm>
            <a:custGeom>
              <a:pathLst>
                <a:path w="92964" h="90296">
                  <a:moveTo>
                    <a:pt x="61252" y="0"/>
                  </a:moveTo>
                  <a:lnTo>
                    <a:pt x="31584" y="0"/>
                  </a:lnTo>
                  <a:lnTo>
                    <a:pt x="0" y="90297"/>
                  </a:lnTo>
                  <a:lnTo>
                    <a:pt x="24739" y="90297"/>
                  </a:lnTo>
                  <a:lnTo>
                    <a:pt x="30822" y="70510"/>
                  </a:lnTo>
                  <a:lnTo>
                    <a:pt x="60883" y="70510"/>
                  </a:lnTo>
                  <a:lnTo>
                    <a:pt x="67094" y="90297"/>
                  </a:lnTo>
                  <a:lnTo>
                    <a:pt x="92963" y="90297"/>
                  </a:lnTo>
                  <a:lnTo>
                    <a:pt x="68642" y="21043"/>
                  </a:lnTo>
                  <a:lnTo>
                    <a:pt x="45783" y="21043"/>
                  </a:lnTo>
                  <a:lnTo>
                    <a:pt x="55295" y="51612"/>
                  </a:lnTo>
                  <a:lnTo>
                    <a:pt x="36271" y="51612"/>
                  </a:lnTo>
                  <a:lnTo>
                    <a:pt x="45783" y="21043"/>
                  </a:lnTo>
                  <a:lnTo>
                    <a:pt x="68642" y="21043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408534" y="29035"/>
              <a:ext cx="71044" cy="91186"/>
            </a:xfrm>
            <a:custGeom>
              <a:pathLst>
                <a:path w="71043" h="91185">
                  <a:moveTo>
                    <a:pt x="35864" y="0"/>
                  </a:moveTo>
                  <a:lnTo>
                    <a:pt x="9974" y="5541"/>
                  </a:lnTo>
                  <a:lnTo>
                    <a:pt x="0" y="26276"/>
                  </a:lnTo>
                  <a:lnTo>
                    <a:pt x="6049" y="45807"/>
                  </a:lnTo>
                  <a:lnTo>
                    <a:pt x="15628" y="51313"/>
                  </a:lnTo>
                  <a:lnTo>
                    <a:pt x="31368" y="55232"/>
                  </a:lnTo>
                  <a:lnTo>
                    <a:pt x="44348" y="59020"/>
                  </a:lnTo>
                  <a:lnTo>
                    <a:pt x="46926" y="64160"/>
                  </a:lnTo>
                  <a:lnTo>
                    <a:pt x="44557" y="69665"/>
                  </a:lnTo>
                  <a:lnTo>
                    <a:pt x="33769" y="71513"/>
                  </a:lnTo>
                  <a:lnTo>
                    <a:pt x="15273" y="70051"/>
                  </a:lnTo>
                  <a:lnTo>
                    <a:pt x="5924" y="68893"/>
                  </a:lnTo>
                  <a:lnTo>
                    <a:pt x="673" y="68046"/>
                  </a:lnTo>
                  <a:lnTo>
                    <a:pt x="723" y="88239"/>
                  </a:lnTo>
                  <a:lnTo>
                    <a:pt x="12692" y="90022"/>
                  </a:lnTo>
                  <a:lnTo>
                    <a:pt x="33527" y="91185"/>
                  </a:lnTo>
                  <a:lnTo>
                    <a:pt x="50587" y="89586"/>
                  </a:lnTo>
                  <a:lnTo>
                    <a:pt x="62239" y="84689"/>
                  </a:lnTo>
                  <a:lnTo>
                    <a:pt x="71043" y="64401"/>
                  </a:lnTo>
                  <a:lnTo>
                    <a:pt x="64716" y="44389"/>
                  </a:lnTo>
                  <a:lnTo>
                    <a:pt x="54563" y="39209"/>
                  </a:lnTo>
                  <a:lnTo>
                    <a:pt x="37757" y="35331"/>
                  </a:lnTo>
                  <a:lnTo>
                    <a:pt x="26144" y="32150"/>
                  </a:lnTo>
                  <a:lnTo>
                    <a:pt x="23761" y="26758"/>
                  </a:lnTo>
                  <a:lnTo>
                    <a:pt x="26547" y="21910"/>
                  </a:lnTo>
                  <a:lnTo>
                    <a:pt x="35763" y="20129"/>
                  </a:lnTo>
                  <a:lnTo>
                    <a:pt x="55922" y="22053"/>
                  </a:lnTo>
                  <a:lnTo>
                    <a:pt x="64500" y="23376"/>
                  </a:lnTo>
                  <a:lnTo>
                    <a:pt x="68033" y="23977"/>
                  </a:lnTo>
                  <a:lnTo>
                    <a:pt x="68059" y="3543"/>
                  </a:lnTo>
                  <a:lnTo>
                    <a:pt x="58629" y="1771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22170" y="22162"/>
              <a:ext cx="105563" cy="105575"/>
            </a:xfrm>
            <a:custGeom>
              <a:pathLst>
                <a:path w="105562" h="105574">
                  <a:moveTo>
                    <a:pt x="52781" y="0"/>
                  </a:moveTo>
                  <a:lnTo>
                    <a:pt x="32232" y="4150"/>
                  </a:lnTo>
                  <a:lnTo>
                    <a:pt x="15455" y="15467"/>
                  </a:lnTo>
                  <a:lnTo>
                    <a:pt x="4146" y="32248"/>
                  </a:lnTo>
                  <a:lnTo>
                    <a:pt x="0" y="52793"/>
                  </a:lnTo>
                  <a:lnTo>
                    <a:pt x="4146" y="73342"/>
                  </a:lnTo>
                  <a:lnTo>
                    <a:pt x="15455" y="90119"/>
                  </a:lnTo>
                  <a:lnTo>
                    <a:pt x="32232" y="101428"/>
                  </a:lnTo>
                  <a:lnTo>
                    <a:pt x="52781" y="105575"/>
                  </a:lnTo>
                  <a:lnTo>
                    <a:pt x="73324" y="101428"/>
                  </a:lnTo>
                  <a:lnTo>
                    <a:pt x="90101" y="90119"/>
                  </a:lnTo>
                  <a:lnTo>
                    <a:pt x="101414" y="73342"/>
                  </a:lnTo>
                  <a:lnTo>
                    <a:pt x="105562" y="52793"/>
                  </a:lnTo>
                  <a:lnTo>
                    <a:pt x="101414" y="32248"/>
                  </a:lnTo>
                  <a:lnTo>
                    <a:pt x="91772" y="17945"/>
                  </a:lnTo>
                  <a:lnTo>
                    <a:pt x="72758" y="17945"/>
                  </a:lnTo>
                  <a:lnTo>
                    <a:pt x="84594" y="22847"/>
                  </a:lnTo>
                  <a:lnTo>
                    <a:pt x="89496" y="34683"/>
                  </a:lnTo>
                  <a:lnTo>
                    <a:pt x="84594" y="46502"/>
                  </a:lnTo>
                  <a:lnTo>
                    <a:pt x="72758" y="51396"/>
                  </a:lnTo>
                  <a:lnTo>
                    <a:pt x="60937" y="46502"/>
                  </a:lnTo>
                  <a:lnTo>
                    <a:pt x="56032" y="34683"/>
                  </a:lnTo>
                  <a:lnTo>
                    <a:pt x="60937" y="22847"/>
                  </a:lnTo>
                  <a:lnTo>
                    <a:pt x="72758" y="17945"/>
                  </a:lnTo>
                  <a:lnTo>
                    <a:pt x="91772" y="17945"/>
                  </a:lnTo>
                  <a:lnTo>
                    <a:pt x="90101" y="15467"/>
                  </a:lnTo>
                  <a:lnTo>
                    <a:pt x="73324" y="4150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0" y="6"/>
              <a:ext cx="56020" cy="56008"/>
            </a:xfrm>
            <a:custGeom>
              <a:pathLst>
                <a:path w="56019" h="56007">
                  <a:moveTo>
                    <a:pt x="56019" y="0"/>
                  </a:moveTo>
                  <a:lnTo>
                    <a:pt x="0" y="0"/>
                  </a:lnTo>
                  <a:lnTo>
                    <a:pt x="0" y="56007"/>
                  </a:lnTo>
                  <a:lnTo>
                    <a:pt x="3581" y="56007"/>
                  </a:lnTo>
                  <a:lnTo>
                    <a:pt x="22742" y="22729"/>
                  </a:lnTo>
                  <a:lnTo>
                    <a:pt x="56019" y="3568"/>
                  </a:lnTo>
                  <a:close/>
                </a:path>
              </a:pathLst>
            </a:custGeom>
            <a:solidFill>
              <a:srgbClr val="E71425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93878" y="0"/>
              <a:ext cx="56020" cy="56020"/>
            </a:xfrm>
            <a:custGeom>
              <a:pathLst>
                <a:path w="56019" h="56019">
                  <a:moveTo>
                    <a:pt x="56019" y="0"/>
                  </a:moveTo>
                  <a:lnTo>
                    <a:pt x="0" y="0"/>
                  </a:lnTo>
                  <a:lnTo>
                    <a:pt x="0" y="3581"/>
                  </a:lnTo>
                  <a:lnTo>
                    <a:pt x="33283" y="22737"/>
                  </a:lnTo>
                  <a:lnTo>
                    <a:pt x="52450" y="56019"/>
                  </a:lnTo>
                  <a:lnTo>
                    <a:pt x="56019" y="56019"/>
                  </a:lnTo>
                  <a:close/>
                </a:path>
              </a:pathLst>
            </a:custGeom>
            <a:solidFill>
              <a:srgbClr val="E71425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0" y="93883"/>
              <a:ext cx="56020" cy="56020"/>
            </a:xfrm>
            <a:custGeom>
              <a:pathLst>
                <a:path w="56019" h="56019">
                  <a:moveTo>
                    <a:pt x="3581" y="0"/>
                  </a:moveTo>
                  <a:lnTo>
                    <a:pt x="0" y="0"/>
                  </a:lnTo>
                  <a:lnTo>
                    <a:pt x="0" y="56019"/>
                  </a:lnTo>
                  <a:lnTo>
                    <a:pt x="56019" y="56019"/>
                  </a:lnTo>
                  <a:lnTo>
                    <a:pt x="56019" y="52451"/>
                  </a:lnTo>
                  <a:lnTo>
                    <a:pt x="22742" y="33283"/>
                  </a:lnTo>
                  <a:close/>
                </a:path>
              </a:pathLst>
            </a:custGeom>
            <a:solidFill>
              <a:srgbClr val="E71425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93878" y="93883"/>
              <a:ext cx="56020" cy="56020"/>
            </a:xfrm>
            <a:custGeom>
              <a:pathLst>
                <a:path w="56019" h="56019">
                  <a:moveTo>
                    <a:pt x="56019" y="0"/>
                  </a:moveTo>
                  <a:lnTo>
                    <a:pt x="52450" y="0"/>
                  </a:lnTo>
                  <a:lnTo>
                    <a:pt x="33283" y="33283"/>
                  </a:lnTo>
                  <a:lnTo>
                    <a:pt x="0" y="52451"/>
                  </a:lnTo>
                  <a:lnTo>
                    <a:pt x="0" y="56019"/>
                  </a:lnTo>
                  <a:lnTo>
                    <a:pt x="56019" y="56019"/>
                  </a:lnTo>
                  <a:close/>
                </a:path>
              </a:pathLst>
            </a:custGeom>
            <a:solidFill>
              <a:srgbClr val="E71425"/>
            </a:solidFill>
          </p:spPr>
        </p:sp>
      </p:grpSp>
      <p:sp>
        <p:nvSpPr>
          <p:cNvPr id="33" name="shape 33"/>
          <p:cNvSpPr txBox="1"/>
          <p:nvPr/>
        </p:nvSpPr>
        <p:spPr>
          <a:xfrm>
            <a:off x="706755" y="2959100"/>
            <a:ext cx="5414645" cy="16510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900" b="1" spc="10">
                <a:solidFill>
                  <a:srgbClr val="E71425"/>
                </a:solidFill>
                <a:latin typeface="Arial"/>
                <a:cs typeface="Arial"/>
              </a:rPr>
              <a:t>HOLLOWS</a:t>
            </a:r>
            <a:endParaRPr/>
          </a:p>
          <a:p>
            <a:pPr marL="12700" marR="706120">
              <a:lnSpc>
                <a:spcPct val="90398"/>
              </a:lnSpc>
              <a:spcBef>
                <a:spcPts val="1000"/>
              </a:spcBef>
            </a:pPr>
            <a:r>
              <a:rPr sz="1100">
                <a:solidFill>
                  <a:srgbClr val="888A8D"/>
                </a:solidFill>
                <a:latin typeface="Arial"/>
                <a:cs typeface="Arial"/>
              </a:rPr>
              <a:t>The inside diameter of our hollows is forged into the part rather than bored from a bar, which makes them an excellent option that eliminates extra time, cost and material waste. Since we forge them as a single component; we pass along several benefits to our customers by saving production time and increasing part strength.</a:t>
            </a:r>
            <a:endParaRPr/>
          </a:p>
          <a:p>
            <a:pPr/>
            <a:r>
              <a:rPr sz="1000">
                <a:latin typeface="Arial"/>
                <a:cs typeface="Arial"/>
              </a:rPr>
              <a:t/>
            </a:r>
            <a:endParaRPr sz="1000"/>
          </a:p>
          <a:p>
            <a:pPr marL="12700">
              <a:spcBef>
                <a:spcPts val="900"/>
              </a:spcBef>
            </a:pPr>
            <a:r>
              <a:rPr sz="1400" b="1" spc="20">
                <a:solidFill>
                  <a:srgbClr val="E71425"/>
                </a:solidFill>
                <a:latin typeface="Arial"/>
                <a:cs typeface="Arial"/>
              </a:rPr>
              <a:t>MANUFACTURING CAPABILITIES</a:t>
            </a:r>
            <a:endParaRPr/>
          </a:p>
        </p:txBody>
      </p:sp>
      <p:sp>
        <p:nvSpPr>
          <p:cNvPr id="34" name="shape 34"/>
          <p:cNvSpPr txBox="1"/>
          <p:nvPr/>
        </p:nvSpPr>
        <p:spPr>
          <a:xfrm>
            <a:off x="706755" y="9639850"/>
            <a:ext cx="5414645" cy="990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49300">
              <a:tabLst>
                <a:tab pos="1507490" algn="l"/>
              </a:tabLst>
            </a:pPr>
            <a:r>
              <a:rPr sz="650" b="1" spc="15">
                <a:solidFill>
                  <a:srgbClr val="68737A"/>
                </a:solidFill>
                <a:latin typeface="Arial"/>
                <a:cs typeface="Arial"/>
              </a:rPr>
              <a:t>Forging evolution.</a:t>
            </a:r>
            <a:r>
              <a:rPr sz="650" b="1" spc="15">
                <a:solidFill>
                  <a:srgbClr val="68737A"/>
                </a:solidFill>
                <a:latin typeface="Arial"/>
                <a:cs typeface="Arial"/>
              </a:rPr>
              <a:t>	</a:t>
            </a:r>
            <a:r>
              <a:rPr sz="650" spc="-15">
                <a:solidFill>
                  <a:srgbClr val="E71425"/>
                </a:solidFill>
                <a:latin typeface="Arial"/>
                <a:cs typeface="Arial"/>
              </a:rPr>
              <a:t>|  </a:t>
            </a:r>
            <a:r>
              <a:rPr sz="650" spc="5">
                <a:solidFill>
                  <a:srgbClr val="888A8D"/>
                </a:solidFill>
                <a:latin typeface="Arial"/>
                <a:cs typeface="Arial"/>
              </a:rPr>
              <a:t>INTL.</a:t>
            </a:r>
            <a:r>
              <a:rPr sz="650" spc="-15">
                <a:solidFill>
                  <a:srgbClr val="888A8D"/>
                </a:solidFill>
                <a:latin typeface="Arial"/>
                <a:cs typeface="Arial"/>
              </a:rPr>
              <a:t>: +52 (81) 8153-0321  </a:t>
            </a:r>
            <a:r>
              <a:rPr sz="650" spc="-15">
                <a:solidFill>
                  <a:srgbClr val="E71425"/>
                </a:solidFill>
                <a:latin typeface="Arial"/>
                <a:cs typeface="Arial"/>
              </a:rPr>
              <a:t>|  </a:t>
            </a:r>
            <a:r>
              <a:rPr sz="650" spc="-15">
                <a:solidFill>
                  <a:srgbClr val="68737A"/>
                </a:solidFill>
                <a:latin typeface="Arial"/>
                <a:cs typeface="Arial"/>
              </a:rPr>
              <a:t>USA TOLL FREE: 1 888 882 0959  </a:t>
            </a:r>
            <a:r>
              <a:rPr sz="650" spc="-15">
                <a:solidFill>
                  <a:srgbClr val="E71425"/>
                </a:solidFill>
                <a:latin typeface="Arial"/>
                <a:cs typeface="Arial"/>
              </a:rPr>
              <a:t>|  </a:t>
            </a:r>
            <a:r>
              <a:rPr sz="650" spc="-15">
                <a:solidFill>
                  <a:srgbClr val="68737A"/>
                </a:solidFill>
                <a:latin typeface="Arial"/>
                <a:cs typeface="Arial"/>
              </a:rPr>
              <a:t>MEXICO TOLL FREE: </a:t>
            </a:r>
            <a:r>
              <a:rPr sz="650" spc="10">
                <a:solidFill>
                  <a:srgbClr val="68737A"/>
                </a:solidFill>
                <a:latin typeface="Arial"/>
                <a:cs typeface="Arial"/>
              </a:rPr>
              <a:t>01-800-2537-472</a:t>
            </a:r>
            <a:endParaRPr/>
          </a:p>
        </p:txBody>
      </p:sp>
      <p:graphicFrame>
        <p:nvGraphicFramePr>
          <p:cNvPr id="35" name="shape 35"/>
          <p:cNvGraphicFramePr>
            <a:graphicFrameLocks noGrp="1"/>
          </p:cNvGraphicFramePr>
          <p:nvPr/>
        </p:nvGraphicFramePr>
        <p:xfrm>
          <a:off x="720000" y="4725988"/>
          <a:ext cx="6332394" cy="20160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35635"/>
                <a:gridCol w="5696585"/>
              </a:tblGrid>
              <a:tr h="288290">
                <a:tc rowSpan="3">
                  <a:txBody>
                    <a:bodyPr/>
                    <a:p>
                      <a:pPr marL="167005" marR="167640" algn="ctr"/>
                      <a:r>
                        <a:rPr sz="800" b="1" spc="-2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/>
                    </a:p>
                  </a:txBody>
                  <a:tcPr anchor="ctr" marL="0" marR="0" marT="0" marB="0">
                    <a:lnL/>
                    <a:lnR w="3175" cmpd="sng">
                      <a:solidFill>
                        <a:srgbClr val="A7A9AC"/>
                      </a:solidFill>
                    </a:lnR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  <a:tc vMerge="1">
                  <a:txBody>
                    <a:bodyPr/>
                    <a:p>
                      <a:pPr marL="2482850" marR="2482850" algn="ctr"/>
                      <a:r>
                        <a:rPr sz="80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O.D. up to 60 in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A7A9AC"/>
                      </a:solidFill>
                    </a:lnL>
                    <a:lnR/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</a:tr>
              <a:tr h="288290">
                <a:tc rowSpan="3">
                  <a:txBody>
                    <a:bodyPr/>
                    <a:p>
                      <a:pPr marL="167005" marR="167640" algn="ctr"/>
                      <a:r>
                        <a:rPr sz="800" b="1" spc="-2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/>
                    </a:p>
                  </a:txBody>
                  <a:tcPr anchor="ctr" marL="0" marR="0" marT="0" marB="0">
                    <a:lnL/>
                    <a:lnR w="3175" cmpd="sng">
                      <a:solidFill>
                        <a:srgbClr val="A7A9AC"/>
                      </a:solidFill>
                    </a:lnR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  <a:tc vMerge="1">
                  <a:txBody>
                    <a:bodyPr/>
                    <a:p>
                      <a:pPr marL="2511425" marR="2511425" algn="ctr"/>
                      <a:r>
                        <a:rPr sz="80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I.D. up to 30 in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A7A9AC"/>
                      </a:solidFill>
                    </a:lnL>
                    <a:lnR/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</a:tr>
              <a:tr h="288290">
                <a:tc rowSpan="3">
                  <a:txBody>
                    <a:bodyPr/>
                    <a:p>
                      <a:pPr marL="167005" marR="167640" algn="ctr"/>
                      <a:r>
                        <a:rPr sz="800" b="1" spc="-2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/>
                    </a:p>
                  </a:txBody>
                  <a:tcPr anchor="ctr" marL="0" marR="0" marT="0" marB="0">
                    <a:lnL/>
                    <a:lnR w="3175" cmpd="sng">
                      <a:solidFill>
                        <a:srgbClr val="A7A9AC"/>
                      </a:solidFill>
                    </a:lnR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  <a:tc vMerge="1">
                  <a:txBody>
                    <a:bodyPr/>
                    <a:p>
                      <a:pPr marL="2307590" marR="2307590" algn="ctr"/>
                      <a:r>
                        <a:rPr sz="80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Weight up to 55,000 lb.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A7A9AC"/>
                      </a:solidFill>
                    </a:lnL>
                    <a:lnR/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</a:tr>
              <a:tr h="288290">
                <a:tc>
                  <a:txBody>
                    <a:bodyPr/>
                    <a:p>
                      <a:pPr marL="121285" marR="121285" algn="ctr"/>
                      <a:r>
                        <a:rPr sz="800" b="1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Material</a:t>
                      </a:r>
                      <a:endParaRPr/>
                    </a:p>
                  </a:txBody>
                  <a:tcPr anchor="ctr" marL="0" marR="0" marT="0" marB="0">
                    <a:lnL/>
                    <a:lnR w="3175" cmpd="sng">
                      <a:solidFill>
                        <a:srgbClr val="A7A9AC"/>
                      </a:solidFill>
                    </a:lnR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  <a:tc>
                  <a:txBody>
                    <a:bodyPr/>
                    <a:p>
                      <a:pPr marL="1657985" marR="1657985" algn="ctr"/>
                      <a:r>
                        <a:rPr sz="800" spc="-1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Carbon Steel, Alloy Steel, Tool Steel, Stainless Steel.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A7A9AC"/>
                      </a:solidFill>
                    </a:lnL>
                    <a:lnR/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</a:tr>
              <a:tr h="288290">
                <a:tc>
                  <a:txBody>
                    <a:bodyPr/>
                    <a:p>
                      <a:pPr marL="71755" marR="72390" algn="ctr"/>
                      <a:r>
                        <a:rPr sz="800" b="1" spc="-1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Heat Treat</a:t>
                      </a:r>
                      <a:endParaRPr/>
                    </a:p>
                  </a:txBody>
                  <a:tcPr anchor="ctr" marL="0" marR="0" marT="0" marB="0">
                    <a:lnL/>
                    <a:lnR w="3175" cmpd="sng">
                      <a:solidFill>
                        <a:srgbClr val="A7A9AC"/>
                      </a:solidFill>
                    </a:lnR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  <a:tc>
                  <a:txBody>
                    <a:bodyPr/>
                    <a:p>
                      <a:pPr marL="434340" marR="433070" algn="ctr"/>
                      <a:r>
                        <a:rPr sz="800" spc="-5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Normalizing, Quenching, Tempering, Annealing, Solution Annealing, Spherodizing, Aging, Stress Relieving.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A7A9AC"/>
                      </a:solidFill>
                    </a:lnL>
                    <a:lnR/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</a:tr>
              <a:tr h="288290">
                <a:tc>
                  <a:txBody>
                    <a:bodyPr/>
                    <a:p>
                      <a:pPr marL="142240" marR="142240" algn="ctr"/>
                      <a:r>
                        <a:rPr sz="800" b="1" spc="-15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Testing</a:t>
                      </a:r>
                      <a:endParaRPr/>
                    </a:p>
                  </a:txBody>
                  <a:tcPr anchor="ctr" marL="0" marR="0" marT="0" marB="0">
                    <a:lnL/>
                    <a:lnR w="3175" cmpd="sng">
                      <a:solidFill>
                        <a:srgbClr val="A7A9AC"/>
                      </a:solidFill>
                    </a:lnR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  <a:tc>
                  <a:txBody>
                    <a:bodyPr/>
                    <a:p>
                      <a:pPr marL="2082800" marR="2081530" algn="ctr"/>
                      <a:r>
                        <a:rPr sz="800" spc="5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Destructive and Non-Destructive.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A7A9AC"/>
                      </a:solidFill>
                    </a:lnL>
                    <a:lnR/>
                    <a:lnT w="3175" cmpd="sng">
                      <a:solidFill>
                        <a:srgbClr val="A7A9AC"/>
                      </a:solidFill>
                    </a:lnT>
                    <a:lnB w="3175" cmpd="sng">
                      <a:solidFill>
                        <a:srgbClr val="A7A9AC"/>
                      </a:solidFill>
                    </a:lnB>
                  </a:tcPr>
                </a:tc>
              </a:tr>
              <a:tr h="288290">
                <a:tc>
                  <a:txBody>
                    <a:bodyPr/>
                    <a:p>
                      <a:pPr marL="73660" marR="73660" algn="ctr"/>
                      <a:r>
                        <a:rPr sz="800" b="1" spc="-20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Machining</a:t>
                      </a:r>
                      <a:endParaRPr/>
                    </a:p>
                  </a:txBody>
                  <a:tcPr anchor="ctr" marL="0" marR="0" marT="0" marB="0">
                    <a:lnL/>
                    <a:lnR w="3175" cmpd="sng">
                      <a:solidFill>
                        <a:srgbClr val="A7A9AC"/>
                      </a:solidFill>
                    </a:lnR>
                    <a:lnT w="3175" cmpd="sng">
                      <a:solidFill>
                        <a:srgbClr val="A7A9AC"/>
                      </a:solidFill>
                    </a:lnT>
                    <a:lnB w="6350" cmpd="sng">
                      <a:solidFill>
                        <a:srgbClr val="E71425"/>
                      </a:solidFill>
                    </a:lnB>
                  </a:tcPr>
                </a:tc>
                <a:tc>
                  <a:txBody>
                    <a:bodyPr/>
                    <a:p>
                      <a:pPr marL="480060" marR="479425" algn="ctr"/>
                      <a:r>
                        <a:rPr sz="800" spc="5">
                          <a:solidFill>
                            <a:srgbClr val="888A8D"/>
                          </a:solidFill>
                          <a:latin typeface="Arial"/>
                          <a:cs typeface="Arial"/>
                        </a:rPr>
                        <a:t>Available CNC machining capabilities: vertical &amp; horizontal turning, milling, boring, drilling, deep drilling.</a:t>
                      </a:r>
                      <a:endParaRPr/>
                    </a:p>
                  </a:txBody>
                  <a:tcPr anchor="ctr" marL="0" marR="0" marT="0" marB="0">
                    <a:lnL w="3175" cmpd="sng">
                      <a:solidFill>
                        <a:srgbClr val="A7A9AC"/>
                      </a:solidFill>
                    </a:lnL>
                    <a:lnR/>
                    <a:lnT w="3175" cmpd="sng">
                      <a:solidFill>
                        <a:srgbClr val="A7A9AC"/>
                      </a:solidFill>
                    </a:lnT>
                    <a:lnB w="6350" cmpd="sng">
                      <a:solidFill>
                        <a:srgbClr val="E7142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27113" y="0"/>
            <a:ext cx="4139997" cy="108002"/>
          </a:xfrm>
          <a:prstGeom prst="rect">
            <a:avLst/>
          </a:prstGeom>
          <a:solidFill>
            <a:srgbClr val="E71425"/>
          </a:solidFill>
        </p:spPr>
      </p:sp>
      <p:sp>
        <p:nvSpPr>
          <p:cNvPr id="3" name="shape 3"/>
          <p:cNvSpPr/>
          <p:nvPr/>
        </p:nvSpPr>
        <p:spPr>
          <a:xfrm>
            <a:off x="727113" y="9950399"/>
            <a:ext cx="4139997" cy="108002"/>
          </a:xfrm>
          <a:prstGeom prst="rect">
            <a:avLst/>
          </a:prstGeom>
          <a:solidFill>
            <a:srgbClr val="E71425"/>
          </a:solidFill>
        </p:spPr>
      </p:sp>
      <p:grpSp>
        <p:nvGrpSpPr>
          <p:cNvPr id="4" name="shape 4"/>
          <p:cNvGrpSpPr/>
          <p:nvPr/>
        </p:nvGrpSpPr>
        <p:grpSpPr>
          <a:xfrm>
            <a:off x="727104" y="9616908"/>
            <a:ext cx="577936" cy="149904"/>
            <a:chOff x="0" y="0"/>
            <a:chExt cx="577935" cy="149903"/>
          </a:xfrm>
        </p:grpSpPr>
        <p:sp>
          <p:nvSpPr>
            <p:cNvPr id="5" name="shape 5"/>
            <p:cNvSpPr/>
            <p:nvPr/>
          </p:nvSpPr>
          <p:spPr>
            <a:xfrm>
              <a:off x="202319" y="29461"/>
              <a:ext cx="65812" cy="90297"/>
            </a:xfrm>
            <a:custGeom>
              <a:pathLst>
                <a:path w="65811" h="90296">
                  <a:moveTo>
                    <a:pt x="65811" y="0"/>
                  </a:moveTo>
                  <a:lnTo>
                    <a:pt x="62141" y="19786"/>
                  </a:lnTo>
                  <a:lnTo>
                    <a:pt x="23837" y="19786"/>
                  </a:lnTo>
                  <a:lnTo>
                    <a:pt x="23837" y="37299"/>
                  </a:lnTo>
                  <a:lnTo>
                    <a:pt x="59982" y="37299"/>
                  </a:lnTo>
                  <a:lnTo>
                    <a:pt x="56438" y="56451"/>
                  </a:lnTo>
                  <a:lnTo>
                    <a:pt x="23837" y="56451"/>
                  </a:lnTo>
                  <a:lnTo>
                    <a:pt x="23837" y="90297"/>
                  </a:lnTo>
                  <a:lnTo>
                    <a:pt x="0" y="90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280441" y="29466"/>
              <a:ext cx="77610" cy="90297"/>
            </a:xfrm>
            <a:custGeom>
              <a:pathLst>
                <a:path w="77609" h="90296">
                  <a:moveTo>
                    <a:pt x="37795" y="0"/>
                  </a:moveTo>
                  <a:lnTo>
                    <a:pt x="0" y="0"/>
                  </a:lnTo>
                  <a:lnTo>
                    <a:pt x="0" y="90296"/>
                  </a:lnTo>
                  <a:lnTo>
                    <a:pt x="24345" y="90296"/>
                  </a:lnTo>
                  <a:lnTo>
                    <a:pt x="24345" y="60883"/>
                  </a:lnTo>
                  <a:lnTo>
                    <a:pt x="36398" y="60883"/>
                  </a:lnTo>
                  <a:lnTo>
                    <a:pt x="51231" y="90296"/>
                  </a:lnTo>
                  <a:lnTo>
                    <a:pt x="77609" y="90296"/>
                  </a:lnTo>
                  <a:lnTo>
                    <a:pt x="58331" y="56438"/>
                  </a:lnTo>
                  <a:lnTo>
                    <a:pt x="69684" y="47434"/>
                  </a:lnTo>
                  <a:lnTo>
                    <a:pt x="73685" y="31826"/>
                  </a:lnTo>
                  <a:lnTo>
                    <a:pt x="73685" y="28778"/>
                  </a:lnTo>
                  <a:lnTo>
                    <a:pt x="72336" y="19659"/>
                  </a:lnTo>
                  <a:lnTo>
                    <a:pt x="36779" y="19659"/>
                  </a:lnTo>
                  <a:lnTo>
                    <a:pt x="46482" y="21818"/>
                  </a:lnTo>
                  <a:lnTo>
                    <a:pt x="49326" y="30060"/>
                  </a:lnTo>
                  <a:lnTo>
                    <a:pt x="49326" y="31064"/>
                  </a:lnTo>
                  <a:lnTo>
                    <a:pt x="46482" y="39306"/>
                  </a:lnTo>
                  <a:lnTo>
                    <a:pt x="36779" y="41478"/>
                  </a:lnTo>
                  <a:lnTo>
                    <a:pt x="24345" y="41478"/>
                  </a:lnTo>
                  <a:lnTo>
                    <a:pt x="24345" y="19659"/>
                  </a:lnTo>
                  <a:lnTo>
                    <a:pt x="36779" y="19659"/>
                  </a:lnTo>
                  <a:lnTo>
                    <a:pt x="72336" y="19659"/>
                  </a:lnTo>
                  <a:lnTo>
                    <a:pt x="71716" y="15468"/>
                  </a:lnTo>
                  <a:lnTo>
                    <a:pt x="65443" y="6591"/>
                  </a:lnTo>
                  <a:lnTo>
                    <a:pt x="54279" y="1587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370239" y="29466"/>
              <a:ext cx="24727" cy="90297"/>
            </a:xfrm>
            <a:prstGeom prst="rect">
              <a:avLst/>
            </a:prstGeom>
            <a:solidFill>
              <a:srgbClr val="888A8D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484971" y="29469"/>
              <a:ext cx="92964" cy="90297"/>
            </a:xfrm>
            <a:custGeom>
              <a:pathLst>
                <a:path w="92964" h="90296">
                  <a:moveTo>
                    <a:pt x="61252" y="0"/>
                  </a:moveTo>
                  <a:lnTo>
                    <a:pt x="31584" y="0"/>
                  </a:lnTo>
                  <a:lnTo>
                    <a:pt x="0" y="90297"/>
                  </a:lnTo>
                  <a:lnTo>
                    <a:pt x="24739" y="90297"/>
                  </a:lnTo>
                  <a:lnTo>
                    <a:pt x="30822" y="70510"/>
                  </a:lnTo>
                  <a:lnTo>
                    <a:pt x="60883" y="70510"/>
                  </a:lnTo>
                  <a:lnTo>
                    <a:pt x="67094" y="90297"/>
                  </a:lnTo>
                  <a:lnTo>
                    <a:pt x="92963" y="90297"/>
                  </a:lnTo>
                  <a:lnTo>
                    <a:pt x="68642" y="21043"/>
                  </a:lnTo>
                  <a:lnTo>
                    <a:pt x="45783" y="21043"/>
                  </a:lnTo>
                  <a:lnTo>
                    <a:pt x="55295" y="51612"/>
                  </a:lnTo>
                  <a:lnTo>
                    <a:pt x="36271" y="51612"/>
                  </a:lnTo>
                  <a:lnTo>
                    <a:pt x="45783" y="21043"/>
                  </a:lnTo>
                  <a:lnTo>
                    <a:pt x="68642" y="21043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408534" y="29035"/>
              <a:ext cx="71044" cy="91186"/>
            </a:xfrm>
            <a:custGeom>
              <a:pathLst>
                <a:path w="71043" h="91185">
                  <a:moveTo>
                    <a:pt x="35864" y="0"/>
                  </a:moveTo>
                  <a:lnTo>
                    <a:pt x="9974" y="5541"/>
                  </a:lnTo>
                  <a:lnTo>
                    <a:pt x="0" y="26276"/>
                  </a:lnTo>
                  <a:lnTo>
                    <a:pt x="6049" y="45807"/>
                  </a:lnTo>
                  <a:lnTo>
                    <a:pt x="15628" y="51313"/>
                  </a:lnTo>
                  <a:lnTo>
                    <a:pt x="31368" y="55232"/>
                  </a:lnTo>
                  <a:lnTo>
                    <a:pt x="44348" y="59020"/>
                  </a:lnTo>
                  <a:lnTo>
                    <a:pt x="46926" y="64160"/>
                  </a:lnTo>
                  <a:lnTo>
                    <a:pt x="44557" y="69665"/>
                  </a:lnTo>
                  <a:lnTo>
                    <a:pt x="33769" y="71513"/>
                  </a:lnTo>
                  <a:lnTo>
                    <a:pt x="15273" y="70051"/>
                  </a:lnTo>
                  <a:lnTo>
                    <a:pt x="5924" y="68893"/>
                  </a:lnTo>
                  <a:lnTo>
                    <a:pt x="673" y="68046"/>
                  </a:lnTo>
                  <a:lnTo>
                    <a:pt x="723" y="88239"/>
                  </a:lnTo>
                  <a:lnTo>
                    <a:pt x="12692" y="90022"/>
                  </a:lnTo>
                  <a:lnTo>
                    <a:pt x="33527" y="91185"/>
                  </a:lnTo>
                  <a:lnTo>
                    <a:pt x="50587" y="89586"/>
                  </a:lnTo>
                  <a:lnTo>
                    <a:pt x="62239" y="84689"/>
                  </a:lnTo>
                  <a:lnTo>
                    <a:pt x="71043" y="64401"/>
                  </a:lnTo>
                  <a:lnTo>
                    <a:pt x="64716" y="44389"/>
                  </a:lnTo>
                  <a:lnTo>
                    <a:pt x="54563" y="39209"/>
                  </a:lnTo>
                  <a:lnTo>
                    <a:pt x="37757" y="35331"/>
                  </a:lnTo>
                  <a:lnTo>
                    <a:pt x="26144" y="32150"/>
                  </a:lnTo>
                  <a:lnTo>
                    <a:pt x="23761" y="26758"/>
                  </a:lnTo>
                  <a:lnTo>
                    <a:pt x="26547" y="21910"/>
                  </a:lnTo>
                  <a:lnTo>
                    <a:pt x="35763" y="20129"/>
                  </a:lnTo>
                  <a:lnTo>
                    <a:pt x="55922" y="22053"/>
                  </a:lnTo>
                  <a:lnTo>
                    <a:pt x="64500" y="23376"/>
                  </a:lnTo>
                  <a:lnTo>
                    <a:pt x="68033" y="23977"/>
                  </a:lnTo>
                  <a:lnTo>
                    <a:pt x="68059" y="3543"/>
                  </a:lnTo>
                  <a:lnTo>
                    <a:pt x="58629" y="1771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22170" y="22162"/>
              <a:ext cx="105563" cy="105575"/>
            </a:xfrm>
            <a:custGeom>
              <a:pathLst>
                <a:path w="105562" h="105574">
                  <a:moveTo>
                    <a:pt x="52781" y="0"/>
                  </a:moveTo>
                  <a:lnTo>
                    <a:pt x="32232" y="4150"/>
                  </a:lnTo>
                  <a:lnTo>
                    <a:pt x="15455" y="15467"/>
                  </a:lnTo>
                  <a:lnTo>
                    <a:pt x="4146" y="32248"/>
                  </a:lnTo>
                  <a:lnTo>
                    <a:pt x="0" y="52793"/>
                  </a:lnTo>
                  <a:lnTo>
                    <a:pt x="4146" y="73342"/>
                  </a:lnTo>
                  <a:lnTo>
                    <a:pt x="15455" y="90119"/>
                  </a:lnTo>
                  <a:lnTo>
                    <a:pt x="32232" y="101428"/>
                  </a:lnTo>
                  <a:lnTo>
                    <a:pt x="52781" y="105575"/>
                  </a:lnTo>
                  <a:lnTo>
                    <a:pt x="73324" y="101428"/>
                  </a:lnTo>
                  <a:lnTo>
                    <a:pt x="90101" y="90119"/>
                  </a:lnTo>
                  <a:lnTo>
                    <a:pt x="101414" y="73342"/>
                  </a:lnTo>
                  <a:lnTo>
                    <a:pt x="105562" y="52793"/>
                  </a:lnTo>
                  <a:lnTo>
                    <a:pt x="101414" y="32248"/>
                  </a:lnTo>
                  <a:lnTo>
                    <a:pt x="91772" y="17945"/>
                  </a:lnTo>
                  <a:lnTo>
                    <a:pt x="72758" y="17945"/>
                  </a:lnTo>
                  <a:lnTo>
                    <a:pt x="84594" y="22847"/>
                  </a:lnTo>
                  <a:lnTo>
                    <a:pt x="89496" y="34683"/>
                  </a:lnTo>
                  <a:lnTo>
                    <a:pt x="84594" y="46502"/>
                  </a:lnTo>
                  <a:lnTo>
                    <a:pt x="72758" y="51396"/>
                  </a:lnTo>
                  <a:lnTo>
                    <a:pt x="60937" y="46502"/>
                  </a:lnTo>
                  <a:lnTo>
                    <a:pt x="56032" y="34683"/>
                  </a:lnTo>
                  <a:lnTo>
                    <a:pt x="60937" y="22847"/>
                  </a:lnTo>
                  <a:lnTo>
                    <a:pt x="72758" y="17945"/>
                  </a:lnTo>
                  <a:lnTo>
                    <a:pt x="91772" y="17945"/>
                  </a:lnTo>
                  <a:lnTo>
                    <a:pt x="90101" y="15467"/>
                  </a:lnTo>
                  <a:lnTo>
                    <a:pt x="73324" y="4150"/>
                  </a:lnTo>
                  <a:close/>
                </a:path>
              </a:pathLst>
            </a:custGeom>
            <a:solidFill>
              <a:srgbClr val="888A8D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0" y="6"/>
              <a:ext cx="56020" cy="56008"/>
            </a:xfrm>
            <a:custGeom>
              <a:pathLst>
                <a:path w="56019" h="56007">
                  <a:moveTo>
                    <a:pt x="56019" y="0"/>
                  </a:moveTo>
                  <a:lnTo>
                    <a:pt x="0" y="0"/>
                  </a:lnTo>
                  <a:lnTo>
                    <a:pt x="0" y="56007"/>
                  </a:lnTo>
                  <a:lnTo>
                    <a:pt x="3581" y="56007"/>
                  </a:lnTo>
                  <a:lnTo>
                    <a:pt x="22742" y="22729"/>
                  </a:lnTo>
                  <a:lnTo>
                    <a:pt x="56019" y="3568"/>
                  </a:lnTo>
                  <a:close/>
                </a:path>
              </a:pathLst>
            </a:custGeom>
            <a:solidFill>
              <a:srgbClr val="E71425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93878" y="0"/>
              <a:ext cx="56020" cy="56020"/>
            </a:xfrm>
            <a:custGeom>
              <a:pathLst>
                <a:path w="56019" h="56019">
                  <a:moveTo>
                    <a:pt x="56019" y="0"/>
                  </a:moveTo>
                  <a:lnTo>
                    <a:pt x="0" y="0"/>
                  </a:lnTo>
                  <a:lnTo>
                    <a:pt x="0" y="3581"/>
                  </a:lnTo>
                  <a:lnTo>
                    <a:pt x="33283" y="22737"/>
                  </a:lnTo>
                  <a:lnTo>
                    <a:pt x="52450" y="56019"/>
                  </a:lnTo>
                  <a:lnTo>
                    <a:pt x="56019" y="56019"/>
                  </a:lnTo>
                  <a:close/>
                </a:path>
              </a:pathLst>
            </a:custGeom>
            <a:solidFill>
              <a:srgbClr val="E71425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0" y="93883"/>
              <a:ext cx="56020" cy="56020"/>
            </a:xfrm>
            <a:custGeom>
              <a:pathLst>
                <a:path w="56019" h="56019">
                  <a:moveTo>
                    <a:pt x="3581" y="0"/>
                  </a:moveTo>
                  <a:lnTo>
                    <a:pt x="0" y="0"/>
                  </a:lnTo>
                  <a:lnTo>
                    <a:pt x="0" y="56019"/>
                  </a:lnTo>
                  <a:lnTo>
                    <a:pt x="56019" y="56019"/>
                  </a:lnTo>
                  <a:lnTo>
                    <a:pt x="56019" y="52451"/>
                  </a:lnTo>
                  <a:lnTo>
                    <a:pt x="22742" y="33283"/>
                  </a:lnTo>
                  <a:close/>
                </a:path>
              </a:pathLst>
            </a:custGeom>
            <a:solidFill>
              <a:srgbClr val="E71425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93878" y="93883"/>
              <a:ext cx="56020" cy="56020"/>
            </a:xfrm>
            <a:custGeom>
              <a:pathLst>
                <a:path w="56019" h="56019">
                  <a:moveTo>
                    <a:pt x="56019" y="0"/>
                  </a:moveTo>
                  <a:lnTo>
                    <a:pt x="52450" y="0"/>
                  </a:lnTo>
                  <a:lnTo>
                    <a:pt x="33283" y="33283"/>
                  </a:lnTo>
                  <a:lnTo>
                    <a:pt x="0" y="52451"/>
                  </a:lnTo>
                  <a:lnTo>
                    <a:pt x="0" y="56019"/>
                  </a:lnTo>
                  <a:lnTo>
                    <a:pt x="56019" y="56019"/>
                  </a:lnTo>
                  <a:close/>
                </a:path>
              </a:pathLst>
            </a:custGeom>
            <a:solidFill>
              <a:srgbClr val="E71425"/>
            </a:solidFill>
          </p:spPr>
        </p:sp>
      </p:grpSp>
      <p:pic>
        <p:nvPicPr>
          <p:cNvPr id="15" name="shape 1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" y="952500"/>
            <a:ext cx="6311900" cy="8534401"/>
          </a:xfrm>
          <a:prstGeom prst="rect"/>
        </p:spPr>
      </p:pic>
      <p:sp>
        <p:nvSpPr>
          <p:cNvPr id="16" name="shape 16"/>
          <p:cNvSpPr txBox="1"/>
          <p:nvPr/>
        </p:nvSpPr>
        <p:spPr>
          <a:xfrm>
            <a:off x="1136015" y="951892"/>
            <a:ext cx="569596" cy="1066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00" b="1" spc="-15">
                <a:solidFill>
                  <a:srgbClr val="E71425"/>
                </a:solidFill>
                <a:latin typeface="Arial"/>
                <a:cs typeface="Arial"/>
              </a:rPr>
              <a:t>Classification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1136015" y="1615515"/>
            <a:ext cx="569596" cy="14541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667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Carbon and Low</a:t>
            </a:r>
            <a:endParaRPr/>
          </a:p>
          <a:p>
            <a:pPr marL="106680">
              <a:lnSpc>
                <a:spcPts val="485"/>
              </a:lnSpc>
            </a:pPr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Alloy steels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1136015" y="2970885"/>
            <a:ext cx="56959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287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Alloy Steels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1136015" y="3807969"/>
            <a:ext cx="56959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239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Tool Steels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1136015" y="4995559"/>
            <a:ext cx="56959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8735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Stainless Steels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1136015" y="7128150"/>
            <a:ext cx="56959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287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Superalloys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1136015" y="8575163"/>
            <a:ext cx="56959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319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Aluminum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1136015" y="9184954"/>
            <a:ext cx="56959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414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Titanium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2512060" y="951892"/>
            <a:ext cx="516255" cy="1066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0330"/>
            <a:r>
              <a:rPr sz="700" b="1" spc="5">
                <a:solidFill>
                  <a:srgbClr val="E71425"/>
                </a:solidFill>
                <a:latin typeface="Arial"/>
                <a:cs typeface="Arial"/>
              </a:rPr>
              <a:t>Grade</a:t>
            </a:r>
            <a:endParaRPr/>
          </a:p>
        </p:txBody>
      </p:sp>
      <p:sp>
        <p:nvSpPr>
          <p:cNvPr id="25" name="shape 25"/>
          <p:cNvSpPr txBox="1"/>
          <p:nvPr/>
        </p:nvSpPr>
        <p:spPr>
          <a:xfrm>
            <a:off x="2512060" y="1064538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230"/>
            <a:r>
              <a:rPr sz="550" spc="-40">
                <a:solidFill>
                  <a:srgbClr val="888A8D"/>
                </a:solidFill>
                <a:latin typeface="Arial"/>
                <a:cs typeface="Arial"/>
              </a:rPr>
              <a:t>A105</a:t>
            </a: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2512060" y="1161769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367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1010</a:t>
            </a: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2512060" y="1259001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9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1018</a:t>
            </a:r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2512060" y="1356232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859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1020</a:t>
            </a:r>
            <a:endParaRPr/>
          </a:p>
        </p:txBody>
      </p:sp>
      <p:sp>
        <p:nvSpPr>
          <p:cNvPr id="29" name="shape 29"/>
          <p:cNvSpPr txBox="1"/>
          <p:nvPr/>
        </p:nvSpPr>
        <p:spPr>
          <a:xfrm>
            <a:off x="2512060" y="1453463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113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1035</a:t>
            </a:r>
            <a:endParaRPr/>
          </a:p>
        </p:txBody>
      </p:sp>
      <p:sp>
        <p:nvSpPr>
          <p:cNvPr id="30" name="shape 30"/>
          <p:cNvSpPr txBox="1"/>
          <p:nvPr/>
        </p:nvSpPr>
        <p:spPr>
          <a:xfrm>
            <a:off x="2512060" y="1550695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8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1045</a:t>
            </a:r>
            <a:endParaRPr/>
          </a:p>
        </p:txBody>
      </p:sp>
      <p:sp>
        <p:nvSpPr>
          <p:cNvPr id="31" name="shape 31"/>
          <p:cNvSpPr txBox="1"/>
          <p:nvPr/>
        </p:nvSpPr>
        <p:spPr>
          <a:xfrm>
            <a:off x="2512060" y="1647926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859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1050</a:t>
            </a:r>
            <a:endParaRPr/>
          </a:p>
        </p:txBody>
      </p:sp>
      <p:sp>
        <p:nvSpPr>
          <p:cNvPr id="32" name="shape 32"/>
          <p:cNvSpPr txBox="1"/>
          <p:nvPr/>
        </p:nvSpPr>
        <p:spPr>
          <a:xfrm>
            <a:off x="2512060" y="1745157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6690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1080</a:t>
            </a: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2512060" y="1842388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31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1552</a:t>
            </a:r>
            <a:endParaRPr/>
          </a:p>
        </p:txBody>
      </p:sp>
      <p:sp>
        <p:nvSpPr>
          <p:cNvPr id="34" name="shape 34"/>
          <p:cNvSpPr txBox="1"/>
          <p:nvPr/>
        </p:nvSpPr>
        <p:spPr>
          <a:xfrm>
            <a:off x="2512060" y="1939620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970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A350 Grade LF6</a:t>
            </a:r>
            <a:endParaRPr/>
          </a:p>
        </p:txBody>
      </p:sp>
      <p:sp>
        <p:nvSpPr>
          <p:cNvPr id="35" name="shape 35"/>
          <p:cNvSpPr txBox="1"/>
          <p:nvPr/>
        </p:nvSpPr>
        <p:spPr>
          <a:xfrm>
            <a:off x="2512060" y="2036851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510"/>
            <a:r>
              <a:rPr sz="550" spc="-15">
                <a:solidFill>
                  <a:srgbClr val="888A8D"/>
                </a:solidFill>
                <a:latin typeface="Arial"/>
                <a:cs typeface="Arial"/>
              </a:rPr>
              <a:t>A350 Grade LF2</a:t>
            </a: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2512060" y="2134082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0975"/>
            <a:r>
              <a:rPr sz="550" spc="-20">
                <a:solidFill>
                  <a:srgbClr val="888A8D"/>
                </a:solidFill>
                <a:latin typeface="Arial"/>
                <a:cs typeface="Arial"/>
              </a:rPr>
              <a:t>A694</a:t>
            </a:r>
            <a:endParaRPr/>
          </a:p>
        </p:txBody>
      </p:sp>
      <p:sp>
        <p:nvSpPr>
          <p:cNvPr id="37" name="shape 37"/>
          <p:cNvSpPr txBox="1"/>
          <p:nvPr/>
        </p:nvSpPr>
        <p:spPr>
          <a:xfrm>
            <a:off x="2512060" y="2328964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669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4130</a:t>
            </a:r>
            <a:endParaRPr/>
          </a:p>
        </p:txBody>
      </p:sp>
      <p:sp>
        <p:nvSpPr>
          <p:cNvPr id="38" name="shape 38"/>
          <p:cNvSpPr txBox="1"/>
          <p:nvPr/>
        </p:nvSpPr>
        <p:spPr>
          <a:xfrm>
            <a:off x="2512060" y="2425706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865"/>
            <a:r>
              <a:rPr sz="550" spc="-20">
                <a:solidFill>
                  <a:srgbClr val="888A8D"/>
                </a:solidFill>
                <a:latin typeface="Arial"/>
                <a:cs typeface="Arial"/>
              </a:rPr>
              <a:t>4140</a:t>
            </a:r>
            <a:endParaRPr/>
          </a:p>
        </p:txBody>
      </p:sp>
      <p:sp>
        <p:nvSpPr>
          <p:cNvPr id="39" name="shape 39"/>
          <p:cNvSpPr txBox="1"/>
          <p:nvPr/>
        </p:nvSpPr>
        <p:spPr>
          <a:xfrm>
            <a:off x="2512060" y="2522938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240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4145</a:t>
            </a:r>
            <a:endParaRPr/>
          </a:p>
        </p:txBody>
      </p:sp>
      <p:sp>
        <p:nvSpPr>
          <p:cNvPr id="40" name="shape 40"/>
          <p:cNvSpPr txBox="1"/>
          <p:nvPr/>
        </p:nvSpPr>
        <p:spPr>
          <a:xfrm>
            <a:off x="2512060" y="2620169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224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4320</a:t>
            </a:r>
            <a:endParaRPr/>
          </a:p>
        </p:txBody>
      </p:sp>
      <p:sp>
        <p:nvSpPr>
          <p:cNvPr id="41" name="shape 41"/>
          <p:cNvSpPr txBox="1"/>
          <p:nvPr/>
        </p:nvSpPr>
        <p:spPr>
          <a:xfrm>
            <a:off x="2512060" y="2717400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161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4330</a:t>
            </a:r>
            <a:endParaRPr/>
          </a:p>
        </p:txBody>
      </p:sp>
      <p:sp>
        <p:nvSpPr>
          <p:cNvPr id="42" name="shape 42"/>
          <p:cNvSpPr txBox="1"/>
          <p:nvPr/>
        </p:nvSpPr>
        <p:spPr>
          <a:xfrm>
            <a:off x="2512060" y="2814631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970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4340</a:t>
            </a: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2512060" y="2911863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5735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52100</a:t>
            </a:r>
            <a:endParaRPr/>
          </a:p>
        </p:txBody>
      </p:sp>
      <p:sp>
        <p:nvSpPr>
          <p:cNvPr id="44" name="shape 44"/>
          <p:cNvSpPr txBox="1"/>
          <p:nvPr/>
        </p:nvSpPr>
        <p:spPr>
          <a:xfrm>
            <a:off x="2512060" y="3009094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907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8620</a:t>
            </a:r>
            <a:endParaRPr/>
          </a:p>
        </p:txBody>
      </p:sp>
      <p:sp>
        <p:nvSpPr>
          <p:cNvPr id="45" name="shape 45"/>
          <p:cNvSpPr txBox="1"/>
          <p:nvPr/>
        </p:nvSpPr>
        <p:spPr>
          <a:xfrm>
            <a:off x="2512060" y="3106325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0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8630</a:t>
            </a: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2512060" y="3203557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191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A182 Grade F5</a:t>
            </a:r>
            <a:endParaRPr/>
          </a:p>
        </p:txBody>
      </p:sp>
      <p:sp>
        <p:nvSpPr>
          <p:cNvPr id="47" name="shape 47"/>
          <p:cNvSpPr txBox="1"/>
          <p:nvPr/>
        </p:nvSpPr>
        <p:spPr>
          <a:xfrm>
            <a:off x="2512060" y="3300788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590"/>
            <a:r>
              <a:rPr sz="550" spc="-25">
                <a:solidFill>
                  <a:srgbClr val="888A8D"/>
                </a:solidFill>
                <a:latin typeface="Arial"/>
                <a:cs typeface="Arial"/>
              </a:rPr>
              <a:t>A 182 Grade F11</a:t>
            </a:r>
            <a:endParaRPr/>
          </a:p>
        </p:txBody>
      </p:sp>
      <p:sp>
        <p:nvSpPr>
          <p:cNvPr id="48" name="shape 48"/>
          <p:cNvSpPr txBox="1"/>
          <p:nvPr/>
        </p:nvSpPr>
        <p:spPr>
          <a:xfrm>
            <a:off x="2512060" y="3398019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 spc="-20">
                <a:solidFill>
                  <a:srgbClr val="888A8D"/>
                </a:solidFill>
                <a:latin typeface="Arial"/>
                <a:cs typeface="Arial"/>
              </a:rPr>
              <a:t>A 182 Grade F22</a:t>
            </a:r>
            <a:endParaRPr/>
          </a:p>
        </p:txBody>
      </p:sp>
      <p:sp>
        <p:nvSpPr>
          <p:cNvPr id="49" name="shape 49"/>
          <p:cNvSpPr txBox="1"/>
          <p:nvPr/>
        </p:nvSpPr>
        <p:spPr>
          <a:xfrm>
            <a:off x="2512060" y="3505798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619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A707 Grade L5</a:t>
            </a:r>
            <a:endParaRPr/>
          </a:p>
        </p:txBody>
      </p:sp>
      <p:sp>
        <p:nvSpPr>
          <p:cNvPr id="50" name="shape 50"/>
          <p:cNvSpPr txBox="1"/>
          <p:nvPr/>
        </p:nvSpPr>
        <p:spPr>
          <a:xfrm>
            <a:off x="2512060" y="3613087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349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A707 Grade 3W</a:t>
            </a: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2512060" y="3711227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320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H13</a:t>
            </a:r>
            <a:endParaRPr/>
          </a:p>
        </p:txBody>
      </p:sp>
      <p:sp>
        <p:nvSpPr>
          <p:cNvPr id="52" name="shape 52"/>
          <p:cNvSpPr txBox="1"/>
          <p:nvPr/>
        </p:nvSpPr>
        <p:spPr>
          <a:xfrm>
            <a:off x="2512060" y="3807969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066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P20</a:t>
            </a:r>
            <a:endParaRPr/>
          </a:p>
        </p:txBody>
      </p:sp>
      <p:sp>
        <p:nvSpPr>
          <p:cNvPr id="53" name="shape 53"/>
          <p:cNvSpPr txBox="1"/>
          <p:nvPr/>
        </p:nvSpPr>
        <p:spPr>
          <a:xfrm>
            <a:off x="2512060" y="3904711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21615"/>
            <a:r>
              <a:rPr sz="550" spc="-15">
                <a:solidFill>
                  <a:srgbClr val="888A8D"/>
                </a:solidFill>
                <a:latin typeface="Arial"/>
                <a:cs typeface="Arial"/>
              </a:rPr>
              <a:t>L6</a:t>
            </a: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2512060" y="4002850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446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A182 F44</a:t>
            </a:r>
            <a:endParaRPr/>
          </a:p>
        </p:txBody>
      </p:sp>
      <p:sp>
        <p:nvSpPr>
          <p:cNvPr id="55" name="shape 55"/>
          <p:cNvSpPr txBox="1"/>
          <p:nvPr/>
        </p:nvSpPr>
        <p:spPr>
          <a:xfrm>
            <a:off x="2512060" y="4099593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27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A182 F51</a:t>
            </a:r>
            <a:endParaRPr/>
          </a:p>
        </p:txBody>
      </p:sp>
      <p:sp>
        <p:nvSpPr>
          <p:cNvPr id="56" name="shape 56"/>
          <p:cNvSpPr txBox="1"/>
          <p:nvPr/>
        </p:nvSpPr>
        <p:spPr>
          <a:xfrm>
            <a:off x="2512060" y="4196824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A182 F53</a:t>
            </a:r>
            <a:endParaRPr/>
          </a:p>
        </p:txBody>
      </p:sp>
      <p:sp>
        <p:nvSpPr>
          <p:cNvPr id="57" name="shape 57"/>
          <p:cNvSpPr txBox="1"/>
          <p:nvPr/>
        </p:nvSpPr>
        <p:spPr>
          <a:xfrm>
            <a:off x="2512060" y="4294055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255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A182 F60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2512060" y="4391286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3825"/>
            <a:r>
              <a:rPr sz="550" spc="-15">
                <a:solidFill>
                  <a:srgbClr val="888A8D"/>
                </a:solidFill>
                <a:latin typeface="Arial"/>
                <a:cs typeface="Arial"/>
              </a:rPr>
              <a:t>A182 F91</a:t>
            </a:r>
            <a:endParaRPr/>
          </a:p>
        </p:txBody>
      </p:sp>
      <p:sp>
        <p:nvSpPr>
          <p:cNvPr id="59" name="shape 59"/>
          <p:cNvSpPr txBox="1"/>
          <p:nvPr/>
        </p:nvSpPr>
        <p:spPr>
          <a:xfrm>
            <a:off x="2512060" y="4488518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90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15-5 PH</a:t>
            </a: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2512060" y="4585749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0970"/>
            <a:r>
              <a:rPr sz="550" spc="-20">
                <a:solidFill>
                  <a:srgbClr val="888A8D"/>
                </a:solidFill>
                <a:latin typeface="Arial"/>
                <a:cs typeface="Arial"/>
              </a:rPr>
              <a:t>17-4 PH</a:t>
            </a:r>
            <a:endParaRPr/>
          </a:p>
        </p:txBody>
      </p:sp>
      <p:sp>
        <p:nvSpPr>
          <p:cNvPr id="61" name="shape 61"/>
          <p:cNvSpPr txBox="1"/>
          <p:nvPr/>
        </p:nvSpPr>
        <p:spPr>
          <a:xfrm>
            <a:off x="2512060" y="4682980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75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304</a:t>
            </a:r>
            <a:endParaRPr/>
          </a:p>
        </p:txBody>
      </p:sp>
      <p:sp>
        <p:nvSpPr>
          <p:cNvPr id="62" name="shape 62"/>
          <p:cNvSpPr txBox="1"/>
          <p:nvPr/>
        </p:nvSpPr>
        <p:spPr>
          <a:xfrm>
            <a:off x="2512060" y="4780212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0340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304L</a:t>
            </a: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2512060" y="4877443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5740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310</a:t>
            </a:r>
            <a:endParaRPr/>
          </a:p>
        </p:txBody>
      </p:sp>
      <p:sp>
        <p:nvSpPr>
          <p:cNvPr id="64" name="shape 64"/>
          <p:cNvSpPr txBox="1"/>
          <p:nvPr/>
        </p:nvSpPr>
        <p:spPr>
          <a:xfrm>
            <a:off x="2512060" y="4974674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637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316</a:t>
            </a:r>
            <a:endParaRPr/>
          </a:p>
        </p:txBody>
      </p:sp>
      <p:sp>
        <p:nvSpPr>
          <p:cNvPr id="65" name="shape 65"/>
          <p:cNvSpPr txBox="1"/>
          <p:nvPr/>
        </p:nvSpPr>
        <p:spPr>
          <a:xfrm>
            <a:off x="2512060" y="5071905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732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316L</a:t>
            </a:r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2512060" y="5169137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891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321</a:t>
            </a:r>
            <a:endParaRPr/>
          </a:p>
        </p:txBody>
      </p:sp>
      <p:sp>
        <p:nvSpPr>
          <p:cNvPr id="67" name="shape 67"/>
          <p:cNvSpPr txBox="1"/>
          <p:nvPr/>
        </p:nvSpPr>
        <p:spPr>
          <a:xfrm>
            <a:off x="2512060" y="5266368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2565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347</a:t>
            </a: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2512060" y="5363599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447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410</a:t>
            </a:r>
            <a:endParaRPr/>
          </a:p>
        </p:txBody>
      </p:sp>
      <p:sp>
        <p:nvSpPr>
          <p:cNvPr id="69" name="shape 69"/>
          <p:cNvSpPr txBox="1"/>
          <p:nvPr/>
        </p:nvSpPr>
        <p:spPr>
          <a:xfrm>
            <a:off x="2512060" y="5460830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002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420</a:t>
            </a: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2512060" y="5568609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256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422</a:t>
            </a: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2512060" y="5676388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8915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431</a:t>
            </a:r>
            <a:endParaRPr/>
          </a:p>
        </p:txBody>
      </p:sp>
      <p:sp>
        <p:nvSpPr>
          <p:cNvPr id="72" name="shape 72"/>
          <p:cNvSpPr txBox="1"/>
          <p:nvPr/>
        </p:nvSpPr>
        <p:spPr>
          <a:xfrm>
            <a:off x="2512060" y="5988687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510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F6NM</a:t>
            </a:r>
            <a:endParaRPr/>
          </a:p>
        </p:txBody>
      </p:sp>
      <p:sp>
        <p:nvSpPr>
          <p:cNvPr id="73" name="shape 73"/>
          <p:cNvSpPr txBox="1"/>
          <p:nvPr/>
        </p:nvSpPr>
        <p:spPr>
          <a:xfrm>
            <a:off x="2512060" y="6086826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00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718</a:t>
            </a:r>
            <a:endParaRPr/>
          </a:p>
        </p:txBody>
      </p:sp>
      <p:sp>
        <p:nvSpPr>
          <p:cNvPr id="74" name="shape 74"/>
          <p:cNvSpPr txBox="1"/>
          <p:nvPr/>
        </p:nvSpPr>
        <p:spPr>
          <a:xfrm>
            <a:off x="2512060" y="6183569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508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Alloy 718 Plus</a:t>
            </a:r>
            <a:endParaRPr/>
          </a:p>
        </p:txBody>
      </p:sp>
      <p:sp>
        <p:nvSpPr>
          <p:cNvPr id="75" name="shape 75"/>
          <p:cNvSpPr txBox="1"/>
          <p:nvPr/>
        </p:nvSpPr>
        <p:spPr>
          <a:xfrm>
            <a:off x="2512060" y="6280800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430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Waspaloy</a:t>
            </a: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2512060" y="6378031"/>
            <a:ext cx="51625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68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909</a:t>
            </a:r>
            <a:endParaRPr/>
          </a:p>
        </p:txBody>
      </p:sp>
      <p:sp>
        <p:nvSpPr>
          <p:cNvPr id="77" name="shape 77"/>
          <p:cNvSpPr txBox="1"/>
          <p:nvPr/>
        </p:nvSpPr>
        <p:spPr>
          <a:xfrm>
            <a:off x="2512060" y="6475262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303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907</a:t>
            </a:r>
            <a:endParaRPr/>
          </a:p>
        </p:txBody>
      </p:sp>
      <p:sp>
        <p:nvSpPr>
          <p:cNvPr id="78" name="shape 78"/>
          <p:cNvSpPr txBox="1"/>
          <p:nvPr/>
        </p:nvSpPr>
        <p:spPr>
          <a:xfrm>
            <a:off x="2512060" y="6572494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557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625</a:t>
            </a: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2512060" y="6669725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922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600</a:t>
            </a:r>
            <a:endParaRPr/>
          </a:p>
        </p:txBody>
      </p:sp>
      <p:sp>
        <p:nvSpPr>
          <p:cNvPr id="80" name="shape 80"/>
          <p:cNvSpPr txBox="1"/>
          <p:nvPr/>
        </p:nvSpPr>
        <p:spPr>
          <a:xfrm>
            <a:off x="2512060" y="6766956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128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Alloy 617</a:t>
            </a: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2512060" y="6864187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5049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X</a:t>
            </a: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2512060" y="6961419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90170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Alloy H230</a:t>
            </a:r>
            <a:endParaRPr/>
          </a:p>
        </p:txBody>
      </p:sp>
      <p:sp>
        <p:nvSpPr>
          <p:cNvPr id="83" name="shape 83"/>
          <p:cNvSpPr txBox="1"/>
          <p:nvPr/>
        </p:nvSpPr>
        <p:spPr>
          <a:xfrm>
            <a:off x="2512060" y="7058650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747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188</a:t>
            </a:r>
            <a:endParaRPr/>
          </a:p>
        </p:txBody>
      </p:sp>
      <p:sp>
        <p:nvSpPr>
          <p:cNvPr id="84" name="shape 84"/>
          <p:cNvSpPr txBox="1"/>
          <p:nvPr/>
        </p:nvSpPr>
        <p:spPr>
          <a:xfrm>
            <a:off x="2512060" y="7155881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9334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Alloy H242</a:t>
            </a:r>
            <a:endParaRPr/>
          </a:p>
        </p:txBody>
      </p:sp>
      <p:sp>
        <p:nvSpPr>
          <p:cNvPr id="85" name="shape 85"/>
          <p:cNvSpPr txBox="1"/>
          <p:nvPr/>
        </p:nvSpPr>
        <p:spPr>
          <a:xfrm>
            <a:off x="2512060" y="7253113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429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Alloy HR120</a:t>
            </a:r>
            <a:endParaRPr/>
          </a:p>
        </p:txBody>
      </p:sp>
      <p:sp>
        <p:nvSpPr>
          <p:cNvPr id="86" name="shape 86"/>
          <p:cNvSpPr txBox="1"/>
          <p:nvPr/>
        </p:nvSpPr>
        <p:spPr>
          <a:xfrm>
            <a:off x="2512060" y="7350344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747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Nimonic 80</a:t>
            </a: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2512060" y="7447575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49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825</a:t>
            </a:r>
            <a:endParaRPr/>
          </a:p>
        </p:txBody>
      </p:sp>
      <p:sp>
        <p:nvSpPr>
          <p:cNvPr id="88" name="shape 88"/>
          <p:cNvSpPr txBox="1"/>
          <p:nvPr/>
        </p:nvSpPr>
        <p:spPr>
          <a:xfrm>
            <a:off x="2512060" y="7544806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493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800 H</a:t>
            </a: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2512060" y="7642038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9398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Alloy C276</a:t>
            </a: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2512060" y="7739269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763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Monel 400</a:t>
            </a:r>
            <a:endParaRPr/>
          </a:p>
        </p:txBody>
      </p:sp>
      <p:sp>
        <p:nvSpPr>
          <p:cNvPr id="91" name="shape 91"/>
          <p:cNvSpPr txBox="1"/>
          <p:nvPr/>
        </p:nvSpPr>
        <p:spPr>
          <a:xfrm>
            <a:off x="2512060" y="7836500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9334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Alloy C263</a:t>
            </a:r>
            <a:endParaRPr/>
          </a:p>
        </p:txBody>
      </p:sp>
      <p:sp>
        <p:nvSpPr>
          <p:cNvPr id="92" name="shape 92"/>
          <p:cNvSpPr txBox="1"/>
          <p:nvPr/>
        </p:nvSpPr>
        <p:spPr>
          <a:xfrm>
            <a:off x="2512060" y="8169964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572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Thermo Span</a:t>
            </a: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2512060" y="8279210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160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 6061</a:t>
            </a:r>
            <a:endParaRPr/>
          </a:p>
        </p:txBody>
      </p:sp>
      <p:sp>
        <p:nvSpPr>
          <p:cNvPr id="94" name="shape 94"/>
          <p:cNvSpPr txBox="1"/>
          <p:nvPr/>
        </p:nvSpPr>
        <p:spPr>
          <a:xfrm>
            <a:off x="2512060" y="8397605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22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 7075</a:t>
            </a:r>
            <a:endParaRPr/>
          </a:p>
        </p:txBody>
      </p:sp>
      <p:sp>
        <p:nvSpPr>
          <p:cNvPr id="95" name="shape 95"/>
          <p:cNvSpPr txBox="1"/>
          <p:nvPr/>
        </p:nvSpPr>
        <p:spPr>
          <a:xfrm>
            <a:off x="2512060" y="8516001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54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 2618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2512060" y="8634396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54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 2014</a:t>
            </a:r>
            <a:endParaRPr/>
          </a:p>
        </p:txBody>
      </p:sp>
      <p:sp>
        <p:nvSpPr>
          <p:cNvPr id="97" name="shape 97"/>
          <p:cNvSpPr txBox="1"/>
          <p:nvPr/>
        </p:nvSpPr>
        <p:spPr>
          <a:xfrm>
            <a:off x="2512060" y="8752792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668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 2219</a:t>
            </a:r>
            <a:endParaRPr/>
          </a:p>
        </p:txBody>
      </p:sp>
      <p:sp>
        <p:nvSpPr>
          <p:cNvPr id="98" name="shape 98"/>
          <p:cNvSpPr txBox="1"/>
          <p:nvPr/>
        </p:nvSpPr>
        <p:spPr>
          <a:xfrm>
            <a:off x="2512060" y="8871188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843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Al 7050</a:t>
            </a: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2512060" y="8980433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129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Ti-6-4</a:t>
            </a:r>
            <a:endParaRPr/>
          </a:p>
        </p:txBody>
      </p:sp>
      <p:sp>
        <p:nvSpPr>
          <p:cNvPr id="100" name="shape 100"/>
          <p:cNvSpPr txBox="1"/>
          <p:nvPr/>
        </p:nvSpPr>
        <p:spPr>
          <a:xfrm>
            <a:off x="2512060" y="9077175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160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Ti 6-2-4-2</a:t>
            </a:r>
            <a:endParaRPr/>
          </a:p>
        </p:txBody>
      </p:sp>
      <p:sp>
        <p:nvSpPr>
          <p:cNvPr id="101" name="shape 101"/>
          <p:cNvSpPr txBox="1"/>
          <p:nvPr/>
        </p:nvSpPr>
        <p:spPr>
          <a:xfrm>
            <a:off x="2512060" y="9174407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272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Ti 21s</a:t>
            </a:r>
            <a:endParaRPr/>
          </a:p>
        </p:txBody>
      </p:sp>
      <p:sp>
        <p:nvSpPr>
          <p:cNvPr id="102" name="shape 102"/>
          <p:cNvSpPr txBox="1"/>
          <p:nvPr/>
        </p:nvSpPr>
        <p:spPr>
          <a:xfrm>
            <a:off x="2512060" y="9282185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1925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Ti 834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2512060" y="9389475"/>
            <a:ext cx="51625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5875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Ti-407</a:t>
            </a:r>
            <a:endParaRPr/>
          </a:p>
        </p:txBody>
      </p:sp>
      <p:sp>
        <p:nvSpPr>
          <p:cNvPr id="104" name="shape 104"/>
          <p:cNvSpPr txBox="1"/>
          <p:nvPr/>
        </p:nvSpPr>
        <p:spPr>
          <a:xfrm>
            <a:off x="3728720" y="951892"/>
            <a:ext cx="568325" cy="1066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00" b="1" spc="-5">
                <a:solidFill>
                  <a:srgbClr val="E71425"/>
                </a:solidFill>
                <a:latin typeface="Arial"/>
                <a:cs typeface="Arial"/>
              </a:rPr>
              <a:t>UNS Number</a:t>
            </a:r>
            <a:endParaRPr/>
          </a:p>
        </p:txBody>
      </p:sp>
      <p:sp>
        <p:nvSpPr>
          <p:cNvPr id="105" name="shape 105"/>
          <p:cNvSpPr txBox="1"/>
          <p:nvPr/>
        </p:nvSpPr>
        <p:spPr>
          <a:xfrm>
            <a:off x="3728720" y="1064538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310"/>
            <a:r>
              <a:rPr sz="550" spc="-15">
                <a:solidFill>
                  <a:srgbClr val="888A8D"/>
                </a:solidFill>
                <a:latin typeface="Arial"/>
                <a:cs typeface="Arial"/>
              </a:rPr>
              <a:t>K03504</a:t>
            </a: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3728720" y="1161769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93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G10100</a:t>
            </a:r>
            <a:endParaRPr/>
          </a:p>
        </p:txBody>
      </p:sp>
      <p:sp>
        <p:nvSpPr>
          <p:cNvPr id="107" name="shape 107"/>
          <p:cNvSpPr txBox="1"/>
          <p:nvPr/>
        </p:nvSpPr>
        <p:spPr>
          <a:xfrm>
            <a:off x="3728720" y="1259001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002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G10180</a:t>
            </a:r>
            <a:endParaRPr/>
          </a:p>
        </p:txBody>
      </p:sp>
      <p:sp>
        <p:nvSpPr>
          <p:cNvPr id="108" name="shape 108"/>
          <p:cNvSpPr txBox="1"/>
          <p:nvPr/>
        </p:nvSpPr>
        <p:spPr>
          <a:xfrm>
            <a:off x="3728720" y="1356232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31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G10200</a:t>
            </a: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3728720" y="1453463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0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G10350</a:t>
            </a:r>
            <a:endParaRPr/>
          </a:p>
        </p:txBody>
      </p:sp>
      <p:sp>
        <p:nvSpPr>
          <p:cNvPr id="110" name="shape 110"/>
          <p:cNvSpPr txBox="1"/>
          <p:nvPr/>
        </p:nvSpPr>
        <p:spPr>
          <a:xfrm>
            <a:off x="3728720" y="1550695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558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G10450</a:t>
            </a:r>
            <a:endParaRPr/>
          </a:p>
        </p:txBody>
      </p:sp>
      <p:sp>
        <p:nvSpPr>
          <p:cNvPr id="111" name="shape 111"/>
          <p:cNvSpPr txBox="1"/>
          <p:nvPr/>
        </p:nvSpPr>
        <p:spPr>
          <a:xfrm>
            <a:off x="3728720" y="1647926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367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G10500</a:t>
            </a:r>
            <a:endParaRPr/>
          </a:p>
        </p:txBody>
      </p:sp>
      <p:sp>
        <p:nvSpPr>
          <p:cNvPr id="112" name="shape 112"/>
          <p:cNvSpPr txBox="1"/>
          <p:nvPr/>
        </p:nvSpPr>
        <p:spPr>
          <a:xfrm>
            <a:off x="3728720" y="1745157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1770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G10800</a:t>
            </a:r>
            <a:endParaRPr/>
          </a:p>
        </p:txBody>
      </p:sp>
      <p:sp>
        <p:nvSpPr>
          <p:cNvPr id="113" name="shape 113"/>
          <p:cNvSpPr txBox="1"/>
          <p:nvPr/>
        </p:nvSpPr>
        <p:spPr>
          <a:xfrm>
            <a:off x="3728720" y="1842388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93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G15520</a:t>
            </a:r>
            <a:endParaRPr/>
          </a:p>
        </p:txBody>
      </p:sp>
      <p:sp>
        <p:nvSpPr>
          <p:cNvPr id="114" name="shape 114"/>
          <p:cNvSpPr txBox="1"/>
          <p:nvPr/>
        </p:nvSpPr>
        <p:spPr>
          <a:xfrm>
            <a:off x="3728720" y="2036851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066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K03011</a:t>
            </a: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3728720" y="2328964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2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G41300</a:t>
            </a:r>
            <a:endParaRPr/>
          </a:p>
        </p:txBody>
      </p:sp>
      <p:sp>
        <p:nvSpPr>
          <p:cNvPr id="116" name="shape 116"/>
          <p:cNvSpPr txBox="1"/>
          <p:nvPr/>
        </p:nvSpPr>
        <p:spPr>
          <a:xfrm>
            <a:off x="3728720" y="2425706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9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G41400</a:t>
            </a:r>
            <a:endParaRPr/>
          </a:p>
        </p:txBody>
      </p:sp>
      <p:sp>
        <p:nvSpPr>
          <p:cNvPr id="117" name="shape 117"/>
          <p:cNvSpPr txBox="1"/>
          <p:nvPr/>
        </p:nvSpPr>
        <p:spPr>
          <a:xfrm>
            <a:off x="3728720" y="2522938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748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G41450</a:t>
            </a:r>
            <a:endParaRPr/>
          </a:p>
        </p:txBody>
      </p:sp>
      <p:sp>
        <p:nvSpPr>
          <p:cNvPr id="118" name="shape 118"/>
          <p:cNvSpPr txBox="1"/>
          <p:nvPr/>
        </p:nvSpPr>
        <p:spPr>
          <a:xfrm>
            <a:off x="3728720" y="2620169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8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G43200</a:t>
            </a:r>
            <a:endParaRPr/>
          </a:p>
        </p:txBody>
      </p:sp>
      <p:sp>
        <p:nvSpPr>
          <p:cNvPr id="119" name="shape 119"/>
          <p:cNvSpPr txBox="1"/>
          <p:nvPr/>
        </p:nvSpPr>
        <p:spPr>
          <a:xfrm>
            <a:off x="3728720" y="2814631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859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G43400</a:t>
            </a:r>
            <a:endParaRPr/>
          </a:p>
        </p:txBody>
      </p:sp>
      <p:sp>
        <p:nvSpPr>
          <p:cNvPr id="120" name="shape 120"/>
          <p:cNvSpPr txBox="1"/>
          <p:nvPr/>
        </p:nvSpPr>
        <p:spPr>
          <a:xfrm>
            <a:off x="3728720" y="3009094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732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G86200</a:t>
            </a: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3728720" y="3106325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732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G86300</a:t>
            </a:r>
            <a:endParaRPr/>
          </a:p>
        </p:txBody>
      </p:sp>
      <p:sp>
        <p:nvSpPr>
          <p:cNvPr id="122" name="shape 122"/>
          <p:cNvSpPr txBox="1"/>
          <p:nvPr/>
        </p:nvSpPr>
        <p:spPr>
          <a:xfrm>
            <a:off x="3728720" y="3203557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38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K41545</a:t>
            </a:r>
            <a:endParaRPr/>
          </a:p>
        </p:txBody>
      </p:sp>
      <p:sp>
        <p:nvSpPr>
          <p:cNvPr id="123" name="shape 123"/>
          <p:cNvSpPr txBox="1"/>
          <p:nvPr/>
        </p:nvSpPr>
        <p:spPr>
          <a:xfrm>
            <a:off x="3728720" y="3300788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082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K11597</a:t>
            </a:r>
            <a:endParaRPr/>
          </a:p>
        </p:txBody>
      </p:sp>
      <p:sp>
        <p:nvSpPr>
          <p:cNvPr id="124" name="shape 124"/>
          <p:cNvSpPr txBox="1"/>
          <p:nvPr/>
        </p:nvSpPr>
        <p:spPr>
          <a:xfrm>
            <a:off x="3728720" y="3398019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129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K21590</a:t>
            </a:r>
            <a:endParaRPr/>
          </a:p>
        </p:txBody>
      </p:sp>
      <p:sp>
        <p:nvSpPr>
          <p:cNvPr id="125" name="shape 125"/>
          <p:cNvSpPr txBox="1"/>
          <p:nvPr/>
        </p:nvSpPr>
        <p:spPr>
          <a:xfrm>
            <a:off x="3728720" y="3711227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25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T20813</a:t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3728720" y="3807969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25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T51620</a:t>
            </a: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3728720" y="3904711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193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T61206</a:t>
            </a:r>
            <a:endParaRPr/>
          </a:p>
        </p:txBody>
      </p:sp>
      <p:sp>
        <p:nvSpPr>
          <p:cNvPr id="128" name="shape 128"/>
          <p:cNvSpPr txBox="1"/>
          <p:nvPr/>
        </p:nvSpPr>
        <p:spPr>
          <a:xfrm>
            <a:off x="3728720" y="4002850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002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S31254</a:t>
            </a:r>
            <a:endParaRPr/>
          </a:p>
        </p:txBody>
      </p:sp>
      <p:sp>
        <p:nvSpPr>
          <p:cNvPr id="129" name="shape 129"/>
          <p:cNvSpPr txBox="1"/>
          <p:nvPr/>
        </p:nvSpPr>
        <p:spPr>
          <a:xfrm>
            <a:off x="3728720" y="4099593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S31803</a:t>
            </a:r>
            <a:endParaRPr/>
          </a:p>
        </p:txBody>
      </p:sp>
      <p:sp>
        <p:nvSpPr>
          <p:cNvPr id="130" name="shape 130"/>
          <p:cNvSpPr txBox="1"/>
          <p:nvPr/>
        </p:nvSpPr>
        <p:spPr>
          <a:xfrm>
            <a:off x="3728720" y="4196824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31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S32750</a:t>
            </a:r>
            <a:endParaRPr/>
          </a:p>
        </p:txBody>
      </p:sp>
      <p:sp>
        <p:nvSpPr>
          <p:cNvPr id="131" name="shape 131"/>
          <p:cNvSpPr txBox="1"/>
          <p:nvPr/>
        </p:nvSpPr>
        <p:spPr>
          <a:xfrm>
            <a:off x="3728720" y="4294055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31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S32205</a:t>
            </a:r>
            <a:endParaRPr/>
          </a:p>
        </p:txBody>
      </p:sp>
      <p:sp>
        <p:nvSpPr>
          <p:cNvPr id="132" name="shape 132"/>
          <p:cNvSpPr txBox="1"/>
          <p:nvPr/>
        </p:nvSpPr>
        <p:spPr>
          <a:xfrm>
            <a:off x="3728720" y="4391286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230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K90901</a:t>
            </a: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3728720" y="4488518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193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S15500</a:t>
            </a:r>
            <a:endParaRPr/>
          </a:p>
        </p:txBody>
      </p:sp>
      <p:sp>
        <p:nvSpPr>
          <p:cNvPr id="134" name="shape 134"/>
          <p:cNvSpPr txBox="1"/>
          <p:nvPr/>
        </p:nvSpPr>
        <p:spPr>
          <a:xfrm>
            <a:off x="3728720" y="4585749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38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S17400</a:t>
            </a:r>
            <a:endParaRPr/>
          </a:p>
        </p:txBody>
      </p:sp>
      <p:sp>
        <p:nvSpPr>
          <p:cNvPr id="135" name="shape 135"/>
          <p:cNvSpPr txBox="1"/>
          <p:nvPr/>
        </p:nvSpPr>
        <p:spPr>
          <a:xfrm>
            <a:off x="3728720" y="4682980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240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S30400</a:t>
            </a:r>
            <a:endParaRPr/>
          </a:p>
        </p:txBody>
      </p:sp>
      <p:sp>
        <p:nvSpPr>
          <p:cNvPr id="136" name="shape 136"/>
          <p:cNvSpPr txBox="1"/>
          <p:nvPr/>
        </p:nvSpPr>
        <p:spPr>
          <a:xfrm>
            <a:off x="3728720" y="4780212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94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S30403</a:t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3728720" y="4877443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12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S31000</a:t>
            </a:r>
            <a:endParaRPr/>
          </a:p>
        </p:txBody>
      </p:sp>
      <p:sp>
        <p:nvSpPr>
          <p:cNvPr id="138" name="shape 138"/>
          <p:cNvSpPr txBox="1"/>
          <p:nvPr/>
        </p:nvSpPr>
        <p:spPr>
          <a:xfrm>
            <a:off x="3728720" y="4974674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93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S31600</a:t>
            </a: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3728720" y="5071905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25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S31603</a:t>
            </a:r>
            <a:endParaRPr/>
          </a:p>
        </p:txBody>
      </p:sp>
      <p:sp>
        <p:nvSpPr>
          <p:cNvPr id="140" name="shape 140"/>
          <p:cNvSpPr txBox="1"/>
          <p:nvPr/>
        </p:nvSpPr>
        <p:spPr>
          <a:xfrm>
            <a:off x="3728720" y="5169137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129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S32100</a:t>
            </a:r>
            <a:endParaRPr/>
          </a:p>
        </p:txBody>
      </p:sp>
      <p:sp>
        <p:nvSpPr>
          <p:cNvPr id="141" name="shape 141"/>
          <p:cNvSpPr txBox="1"/>
          <p:nvPr/>
        </p:nvSpPr>
        <p:spPr>
          <a:xfrm>
            <a:off x="3728720" y="5266368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2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S34700</a:t>
            </a:r>
            <a:endParaRPr/>
          </a:p>
        </p:txBody>
      </p:sp>
      <p:sp>
        <p:nvSpPr>
          <p:cNvPr id="142" name="shape 142"/>
          <p:cNvSpPr txBox="1"/>
          <p:nvPr/>
        </p:nvSpPr>
        <p:spPr>
          <a:xfrm>
            <a:off x="3728720" y="5363599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748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S41000</a:t>
            </a:r>
            <a:endParaRPr/>
          </a:p>
        </p:txBody>
      </p:sp>
      <p:sp>
        <p:nvSpPr>
          <p:cNvPr id="143" name="shape 143"/>
          <p:cNvSpPr txBox="1"/>
          <p:nvPr/>
        </p:nvSpPr>
        <p:spPr>
          <a:xfrm>
            <a:off x="3728720" y="5460830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177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S42000</a:t>
            </a:r>
            <a:endParaRPr/>
          </a:p>
        </p:txBody>
      </p:sp>
      <p:sp>
        <p:nvSpPr>
          <p:cNvPr id="144" name="shape 144"/>
          <p:cNvSpPr txBox="1"/>
          <p:nvPr/>
        </p:nvSpPr>
        <p:spPr>
          <a:xfrm>
            <a:off x="3728720" y="5568609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9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S42200</a:t>
            </a:r>
            <a:endParaRPr/>
          </a:p>
        </p:txBody>
      </p:sp>
      <p:sp>
        <p:nvSpPr>
          <p:cNvPr id="145" name="shape 145"/>
          <p:cNvSpPr txBox="1"/>
          <p:nvPr/>
        </p:nvSpPr>
        <p:spPr>
          <a:xfrm>
            <a:off x="3728720" y="5676388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7485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S43100</a:t>
            </a:r>
            <a:endParaRPr/>
          </a:p>
        </p:txBody>
      </p:sp>
      <p:sp>
        <p:nvSpPr>
          <p:cNvPr id="146" name="shape 146"/>
          <p:cNvSpPr txBox="1"/>
          <p:nvPr/>
        </p:nvSpPr>
        <p:spPr>
          <a:xfrm>
            <a:off x="3728720" y="5988687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002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S41500</a:t>
            </a:r>
            <a:endParaRPr/>
          </a:p>
        </p:txBody>
      </p:sp>
      <p:sp>
        <p:nvSpPr>
          <p:cNvPr id="147" name="shape 147"/>
          <p:cNvSpPr txBox="1"/>
          <p:nvPr/>
        </p:nvSpPr>
        <p:spPr>
          <a:xfrm>
            <a:off x="3728720" y="6086826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12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N07718</a:t>
            </a:r>
            <a:endParaRPr/>
          </a:p>
        </p:txBody>
      </p:sp>
      <p:sp>
        <p:nvSpPr>
          <p:cNvPr id="148" name="shape 148"/>
          <p:cNvSpPr txBox="1"/>
          <p:nvPr/>
        </p:nvSpPr>
        <p:spPr>
          <a:xfrm>
            <a:off x="3728720" y="6280800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558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N07001</a:t>
            </a:r>
            <a:endParaRPr/>
          </a:p>
        </p:txBody>
      </p:sp>
      <p:sp>
        <p:nvSpPr>
          <p:cNvPr id="149" name="shape 149"/>
          <p:cNvSpPr txBox="1"/>
          <p:nvPr/>
        </p:nvSpPr>
        <p:spPr>
          <a:xfrm>
            <a:off x="3728720" y="6378031"/>
            <a:ext cx="568325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367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N19909</a:t>
            </a:r>
            <a:endParaRPr/>
          </a:p>
        </p:txBody>
      </p:sp>
      <p:sp>
        <p:nvSpPr>
          <p:cNvPr id="150" name="shape 150"/>
          <p:cNvSpPr txBox="1"/>
          <p:nvPr/>
        </p:nvSpPr>
        <p:spPr>
          <a:xfrm>
            <a:off x="3728720" y="6475262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N19907</a:t>
            </a:r>
            <a:endParaRPr/>
          </a:p>
        </p:txBody>
      </p:sp>
      <p:sp>
        <p:nvSpPr>
          <p:cNvPr id="151" name="shape 151"/>
          <p:cNvSpPr txBox="1"/>
          <p:nvPr/>
        </p:nvSpPr>
        <p:spPr>
          <a:xfrm>
            <a:off x="3728720" y="6572494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8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N06625</a:t>
            </a:r>
            <a:endParaRPr/>
          </a:p>
        </p:txBody>
      </p:sp>
      <p:sp>
        <p:nvSpPr>
          <p:cNvPr id="152" name="shape 152"/>
          <p:cNvSpPr txBox="1"/>
          <p:nvPr/>
        </p:nvSpPr>
        <p:spPr>
          <a:xfrm>
            <a:off x="3728720" y="6669725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41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N06600</a:t>
            </a:r>
            <a:endParaRPr/>
          </a:p>
        </p:txBody>
      </p:sp>
      <p:sp>
        <p:nvSpPr>
          <p:cNvPr id="153" name="shape 153"/>
          <p:cNvSpPr txBox="1"/>
          <p:nvPr/>
        </p:nvSpPr>
        <p:spPr>
          <a:xfrm>
            <a:off x="3728720" y="6766956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N06617</a:t>
            </a:r>
            <a:endParaRPr/>
          </a:p>
        </p:txBody>
      </p:sp>
      <p:sp>
        <p:nvSpPr>
          <p:cNvPr id="154" name="shape 154"/>
          <p:cNvSpPr txBox="1"/>
          <p:nvPr/>
        </p:nvSpPr>
        <p:spPr>
          <a:xfrm>
            <a:off x="3728720" y="6864187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66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N06002</a:t>
            </a:r>
            <a:endParaRPr/>
          </a:p>
        </p:txBody>
      </p:sp>
      <p:sp>
        <p:nvSpPr>
          <p:cNvPr id="155" name="shape 155"/>
          <p:cNvSpPr txBox="1"/>
          <p:nvPr/>
        </p:nvSpPr>
        <p:spPr>
          <a:xfrm>
            <a:off x="3728720" y="6961419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23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N06230</a:t>
            </a:r>
            <a:endParaRPr/>
          </a:p>
        </p:txBody>
      </p:sp>
      <p:sp>
        <p:nvSpPr>
          <p:cNvPr id="156" name="shape 156"/>
          <p:cNvSpPr txBox="1"/>
          <p:nvPr/>
        </p:nvSpPr>
        <p:spPr>
          <a:xfrm>
            <a:off x="3728720" y="7058650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12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R30188</a:t>
            </a:r>
            <a:endParaRPr/>
          </a:p>
        </p:txBody>
      </p:sp>
      <p:sp>
        <p:nvSpPr>
          <p:cNvPr id="157" name="shape 157"/>
          <p:cNvSpPr txBox="1"/>
          <p:nvPr/>
        </p:nvSpPr>
        <p:spPr>
          <a:xfrm>
            <a:off x="3728720" y="7155881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93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N10242</a:t>
            </a:r>
            <a:endParaRPr/>
          </a:p>
        </p:txBody>
      </p:sp>
      <p:sp>
        <p:nvSpPr>
          <p:cNvPr id="158" name="shape 158"/>
          <p:cNvSpPr txBox="1"/>
          <p:nvPr/>
        </p:nvSpPr>
        <p:spPr>
          <a:xfrm>
            <a:off x="3728720" y="7253113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49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N08120</a:t>
            </a:r>
            <a:endParaRPr/>
          </a:p>
        </p:txBody>
      </p:sp>
      <p:sp>
        <p:nvSpPr>
          <p:cNvPr id="159" name="shape 159"/>
          <p:cNvSpPr txBox="1"/>
          <p:nvPr/>
        </p:nvSpPr>
        <p:spPr>
          <a:xfrm>
            <a:off x="3728720" y="7350344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7960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N07080</a:t>
            </a:r>
            <a:endParaRPr/>
          </a:p>
        </p:txBody>
      </p:sp>
      <p:sp>
        <p:nvSpPr>
          <p:cNvPr id="160" name="shape 160"/>
          <p:cNvSpPr txBox="1"/>
          <p:nvPr/>
        </p:nvSpPr>
        <p:spPr>
          <a:xfrm>
            <a:off x="3728720" y="7447575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8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N08825</a:t>
            </a:r>
            <a:endParaRPr/>
          </a:p>
        </p:txBody>
      </p:sp>
      <p:sp>
        <p:nvSpPr>
          <p:cNvPr id="161" name="shape 161"/>
          <p:cNvSpPr txBox="1"/>
          <p:nvPr/>
        </p:nvSpPr>
        <p:spPr>
          <a:xfrm>
            <a:off x="3728720" y="7544806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5778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N08800/N08810</a:t>
            </a:r>
            <a:endParaRPr/>
          </a:p>
        </p:txBody>
      </p:sp>
      <p:sp>
        <p:nvSpPr>
          <p:cNvPr id="162" name="shape 162"/>
          <p:cNvSpPr txBox="1"/>
          <p:nvPr/>
        </p:nvSpPr>
        <p:spPr>
          <a:xfrm>
            <a:off x="3728720" y="7642038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75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N10276</a:t>
            </a:r>
            <a:endParaRPr/>
          </a:p>
        </p:txBody>
      </p:sp>
      <p:sp>
        <p:nvSpPr>
          <p:cNvPr id="163" name="shape 163"/>
          <p:cNvSpPr txBox="1"/>
          <p:nvPr/>
        </p:nvSpPr>
        <p:spPr>
          <a:xfrm>
            <a:off x="3728720" y="7739269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542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N04400</a:t>
            </a:r>
            <a:endParaRPr/>
          </a:p>
        </p:txBody>
      </p:sp>
      <p:sp>
        <p:nvSpPr>
          <p:cNvPr id="164" name="shape 164"/>
          <p:cNvSpPr txBox="1"/>
          <p:nvPr/>
        </p:nvSpPr>
        <p:spPr>
          <a:xfrm>
            <a:off x="3728720" y="7836500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30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N07263</a:t>
            </a:r>
            <a:endParaRPr/>
          </a:p>
        </p:txBody>
      </p:sp>
      <p:sp>
        <p:nvSpPr>
          <p:cNvPr id="165" name="shape 165"/>
          <p:cNvSpPr txBox="1"/>
          <p:nvPr/>
        </p:nvSpPr>
        <p:spPr>
          <a:xfrm>
            <a:off x="3728720" y="7944279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30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S66286</a:t>
            </a:r>
            <a:endParaRPr/>
          </a:p>
        </p:txBody>
      </p:sp>
      <p:sp>
        <p:nvSpPr>
          <p:cNvPr id="166" name="shape 166"/>
          <p:cNvSpPr txBox="1"/>
          <p:nvPr/>
        </p:nvSpPr>
        <p:spPr>
          <a:xfrm>
            <a:off x="3728720" y="8062674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12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N07041</a:t>
            </a:r>
            <a:endParaRPr/>
          </a:p>
        </p:txBody>
      </p:sp>
      <p:sp>
        <p:nvSpPr>
          <p:cNvPr id="167" name="shape 167"/>
          <p:cNvSpPr txBox="1"/>
          <p:nvPr/>
        </p:nvSpPr>
        <p:spPr>
          <a:xfrm>
            <a:off x="3728720" y="8980433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050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R56400</a:t>
            </a:r>
            <a:endParaRPr/>
          </a:p>
        </p:txBody>
      </p:sp>
      <p:sp>
        <p:nvSpPr>
          <p:cNvPr id="168" name="shape 168"/>
          <p:cNvSpPr txBox="1"/>
          <p:nvPr/>
        </p:nvSpPr>
        <p:spPr>
          <a:xfrm>
            <a:off x="3728720" y="9077175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367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R54620</a:t>
            </a:r>
            <a:endParaRPr/>
          </a:p>
        </p:txBody>
      </p:sp>
      <p:sp>
        <p:nvSpPr>
          <p:cNvPr id="169" name="shape 169"/>
          <p:cNvSpPr txBox="1"/>
          <p:nvPr/>
        </p:nvSpPr>
        <p:spPr>
          <a:xfrm>
            <a:off x="3728720" y="9174407"/>
            <a:ext cx="568325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93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R58210</a:t>
            </a:r>
            <a:endParaRPr/>
          </a:p>
        </p:txBody>
      </p:sp>
      <p:sp>
        <p:nvSpPr>
          <p:cNvPr id="170" name="shape 170"/>
          <p:cNvSpPr txBox="1"/>
          <p:nvPr/>
        </p:nvSpPr>
        <p:spPr>
          <a:xfrm>
            <a:off x="4953635" y="951892"/>
            <a:ext cx="698500" cy="1066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43205"/>
            <a:r>
              <a:rPr sz="700" b="1" spc="15">
                <a:solidFill>
                  <a:srgbClr val="E71425"/>
                </a:solidFill>
                <a:latin typeface="Arial"/>
                <a:cs typeface="Arial"/>
              </a:rPr>
              <a:t>DIN</a:t>
            </a:r>
            <a:endParaRPr/>
          </a:p>
        </p:txBody>
      </p:sp>
      <p:sp>
        <p:nvSpPr>
          <p:cNvPr id="171" name="shape 171"/>
          <p:cNvSpPr txBox="1"/>
          <p:nvPr/>
        </p:nvSpPr>
        <p:spPr>
          <a:xfrm>
            <a:off x="4953635" y="1064538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6797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C22.8</a:t>
            </a:r>
            <a:endParaRPr/>
          </a:p>
        </p:txBody>
      </p:sp>
      <p:sp>
        <p:nvSpPr>
          <p:cNvPr id="172" name="shape 172"/>
          <p:cNvSpPr txBox="1"/>
          <p:nvPr/>
        </p:nvSpPr>
        <p:spPr>
          <a:xfrm>
            <a:off x="4953635" y="1161769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755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CK10</a:t>
            </a:r>
            <a:endParaRPr/>
          </a:p>
        </p:txBody>
      </p:sp>
      <p:sp>
        <p:nvSpPr>
          <p:cNvPr id="173" name="shape 173"/>
          <p:cNvSpPr txBox="1"/>
          <p:nvPr/>
        </p:nvSpPr>
        <p:spPr>
          <a:xfrm>
            <a:off x="4953635" y="1259001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7813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CK15</a:t>
            </a:r>
            <a:endParaRPr/>
          </a:p>
        </p:txBody>
      </p:sp>
      <p:sp>
        <p:nvSpPr>
          <p:cNvPr id="174" name="shape 174"/>
          <p:cNvSpPr txBox="1"/>
          <p:nvPr/>
        </p:nvSpPr>
        <p:spPr>
          <a:xfrm>
            <a:off x="4953635" y="1356232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6987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CK20</a:t>
            </a:r>
            <a:endParaRPr/>
          </a:p>
        </p:txBody>
      </p:sp>
      <p:sp>
        <p:nvSpPr>
          <p:cNvPr id="175" name="shape 175"/>
          <p:cNvSpPr txBox="1"/>
          <p:nvPr/>
        </p:nvSpPr>
        <p:spPr>
          <a:xfrm>
            <a:off x="4953635" y="1453463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724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CK35</a:t>
            </a:r>
            <a:endParaRPr/>
          </a:p>
        </p:txBody>
      </p:sp>
      <p:sp>
        <p:nvSpPr>
          <p:cNvPr id="176" name="shape 176"/>
          <p:cNvSpPr txBox="1"/>
          <p:nvPr/>
        </p:nvSpPr>
        <p:spPr>
          <a:xfrm>
            <a:off x="4953635" y="1550695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711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CK45</a:t>
            </a:r>
            <a:endParaRPr/>
          </a:p>
        </p:txBody>
      </p:sp>
      <p:sp>
        <p:nvSpPr>
          <p:cNvPr id="177" name="shape 177"/>
          <p:cNvSpPr txBox="1"/>
          <p:nvPr/>
        </p:nvSpPr>
        <p:spPr>
          <a:xfrm>
            <a:off x="4953635" y="1647926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692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CK50</a:t>
            </a:r>
            <a:endParaRPr/>
          </a:p>
        </p:txBody>
      </p:sp>
      <p:sp>
        <p:nvSpPr>
          <p:cNvPr id="178" name="shape 178"/>
          <p:cNvSpPr txBox="1"/>
          <p:nvPr/>
        </p:nvSpPr>
        <p:spPr>
          <a:xfrm>
            <a:off x="4953635" y="1745157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673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CK80</a:t>
            </a:r>
            <a:endParaRPr/>
          </a:p>
        </p:txBody>
      </p:sp>
      <p:sp>
        <p:nvSpPr>
          <p:cNvPr id="179" name="shape 179"/>
          <p:cNvSpPr txBox="1"/>
          <p:nvPr/>
        </p:nvSpPr>
        <p:spPr>
          <a:xfrm>
            <a:off x="4953635" y="2036851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6797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C22.8</a:t>
            </a:r>
            <a:endParaRPr/>
          </a:p>
        </p:txBody>
      </p:sp>
      <p:sp>
        <p:nvSpPr>
          <p:cNvPr id="180" name="shape 180"/>
          <p:cNvSpPr txBox="1"/>
          <p:nvPr/>
        </p:nvSpPr>
        <p:spPr>
          <a:xfrm>
            <a:off x="4953635" y="2230824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78130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E355</a:t>
            </a:r>
            <a:endParaRPr/>
          </a:p>
        </p:txBody>
      </p:sp>
      <p:sp>
        <p:nvSpPr>
          <p:cNvPr id="181" name="shape 181"/>
          <p:cNvSpPr txBox="1"/>
          <p:nvPr/>
        </p:nvSpPr>
        <p:spPr>
          <a:xfrm>
            <a:off x="4953635" y="2328964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463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25CrMo4</a:t>
            </a:r>
            <a:endParaRPr/>
          </a:p>
        </p:txBody>
      </p:sp>
      <p:sp>
        <p:nvSpPr>
          <p:cNvPr id="182" name="shape 182"/>
          <p:cNvSpPr txBox="1"/>
          <p:nvPr/>
        </p:nvSpPr>
        <p:spPr>
          <a:xfrm>
            <a:off x="4953635" y="2425706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52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42CrMo2</a:t>
            </a:r>
            <a:endParaRPr/>
          </a:p>
        </p:txBody>
      </p:sp>
      <p:sp>
        <p:nvSpPr>
          <p:cNvPr id="183" name="shape 183"/>
          <p:cNvSpPr txBox="1"/>
          <p:nvPr/>
        </p:nvSpPr>
        <p:spPr>
          <a:xfrm>
            <a:off x="4953635" y="2814631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208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34CrNiMo6</a:t>
            </a:r>
            <a:endParaRPr/>
          </a:p>
        </p:txBody>
      </p:sp>
      <p:sp>
        <p:nvSpPr>
          <p:cNvPr id="184" name="shape 184"/>
          <p:cNvSpPr txBox="1"/>
          <p:nvPr/>
        </p:nvSpPr>
        <p:spPr>
          <a:xfrm>
            <a:off x="4953635" y="2911863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3749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100Cr6</a:t>
            </a:r>
            <a:endParaRPr/>
          </a:p>
        </p:txBody>
      </p:sp>
      <p:sp>
        <p:nvSpPr>
          <p:cNvPr id="185" name="shape 185"/>
          <p:cNvSpPr txBox="1"/>
          <p:nvPr/>
        </p:nvSpPr>
        <p:spPr>
          <a:xfrm>
            <a:off x="4953635" y="3009094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4465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21NiCrMo22</a:t>
            </a:r>
            <a:endParaRPr/>
          </a:p>
        </p:txBody>
      </p:sp>
      <p:sp>
        <p:nvSpPr>
          <p:cNvPr id="186" name="shape 186"/>
          <p:cNvSpPr txBox="1"/>
          <p:nvPr/>
        </p:nvSpPr>
        <p:spPr>
          <a:xfrm>
            <a:off x="4953635" y="3203557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177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12CrMo195</a:t>
            </a:r>
            <a:endParaRPr/>
          </a:p>
        </p:txBody>
      </p:sp>
      <p:sp>
        <p:nvSpPr>
          <p:cNvPr id="187" name="shape 187"/>
          <p:cNvSpPr txBox="1"/>
          <p:nvPr/>
        </p:nvSpPr>
        <p:spPr>
          <a:xfrm>
            <a:off x="4953635" y="3300788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732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13CrMo4-5</a:t>
            </a:r>
            <a:endParaRPr/>
          </a:p>
        </p:txBody>
      </p:sp>
      <p:sp>
        <p:nvSpPr>
          <p:cNvPr id="188" name="shape 188"/>
          <p:cNvSpPr txBox="1"/>
          <p:nvPr/>
        </p:nvSpPr>
        <p:spPr>
          <a:xfrm>
            <a:off x="4953635" y="3398019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208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10CrMo9-10</a:t>
            </a:r>
            <a:endParaRPr/>
          </a:p>
        </p:txBody>
      </p:sp>
      <p:sp>
        <p:nvSpPr>
          <p:cNvPr id="189" name="shape 189"/>
          <p:cNvSpPr txBox="1"/>
          <p:nvPr/>
        </p:nvSpPr>
        <p:spPr>
          <a:xfrm>
            <a:off x="4953635" y="3711227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668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 40 CrMoV 5-1</a:t>
            </a:r>
            <a:endParaRPr/>
          </a:p>
        </p:txBody>
      </p:sp>
      <p:sp>
        <p:nvSpPr>
          <p:cNvPr id="190" name="shape 190"/>
          <p:cNvSpPr txBox="1"/>
          <p:nvPr/>
        </p:nvSpPr>
        <p:spPr>
          <a:xfrm>
            <a:off x="4953635" y="3807969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8260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40CrMnNiMo8-6-4</a:t>
            </a:r>
            <a:endParaRPr/>
          </a:p>
        </p:txBody>
      </p:sp>
      <p:sp>
        <p:nvSpPr>
          <p:cNvPr id="191" name="shape 191"/>
          <p:cNvSpPr txBox="1"/>
          <p:nvPr/>
        </p:nvSpPr>
        <p:spPr>
          <a:xfrm>
            <a:off x="4953635" y="3904711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5494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55NiCrMoV6</a:t>
            </a:r>
            <a:endParaRPr/>
          </a:p>
        </p:txBody>
      </p:sp>
      <p:sp>
        <p:nvSpPr>
          <p:cNvPr id="192" name="shape 192"/>
          <p:cNvSpPr txBox="1"/>
          <p:nvPr/>
        </p:nvSpPr>
        <p:spPr>
          <a:xfrm>
            <a:off x="4953635" y="4002850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112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X1CrNiMoN20-18-7</a:t>
            </a:r>
            <a:endParaRPr/>
          </a:p>
        </p:txBody>
      </p:sp>
      <p:sp>
        <p:nvSpPr>
          <p:cNvPr id="193" name="shape 193"/>
          <p:cNvSpPr txBox="1"/>
          <p:nvPr/>
        </p:nvSpPr>
        <p:spPr>
          <a:xfrm>
            <a:off x="4953635" y="4099593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5905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 2 CrNiMoN22-5-3</a:t>
            </a:r>
            <a:endParaRPr/>
          </a:p>
        </p:txBody>
      </p:sp>
      <p:sp>
        <p:nvSpPr>
          <p:cNvPr id="194" name="shape 194"/>
          <p:cNvSpPr txBox="1"/>
          <p:nvPr/>
        </p:nvSpPr>
        <p:spPr>
          <a:xfrm>
            <a:off x="4953635" y="4196824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128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X2CrNiMoN25-7-4</a:t>
            </a:r>
            <a:endParaRPr/>
          </a:p>
        </p:txBody>
      </p:sp>
      <p:sp>
        <p:nvSpPr>
          <p:cNvPr id="195" name="shape 195"/>
          <p:cNvSpPr txBox="1"/>
          <p:nvPr/>
        </p:nvSpPr>
        <p:spPr>
          <a:xfrm>
            <a:off x="4953635" y="4391286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82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 10 CrMoVNb9-1</a:t>
            </a:r>
            <a:endParaRPr/>
          </a:p>
        </p:txBody>
      </p:sp>
      <p:sp>
        <p:nvSpPr>
          <p:cNvPr id="196" name="shape 196"/>
          <p:cNvSpPr txBox="1"/>
          <p:nvPr/>
        </p:nvSpPr>
        <p:spPr>
          <a:xfrm>
            <a:off x="4953635" y="4488518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41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X5CrNiCuNb15-5</a:t>
            </a:r>
            <a:endParaRPr/>
          </a:p>
        </p:txBody>
      </p:sp>
      <p:sp>
        <p:nvSpPr>
          <p:cNvPr id="197" name="shape 197"/>
          <p:cNvSpPr txBox="1"/>
          <p:nvPr/>
        </p:nvSpPr>
        <p:spPr>
          <a:xfrm>
            <a:off x="4953635" y="4585749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933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X5CrNiCuNb 17-4</a:t>
            </a:r>
            <a:endParaRPr/>
          </a:p>
        </p:txBody>
      </p:sp>
      <p:sp>
        <p:nvSpPr>
          <p:cNvPr id="198" name="shape 198"/>
          <p:cNvSpPr txBox="1"/>
          <p:nvPr/>
        </p:nvSpPr>
        <p:spPr>
          <a:xfrm>
            <a:off x="4953635" y="4682980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95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X5CrNi18-10</a:t>
            </a:r>
            <a:endParaRPr/>
          </a:p>
        </p:txBody>
      </p:sp>
      <p:sp>
        <p:nvSpPr>
          <p:cNvPr id="199" name="shape 199"/>
          <p:cNvSpPr txBox="1"/>
          <p:nvPr/>
        </p:nvSpPr>
        <p:spPr>
          <a:xfrm>
            <a:off x="4953635" y="4780212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097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X5CrNi18-9</a:t>
            </a:r>
            <a:endParaRPr/>
          </a:p>
        </p:txBody>
      </p:sp>
      <p:sp>
        <p:nvSpPr>
          <p:cNvPr id="200" name="shape 200"/>
          <p:cNvSpPr txBox="1"/>
          <p:nvPr/>
        </p:nvSpPr>
        <p:spPr>
          <a:xfrm>
            <a:off x="4953635" y="4877443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60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X8 CrNi 25-21</a:t>
            </a:r>
            <a:endParaRPr/>
          </a:p>
        </p:txBody>
      </p:sp>
      <p:sp>
        <p:nvSpPr>
          <p:cNvPr id="201" name="shape 201"/>
          <p:cNvSpPr txBox="1"/>
          <p:nvPr/>
        </p:nvSpPr>
        <p:spPr>
          <a:xfrm>
            <a:off x="4953635" y="4974674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09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X5CrNiMo17 12-2</a:t>
            </a:r>
            <a:endParaRPr/>
          </a:p>
        </p:txBody>
      </p:sp>
      <p:sp>
        <p:nvSpPr>
          <p:cNvPr id="202" name="shape 202"/>
          <p:cNvSpPr txBox="1"/>
          <p:nvPr/>
        </p:nvSpPr>
        <p:spPr>
          <a:xfrm>
            <a:off x="4953635" y="5071905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22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X2CrNiMo17 12-2</a:t>
            </a:r>
            <a:endParaRPr/>
          </a:p>
        </p:txBody>
      </p:sp>
      <p:sp>
        <p:nvSpPr>
          <p:cNvPr id="203" name="shape 203"/>
          <p:cNvSpPr txBox="1"/>
          <p:nvPr/>
        </p:nvSpPr>
        <p:spPr>
          <a:xfrm>
            <a:off x="4953635" y="5169137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22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X6CrNiTi18-10</a:t>
            </a:r>
            <a:endParaRPr/>
          </a:p>
        </p:txBody>
      </p:sp>
      <p:sp>
        <p:nvSpPr>
          <p:cNvPr id="204" name="shape 204"/>
          <p:cNvSpPr txBox="1"/>
          <p:nvPr/>
        </p:nvSpPr>
        <p:spPr>
          <a:xfrm>
            <a:off x="4953635" y="5266368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6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X6CrNiNb18-10</a:t>
            </a:r>
            <a:endParaRPr/>
          </a:p>
        </p:txBody>
      </p:sp>
      <p:sp>
        <p:nvSpPr>
          <p:cNvPr id="205" name="shape 205"/>
          <p:cNvSpPr txBox="1"/>
          <p:nvPr/>
        </p:nvSpPr>
        <p:spPr>
          <a:xfrm>
            <a:off x="4953635" y="5363599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349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X12Cr13</a:t>
            </a:r>
            <a:endParaRPr/>
          </a:p>
        </p:txBody>
      </p:sp>
      <p:sp>
        <p:nvSpPr>
          <p:cNvPr id="206" name="shape 206"/>
          <p:cNvSpPr txBox="1"/>
          <p:nvPr/>
        </p:nvSpPr>
        <p:spPr>
          <a:xfrm>
            <a:off x="4953635" y="5460830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24155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X46Cr13</a:t>
            </a:r>
            <a:endParaRPr/>
          </a:p>
        </p:txBody>
      </p:sp>
      <p:sp>
        <p:nvSpPr>
          <p:cNvPr id="207" name="shape 207"/>
          <p:cNvSpPr txBox="1"/>
          <p:nvPr/>
        </p:nvSpPr>
        <p:spPr>
          <a:xfrm>
            <a:off x="4953635" y="5676388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018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X17CrNi16-2</a:t>
            </a:r>
            <a:endParaRPr/>
          </a:p>
        </p:txBody>
      </p:sp>
      <p:sp>
        <p:nvSpPr>
          <p:cNvPr id="208" name="shape 208"/>
          <p:cNvSpPr txBox="1"/>
          <p:nvPr/>
        </p:nvSpPr>
        <p:spPr>
          <a:xfrm>
            <a:off x="4953635" y="5773619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73025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X 22 CrNiMoV 12-1</a:t>
            </a:r>
            <a:endParaRPr/>
          </a:p>
        </p:txBody>
      </p:sp>
      <p:sp>
        <p:nvSpPr>
          <p:cNvPr id="209" name="shape 209"/>
          <p:cNvSpPr txBox="1"/>
          <p:nvPr/>
        </p:nvSpPr>
        <p:spPr>
          <a:xfrm>
            <a:off x="4953635" y="5881398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6065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X11CrMo 12-1</a:t>
            </a:r>
            <a:endParaRPr/>
          </a:p>
        </p:txBody>
      </p:sp>
      <p:sp>
        <p:nvSpPr>
          <p:cNvPr id="210" name="shape 210"/>
          <p:cNvSpPr txBox="1"/>
          <p:nvPr/>
        </p:nvSpPr>
        <p:spPr>
          <a:xfrm>
            <a:off x="4953635" y="5988687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22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 3 CrNiMo 13-4</a:t>
            </a:r>
            <a:endParaRPr/>
          </a:p>
        </p:txBody>
      </p:sp>
      <p:sp>
        <p:nvSpPr>
          <p:cNvPr id="211" name="shape 211"/>
          <p:cNvSpPr txBox="1"/>
          <p:nvPr/>
        </p:nvSpPr>
        <p:spPr>
          <a:xfrm>
            <a:off x="4953635" y="6086826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596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NiCr19Fe19Nb5Mo3</a:t>
            </a:r>
            <a:endParaRPr/>
          </a:p>
        </p:txBody>
      </p:sp>
      <p:sp>
        <p:nvSpPr>
          <p:cNvPr id="212" name="shape 212"/>
          <p:cNvSpPr txBox="1"/>
          <p:nvPr/>
        </p:nvSpPr>
        <p:spPr>
          <a:xfrm>
            <a:off x="4953635" y="6280800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0640"/>
            <a:r>
              <a:rPr sz="550" spc="-15">
                <a:solidFill>
                  <a:srgbClr val="888A8D"/>
                </a:solidFill>
                <a:latin typeface="Arial"/>
                <a:cs typeface="Arial"/>
              </a:rPr>
              <a:t>NiCr20Co13Mo4Ti3Al</a:t>
            </a:r>
            <a:endParaRPr/>
          </a:p>
        </p:txBody>
      </p:sp>
      <p:sp>
        <p:nvSpPr>
          <p:cNvPr id="213" name="shape 213"/>
          <p:cNvSpPr txBox="1"/>
          <p:nvPr/>
        </p:nvSpPr>
        <p:spPr>
          <a:xfrm>
            <a:off x="4953635" y="6378031"/>
            <a:ext cx="698500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587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X4NiCo38Nb</a:t>
            </a:r>
            <a:endParaRPr/>
          </a:p>
        </p:txBody>
      </p:sp>
      <p:sp>
        <p:nvSpPr>
          <p:cNvPr id="214" name="shape 214"/>
          <p:cNvSpPr txBox="1"/>
          <p:nvPr/>
        </p:nvSpPr>
        <p:spPr>
          <a:xfrm>
            <a:off x="4953635" y="6475262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859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X4NiCo38Nb</a:t>
            </a:r>
            <a:endParaRPr/>
          </a:p>
        </p:txBody>
      </p:sp>
      <p:sp>
        <p:nvSpPr>
          <p:cNvPr id="215" name="shape 215"/>
          <p:cNvSpPr txBox="1"/>
          <p:nvPr/>
        </p:nvSpPr>
        <p:spPr>
          <a:xfrm>
            <a:off x="4953635" y="6572494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0175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NiCr22Mo9Nb</a:t>
            </a:r>
            <a:endParaRPr/>
          </a:p>
        </p:txBody>
      </p:sp>
      <p:sp>
        <p:nvSpPr>
          <p:cNvPr id="216" name="shape 216"/>
          <p:cNvSpPr txBox="1"/>
          <p:nvPr/>
        </p:nvSpPr>
        <p:spPr>
          <a:xfrm>
            <a:off x="4953635" y="6669725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986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NiCr15Fe8</a:t>
            </a:r>
            <a:endParaRPr/>
          </a:p>
        </p:txBody>
      </p:sp>
      <p:sp>
        <p:nvSpPr>
          <p:cNvPr id="217" name="shape 217"/>
          <p:cNvSpPr txBox="1"/>
          <p:nvPr/>
        </p:nvSpPr>
        <p:spPr>
          <a:xfrm>
            <a:off x="4953635" y="6766956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255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NiCr23Co12Mo</a:t>
            </a:r>
            <a:endParaRPr/>
          </a:p>
        </p:txBody>
      </p:sp>
      <p:sp>
        <p:nvSpPr>
          <p:cNvPr id="218" name="shape 218"/>
          <p:cNvSpPr txBox="1"/>
          <p:nvPr/>
        </p:nvSpPr>
        <p:spPr>
          <a:xfrm>
            <a:off x="4953635" y="6864187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446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NiCr22Fe18Mo</a:t>
            </a:r>
            <a:endParaRPr/>
          </a:p>
        </p:txBody>
      </p:sp>
      <p:sp>
        <p:nvSpPr>
          <p:cNvPr id="219" name="shape 219"/>
          <p:cNvSpPr txBox="1"/>
          <p:nvPr/>
        </p:nvSpPr>
        <p:spPr>
          <a:xfrm>
            <a:off x="4953635" y="6961419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3462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NiCo29Cr28Si</a:t>
            </a:r>
            <a:endParaRPr/>
          </a:p>
        </p:txBody>
      </p:sp>
      <p:sp>
        <p:nvSpPr>
          <p:cNvPr id="220" name="shape 220"/>
          <p:cNvSpPr txBox="1"/>
          <p:nvPr/>
        </p:nvSpPr>
        <p:spPr>
          <a:xfrm>
            <a:off x="4953635" y="7058650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145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CoCr22NiW</a:t>
            </a:r>
            <a:endParaRPr/>
          </a:p>
        </p:txBody>
      </p:sp>
      <p:sp>
        <p:nvSpPr>
          <p:cNvPr id="221" name="shape 221"/>
          <p:cNvSpPr txBox="1"/>
          <p:nvPr/>
        </p:nvSpPr>
        <p:spPr>
          <a:xfrm>
            <a:off x="706755" y="478023"/>
            <a:ext cx="3582670" cy="3048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2000" b="1" spc="-104">
                <a:solidFill>
                  <a:srgbClr val="E71425"/>
                </a:solidFill>
                <a:latin typeface="Arial"/>
                <a:cs typeface="Arial"/>
              </a:rPr>
              <a:t>MATERIAL STOCKING GRADES</a:t>
            </a:r>
            <a:endParaRPr/>
          </a:p>
        </p:txBody>
      </p:sp>
      <p:sp>
        <p:nvSpPr>
          <p:cNvPr id="222" name="shape 222"/>
          <p:cNvSpPr txBox="1"/>
          <p:nvPr/>
        </p:nvSpPr>
        <p:spPr>
          <a:xfrm>
            <a:off x="4953635" y="7350344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8288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NiCr20TiAl</a:t>
            </a:r>
            <a:endParaRPr/>
          </a:p>
        </p:txBody>
      </p:sp>
      <p:sp>
        <p:nvSpPr>
          <p:cNvPr id="223" name="shape 223"/>
          <p:cNvSpPr txBox="1"/>
          <p:nvPr/>
        </p:nvSpPr>
        <p:spPr>
          <a:xfrm>
            <a:off x="4953635" y="7447575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970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NiCr 21 Mo</a:t>
            </a:r>
            <a:endParaRPr/>
          </a:p>
        </p:txBody>
      </p:sp>
      <p:sp>
        <p:nvSpPr>
          <p:cNvPr id="224" name="shape 224"/>
          <p:cNvSpPr txBox="1"/>
          <p:nvPr/>
        </p:nvSpPr>
        <p:spPr>
          <a:xfrm>
            <a:off x="4953635" y="7544806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8128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X8 NiCrAlTi 32-21</a:t>
            </a:r>
            <a:endParaRPr/>
          </a:p>
        </p:txBody>
      </p:sp>
      <p:sp>
        <p:nvSpPr>
          <p:cNvPr id="225" name="shape 225"/>
          <p:cNvSpPr txBox="1"/>
          <p:nvPr/>
        </p:nvSpPr>
        <p:spPr>
          <a:xfrm>
            <a:off x="4953635" y="7642038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946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NiMo 16 Cr 15 W</a:t>
            </a:r>
            <a:endParaRPr/>
          </a:p>
        </p:txBody>
      </p:sp>
      <p:sp>
        <p:nvSpPr>
          <p:cNvPr id="226" name="shape 226"/>
          <p:cNvSpPr txBox="1"/>
          <p:nvPr/>
        </p:nvSpPr>
        <p:spPr>
          <a:xfrm>
            <a:off x="4953635" y="7739269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780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NiCu 30 Fe</a:t>
            </a:r>
            <a:endParaRPr/>
          </a:p>
        </p:txBody>
      </p:sp>
      <p:sp>
        <p:nvSpPr>
          <p:cNvPr id="227" name="shape 227"/>
          <p:cNvSpPr txBox="1"/>
          <p:nvPr/>
        </p:nvSpPr>
        <p:spPr>
          <a:xfrm>
            <a:off x="4953635" y="7836500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NiCo20Cr20Mo6Ti2Al</a:t>
            </a:r>
            <a:endParaRPr/>
          </a:p>
        </p:txBody>
      </p:sp>
      <p:sp>
        <p:nvSpPr>
          <p:cNvPr id="228" name="shape 228"/>
          <p:cNvSpPr txBox="1"/>
          <p:nvPr/>
        </p:nvSpPr>
        <p:spPr>
          <a:xfrm>
            <a:off x="4953635" y="7944279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04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X5 NiCrTi 26-15</a:t>
            </a:r>
            <a:endParaRPr/>
          </a:p>
        </p:txBody>
      </p:sp>
      <p:sp>
        <p:nvSpPr>
          <p:cNvPr id="229" name="shape 229"/>
          <p:cNvSpPr txBox="1"/>
          <p:nvPr/>
        </p:nvSpPr>
        <p:spPr>
          <a:xfrm>
            <a:off x="4953635" y="8062674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0287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NiCr19Co11MoTi</a:t>
            </a:r>
            <a:endParaRPr/>
          </a:p>
        </p:txBody>
      </p:sp>
      <p:sp>
        <p:nvSpPr>
          <p:cNvPr id="230" name="shape 230"/>
          <p:cNvSpPr txBox="1"/>
          <p:nvPr/>
        </p:nvSpPr>
        <p:spPr>
          <a:xfrm>
            <a:off x="4953635" y="8980433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2923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TiAl6V4</a:t>
            </a:r>
            <a:endParaRPr/>
          </a:p>
        </p:txBody>
      </p:sp>
      <p:sp>
        <p:nvSpPr>
          <p:cNvPr id="231" name="shape 231"/>
          <p:cNvSpPr txBox="1"/>
          <p:nvPr/>
        </p:nvSpPr>
        <p:spPr>
          <a:xfrm>
            <a:off x="4953635" y="9077175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9080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TiAl6Sn2Zr4Mo2</a:t>
            </a:r>
            <a:endParaRPr/>
          </a:p>
        </p:txBody>
      </p:sp>
      <p:sp>
        <p:nvSpPr>
          <p:cNvPr id="232" name="shape 232"/>
          <p:cNvSpPr txBox="1"/>
          <p:nvPr/>
        </p:nvSpPr>
        <p:spPr>
          <a:xfrm>
            <a:off x="6195060" y="951892"/>
            <a:ext cx="548006" cy="1066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00" b="1" spc="-5">
                <a:solidFill>
                  <a:srgbClr val="E71425"/>
                </a:solidFill>
                <a:latin typeface="Arial"/>
                <a:cs typeface="Arial"/>
              </a:rPr>
              <a:t>Werkstoff Nr</a:t>
            </a:r>
            <a:endParaRPr/>
          </a:p>
        </p:txBody>
      </p:sp>
      <p:sp>
        <p:nvSpPr>
          <p:cNvPr id="233" name="shape 233"/>
          <p:cNvSpPr txBox="1"/>
          <p:nvPr/>
        </p:nvSpPr>
        <p:spPr>
          <a:xfrm>
            <a:off x="6195060" y="1064538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8280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1.0460</a:t>
            </a:r>
            <a:endParaRPr/>
          </a:p>
        </p:txBody>
      </p:sp>
      <p:sp>
        <p:nvSpPr>
          <p:cNvPr id="234" name="shape 234"/>
          <p:cNvSpPr txBox="1"/>
          <p:nvPr/>
        </p:nvSpPr>
        <p:spPr>
          <a:xfrm>
            <a:off x="6195060" y="1161769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3368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1.1121</a:t>
            </a:r>
            <a:endParaRPr/>
          </a:p>
        </p:txBody>
      </p:sp>
      <p:sp>
        <p:nvSpPr>
          <p:cNvPr id="235" name="shape 235"/>
          <p:cNvSpPr txBox="1"/>
          <p:nvPr/>
        </p:nvSpPr>
        <p:spPr>
          <a:xfrm>
            <a:off x="6195060" y="1259001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330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1.1141</a:t>
            </a:r>
            <a:endParaRPr/>
          </a:p>
        </p:txBody>
      </p:sp>
      <p:sp>
        <p:nvSpPr>
          <p:cNvPr id="236" name="shape 236"/>
          <p:cNvSpPr txBox="1"/>
          <p:nvPr/>
        </p:nvSpPr>
        <p:spPr>
          <a:xfrm>
            <a:off x="6195060" y="1453463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311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1.1181</a:t>
            </a:r>
            <a:endParaRPr/>
          </a:p>
        </p:txBody>
      </p:sp>
      <p:sp>
        <p:nvSpPr>
          <p:cNvPr id="237" name="shape 237"/>
          <p:cNvSpPr txBox="1"/>
          <p:nvPr/>
        </p:nvSpPr>
        <p:spPr>
          <a:xfrm>
            <a:off x="6195060" y="1550695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311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1.1191</a:t>
            </a:r>
            <a:endParaRPr/>
          </a:p>
        </p:txBody>
      </p:sp>
      <p:sp>
        <p:nvSpPr>
          <p:cNvPr id="238" name="shape 238"/>
          <p:cNvSpPr txBox="1"/>
          <p:nvPr/>
        </p:nvSpPr>
        <p:spPr>
          <a:xfrm>
            <a:off x="6195060" y="2036851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764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1.0460</a:t>
            </a:r>
            <a:endParaRPr/>
          </a:p>
        </p:txBody>
      </p:sp>
      <p:sp>
        <p:nvSpPr>
          <p:cNvPr id="239" name="shape 239"/>
          <p:cNvSpPr txBox="1"/>
          <p:nvPr/>
        </p:nvSpPr>
        <p:spPr>
          <a:xfrm>
            <a:off x="6195060" y="2230824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89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1.0580</a:t>
            </a:r>
            <a:endParaRPr/>
          </a:p>
        </p:txBody>
      </p:sp>
      <p:sp>
        <p:nvSpPr>
          <p:cNvPr id="240" name="shape 240"/>
          <p:cNvSpPr txBox="1"/>
          <p:nvPr/>
        </p:nvSpPr>
        <p:spPr>
          <a:xfrm>
            <a:off x="6195060" y="2328964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2034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1.7218</a:t>
            </a:r>
            <a:endParaRPr/>
          </a:p>
        </p:txBody>
      </p:sp>
      <p:sp>
        <p:nvSpPr>
          <p:cNvPr id="241" name="shape 241"/>
          <p:cNvSpPr txBox="1"/>
          <p:nvPr/>
        </p:nvSpPr>
        <p:spPr>
          <a:xfrm>
            <a:off x="6195060" y="2425706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717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1.7225</a:t>
            </a:r>
            <a:endParaRPr/>
          </a:p>
        </p:txBody>
      </p:sp>
      <p:sp>
        <p:nvSpPr>
          <p:cNvPr id="242" name="shape 242"/>
          <p:cNvSpPr txBox="1"/>
          <p:nvPr/>
        </p:nvSpPr>
        <p:spPr>
          <a:xfrm>
            <a:off x="6195060" y="2814631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272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1.6582</a:t>
            </a:r>
            <a:endParaRPr/>
          </a:p>
        </p:txBody>
      </p:sp>
      <p:sp>
        <p:nvSpPr>
          <p:cNvPr id="243" name="shape 243"/>
          <p:cNvSpPr txBox="1"/>
          <p:nvPr/>
        </p:nvSpPr>
        <p:spPr>
          <a:xfrm>
            <a:off x="6195060" y="2911863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272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1.3505</a:t>
            </a:r>
            <a:endParaRPr/>
          </a:p>
        </p:txBody>
      </p:sp>
      <p:sp>
        <p:nvSpPr>
          <p:cNvPr id="244" name="shape 244"/>
          <p:cNvSpPr txBox="1"/>
          <p:nvPr/>
        </p:nvSpPr>
        <p:spPr>
          <a:xfrm>
            <a:off x="6195060" y="3009094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336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1.6543</a:t>
            </a:r>
            <a:endParaRPr/>
          </a:p>
        </p:txBody>
      </p:sp>
      <p:sp>
        <p:nvSpPr>
          <p:cNvPr id="245" name="shape 245"/>
          <p:cNvSpPr txBox="1"/>
          <p:nvPr/>
        </p:nvSpPr>
        <p:spPr>
          <a:xfrm>
            <a:off x="6195060" y="3106325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272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1.6545</a:t>
            </a:r>
            <a:endParaRPr/>
          </a:p>
        </p:txBody>
      </p:sp>
      <p:sp>
        <p:nvSpPr>
          <p:cNvPr id="246" name="shape 246"/>
          <p:cNvSpPr txBox="1"/>
          <p:nvPr/>
        </p:nvSpPr>
        <p:spPr>
          <a:xfrm>
            <a:off x="6195060" y="3203557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52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1.7362</a:t>
            </a:r>
            <a:endParaRPr/>
          </a:p>
        </p:txBody>
      </p:sp>
      <p:sp>
        <p:nvSpPr>
          <p:cNvPr id="247" name="shape 247"/>
          <p:cNvSpPr txBox="1"/>
          <p:nvPr/>
        </p:nvSpPr>
        <p:spPr>
          <a:xfrm>
            <a:off x="6195060" y="3300788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65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1.7335</a:t>
            </a:r>
            <a:endParaRPr/>
          </a:p>
        </p:txBody>
      </p:sp>
      <p:sp>
        <p:nvSpPr>
          <p:cNvPr id="248" name="shape 248"/>
          <p:cNvSpPr txBox="1"/>
          <p:nvPr/>
        </p:nvSpPr>
        <p:spPr>
          <a:xfrm>
            <a:off x="6195060" y="3398019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1455"/>
            <a:r>
              <a:rPr sz="550" spc="-20">
                <a:solidFill>
                  <a:srgbClr val="888A8D"/>
                </a:solidFill>
                <a:latin typeface="Arial"/>
                <a:cs typeface="Arial"/>
              </a:rPr>
              <a:t>1.7380</a:t>
            </a:r>
            <a:endParaRPr/>
          </a:p>
        </p:txBody>
      </p:sp>
      <p:sp>
        <p:nvSpPr>
          <p:cNvPr id="249" name="shape 249"/>
          <p:cNvSpPr txBox="1"/>
          <p:nvPr/>
        </p:nvSpPr>
        <p:spPr>
          <a:xfrm>
            <a:off x="6195060" y="3711227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272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1.2344</a:t>
            </a:r>
            <a:endParaRPr/>
          </a:p>
        </p:txBody>
      </p:sp>
      <p:sp>
        <p:nvSpPr>
          <p:cNvPr id="250" name="shape 250"/>
          <p:cNvSpPr txBox="1"/>
          <p:nvPr/>
        </p:nvSpPr>
        <p:spPr>
          <a:xfrm>
            <a:off x="6195060" y="3807969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2669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1.2311</a:t>
            </a:r>
            <a:endParaRPr/>
          </a:p>
        </p:txBody>
      </p:sp>
      <p:sp>
        <p:nvSpPr>
          <p:cNvPr id="251" name="shape 251"/>
          <p:cNvSpPr txBox="1"/>
          <p:nvPr/>
        </p:nvSpPr>
        <p:spPr>
          <a:xfrm>
            <a:off x="6195060" y="3904711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2161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1.2713</a:t>
            </a:r>
            <a:endParaRPr/>
          </a:p>
        </p:txBody>
      </p:sp>
      <p:sp>
        <p:nvSpPr>
          <p:cNvPr id="252" name="shape 252"/>
          <p:cNvSpPr txBox="1"/>
          <p:nvPr/>
        </p:nvSpPr>
        <p:spPr>
          <a:xfrm>
            <a:off x="6195060" y="4002850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701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1.4547</a:t>
            </a:r>
            <a:endParaRPr/>
          </a:p>
        </p:txBody>
      </p:sp>
      <p:sp>
        <p:nvSpPr>
          <p:cNvPr id="253" name="shape 253"/>
          <p:cNvSpPr txBox="1"/>
          <p:nvPr/>
        </p:nvSpPr>
        <p:spPr>
          <a:xfrm>
            <a:off x="6195060" y="4099593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447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1.4462</a:t>
            </a:r>
            <a:endParaRPr/>
          </a:p>
        </p:txBody>
      </p:sp>
      <p:sp>
        <p:nvSpPr>
          <p:cNvPr id="254" name="shape 254"/>
          <p:cNvSpPr txBox="1"/>
          <p:nvPr/>
        </p:nvSpPr>
        <p:spPr>
          <a:xfrm>
            <a:off x="6195060" y="4196824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8915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1.4410</a:t>
            </a:r>
            <a:endParaRPr/>
          </a:p>
        </p:txBody>
      </p:sp>
      <p:sp>
        <p:nvSpPr>
          <p:cNvPr id="255" name="shape 255"/>
          <p:cNvSpPr txBox="1"/>
          <p:nvPr/>
        </p:nvSpPr>
        <p:spPr>
          <a:xfrm>
            <a:off x="6195060" y="4391286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320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1.4903</a:t>
            </a:r>
            <a:endParaRPr/>
          </a:p>
        </p:txBody>
      </p:sp>
      <p:sp>
        <p:nvSpPr>
          <p:cNvPr id="256" name="shape 256"/>
          <p:cNvSpPr txBox="1"/>
          <p:nvPr/>
        </p:nvSpPr>
        <p:spPr>
          <a:xfrm>
            <a:off x="4953635" y="7253113"/>
            <a:ext cx="698500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8905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NiFe33Cr25Co</a:t>
            </a:r>
            <a:endParaRPr/>
          </a:p>
        </p:txBody>
      </p:sp>
      <p:sp>
        <p:nvSpPr>
          <p:cNvPr id="257" name="shape 257"/>
          <p:cNvSpPr txBox="1"/>
          <p:nvPr/>
        </p:nvSpPr>
        <p:spPr>
          <a:xfrm>
            <a:off x="6195060" y="4585749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336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1.4542</a:t>
            </a:r>
            <a:endParaRPr/>
          </a:p>
        </p:txBody>
      </p:sp>
      <p:sp>
        <p:nvSpPr>
          <p:cNvPr id="258" name="shape 258"/>
          <p:cNvSpPr txBox="1"/>
          <p:nvPr/>
        </p:nvSpPr>
        <p:spPr>
          <a:xfrm>
            <a:off x="6195060" y="4682980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653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1.4301</a:t>
            </a:r>
            <a:endParaRPr/>
          </a:p>
        </p:txBody>
      </p:sp>
      <p:sp>
        <p:nvSpPr>
          <p:cNvPr id="259" name="shape 259"/>
          <p:cNvSpPr txBox="1"/>
          <p:nvPr/>
        </p:nvSpPr>
        <p:spPr>
          <a:xfrm>
            <a:off x="6195060" y="4780212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95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1.4306</a:t>
            </a:r>
            <a:endParaRPr/>
          </a:p>
        </p:txBody>
      </p:sp>
      <p:sp>
        <p:nvSpPr>
          <p:cNvPr id="260" name="shape 260"/>
          <p:cNvSpPr txBox="1"/>
          <p:nvPr/>
        </p:nvSpPr>
        <p:spPr>
          <a:xfrm>
            <a:off x="6195060" y="4877443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95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1.4845</a:t>
            </a:r>
            <a:endParaRPr/>
          </a:p>
        </p:txBody>
      </p:sp>
      <p:sp>
        <p:nvSpPr>
          <p:cNvPr id="261" name="shape 261"/>
          <p:cNvSpPr txBox="1"/>
          <p:nvPr/>
        </p:nvSpPr>
        <p:spPr>
          <a:xfrm>
            <a:off x="6195060" y="4974674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52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1.4401</a:t>
            </a:r>
            <a:endParaRPr/>
          </a:p>
        </p:txBody>
      </p:sp>
      <p:sp>
        <p:nvSpPr>
          <p:cNvPr id="262" name="shape 262"/>
          <p:cNvSpPr txBox="1"/>
          <p:nvPr/>
        </p:nvSpPr>
        <p:spPr>
          <a:xfrm>
            <a:off x="6195060" y="5071905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828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1.4404</a:t>
            </a:r>
            <a:endParaRPr/>
          </a:p>
        </p:txBody>
      </p:sp>
      <p:sp>
        <p:nvSpPr>
          <p:cNvPr id="263" name="shape 263"/>
          <p:cNvSpPr txBox="1"/>
          <p:nvPr/>
        </p:nvSpPr>
        <p:spPr>
          <a:xfrm>
            <a:off x="6195060" y="5169137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84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1.4541</a:t>
            </a:r>
            <a:endParaRPr/>
          </a:p>
        </p:txBody>
      </p:sp>
      <p:sp>
        <p:nvSpPr>
          <p:cNvPr id="264" name="shape 264"/>
          <p:cNvSpPr txBox="1"/>
          <p:nvPr/>
        </p:nvSpPr>
        <p:spPr>
          <a:xfrm>
            <a:off x="6195060" y="5266368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907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1.4551</a:t>
            </a:r>
            <a:endParaRPr/>
          </a:p>
        </p:txBody>
      </p:sp>
      <p:sp>
        <p:nvSpPr>
          <p:cNvPr id="265" name="shape 265"/>
          <p:cNvSpPr txBox="1"/>
          <p:nvPr/>
        </p:nvSpPr>
        <p:spPr>
          <a:xfrm>
            <a:off x="6195060" y="5363599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57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1.4006</a:t>
            </a:r>
            <a:endParaRPr/>
          </a:p>
        </p:txBody>
      </p:sp>
      <p:sp>
        <p:nvSpPr>
          <p:cNvPr id="266" name="shape 266"/>
          <p:cNvSpPr txBox="1"/>
          <p:nvPr/>
        </p:nvSpPr>
        <p:spPr>
          <a:xfrm>
            <a:off x="6195060" y="5460830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95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1.4034</a:t>
            </a:r>
            <a:endParaRPr/>
          </a:p>
        </p:txBody>
      </p:sp>
      <p:sp>
        <p:nvSpPr>
          <p:cNvPr id="267" name="shape 267"/>
          <p:cNvSpPr txBox="1"/>
          <p:nvPr/>
        </p:nvSpPr>
        <p:spPr>
          <a:xfrm>
            <a:off x="6195060" y="5568609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209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1.4935</a:t>
            </a:r>
            <a:endParaRPr/>
          </a:p>
        </p:txBody>
      </p:sp>
      <p:sp>
        <p:nvSpPr>
          <p:cNvPr id="268" name="shape 268"/>
          <p:cNvSpPr txBox="1"/>
          <p:nvPr/>
        </p:nvSpPr>
        <p:spPr>
          <a:xfrm>
            <a:off x="6195060" y="5676388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1455"/>
            <a:r>
              <a:rPr sz="550" spc="-10">
                <a:solidFill>
                  <a:srgbClr val="888A8D"/>
                </a:solidFill>
                <a:latin typeface="Arial"/>
                <a:cs typeface="Arial"/>
              </a:rPr>
              <a:t>1.4057</a:t>
            </a:r>
            <a:endParaRPr/>
          </a:p>
        </p:txBody>
      </p:sp>
      <p:sp>
        <p:nvSpPr>
          <p:cNvPr id="269" name="shape 269"/>
          <p:cNvSpPr txBox="1"/>
          <p:nvPr/>
        </p:nvSpPr>
        <p:spPr>
          <a:xfrm>
            <a:off x="6195060" y="5773619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0820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1.4923</a:t>
            </a:r>
            <a:endParaRPr/>
          </a:p>
        </p:txBody>
      </p:sp>
      <p:sp>
        <p:nvSpPr>
          <p:cNvPr id="270" name="shape 270"/>
          <p:cNvSpPr txBox="1"/>
          <p:nvPr/>
        </p:nvSpPr>
        <p:spPr>
          <a:xfrm>
            <a:off x="6195060" y="5988687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907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1.4313</a:t>
            </a:r>
            <a:endParaRPr/>
          </a:p>
        </p:txBody>
      </p:sp>
      <p:sp>
        <p:nvSpPr>
          <p:cNvPr id="271" name="shape 271"/>
          <p:cNvSpPr txBox="1"/>
          <p:nvPr/>
        </p:nvSpPr>
        <p:spPr>
          <a:xfrm>
            <a:off x="6195060" y="6086826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256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2.4668</a:t>
            </a:r>
            <a:endParaRPr/>
          </a:p>
        </p:txBody>
      </p:sp>
      <p:sp>
        <p:nvSpPr>
          <p:cNvPr id="272" name="shape 272"/>
          <p:cNvSpPr txBox="1"/>
          <p:nvPr/>
        </p:nvSpPr>
        <p:spPr>
          <a:xfrm>
            <a:off x="6195060" y="6280800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574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2.4654</a:t>
            </a:r>
            <a:endParaRPr/>
          </a:p>
        </p:txBody>
      </p:sp>
      <p:sp>
        <p:nvSpPr>
          <p:cNvPr id="273" name="shape 273"/>
          <p:cNvSpPr txBox="1"/>
          <p:nvPr/>
        </p:nvSpPr>
        <p:spPr>
          <a:xfrm>
            <a:off x="6195060" y="6572494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748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2.4856</a:t>
            </a:r>
            <a:endParaRPr/>
          </a:p>
        </p:txBody>
      </p:sp>
      <p:sp>
        <p:nvSpPr>
          <p:cNvPr id="274" name="shape 274"/>
          <p:cNvSpPr txBox="1"/>
          <p:nvPr/>
        </p:nvSpPr>
        <p:spPr>
          <a:xfrm>
            <a:off x="6195060" y="6669725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256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2.4816</a:t>
            </a:r>
            <a:endParaRPr/>
          </a:p>
        </p:txBody>
      </p:sp>
      <p:sp>
        <p:nvSpPr>
          <p:cNvPr id="275" name="shape 275"/>
          <p:cNvSpPr txBox="1"/>
          <p:nvPr/>
        </p:nvSpPr>
        <p:spPr>
          <a:xfrm>
            <a:off x="6195060" y="6766956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120"/>
            <a:r>
              <a:rPr sz="550" spc="20">
                <a:solidFill>
                  <a:srgbClr val="888A8D"/>
                </a:solidFill>
                <a:latin typeface="Arial"/>
                <a:cs typeface="Arial"/>
              </a:rPr>
              <a:t>2.4663</a:t>
            </a:r>
            <a:endParaRPr/>
          </a:p>
        </p:txBody>
      </p:sp>
      <p:sp>
        <p:nvSpPr>
          <p:cNvPr id="276" name="shape 276"/>
          <p:cNvSpPr txBox="1"/>
          <p:nvPr/>
        </p:nvSpPr>
        <p:spPr>
          <a:xfrm>
            <a:off x="6195060" y="6864187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7485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2.4665</a:t>
            </a:r>
            <a:endParaRPr/>
          </a:p>
        </p:txBody>
      </p:sp>
      <p:sp>
        <p:nvSpPr>
          <p:cNvPr id="277" name="shape 277"/>
          <p:cNvSpPr txBox="1"/>
          <p:nvPr/>
        </p:nvSpPr>
        <p:spPr>
          <a:xfrm>
            <a:off x="6195060" y="6961419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367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2.4880</a:t>
            </a:r>
            <a:endParaRPr/>
          </a:p>
        </p:txBody>
      </p:sp>
      <p:sp>
        <p:nvSpPr>
          <p:cNvPr id="278" name="shape 278"/>
          <p:cNvSpPr txBox="1"/>
          <p:nvPr/>
        </p:nvSpPr>
        <p:spPr>
          <a:xfrm>
            <a:off x="6195060" y="7058650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7485"/>
            <a:r>
              <a:rPr sz="550" spc="20">
                <a:solidFill>
                  <a:srgbClr val="888A8D"/>
                </a:solidFill>
                <a:latin typeface="Arial"/>
                <a:cs typeface="Arial"/>
              </a:rPr>
              <a:t>2.4683</a:t>
            </a:r>
            <a:endParaRPr/>
          </a:p>
        </p:txBody>
      </p:sp>
      <p:sp>
        <p:nvSpPr>
          <p:cNvPr id="279" name="shape 279"/>
          <p:cNvSpPr txBox="1"/>
          <p:nvPr/>
        </p:nvSpPr>
        <p:spPr>
          <a:xfrm>
            <a:off x="6195060" y="7253113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7485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2.4854</a:t>
            </a:r>
            <a:endParaRPr/>
          </a:p>
        </p:txBody>
      </p:sp>
      <p:sp>
        <p:nvSpPr>
          <p:cNvPr id="280" name="shape 280"/>
          <p:cNvSpPr txBox="1"/>
          <p:nvPr/>
        </p:nvSpPr>
        <p:spPr>
          <a:xfrm>
            <a:off x="6195060" y="7350344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066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2.4952</a:t>
            </a:r>
            <a:endParaRPr/>
          </a:p>
        </p:txBody>
      </p:sp>
      <p:sp>
        <p:nvSpPr>
          <p:cNvPr id="281" name="shape 281"/>
          <p:cNvSpPr txBox="1"/>
          <p:nvPr/>
        </p:nvSpPr>
        <p:spPr>
          <a:xfrm>
            <a:off x="6195060" y="7447575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0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2.4858</a:t>
            </a:r>
            <a:endParaRPr/>
          </a:p>
        </p:txBody>
      </p:sp>
      <p:sp>
        <p:nvSpPr>
          <p:cNvPr id="282" name="shape 282"/>
          <p:cNvSpPr txBox="1"/>
          <p:nvPr/>
        </p:nvSpPr>
        <p:spPr>
          <a:xfrm>
            <a:off x="6195060" y="7544806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9850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1.4876 / 1.4958</a:t>
            </a:r>
            <a:endParaRPr/>
          </a:p>
        </p:txBody>
      </p:sp>
      <p:sp>
        <p:nvSpPr>
          <p:cNvPr id="283" name="shape 283"/>
          <p:cNvSpPr txBox="1"/>
          <p:nvPr/>
        </p:nvSpPr>
        <p:spPr>
          <a:xfrm>
            <a:off x="6195060" y="7642038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1930"/>
            <a:r>
              <a:rPr sz="550" spc="15">
                <a:solidFill>
                  <a:srgbClr val="888A8D"/>
                </a:solidFill>
                <a:latin typeface="Arial"/>
                <a:cs typeface="Arial"/>
              </a:rPr>
              <a:t>2.4819</a:t>
            </a:r>
            <a:endParaRPr/>
          </a:p>
        </p:txBody>
      </p:sp>
      <p:sp>
        <p:nvSpPr>
          <p:cNvPr id="284" name="shape 284"/>
          <p:cNvSpPr txBox="1"/>
          <p:nvPr/>
        </p:nvSpPr>
        <p:spPr>
          <a:xfrm>
            <a:off x="6195060" y="7739269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85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2.4360</a:t>
            </a:r>
            <a:endParaRPr/>
          </a:p>
        </p:txBody>
      </p:sp>
      <p:sp>
        <p:nvSpPr>
          <p:cNvPr id="285" name="shape 285"/>
          <p:cNvSpPr txBox="1"/>
          <p:nvPr/>
        </p:nvSpPr>
        <p:spPr>
          <a:xfrm>
            <a:off x="6195060" y="7836500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6215"/>
            <a:r>
              <a:rPr sz="550" spc="20">
                <a:solidFill>
                  <a:srgbClr val="888A8D"/>
                </a:solidFill>
                <a:latin typeface="Arial"/>
                <a:cs typeface="Arial"/>
              </a:rPr>
              <a:t>2.4650</a:t>
            </a:r>
            <a:endParaRPr/>
          </a:p>
        </p:txBody>
      </p:sp>
      <p:sp>
        <p:nvSpPr>
          <p:cNvPr id="286" name="shape 286"/>
          <p:cNvSpPr txBox="1"/>
          <p:nvPr/>
        </p:nvSpPr>
        <p:spPr>
          <a:xfrm>
            <a:off x="6195060" y="7944279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9390"/>
            <a:r>
              <a:rPr sz="550" spc="10">
                <a:solidFill>
                  <a:srgbClr val="888A8D"/>
                </a:solidFill>
                <a:latin typeface="Arial"/>
                <a:cs typeface="Arial"/>
              </a:rPr>
              <a:t>1.4980</a:t>
            </a:r>
            <a:endParaRPr/>
          </a:p>
        </p:txBody>
      </p:sp>
      <p:sp>
        <p:nvSpPr>
          <p:cNvPr id="287" name="shape 287"/>
          <p:cNvSpPr txBox="1"/>
          <p:nvPr/>
        </p:nvSpPr>
        <p:spPr>
          <a:xfrm>
            <a:off x="6195060" y="8062674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0660"/>
            <a:r>
              <a:rPr sz="550" spc="5">
                <a:solidFill>
                  <a:srgbClr val="888A8D"/>
                </a:solidFill>
                <a:latin typeface="Arial"/>
                <a:cs typeface="Arial"/>
              </a:rPr>
              <a:t>2.4973</a:t>
            </a:r>
            <a:endParaRPr/>
          </a:p>
        </p:txBody>
      </p:sp>
      <p:sp>
        <p:nvSpPr>
          <p:cNvPr id="288" name="shape 288"/>
          <p:cNvSpPr txBox="1"/>
          <p:nvPr/>
        </p:nvSpPr>
        <p:spPr>
          <a:xfrm>
            <a:off x="6195060" y="8980433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6375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3.7165</a:t>
            </a:r>
            <a:endParaRPr/>
          </a:p>
        </p:txBody>
      </p:sp>
      <p:sp>
        <p:nvSpPr>
          <p:cNvPr id="289" name="shape 289"/>
          <p:cNvSpPr txBox="1"/>
          <p:nvPr/>
        </p:nvSpPr>
        <p:spPr>
          <a:xfrm>
            <a:off x="6195060" y="9077175"/>
            <a:ext cx="548006" cy="838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07645"/>
            <a:r>
              <a:rPr sz="550">
                <a:solidFill>
                  <a:srgbClr val="888A8D"/>
                </a:solidFill>
                <a:latin typeface="Arial"/>
                <a:cs typeface="Arial"/>
              </a:rPr>
              <a:t>3.7145</a:t>
            </a:r>
            <a:endParaRPr/>
          </a:p>
        </p:txBody>
      </p:sp>
      <p:sp>
        <p:nvSpPr>
          <p:cNvPr id="290" name="shape 290"/>
          <p:cNvSpPr txBox="1"/>
          <p:nvPr/>
        </p:nvSpPr>
        <p:spPr>
          <a:xfrm>
            <a:off x="1443355" y="9639850"/>
            <a:ext cx="4678045" cy="990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770890" algn="l"/>
              </a:tabLst>
            </a:pPr>
            <a:r>
              <a:rPr sz="650" b="1" spc="15">
                <a:solidFill>
                  <a:srgbClr val="68737A"/>
                </a:solidFill>
                <a:latin typeface="Arial"/>
                <a:cs typeface="Arial"/>
              </a:rPr>
              <a:t>Forging evolution.</a:t>
            </a:r>
            <a:r>
              <a:rPr sz="650" b="1" spc="15">
                <a:solidFill>
                  <a:srgbClr val="68737A"/>
                </a:solidFill>
                <a:latin typeface="Arial"/>
                <a:cs typeface="Arial"/>
              </a:rPr>
              <a:t>	</a:t>
            </a:r>
            <a:r>
              <a:rPr sz="650" spc="-15">
                <a:solidFill>
                  <a:srgbClr val="E71425"/>
                </a:solidFill>
                <a:latin typeface="Arial"/>
                <a:cs typeface="Arial"/>
              </a:rPr>
              <a:t>|  </a:t>
            </a:r>
            <a:r>
              <a:rPr sz="650" spc="5">
                <a:solidFill>
                  <a:srgbClr val="888A8D"/>
                </a:solidFill>
                <a:latin typeface="Arial"/>
                <a:cs typeface="Arial"/>
              </a:rPr>
              <a:t>INTL.</a:t>
            </a:r>
            <a:r>
              <a:rPr sz="650" spc="-15">
                <a:solidFill>
                  <a:srgbClr val="888A8D"/>
                </a:solidFill>
                <a:latin typeface="Arial"/>
                <a:cs typeface="Arial"/>
              </a:rPr>
              <a:t>: +52 (81) 8153-0321  </a:t>
            </a:r>
            <a:r>
              <a:rPr sz="650" spc="-15">
                <a:solidFill>
                  <a:srgbClr val="E71425"/>
                </a:solidFill>
                <a:latin typeface="Arial"/>
                <a:cs typeface="Arial"/>
              </a:rPr>
              <a:t>|  </a:t>
            </a:r>
            <a:r>
              <a:rPr sz="650" spc="-15">
                <a:solidFill>
                  <a:srgbClr val="68737A"/>
                </a:solidFill>
                <a:latin typeface="Arial"/>
                <a:cs typeface="Arial"/>
              </a:rPr>
              <a:t>USA TOLL FREE: 1 888 882 0959  </a:t>
            </a:r>
            <a:r>
              <a:rPr sz="650" spc="-15">
                <a:solidFill>
                  <a:srgbClr val="E71425"/>
                </a:solidFill>
                <a:latin typeface="Arial"/>
                <a:cs typeface="Arial"/>
              </a:rPr>
              <a:t>|  </a:t>
            </a:r>
            <a:r>
              <a:rPr sz="650" spc="-15">
                <a:solidFill>
                  <a:srgbClr val="68737A"/>
                </a:solidFill>
                <a:latin typeface="Arial"/>
                <a:cs typeface="Arial"/>
              </a:rPr>
              <a:t>MEXICO TOLL FREE: </a:t>
            </a:r>
            <a:r>
              <a:rPr sz="650" spc="10">
                <a:solidFill>
                  <a:srgbClr val="68737A"/>
                </a:solidFill>
                <a:latin typeface="Arial"/>
                <a:cs typeface="Arial"/>
              </a:rPr>
              <a:t>01-800-2537-472</a:t>
            </a:r>
            <a:endParaRPr/>
          </a:p>
        </p:txBody>
      </p:sp>
      <p:sp>
        <p:nvSpPr>
          <p:cNvPr id="291" name="shape 291"/>
          <p:cNvSpPr txBox="1"/>
          <p:nvPr/>
        </p:nvSpPr>
        <p:spPr>
          <a:xfrm>
            <a:off x="6195060" y="4488518"/>
            <a:ext cx="548006" cy="83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2725"/>
            <a:r>
              <a:rPr sz="550" spc="-5">
                <a:solidFill>
                  <a:srgbClr val="888A8D"/>
                </a:solidFill>
                <a:latin typeface="Arial"/>
                <a:cs typeface="Arial"/>
              </a:rPr>
              <a:t>1.4545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2034522</dc:title>
  <dc:subject/>
  <dc:creator>Adobe PDF Library 15.0</dc:creator>
  <cp:keywords/>
  <dc:description/>
  <cp:lastModifiedBy/>
  <cp:revision>1</cp:revision>
  <cp:category>pdf2pptx</cp:category>
  <cp:contentStatus>Created with Avanquest.Pdf 0.91.2025103001.0</cp:contentStatus>
  <dcterms:created xsi:type="dcterms:W3CDTF">2019-12-03T04:01:13+0000</dcterms:created>
  <dcterms:modified xsi:type="dcterms:W3CDTF">2019-12-03T04:01:15+0000</dcterms:modified>
</cp:coreProperties>
</file>