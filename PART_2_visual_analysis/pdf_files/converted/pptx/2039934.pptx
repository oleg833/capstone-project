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7' Type='http://schemas.openxmlformats.org/officeDocument/2006/relationships/hyperlink' Target='https://www.eia.gov/outlooks/steo/' TargetMode='External'/><Relationship Id='rId2' Type='http://schemas.openxmlformats.org/officeDocument/2006/relationships/image' Target='../media/bd321f4a5fb6a244.png'/><Relationship Id='rId3' Type='http://schemas.openxmlformats.org/officeDocument/2006/relationships/hyperlink' Target='https://energy.mo.gov/content/missouri-energy-bulletin-data-tool' TargetMode='External'/><Relationship Id='rId4' Type='http://schemas.openxmlformats.org/officeDocument/2006/relationships/hyperlink' Target='https://www.eia.gov/petroleum/weekly/' TargetMode='External'/><Relationship Id='rId5' Type='http://schemas.openxmlformats.org/officeDocument/2006/relationships/hyperlink' Target='https://www.eia.gov/petroleum/supply/weekly/' TargetMode='External'/><Relationship Id='rId6' Type='http://schemas.openxmlformats.org/officeDocument/2006/relationships/hyperlink' Target='https://www.eia.gov/petroleum/gasdiesel/' TargetMode='External'/><Relationship Id='rId8' Type='http://schemas.openxmlformats.org/officeDocument/2006/relationships/hyperlink' Target='https://www.eia.gov/naturalgas/weekly/' TargetMode='External'/><Relationship Id='rId9' Type='http://schemas.openxmlformats.org/officeDocument/2006/relationships/hyperlink' Target='https://ir.eia.gov/ngs/ngs.html' TargetMode='External'/><Relationship Id='rId10' Type='http://schemas.openxmlformats.org/officeDocument/2006/relationships/hyperlink' Target='https://energy.mo.gov/sites/energy/files/missouri-energy-bulletin-data-crosswalk.xlsx' TargetMode='External'/><Relationship Id='rId11' Type='http://schemas.openxmlformats.org/officeDocument/2006/relationships/image' Target='../media/7d00860cc189991a.png'/></Relationships>
</file>

<file path=ppt/slides/_rels/slide2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6' Type='http://schemas.openxmlformats.org/officeDocument/2006/relationships/hyperlink' Target='https://energy.mo.gov/mo-state-energy-planning' TargetMode='External'/><Relationship Id='rId3' Type='http://schemas.openxmlformats.org/officeDocument/2006/relationships/hyperlink' Target='https://energy.mo.gov/resources/be-prepared-for-propane' TargetMode='External'/><Relationship Id='rId2' Type='http://schemas.openxmlformats.org/officeDocument/2006/relationships/slide' Target='slide2.xml'/><Relationship Id='rId5' Type='http://schemas.openxmlformats.org/officeDocument/2006/relationships/hyperlink' Target='http://energy.mo.gov/energy' TargetMode='External'/><Relationship Id='rId4' Type='http://schemas.openxmlformats.org/officeDocument/2006/relationships/hyperlink' Target='https://energy.mo.gov/energy-bulletins' TargetMode='External'/><Relationship Id='rId7' Type='http://schemas.openxmlformats.org/officeDocument/2006/relationships/hyperlink' Target='mailto:energy@dnr.mo.gov' TargetMode='Externa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9346" y="6600496"/>
            <a:ext cx="3145155" cy="2118995"/>
          </a:xfrm>
          <a:prstGeom prst="rect"/>
        </p:spPr>
      </p:pic>
      <p:sp>
        <p:nvSpPr>
          <p:cNvPr id="3" name="shape 3"/>
          <p:cNvSpPr txBox="1"/>
          <p:nvPr/>
        </p:nvSpPr>
        <p:spPr>
          <a:xfrm>
            <a:off x="3187700" y="2064004"/>
            <a:ext cx="2254250" cy="3048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2000" b="1">
                <a:latin typeface="Calibri"/>
                <a:cs typeface="Calibri"/>
              </a:rPr>
              <a:t>DIVISION OF ENERGY</a:t>
            </a:r>
            <a:endParaRPr/>
          </a:p>
        </p:txBody>
      </p:sp>
      <p:sp>
        <p:nvSpPr>
          <p:cNvPr id="4" name="shape 4"/>
          <p:cNvSpPr txBox="1"/>
          <p:nvPr/>
        </p:nvSpPr>
        <p:spPr>
          <a:xfrm>
            <a:off x="901700" y="2610118"/>
            <a:ext cx="5927090" cy="5924804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10995"/>
            <a:r>
              <a:rPr sz="1600" b="1" spc="110">
                <a:solidFill>
                  <a:srgbClr val="0070C0"/>
                </a:solidFill>
                <a:latin typeface="Calibri"/>
                <a:cs typeface="Calibri"/>
              </a:rPr>
              <a:t>MISSOURI ENERGY BULLETIN</a:t>
            </a:r>
            <a:endParaRPr/>
          </a:p>
          <a:p>
            <a:pPr marL="2632075">
              <a:spcBef>
                <a:spcPts val="100"/>
              </a:spcBef>
            </a:pPr>
            <a:r>
              <a:rPr sz="1200" b="1" spc="5">
                <a:latin typeface="Calibri"/>
                <a:cs typeface="Calibri"/>
              </a:rPr>
              <a:t>Jul. 8, 2021</a:t>
            </a:r>
            <a:endParaRPr/>
          </a:p>
          <a:p>
            <a:pPr marL="12700" marR="12700">
              <a:lnSpc>
                <a:spcPct val="102037"/>
              </a:lnSpc>
              <a:spcBef>
                <a:spcPts val="900"/>
              </a:spcBef>
            </a:pPr>
            <a:r>
              <a:rPr sz="1200" b="1" i="1" spc="5">
                <a:latin typeface="Calibri"/>
                <a:cs typeface="Calibri"/>
              </a:rPr>
              <a:t>Note: As of </a:t>
            </a:r>
            <a:r>
              <a:rPr sz="1200" b="1" i="1" spc="-5">
                <a:latin typeface="Calibri"/>
                <a:cs typeface="Calibri"/>
              </a:rPr>
              <a:t>Apr</a:t>
            </a:r>
            <a:r>
              <a:rPr sz="1200" b="1" i="1">
                <a:latin typeface="Calibri"/>
                <a:cs typeface="Calibri"/>
              </a:rPr>
              <a:t>. </a:t>
            </a:r>
            <a:r>
              <a:rPr sz="1200" b="1" i="1" spc="-10">
                <a:latin typeface="Calibri"/>
                <a:cs typeface="Calibri"/>
              </a:rPr>
              <a:t>23, </a:t>
            </a:r>
            <a:r>
              <a:rPr sz="1200" b="1" i="1" spc="5">
                <a:latin typeface="Calibri"/>
                <a:cs typeface="Calibri"/>
              </a:rPr>
              <a:t>2021</a:t>
            </a:r>
            <a:r>
              <a:rPr sz="1200" b="1" i="1" spc="-10">
                <a:latin typeface="Calibri"/>
                <a:cs typeface="Calibri"/>
              </a:rPr>
              <a:t>, the </a:t>
            </a:r>
            <a:r>
              <a:rPr sz="1200" b="1" i="1" u="sng" spc="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Missouri Energy Bulletin Data Tool</a:t>
            </a:r>
            <a:r>
              <a:rPr sz="1200" b="1" i="1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1200" b="1" i="1" spc="-10">
                <a:latin typeface="Calibri"/>
                <a:cs typeface="Calibri"/>
              </a:rPr>
              <a:t>provides </a:t>
            </a:r>
            <a:r>
              <a:rPr sz="1200" b="1" i="1">
                <a:latin typeface="Calibri"/>
                <a:cs typeface="Calibri"/>
              </a:rPr>
              <a:t>data </a:t>
            </a:r>
            <a:r>
              <a:rPr sz="1200" b="1" i="1" spc="5">
                <a:latin typeface="Calibri"/>
                <a:cs typeface="Calibri"/>
              </a:rPr>
              <a:t>previously </a:t>
            </a:r>
            <a:r>
              <a:rPr sz="1200" b="1" i="1">
                <a:latin typeface="Calibri"/>
                <a:cs typeface="Calibri"/>
              </a:rPr>
              <a:t>published in </a:t>
            </a:r>
            <a:r>
              <a:rPr sz="1200" b="1" i="1" spc="5">
                <a:latin typeface="Calibri"/>
                <a:cs typeface="Calibri"/>
              </a:rPr>
              <a:t>the PDF version of the </a:t>
            </a:r>
            <a:r>
              <a:rPr sz="1200" b="1" i="1" spc="-5">
                <a:latin typeface="Calibri"/>
                <a:cs typeface="Calibri"/>
              </a:rPr>
              <a:t>Missouri </a:t>
            </a:r>
            <a:r>
              <a:rPr sz="1200" b="1" i="1" spc="5">
                <a:latin typeface="Calibri"/>
                <a:cs typeface="Calibri"/>
              </a:rPr>
              <a:t>Energy Bulletin. The Missouri Department of </a:t>
            </a:r>
            <a:r>
              <a:rPr sz="1200" b="1" i="1" spc="-5">
                <a:latin typeface="Calibri"/>
                <a:cs typeface="Calibri"/>
              </a:rPr>
              <a:t>Natural Resources’ Division of Energy will continue to report on prices for E</a:t>
            </a:r>
            <a:r>
              <a:rPr sz="1200" b="1" i="1" spc="-10">
                <a:latin typeface="Calibri"/>
                <a:cs typeface="Calibri"/>
              </a:rPr>
              <a:t>-</a:t>
            </a:r>
            <a:r>
              <a:rPr sz="1200" b="1" i="1" spc="-5">
                <a:latin typeface="Calibri"/>
                <a:cs typeface="Calibri"/>
              </a:rPr>
              <a:t>85 and B</a:t>
            </a:r>
            <a:r>
              <a:rPr sz="1200" b="1" i="1" spc="-10">
                <a:latin typeface="Calibri"/>
                <a:cs typeface="Calibri"/>
              </a:rPr>
              <a:t>-</a:t>
            </a:r>
            <a:r>
              <a:rPr sz="1200" b="1" i="1" spc="-5">
                <a:latin typeface="Calibri"/>
                <a:cs typeface="Calibri"/>
              </a:rPr>
              <a:t>20 twice </a:t>
            </a:r>
            <a:r>
              <a:rPr sz="1200" b="1" i="1" spc="5">
                <a:latin typeface="Calibri"/>
                <a:cs typeface="Calibri"/>
              </a:rPr>
              <a:t>per month, as well as on propane prices during the non</a:t>
            </a:r>
            <a:r>
              <a:rPr sz="1200" b="1" i="1">
                <a:latin typeface="Calibri"/>
                <a:cs typeface="Calibri"/>
              </a:rPr>
              <a:t>-</a:t>
            </a:r>
            <a:r>
              <a:rPr sz="1200" b="1" i="1" spc="-10">
                <a:latin typeface="Calibri"/>
                <a:cs typeface="Calibri"/>
              </a:rPr>
              <a:t>heati</a:t>
            </a:r>
            <a:r>
              <a:rPr sz="1200" b="1" i="1" spc="5">
                <a:latin typeface="Calibri"/>
                <a:cs typeface="Calibri"/>
              </a:rPr>
              <a:t>ng season (April </a:t>
            </a:r>
            <a:r>
              <a:rPr sz="1200" b="1" i="1">
                <a:latin typeface="Calibri"/>
                <a:cs typeface="Calibri"/>
              </a:rPr>
              <a:t>– September).</a:t>
            </a:r>
            <a:endParaRPr/>
          </a:p>
          <a:p>
            <a:pPr/>
            <a:r>
              <a:rPr sz="1000">
                <a:latin typeface="Calibri"/>
                <a:cs typeface="Calibri"/>
              </a:rPr>
              <a:t/>
            </a:r>
            <a:endParaRPr sz="1000"/>
          </a:p>
          <a:p>
            <a:pPr marL="12700">
              <a:spcBef>
                <a:spcPts val="300"/>
              </a:spcBef>
            </a:pPr>
            <a:r>
              <a:rPr sz="1200" b="1" spc="5">
                <a:latin typeface="Calibri"/>
                <a:cs typeface="Calibri"/>
              </a:rPr>
              <a:t>Additional data are available from the following sources:</a:t>
            </a:r>
            <a:endParaRPr/>
          </a:p>
          <a:p>
            <a:pPr/>
            <a:r>
              <a:rPr sz="1000">
                <a:latin typeface="Calibri"/>
                <a:cs typeface="Calibri"/>
              </a:rPr>
              <a:t/>
            </a:r>
            <a:endParaRPr sz="1000"/>
          </a:p>
          <a:p>
            <a:pPr marL="241300" indent="-228600">
              <a:spcBef>
                <a:spcPts val="400"/>
              </a:spcBef>
              <a:buSzPts val="1200"/>
              <a:buFont typeface="Symbol"/>
              <a:buChar char="·"/>
            </a:pPr>
            <a:r>
              <a:rPr sz="1200" u="sng" spc="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Missouri Energy Bulletin Data Tool</a:t>
            </a:r>
            <a:endParaRPr/>
          </a:p>
          <a:p>
            <a:pPr marL="241300" indent="-228600">
              <a:buSzPts val="1200"/>
              <a:buFont typeface="Symbol"/>
              <a:buChar char="·"/>
            </a:pPr>
            <a:r>
              <a:rPr sz="1200">
                <a:latin typeface="Calibri"/>
                <a:cs typeface="Calibri"/>
              </a:rPr>
              <a:t>U.S. Energy Information Administration</a:t>
            </a:r>
            <a:endParaRPr/>
          </a:p>
          <a:p>
            <a:pPr marL="698500" indent="-228600">
              <a:spcBef>
                <a:spcPts val="100"/>
              </a:spcBef>
              <a:buSzPts val="1200"/>
              <a:buFont typeface="Courier New"/>
              <a:buChar char="o"/>
            </a:pP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Week in Petroleum</a:t>
            </a:r>
            <a:endParaRPr/>
          </a:p>
          <a:p>
            <a:pPr marL="698500" indent="-228600">
              <a:buSzPts val="1200"/>
              <a:buFont typeface="Courier New"/>
              <a:buChar char="o"/>
            </a:pPr>
            <a:r>
              <a:rPr sz="1200" u="sng" spc="-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Weekly Petroleum Status Report</a:t>
            </a:r>
            <a:endParaRPr/>
          </a:p>
          <a:p>
            <a:pPr marL="698500" indent="-228600">
              <a:buSzPts val="1200"/>
              <a:buFont typeface="Courier New"/>
              <a:buChar char="o"/>
            </a:pP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Gasoline and Diesel Fuel Update</a:t>
            </a:r>
            <a:endParaRPr/>
          </a:p>
          <a:p>
            <a:pPr marL="698500" indent="-228600">
              <a:buSzPts val="1200"/>
              <a:buFont typeface="Courier New"/>
              <a:buChar char="o"/>
            </a:pP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Short-Term Energy Outlook</a:t>
            </a:r>
            <a:endParaRPr/>
          </a:p>
          <a:p>
            <a:pPr marL="698500" indent="-228600">
              <a:spcBef>
                <a:spcPts val="100"/>
              </a:spcBef>
              <a:buSzPts val="1200"/>
              <a:buFont typeface="Courier New"/>
              <a:buChar char="o"/>
            </a:pP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Natural Gas Weekly Update</a:t>
            </a:r>
            <a:endParaRPr/>
          </a:p>
          <a:p>
            <a:pPr marL="698500" indent="-228600">
              <a:buSzPts val="1200"/>
              <a:buFont typeface="Courier New"/>
              <a:buChar char="o"/>
            </a:pP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Weekly Natural Gas Storage Report</a:t>
            </a:r>
            <a:endParaRPr/>
          </a:p>
          <a:p>
            <a:pPr marL="12700" marR="353695" algn="just">
              <a:lnSpc>
                <a:spcPct val="101666"/>
              </a:lnSpc>
              <a:spcBef>
                <a:spcPts val="1000"/>
              </a:spcBef>
            </a:pPr>
            <a:r>
              <a:rPr sz="1200" b="1" spc="-5">
                <a:latin typeface="Calibri"/>
                <a:cs typeface="Calibri"/>
              </a:rPr>
              <a:t>For information on how to access data previously provided through the Missouri Energy </a:t>
            </a:r>
            <a:r>
              <a:rPr sz="1200" b="1" spc="5">
                <a:latin typeface="Calibri"/>
                <a:cs typeface="Calibri"/>
              </a:rPr>
              <a:t>Bulletin, </a:t>
            </a:r>
            <a:r>
              <a:rPr sz="1200" b="1" spc="-5">
                <a:latin typeface="Calibri"/>
                <a:cs typeface="Calibri"/>
              </a:rPr>
              <a:t>refer to our </a:t>
            </a:r>
            <a:r>
              <a:rPr sz="1200" b="1" u="sng" spc="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crosswalk file</a:t>
            </a:r>
            <a:r>
              <a:rPr sz="1200" b="1">
                <a:latin typeface="Calibri"/>
                <a:cs typeface="Calibri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/>
          </a:p>
          <a:p>
            <a:pPr/>
            <a:r>
              <a:rPr sz="1000">
                <a:latin typeface="Calibri"/>
                <a:cs typeface="Calibri"/>
              </a:rPr>
              <a:t/>
            </a:r>
            <a:endParaRPr sz="1000"/>
          </a:p>
          <a:p>
            <a:pPr marL="241300" marR="3324225" indent="-228600">
              <a:lnSpc>
                <a:spcPct val="101666"/>
              </a:lnSpc>
              <a:spcBef>
                <a:spcPts val="300"/>
              </a:spcBef>
              <a:buSzPts val="1200"/>
              <a:buFont typeface="Symbol"/>
              <a:buChar char="·"/>
            </a:pPr>
            <a:r>
              <a:rPr sz="1200">
                <a:latin typeface="Calibri"/>
                <a:cs typeface="Calibri"/>
              </a:rPr>
              <a:t>On Jul. 6, Missouri’s average retail price for E-</a:t>
            </a:r>
            <a:r>
              <a:rPr sz="1200" spc="-10">
                <a:latin typeface="Calibri"/>
                <a:cs typeface="Calibri"/>
              </a:rPr>
              <a:t>85 motor fuel</a:t>
            </a:r>
            <a:r>
              <a:rPr sz="1200">
                <a:latin typeface="Calibri"/>
                <a:cs typeface="Calibri"/>
              </a:rPr>
              <a:t>, </a:t>
            </a:r>
            <a:r>
              <a:rPr sz="1200" spc="5">
                <a:latin typeface="Calibri"/>
                <a:cs typeface="Calibri"/>
              </a:rPr>
              <a:t>conventional motor fuel containing 51% to 83% ethanol, </a:t>
            </a:r>
            <a:r>
              <a:rPr sz="1200" spc="-5">
                <a:latin typeface="Calibri"/>
                <a:cs typeface="Calibri"/>
              </a:rPr>
              <a:t>was </a:t>
            </a:r>
            <a:r>
              <a:rPr sz="1200">
                <a:latin typeface="Calibri"/>
                <a:cs typeface="Calibri"/>
              </a:rPr>
              <a:t>approximately $</a:t>
            </a:r>
            <a:r>
              <a:rPr sz="1200" spc="5">
                <a:latin typeface="Calibri"/>
                <a:cs typeface="Calibri"/>
              </a:rPr>
              <a:t>2.48 </a:t>
            </a:r>
            <a:r>
              <a:rPr sz="1200">
                <a:latin typeface="Calibri"/>
                <a:cs typeface="Calibri"/>
              </a:rPr>
              <a:t>per gallon.</a:t>
            </a:r>
            <a:endParaRPr/>
          </a:p>
          <a:p>
            <a:pPr marL="241300" indent="-228600">
              <a:buSzPts val="1200"/>
              <a:buFont typeface="Symbol"/>
              <a:buChar char="·"/>
            </a:pPr>
            <a:r>
              <a:rPr sz="1000">
                <a:latin typeface="Calibri"/>
                <a:cs typeface="Calibri"/>
              </a:rPr>
              <a:t/>
            </a:r>
            <a:endParaRPr sz="1000"/>
          </a:p>
          <a:p>
            <a:pPr marL="241300" marR="3324225" indent="-228600">
              <a:lnSpc>
                <a:spcPct val="101666"/>
              </a:lnSpc>
              <a:spcBef>
                <a:spcPts val="300"/>
              </a:spcBef>
              <a:buSzPts val="1200"/>
              <a:buFont typeface="Symbol"/>
              <a:buChar char="·"/>
            </a:pPr>
            <a:r>
              <a:rPr sz="1200">
                <a:latin typeface="Calibri"/>
                <a:cs typeface="Calibri"/>
              </a:rPr>
              <a:t>On Jul. 6, Missouri’s surveyed retail price for B-</a:t>
            </a:r>
            <a:r>
              <a:rPr sz="1200" spc="5">
                <a:latin typeface="Calibri"/>
                <a:cs typeface="Calibri"/>
              </a:rPr>
              <a:t>20, </a:t>
            </a:r>
            <a:r>
              <a:rPr sz="1200">
                <a:latin typeface="Calibri"/>
                <a:cs typeface="Calibri"/>
              </a:rPr>
              <a:t>di</a:t>
            </a:r>
            <a:r>
              <a:rPr sz="1200" spc="5">
                <a:latin typeface="Calibri"/>
                <a:cs typeface="Calibri"/>
              </a:rPr>
              <a:t>esel fuel containing </a:t>
            </a:r>
            <a:r>
              <a:rPr sz="1200" spc="-5">
                <a:latin typeface="Calibri"/>
                <a:cs typeface="Calibri"/>
              </a:rPr>
              <a:t>6% to 20% </a:t>
            </a:r>
            <a:r>
              <a:rPr sz="1200" spc="-10">
                <a:latin typeface="Calibri"/>
                <a:cs typeface="Calibri"/>
              </a:rPr>
              <a:t>b</a:t>
            </a:r>
            <a:r>
              <a:rPr sz="1200" spc="-20">
                <a:latin typeface="Calibri"/>
                <a:cs typeface="Calibri"/>
              </a:rPr>
              <a:t>iofuel</a:t>
            </a:r>
            <a:r>
              <a:rPr sz="1200" spc="-10">
                <a:latin typeface="Calibri"/>
                <a:cs typeface="Calibri"/>
              </a:rPr>
              <a:t>, </a:t>
            </a:r>
            <a:r>
              <a:rPr sz="1200" spc="-15">
                <a:latin typeface="Calibri"/>
                <a:cs typeface="Calibri"/>
              </a:rPr>
              <a:t>was </a:t>
            </a:r>
            <a:r>
              <a:rPr sz="1200" spc="-10">
                <a:latin typeface="Calibri"/>
                <a:cs typeface="Calibri"/>
              </a:rPr>
              <a:t>approximately </a:t>
            </a:r>
            <a:r>
              <a:rPr sz="1200">
                <a:latin typeface="Calibri"/>
                <a:cs typeface="Calibri"/>
              </a:rPr>
              <a:t>$</a:t>
            </a:r>
            <a:r>
              <a:rPr sz="1200" spc="5">
                <a:latin typeface="Calibri"/>
                <a:cs typeface="Calibri"/>
              </a:rPr>
              <a:t>3.</a:t>
            </a:r>
            <a:r>
              <a:rPr sz="1200">
                <a:latin typeface="Calibri"/>
                <a:cs typeface="Calibri"/>
              </a:rPr>
              <a:t>10 per gallon.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3835400" y="9418320"/>
            <a:ext cx="102871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>
                <a:latin typeface="Calibri"/>
                <a:cs typeface="Calibri"/>
              </a:rPr>
              <a:t>1</a:t>
            </a:r>
            <a:endParaRPr/>
          </a:p>
        </p:txBody>
      </p:sp>
      <p:pic>
        <p:nvPicPr>
          <p:cNvPr id="6" name="shape 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931988" y="914400"/>
            <a:ext cx="3943350" cy="116205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14400" y="8510016"/>
            <a:ext cx="1828800" cy="76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3"/>
          <p:cNvSpPr txBox="1"/>
          <p:nvPr/>
        </p:nvSpPr>
        <p:spPr>
          <a:xfrm>
            <a:off x="901065" y="914400"/>
            <a:ext cx="5970270" cy="504593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623435" indent="-300355">
              <a:tabLst>
                <a:tab pos="4623435" algn="l"/>
              </a:tabLst>
            </a:pPr>
            <a:r>
              <a:rPr sz="1200">
                <a:latin typeface="Symbol"/>
                <a:cs typeface="Symbol"/>
              </a:rPr>
              <a:t>·</a:t>
            </a:r>
            <a:r>
              <a:rPr sz="1200">
                <a:latin typeface="Symbol"/>
                <a:cs typeface="Symbol"/>
              </a:rPr>
              <a:t>	</a:t>
            </a:r>
            <a:r>
              <a:rPr sz="1200">
                <a:latin typeface="Calibri"/>
                <a:cs typeface="Calibri"/>
              </a:rPr>
              <a:t>On Jul. 6, </a:t>
            </a:r>
            <a:r>
              <a:rPr sz="1200" spc="5">
                <a:latin typeface="Calibri"/>
                <a:cs typeface="Calibri"/>
              </a:rPr>
              <a:t>the</a:t>
            </a:r>
            <a:endParaRPr/>
          </a:p>
          <a:p>
            <a:pPr marL="4323080"/>
            <a:r>
              <a:rPr sz="1200">
                <a:latin typeface="Calibri"/>
                <a:cs typeface="Calibri"/>
              </a:rPr>
              <a:t>average Missouri retail</a:t>
            </a:r>
            <a:endParaRPr/>
          </a:p>
          <a:p>
            <a:pPr marL="470535" marR="200660" indent="3852545">
              <a:lnSpc>
                <a:spcPct val="101440"/>
              </a:lnSpc>
            </a:pPr>
            <a:r>
              <a:rPr sz="1200">
                <a:latin typeface="Calibri"/>
                <a:cs typeface="Calibri"/>
              </a:rPr>
              <a:t>price for residential </a:t>
            </a:r>
            <a:r>
              <a:rPr sz="1200" spc="5">
                <a:latin typeface="Calibri"/>
                <a:cs typeface="Calibri"/>
              </a:rPr>
              <a:t>propane was </a:t>
            </a:r>
            <a:r>
              <a:rPr sz="1200">
                <a:latin typeface="Calibri"/>
                <a:cs typeface="Calibri"/>
              </a:rPr>
              <a:t>approximately </a:t>
            </a:r>
            <a:r>
              <a:rPr sz="1200" spc="5">
                <a:latin typeface="Calibri"/>
                <a:cs typeface="Calibri"/>
              </a:rPr>
              <a:t>$1.84 </a:t>
            </a:r>
            <a:r>
              <a:rPr sz="1200">
                <a:latin typeface="Calibri"/>
                <a:cs typeface="Calibri"/>
              </a:rPr>
              <a:t>per gallon, </a:t>
            </a:r>
            <a:r>
              <a:rPr sz="1200" spc="-10">
                <a:latin typeface="Calibri"/>
                <a:cs typeface="Calibri"/>
              </a:rPr>
              <a:t>up 6.1 </a:t>
            </a:r>
            <a:r>
              <a:rPr sz="1200" spc="-5">
                <a:latin typeface="Calibri"/>
                <a:cs typeface="Calibri"/>
              </a:rPr>
              <a:t>cent</a:t>
            </a:r>
            <a:r>
              <a:rPr sz="1200">
                <a:latin typeface="Calibri"/>
                <a:cs typeface="Calibri"/>
              </a:rPr>
              <a:t>s, </a:t>
            </a:r>
            <a:r>
              <a:rPr sz="1200" spc="5">
                <a:latin typeface="Calibri"/>
                <a:cs typeface="Calibri"/>
              </a:rPr>
              <a:t>or </a:t>
            </a:r>
            <a:r>
              <a:rPr sz="1200">
                <a:latin typeface="Calibri"/>
                <a:cs typeface="Calibri"/>
              </a:rPr>
              <a:t>3 percent, </a:t>
            </a:r>
            <a:r>
              <a:rPr sz="1200" spc="5">
                <a:latin typeface="Calibri"/>
                <a:cs typeface="Calibri"/>
              </a:rPr>
              <a:t>in the past </a:t>
            </a:r>
            <a:r>
              <a:rPr sz="1200" spc="-10">
                <a:latin typeface="Calibri"/>
                <a:cs typeface="Calibri"/>
              </a:rPr>
              <a:t>month</a:t>
            </a:r>
            <a:r>
              <a:rPr sz="1200" spc="-5">
                <a:latin typeface="Calibri"/>
                <a:cs typeface="Calibri"/>
              </a:rPr>
              <a:t>.</a:t>
            </a:r>
            <a:r>
              <a:rPr sz="1250" spc="-5" baseline="49999">
                <a:latin typeface="Calibri"/>
                <a:cs typeface="Calibri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sz="1875" spc="-7" baseline="6666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Approximately </a:t>
            </a:r>
            <a:r>
              <a:rPr sz="1200" spc="-20">
                <a:latin typeface="Calibri"/>
                <a:cs typeface="Calibri"/>
              </a:rPr>
              <a:t>8.8 </a:t>
            </a:r>
            <a:r>
              <a:rPr sz="1200">
                <a:latin typeface="Calibri"/>
                <a:cs typeface="Calibri"/>
              </a:rPr>
              <a:t>percent (211,908) of Missouri households use propane to </a:t>
            </a:r>
            <a:r>
              <a:rPr sz="1200" spc="5">
                <a:latin typeface="Calibri"/>
                <a:cs typeface="Calibri"/>
              </a:rPr>
              <a:t>heat their homes. (Data updated from the most recent </a:t>
            </a:r>
            <a:r>
              <a:rPr sz="1200">
                <a:latin typeface="Calibri"/>
                <a:cs typeface="Calibri"/>
              </a:rPr>
              <a:t>five-year U.S. Census </a:t>
            </a:r>
            <a:r>
              <a:rPr sz="1200" spc="-5">
                <a:latin typeface="Calibri"/>
                <a:cs typeface="Calibri"/>
              </a:rPr>
              <a:t>information.) Propane is also used to support commercial operations, produce goods, </a:t>
            </a:r>
            <a:r>
              <a:rPr sz="1200">
                <a:latin typeface="Calibri"/>
                <a:cs typeface="Calibri"/>
              </a:rPr>
              <a:t>dry grain harvests and fuel vehicles.</a:t>
            </a:r>
            <a:endParaRPr/>
          </a:p>
          <a:p>
            <a:pPr marL="13335" marR="2261235">
              <a:lnSpc>
                <a:spcPct val="101666"/>
              </a:lnSpc>
              <a:spcBef>
                <a:spcPts val="1000"/>
              </a:spcBef>
            </a:pPr>
            <a:r>
              <a:rPr sz="1200" b="1" spc="-5">
                <a:latin typeface="Calibri"/>
                <a:cs typeface="Calibri"/>
              </a:rPr>
              <a:t>For more informat</a:t>
            </a:r>
            <a:r>
              <a:rPr sz="1200" b="1" spc="5">
                <a:latin typeface="Calibri"/>
                <a:cs typeface="Calibri"/>
              </a:rPr>
              <a:t>ion on propane, please visit: </a:t>
            </a: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https://energy.mo.gov/resources/be-prepared-</a:t>
            </a:r>
            <a:r>
              <a:rPr sz="1200" u="sng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-propane</a:t>
            </a:r>
            <a:endParaRPr/>
          </a:p>
          <a:p>
            <a:pPr/>
            <a:r>
              <a:rPr sz="1000">
                <a:latin typeface="Calibri"/>
                <a:cs typeface="Calibri"/>
              </a:rPr>
              <a:t/>
            </a:r>
            <a:endParaRPr sz="1000"/>
          </a:p>
          <a:p>
            <a:pPr marL="13335" marR="1135380" algn="just">
              <a:lnSpc>
                <a:spcPct val="102317"/>
              </a:lnSpc>
              <a:spcBef>
                <a:spcPts val="300"/>
              </a:spcBef>
            </a:pPr>
            <a:r>
              <a:rPr sz="1200" b="1" spc="-5">
                <a:latin typeface="Calibri"/>
                <a:cs typeface="Calibri"/>
              </a:rPr>
              <a:t>To access previous issues of the Energy Bulletin, or to subscribe, </a:t>
            </a:r>
            <a:r>
              <a:rPr sz="1200" b="1" spc="-15">
                <a:latin typeface="Calibri"/>
                <a:cs typeface="Calibri"/>
              </a:rPr>
              <a:t>please visit</a:t>
            </a:r>
            <a:r>
              <a:rPr sz="1200" b="1" spc="-10">
                <a:latin typeface="Calibri"/>
                <a:cs typeface="Calibri"/>
              </a:rPr>
              <a:t>: </a:t>
            </a: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https://energy.mo.gov/energy-bulletins</a:t>
            </a:r>
            <a:endParaRPr/>
          </a:p>
          <a:p>
            <a:pPr marL="13335" marR="2378710" algn="just">
              <a:lnSpc>
                <a:spcPct val="101666"/>
              </a:lnSpc>
              <a:spcBef>
                <a:spcPts val="1400"/>
              </a:spcBef>
            </a:pPr>
            <a:r>
              <a:rPr sz="1200" b="1" spc="-10">
                <a:latin typeface="Calibri"/>
                <a:cs typeface="Calibri"/>
              </a:rPr>
              <a:t>To learn more about Missouri energy issues, please visit</a:t>
            </a:r>
            <a:r>
              <a:rPr sz="1200" spc="-5">
                <a:latin typeface="Calibri"/>
                <a:cs typeface="Calibri"/>
              </a:rPr>
              <a:t>: </a:t>
            </a:r>
            <a:r>
              <a:rPr sz="1200" u="sng" spc="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http://energy.mo.gov/energy</a:t>
            </a:r>
            <a:endParaRPr/>
          </a:p>
          <a:p>
            <a:pPr/>
            <a:r>
              <a:rPr sz="1000">
                <a:latin typeface="Calibri"/>
                <a:cs typeface="Calibri"/>
              </a:rPr>
              <a:t/>
            </a:r>
            <a:endParaRPr sz="1000"/>
          </a:p>
          <a:p>
            <a:pPr marL="13335" marR="33020" algn="just">
              <a:lnSpc>
                <a:spcPct val="101666"/>
              </a:lnSpc>
              <a:spcBef>
                <a:spcPts val="300"/>
              </a:spcBef>
            </a:pPr>
            <a:r>
              <a:rPr sz="1200" b="1">
                <a:latin typeface="Calibri"/>
                <a:cs typeface="Calibri"/>
              </a:rPr>
              <a:t>For more information about the </a:t>
            </a:r>
            <a:r>
              <a:rPr sz="1200" b="1" spc="-10">
                <a:latin typeface="Calibri"/>
                <a:cs typeface="Calibri"/>
              </a:rPr>
              <a:t>Missouri State Energy Planning (MoSEP) process</a:t>
            </a:r>
            <a:r>
              <a:rPr sz="1200" b="1" spc="-15">
                <a:latin typeface="Calibri"/>
                <a:cs typeface="Calibri"/>
              </a:rPr>
              <a:t>, </a:t>
            </a:r>
            <a:r>
              <a:rPr sz="1200" b="1" spc="-10">
                <a:latin typeface="Calibri"/>
                <a:cs typeface="Calibri"/>
              </a:rPr>
              <a:t>please </a:t>
            </a:r>
            <a:r>
              <a:rPr sz="1200" b="1">
                <a:latin typeface="Calibri"/>
                <a:cs typeface="Calibri"/>
              </a:rPr>
              <a:t>visit</a:t>
            </a:r>
            <a:r>
              <a:rPr sz="1200" spc="-15">
                <a:latin typeface="Calibri"/>
                <a:cs typeface="Calibri"/>
              </a:rPr>
              <a:t>: </a:t>
            </a: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https://energy.mo.gov/mo-</a:t>
            </a:r>
            <a:r>
              <a:rPr sz="1200" u="sng" spc="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state</a:t>
            </a:r>
            <a:r>
              <a:rPr sz="12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-energy-</a:t>
            </a:r>
            <a:r>
              <a:rPr sz="1200" u="sng" spc="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planning</a:t>
            </a:r>
            <a:endParaRPr/>
          </a:p>
          <a:p>
            <a:pPr marL="12700" marR="12700" indent="635" algn="just">
              <a:lnSpc>
                <a:spcPct val="101544"/>
              </a:lnSpc>
              <a:spcBef>
                <a:spcPts val="1000"/>
              </a:spcBef>
            </a:pPr>
            <a:r>
              <a:rPr sz="900" spc="-5">
                <a:latin typeface="Calibri"/>
                <a:cs typeface="Calibri"/>
              </a:rPr>
              <a:t>The </a:t>
            </a:r>
            <a:r>
              <a:rPr sz="900" i="1" spc="-5">
                <a:latin typeface="Calibri"/>
                <a:cs typeface="Calibri"/>
              </a:rPr>
              <a:t>Missouri Energy Bulletin </a:t>
            </a:r>
            <a:r>
              <a:rPr sz="900">
                <a:latin typeface="Calibri"/>
                <a:cs typeface="Calibri"/>
              </a:rPr>
              <a:t>is distributed twice a month by the Missouri Department of </a:t>
            </a:r>
            <a:r>
              <a:rPr sz="900" spc="-5">
                <a:latin typeface="Calibri"/>
                <a:cs typeface="Calibri"/>
              </a:rPr>
              <a:t>Natural Resources</a:t>
            </a:r>
            <a:r>
              <a:rPr sz="900">
                <a:latin typeface="Calibri"/>
                <a:cs typeface="Calibri"/>
              </a:rPr>
              <a:t>’ </a:t>
            </a:r>
            <a:r>
              <a:rPr sz="900" spc="-5">
                <a:latin typeface="Calibri"/>
                <a:cs typeface="Calibri"/>
              </a:rPr>
              <a:t>Division of Energy. The Division of Energy collects E</a:t>
            </a:r>
            <a:r>
              <a:rPr sz="900">
                <a:latin typeface="Calibri"/>
                <a:cs typeface="Calibri"/>
              </a:rPr>
              <a:t>-85, B-20, </a:t>
            </a:r>
            <a:r>
              <a:rPr sz="900" spc="-5">
                <a:latin typeface="Calibri"/>
                <a:cs typeface="Calibri"/>
              </a:rPr>
              <a:t>and propane heating fuel prices from a sample of retail providers located throughout the state. The average price </a:t>
            </a:r>
            <a:r>
              <a:rPr sz="900">
                <a:latin typeface="Calibri"/>
                <a:cs typeface="Calibri"/>
              </a:rPr>
              <a:t>reported </a:t>
            </a:r>
            <a:r>
              <a:rPr sz="900" spc="-5">
                <a:latin typeface="Calibri"/>
                <a:cs typeface="Calibri"/>
              </a:rPr>
              <a:t>is based on these sample prices and </a:t>
            </a:r>
            <a:r>
              <a:rPr sz="900">
                <a:latin typeface="Calibri"/>
                <a:cs typeface="Calibri"/>
              </a:rPr>
              <a:t>may or may not reflect the actual price of a particular </a:t>
            </a:r>
            <a:r>
              <a:rPr sz="900" spc="-5">
                <a:latin typeface="Calibri"/>
                <a:cs typeface="Calibri"/>
              </a:rPr>
              <a:t>retail provider. </a:t>
            </a:r>
            <a:r>
              <a:rPr sz="900" spc="-10">
                <a:latin typeface="Calibri"/>
                <a:cs typeface="Calibri"/>
              </a:rPr>
              <a:t>To preserve confident</a:t>
            </a:r>
            <a:r>
              <a:rPr sz="900" spc="-5">
                <a:latin typeface="Calibri"/>
                <a:cs typeface="Calibri"/>
              </a:rPr>
              <a:t>iality, price data are averaged </a:t>
            </a:r>
            <a:r>
              <a:rPr sz="900" spc="-10">
                <a:latin typeface="Calibri"/>
                <a:cs typeface="Calibri"/>
              </a:rPr>
              <a:t>if possible</a:t>
            </a:r>
            <a:r>
              <a:rPr sz="900" spc="-5">
                <a:latin typeface="Calibri"/>
                <a:cs typeface="Calibri"/>
              </a:rPr>
              <a:t>. </a:t>
            </a:r>
            <a:r>
              <a:rPr sz="900" spc="-10">
                <a:latin typeface="Calibri"/>
                <a:cs typeface="Calibri"/>
              </a:rPr>
              <a:t>The </a:t>
            </a:r>
            <a:r>
              <a:rPr sz="900" spc="-5">
                <a:latin typeface="Calibri"/>
                <a:cs typeface="Calibri"/>
              </a:rPr>
              <a:t>b</a:t>
            </a:r>
            <a:r>
              <a:rPr sz="900" spc="-10">
                <a:latin typeface="Calibri"/>
                <a:cs typeface="Calibri"/>
              </a:rPr>
              <a:t>ulletin is a public resource made available to </a:t>
            </a:r>
            <a:r>
              <a:rPr sz="900">
                <a:latin typeface="Calibri"/>
                <a:cs typeface="Calibri"/>
              </a:rPr>
              <a:t>state government de</a:t>
            </a:r>
            <a:r>
              <a:rPr sz="900" spc="-5">
                <a:latin typeface="Calibri"/>
                <a:cs typeface="Calibri"/>
              </a:rPr>
              <a:t>cision</a:t>
            </a:r>
            <a:r>
              <a:rPr sz="900">
                <a:latin typeface="Calibri"/>
                <a:cs typeface="Calibri"/>
              </a:rPr>
              <a:t>-makers and </a:t>
            </a:r>
            <a:r>
              <a:rPr sz="900" spc="-5">
                <a:latin typeface="Calibri"/>
                <a:cs typeface="Calibri"/>
              </a:rPr>
              <a:t>other interested individuals upon request and online at the </a:t>
            </a:r>
            <a:r>
              <a:rPr sz="900">
                <a:latin typeface="Calibri"/>
                <a:cs typeface="Calibri"/>
              </a:rPr>
              <a:t>d</a:t>
            </a:r>
            <a:r>
              <a:rPr sz="900" spc="-5">
                <a:latin typeface="Calibri"/>
                <a:cs typeface="Calibri"/>
              </a:rPr>
              <a:t>ivision’s </a:t>
            </a:r>
            <a:r>
              <a:rPr sz="900">
                <a:latin typeface="Calibri"/>
                <a:cs typeface="Calibri"/>
              </a:rPr>
              <a:t>w</a:t>
            </a:r>
            <a:r>
              <a:rPr sz="900" spc="-5">
                <a:latin typeface="Calibri"/>
                <a:cs typeface="Calibri"/>
              </a:rPr>
              <a:t>eb address. The </a:t>
            </a:r>
            <a:r>
              <a:rPr sz="900">
                <a:latin typeface="Calibri"/>
                <a:cs typeface="Calibri"/>
              </a:rPr>
              <a:t>d</a:t>
            </a:r>
            <a:r>
              <a:rPr sz="900" spc="-5">
                <a:latin typeface="Calibri"/>
                <a:cs typeface="Calibri"/>
              </a:rPr>
              <a:t>epartment thanks each of the following in helping to provide accurate, timely data on fuel supplies and prices: the U.S. Energy Information Administration; the National Association of State Energy Officials; and Missouri</a:t>
            </a:r>
            <a:r>
              <a:rPr sz="900">
                <a:latin typeface="Calibri"/>
                <a:cs typeface="Calibri"/>
              </a:rPr>
              <a:t>’</a:t>
            </a:r>
            <a:r>
              <a:rPr sz="900" spc="-5">
                <a:latin typeface="Calibri"/>
                <a:cs typeface="Calibri"/>
              </a:rPr>
              <a:t>s energy retailers. For more </a:t>
            </a:r>
            <a:r>
              <a:rPr sz="900">
                <a:latin typeface="Calibri"/>
                <a:cs typeface="Calibri"/>
              </a:rPr>
              <a:t>information, contact: MO Dept. of </a:t>
            </a:r>
            <a:r>
              <a:rPr sz="900" spc="-5">
                <a:latin typeface="Calibri"/>
                <a:cs typeface="Calibri"/>
              </a:rPr>
              <a:t>Natural Resources</a:t>
            </a:r>
            <a:r>
              <a:rPr sz="900" spc="5">
                <a:latin typeface="Calibri"/>
                <a:cs typeface="Calibri"/>
              </a:rPr>
              <a:t>, </a:t>
            </a:r>
            <a:r>
              <a:rPr sz="900" spc="-5">
                <a:latin typeface="Calibri"/>
                <a:cs typeface="Calibri"/>
              </a:rPr>
              <a:t>Division of Energy</a:t>
            </a:r>
            <a:r>
              <a:rPr sz="900">
                <a:latin typeface="Calibri"/>
                <a:cs typeface="Calibri"/>
              </a:rPr>
              <a:t>, P.O. Box 176, Jefferson City, MO 65102</a:t>
            </a:r>
            <a:r>
              <a:rPr sz="900" spc="-5">
                <a:latin typeface="Calibri"/>
                <a:cs typeface="Calibri"/>
              </a:rPr>
              <a:t>; Phone: 573</a:t>
            </a:r>
            <a:r>
              <a:rPr sz="900">
                <a:latin typeface="Calibri"/>
                <a:cs typeface="Calibri"/>
              </a:rPr>
              <a:t>-751-2254</a:t>
            </a:r>
            <a:r>
              <a:rPr sz="900" spc="-5">
                <a:latin typeface="Calibri"/>
                <a:cs typeface="Calibri"/>
              </a:rPr>
              <a:t>; Fax: 573</a:t>
            </a:r>
            <a:r>
              <a:rPr sz="900">
                <a:latin typeface="Calibri"/>
                <a:cs typeface="Calibri"/>
              </a:rPr>
              <a:t>-751-6860; Email: </a:t>
            </a:r>
            <a:r>
              <a:rPr sz="900" u="sng" spc="-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energy@dnr.mo.gov</a:t>
            </a:r>
            <a:r>
              <a:rPr sz="900" spc="-5">
                <a:latin typeface="Calibri"/>
                <a:cs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;</a:t>
            </a:r>
            <a:r>
              <a:rPr sz="900" spc="-5">
                <a:latin typeface="Calibri"/>
                <a:cs typeface="Calibri"/>
              </a:rPr>
              <a:t> Web Address: </a:t>
            </a:r>
            <a:r>
              <a:rPr sz="900" u="sng" spc="-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https://energy.mo.gov/energy</a:t>
            </a:r>
            <a:r>
              <a:rPr sz="900" u="sng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sz="900" u="sng" spc="-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bulletins</a:t>
            </a:r>
            <a:r>
              <a:rPr sz="900"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/>
          </a:p>
        </p:txBody>
      </p:sp>
      <p:sp>
        <p:nvSpPr>
          <p:cNvPr id="4" name="shape 4"/>
          <p:cNvSpPr txBox="1"/>
          <p:nvPr/>
        </p:nvSpPr>
        <p:spPr>
          <a:xfrm>
            <a:off x="901700" y="8572754"/>
            <a:ext cx="5909945" cy="5618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>
              <a:lnSpc>
                <a:spcPct val="101282"/>
              </a:lnSpc>
            </a:pPr>
            <a:r>
              <a:rPr sz="1250" baseline="49999">
                <a:latin typeface="Calibri"/>
                <a:cs typeface="Calibri"/>
              </a:rPr>
              <a:t>1</a:t>
            </a:r>
            <a:r>
              <a:rPr sz="1875" baseline="6666">
                <a:latin typeface="Calibri"/>
                <a:cs typeface="Calibri"/>
              </a:rPr>
              <a:t> </a:t>
            </a:r>
            <a:r>
              <a:rPr sz="1200" spc="5">
                <a:latin typeface="Calibri"/>
                <a:cs typeface="Calibri"/>
              </a:rPr>
              <a:t>Note that the sample of propane distributors surveyed by the Missouri Division of Energy </a:t>
            </a:r>
            <a:r>
              <a:rPr sz="1200">
                <a:latin typeface="Calibri"/>
                <a:cs typeface="Calibri"/>
              </a:rPr>
              <a:t>changed as a part of the di</a:t>
            </a:r>
            <a:r>
              <a:rPr sz="1200" spc="-5">
                <a:latin typeface="Calibri"/>
                <a:cs typeface="Calibri"/>
              </a:rPr>
              <a:t>vision’s participation in the U.S. Energy Information Administration</a:t>
            </a:r>
            <a:r>
              <a:rPr sz="1200" spc="-20">
                <a:latin typeface="Calibri"/>
                <a:cs typeface="Calibri"/>
              </a:rPr>
              <a:t>’s </a:t>
            </a:r>
            <a:r>
              <a:rPr sz="1200">
                <a:latin typeface="Calibri"/>
                <a:cs typeface="Calibri"/>
              </a:rPr>
              <a:t>State Heating Oil and Propane Program. Prices provided here use simple averages.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3835400" y="9418320"/>
            <a:ext cx="102871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>
                <a:latin typeface="Calibri"/>
                <a:cs typeface="Calibri"/>
              </a:rPr>
              <a:t>2</a:t>
            </a:r>
            <a:endParaRPr/>
          </a:p>
        </p:txBody>
      </p:sp>
      <p:graphicFrame>
        <p:nvGraphicFramePr>
          <p:cNvPr id="6" name="shape 6"/>
          <p:cNvGraphicFramePr>
            <a:graphicFrameLocks noGrp="1"/>
          </p:cNvGraphicFramePr>
          <p:nvPr/>
        </p:nvGraphicFramePr>
        <p:xfrm>
          <a:off x="1384916" y="923668"/>
          <a:ext cx="3707747" cy="47283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7215"/>
                <a:gridCol w="678180"/>
                <a:gridCol w="644525"/>
                <a:gridCol w="631190"/>
                <a:gridCol w="622300"/>
                <a:gridCol w="554990"/>
              </a:tblGrid>
              <a:tr h="157480">
                <a:tc gridSpan="6">
                  <a:txBody>
                    <a:bodyPr/>
                    <a:p>
                      <a:pPr marL="655955" marR="675005"/>
                      <a:r>
                        <a:rPr sz="950" b="1" i="1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Propane - Retail  Prices (cents per</a:t>
                      </a:r>
                      <a:r>
                        <a:rPr sz="950" b="1" i="1" spc="6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i="1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gallon)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1290">
                <a:tc gridSpan="2">
                  <a:txBody>
                    <a:bodyPr/>
                    <a:p>
                      <a:pPr marL="712470" marR="67310"/>
                      <a:r>
                        <a:rPr sz="950" b="1" u="sng" spc="-2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  <a:cs typeface="Arial"/>
                        </a:rPr>
                        <a:t>07-06-21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66040" marR="102870"/>
                      <a:r>
                        <a:rPr sz="950" b="1" u="sng" spc="-2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  <a:cs typeface="Arial"/>
                        </a:rPr>
                        <a:t>06-01-21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marL="114935" marR="74930" algn="r"/>
                      <a:r>
                        <a:rPr sz="950" b="1" u="sng" spc="5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  <a:cs typeface="Arial"/>
                        </a:rPr>
                        <a:t>change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marL="64135" marR="82550" algn="r"/>
                      <a:r>
                        <a:rPr sz="950" b="1" u="sng" spc="-2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  <a:cs typeface="Arial"/>
                        </a:rPr>
                        <a:t>07-06-20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marL="78740" marR="35560" algn="r"/>
                      <a:r>
                        <a:rPr sz="950" b="1" u="sng" spc="5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  <a:cs typeface="Arial"/>
                        </a:rPr>
                        <a:t>change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</a:tr>
              <a:tr h="146685">
                <a:tc>
                  <a:txBody>
                    <a:bodyPr/>
                    <a:p>
                      <a:pPr marL="18415" marR="79375" algn="r">
                        <a:lnSpc>
                          <a:spcPct val="97369"/>
                        </a:lnSpc>
                      </a:pPr>
                      <a:r>
                        <a:rPr sz="950" b="1" spc="-1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 i ssou r i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marL="306705" marR="66675" algn="r">
                        <a:lnSpc>
                          <a:spcPct val="97369"/>
                        </a:lnSpc>
                      </a:pPr>
                      <a:r>
                        <a:rPr sz="950" b="1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184.5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marL="236855" marR="102870">
                        <a:lnSpc>
                          <a:spcPct val="97369"/>
                        </a:lnSpc>
                      </a:pPr>
                      <a:r>
                        <a:rPr sz="950" b="1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178.4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marL="210185" marR="53340" algn="r">
                        <a:lnSpc>
                          <a:spcPct val="97369"/>
                        </a:lnSpc>
                      </a:pPr>
                      <a:r>
                        <a:rPr sz="950" b="1" spc="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up 3%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marL="234950" marR="82550" algn="r">
                        <a:lnSpc>
                          <a:spcPct val="97369"/>
                        </a:lnSpc>
                      </a:pPr>
                      <a:r>
                        <a:rPr sz="950" b="1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122.4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marL="107315" marR="16510" algn="r">
                        <a:lnSpc>
                          <a:spcPct val="97369"/>
                        </a:lnSpc>
                      </a:pPr>
                      <a:r>
                        <a:rPr sz="950" b="1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up  51%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Crude Oil Block</dc:title>
  <dc:subject/>
  <dc:creator>DNR</dc:creator>
  <cp:keywords/>
  <dc:description/>
  <cp:lastModifiedBy>DNR</cp:lastModifiedBy>
  <cp:revision>1</cp:revision>
  <cp:category>pdf2pptx</cp:category>
  <cp:contentStatus>Created with Avanquest.Pdf 0.91.2025103001.0</cp:contentStatus>
  <dcterms:created xsi:type="dcterms:W3CDTF">2021-07-07T18:27:08+0000</dcterms:created>
  <dcterms:modified xsi:type="dcterms:W3CDTF">2021-07-07T18:27:11+0000</dcterms:modified>
</cp:coreProperties>
</file>