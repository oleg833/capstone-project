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&#65279;<?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7560564" cy="10693908"/>
  <p:notesSz cx="7560564" cy="10693908"/>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&#65279;<?xml version="1.0"?><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&#65279;<?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&#65279;<?xml version='1.0' encoding='UTF-8' standalone='yes'?><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a:solidFill>
            <a:schemeClr val="tx1"/>
          </a:solidFill>
          <a:latin typeface="+mn-lt"/>
          <a:ea typeface="+mn-ea"/>
          <a:cs typeface="+mn-cs"/>
        </a:defRPr>
      </a:lvl9pPr>
    </p:bodyStyle>
    <p:otherStyle>
      <a:defPPr>
        <a:defRPr lang="en-US"/>
      </a:defPPr>
      <a:lvl1pPr marL="0" algn="l" defTabSz="914400" rtl="0" eaLnBrk="1" latinLnBrk="0" hangingPunct="1">
        <a:defRPr sz="1800">
          <a:solidFill>
            <a:schemeClr val="tx1"/>
          </a:solidFill>
          <a:latin typeface="+mn-lt"/>
          <a:ea typeface="+mn-ea"/>
          <a:cs typeface="+mn-cs"/>
        </a:defRPr>
      </a:lvl1pPr>
      <a:lvl2pPr marL="457200" algn="l" defTabSz="914400" rtl="0" eaLnBrk="1" latinLnBrk="0" hangingPunct="1">
        <a:defRPr sz="1800">
          <a:solidFill>
            <a:schemeClr val="tx1"/>
          </a:solidFill>
          <a:latin typeface="+mn-lt"/>
          <a:ea typeface="+mn-ea"/>
          <a:cs typeface="+mn-cs"/>
        </a:defRPr>
      </a:lvl2pPr>
      <a:lvl3pPr marL="914400" algn="l" defTabSz="914400" rtl="0" eaLnBrk="1" latinLnBrk="0" hangingPunct="1">
        <a:defRPr sz="1800">
          <a:solidFill>
            <a:schemeClr val="tx1"/>
          </a:solidFill>
          <a:latin typeface="+mn-lt"/>
          <a:ea typeface="+mn-ea"/>
          <a:cs typeface="+mn-cs"/>
        </a:defRPr>
      </a:lvl3pPr>
      <a:lvl4pPr marL="1371600" algn="l" defTabSz="914400" rtl="0" eaLnBrk="1" latinLnBrk="0" hangingPunct="1">
        <a:defRPr sz="1800">
          <a:solidFill>
            <a:schemeClr val="tx1"/>
          </a:solidFill>
          <a:latin typeface="+mn-lt"/>
          <a:ea typeface="+mn-ea"/>
          <a:cs typeface="+mn-cs"/>
        </a:defRPr>
      </a:lvl4pPr>
      <a:lvl5pPr marL="1828800" algn="l" defTabSz="914400" rtl="0" eaLnBrk="1" latinLnBrk="0" hangingPunct="1">
        <a:defRPr sz="1800">
          <a:solidFill>
            <a:schemeClr val="tx1"/>
          </a:solidFill>
          <a:latin typeface="+mn-lt"/>
          <a:ea typeface="+mn-ea"/>
          <a:cs typeface="+mn-cs"/>
        </a:defRPr>
      </a:lvl5pPr>
      <a:lvl6pPr marL="2286000" algn="l" defTabSz="914400" rtl="0" eaLnBrk="1" latinLnBrk="0" hangingPunct="1">
        <a:defRPr sz="1800">
          <a:solidFill>
            <a:schemeClr val="tx1"/>
          </a:solidFill>
          <a:latin typeface="+mn-lt"/>
          <a:ea typeface="+mn-ea"/>
          <a:cs typeface="+mn-cs"/>
        </a:defRPr>
      </a:lvl6pPr>
      <a:lvl7pPr marL="2743200" algn="l" defTabSz="914400" rtl="0" eaLnBrk="1" latinLnBrk="0" hangingPunct="1">
        <a:defRPr sz="1800">
          <a:solidFill>
            <a:schemeClr val="tx1"/>
          </a:solidFill>
          <a:latin typeface="+mn-lt"/>
          <a:ea typeface="+mn-ea"/>
          <a:cs typeface="+mn-cs"/>
        </a:defRPr>
      </a:lvl7pPr>
      <a:lvl8pPr marL="3200400" algn="l" defTabSz="914400" rtl="0" eaLnBrk="1" latinLnBrk="0" hangingPunct="1">
        <a:defRPr sz="1800">
          <a:solidFill>
            <a:schemeClr val="tx1"/>
          </a:solidFill>
          <a:latin typeface="+mn-lt"/>
          <a:ea typeface="+mn-ea"/>
          <a:cs typeface="+mn-cs"/>
        </a:defRPr>
      </a:lvl8pPr>
      <a:lvl9pPr marL="3657600" algn="l" defTabSz="914400" rtl="0" eaLnBrk="1" latinLnBrk="0" hangingPunct="1">
        <a:defRPr sz="1800">
          <a:solidFill>
            <a:schemeClr val="tx1"/>
          </a:solidFill>
          <a:latin typeface="+mn-lt"/>
          <a:ea typeface="+mn-ea"/>
          <a:cs typeface="+mn-cs"/>
        </a:defRPr>
      </a:lvl9pPr>
    </p:otherStyle>
  </p:txStyles>
</p:sldMaster>
</file>

<file path=ppt/slides/_rels/slide1.xml.rels>&#65279;<?xml version="1.0"?><Relationships xmlns='http://schemas.openxmlformats.org/package/2006/relationships'><Relationship Id='rId6' Type='http://schemas.openxmlformats.org/officeDocument/2006/relationships/slide' Target='slide3.xml'/><Relationship Id='rId1' Type='http://schemas.openxmlformats.org/officeDocument/2006/relationships/slideLayout' Target='../slideLayouts/slideLayout1.xml'/><Relationship Id='rId2' Type='http://schemas.openxmlformats.org/officeDocument/2006/relationships/image' Target='../media/96fa0398d316f953.jpg'/><Relationship Id='rId3' Type='http://schemas.openxmlformats.org/officeDocument/2006/relationships/image' Target='../media/cb02cd190cc88a2e.jpg'/><Relationship Id='rId4' Type='http://schemas.openxmlformats.org/officeDocument/2006/relationships/slide' Target='slide1.xml'/><Relationship Id='rId5' Type='http://schemas.openxmlformats.org/officeDocument/2006/relationships/slide' Target='slide2.xml'/></Relationships>
</file>

<file path=ppt/slides/_rels/slide2.xml.rels>&#65279;<?xml version="1.0"?><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slide' Target='slide1.xml'/><Relationship Id='rId2' Type='http://schemas.openxmlformats.org/officeDocument/2006/relationships/image' Target='../media/d2483632cec46f69.png'/><Relationship Id='rId4' Type='http://schemas.openxmlformats.org/officeDocument/2006/relationships/image' Target='../media/8f2f7146d738f7cc.png'/></Relationships>
</file>

<file path=ppt/slides/_rels/slide3.xml.rels>&#65279;<?xml version="1.0"?><Relationships xmlns='http://schemas.openxmlformats.org/package/2006/relationships'><Relationship Id='rId3' Type='http://schemas.openxmlformats.org/officeDocument/2006/relationships/image' Target='../media/9d0f4e106a647078.png'/><Relationship Id='rId1' Type='http://schemas.openxmlformats.org/officeDocument/2006/relationships/slideLayout' Target='../slideLayouts/slideLayout1.xml'/><Relationship Id='rId2' Type='http://schemas.openxmlformats.org/officeDocument/2006/relationships/slide' Target='slide1.xml'/><Relationship Id='rId6' Type='http://schemas.openxmlformats.org/officeDocument/2006/relationships/image' Target='../media/d4825abf31364a65.png'/><Relationship Id='rId5' Type='http://schemas.openxmlformats.org/officeDocument/2006/relationships/image' Target='../media/753e870ba60101da.png'/><Relationship Id='rId4' Type='http://schemas.openxmlformats.org/officeDocument/2006/relationships/image' Target='../media/8f2f7146d738f7cc.png'/><Relationship Id='rId7' Type='http://schemas.openxmlformats.org/officeDocument/2006/relationships/hyperlink' Target='https://www2.deloitte.com/kz/en/pages/legal/articles/podcasts.html' TargetMode='External'/><Relationship Id='rId8' Type='http://schemas.openxmlformats.org/officeDocument/2006/relationships/image' Target='../media/abee8cfe2a66418b.png'/><Relationship Id='rId9' Type='http://schemas.openxmlformats.org/officeDocument/2006/relationships/hyperlink' Target='https://www.facebook.com/deloitte.caspian/' TargetMode='External'/><Relationship Id='rId10' Type='http://schemas.openxmlformats.org/officeDocument/2006/relationships/image' Target='../media/594e7944c1959bbe.png'/><Relationship Id='rId11' Type='http://schemas.openxmlformats.org/officeDocument/2006/relationships/hyperlink' Target='http://www.youtube.com/user/cisdeloitte' TargetMode='External'/><Relationship Id='rId12' Type='http://schemas.openxmlformats.org/officeDocument/2006/relationships/image' Target='../media/3f5d0b0e96b85937.png'/><Relationship Id='rId13' Type='http://schemas.openxmlformats.org/officeDocument/2006/relationships/hyperlink' Target='http://www.instagram.com/deloitte.caspian/' TargetMode='External'/><Relationship Id='rId14' Type='http://schemas.openxmlformats.org/officeDocument/2006/relationships/image' Target='../media/b1f3eae444f441c2.png'/></Relationships>
</file>

<file path=ppt/slides/_rels/slide4.xml.rels>&#65279;<?xml version="1.0"?><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2.deloitte.com/kz/en.html' TargetMode='External'/><Relationship Id='rId3' Type='http://schemas.openxmlformats.org/officeDocument/2006/relationships/hyperlink' Target='http://www.deloitte.com/about' TargetMode='External'/><Relationship Id='rId4' Type='http://schemas.openxmlformats.org/officeDocument/2006/relationships/hyperlink' Target='http://www.deloitte.com/' TargetMode='External'/></Relationships>
</file>

<file path=ppt/slides/_rels/slide5.xml.rels>&#65279;<?xml version="1.0"?><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slide' Target='slide6.xml'/><Relationship Id='rId3' Type='http://schemas.openxmlformats.org/officeDocument/2006/relationships/image' Target='../media/24c6e2a9d3cedbc1.jpg'/><Relationship Id='rId2' Type='http://schemas.openxmlformats.org/officeDocument/2006/relationships/image' Target='../media/8ba38d67d3a3a857.jpg'/><Relationship Id='rId5' Type='http://schemas.openxmlformats.org/officeDocument/2006/relationships/slide' Target='slide7.xml'/></Relationships>
</file>

<file path=ppt/slides/_rels/slide6.xml.rels>&#65279;<?xml version="1.0"?><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f49da593eda51f68.png'/><Relationship Id='rId3' Type='http://schemas.openxmlformats.org/officeDocument/2006/relationships/slide' Target='slide5.xml'/><Relationship Id='rId4' Type='http://schemas.openxmlformats.org/officeDocument/2006/relationships/image' Target='../media/2ae1ce7ed7cf0631.png'/></Relationships>
</file>

<file path=ppt/slides/_rels/slide7.xml.rels>&#65279;<?xml version="1.0"?><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7f440abe84d2fa1c.png'/><Relationship Id='rId2' Type='http://schemas.openxmlformats.org/officeDocument/2006/relationships/slide' Target='slide5.xml'/><Relationship Id='rId3' Type='http://schemas.openxmlformats.org/officeDocument/2006/relationships/image' Target='../media/ec430c274f209925.png'/><Relationship Id='rId4' Type='http://schemas.openxmlformats.org/officeDocument/2006/relationships/image' Target='../media/ed603bddfa20f60f.png'/><Relationship Id='rId6' Type='http://schemas.openxmlformats.org/officeDocument/2006/relationships/image' Target='../media/d1b07c5f522d1685.png'/></Relationships>
</file>

<file path=ppt/slides/_rels/slide8.xml.rels>&#65279;<?xml version="1.0"?><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abee8cfe2a66418b.png'/><Relationship Id='rId4' Type='http://schemas.openxmlformats.org/officeDocument/2006/relationships/hyperlink' Target='https://www.deloitte.com/about' TargetMode='External'/><Relationship Id='rId2' Type='http://schemas.openxmlformats.org/officeDocument/2006/relationships/hyperlink' Target='https://www2.deloitte.com/kz/ru/pages/legal/articles/podcasts.html' TargetMode='External'/><Relationship Id='rId7' Type='http://schemas.openxmlformats.org/officeDocument/2006/relationships/image' Target='../media/b98faf754e8ece30.png'/><Relationship Id='rId6' Type='http://schemas.openxmlformats.org/officeDocument/2006/relationships/image' Target='../media/14673cfa91dce2a5.png'/><Relationship Id='rId5' Type='http://schemas.openxmlformats.org/officeDocument/2006/relationships/hyperlink' Target='https://www.deloitte.com' TargetMode='External'/><Relationship Id='rId3' Type='http://schemas.openxmlformats.org/officeDocument/2006/relationships/hyperlink' Target='http://www2.deloitte.com/kz/en.html' TargetMode='External'/><Relationship Id='rId9' Type='http://schemas.openxmlformats.org/officeDocument/2006/relationships/hyperlink' Target='https://www.facebook.com/deloitte.caspian/' TargetMode='External'/><Relationship Id='rId10' Type='http://schemas.openxmlformats.org/officeDocument/2006/relationships/image' Target='../media/594e7944c1959bbe.png'/><Relationship Id='rId11' Type='http://schemas.openxmlformats.org/officeDocument/2006/relationships/hyperlink' Target='http://www.youtube.com/user/cisdeloitte' TargetMode='External'/><Relationship Id='rId12' Type='http://schemas.openxmlformats.org/officeDocument/2006/relationships/image' Target='../media/3f5d0b0e96b85937.png'/><Relationship Id='rId13' Type='http://schemas.openxmlformats.org/officeDocument/2006/relationships/hyperlink' Target='http://www.instagram.com/deloitte.caspian/' TargetMode='External'/></Relationships>
</file>

<file path=ppt/slides/slide1.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p:cNvGrpSpPr/>
          <p:nvPr/>
        </p:nvGrpSpPr>
        <p:grpSpPr>
          <a:xfrm>
            <a:off x="719633" y="196596"/>
            <a:ext cx="6082030" cy="9723120"/>
            <a:chOff x="0" y="0"/>
            <a:chExt cx="6082030" cy="9723120"/>
          </a:xfrm>
        </p:grpSpPr>
        <p:sp>
          <p:nvSpPr>
            <p:cNvPr id="3" name="shape 3"/>
            <p:cNvSpPr/>
            <p:nvPr/>
          </p:nvSpPr>
          <p:spPr>
            <a:xfrm>
              <a:off x="5941822" y="8884920"/>
              <a:ext cx="140208" cy="838200"/>
            </a:xfrm>
            <a:prstGeom prst="rect">
              <a:avLst/>
            </a:prstGeom>
            <a:solidFill>
              <a:srgbClr val="F3F3F3"/>
            </a:solidFill>
          </p:spPr>
        </p:sp>
        <p:sp>
          <p:nvSpPr>
            <p:cNvPr id="4" name="shape 4"/>
            <p:cNvSpPr/>
            <p:nvPr/>
          </p:nvSpPr>
          <p:spPr>
            <a:xfrm>
              <a:off x="0" y="8846820"/>
              <a:ext cx="36576" cy="876300"/>
            </a:xfrm>
            <a:prstGeom prst="rect">
              <a:avLst/>
            </a:prstGeom>
            <a:solidFill>
              <a:srgbClr val="F3F3F3"/>
            </a:solidFill>
          </p:spPr>
        </p:sp>
        <p:sp>
          <p:nvSpPr>
            <p:cNvPr id="5" name="shape 5"/>
            <p:cNvSpPr/>
            <p:nvPr/>
          </p:nvSpPr>
          <p:spPr>
            <a:xfrm>
              <a:off x="0" y="160020"/>
              <a:ext cx="6082030" cy="8686800"/>
            </a:xfrm>
            <a:prstGeom prst="rect">
              <a:avLst/>
            </a:prstGeom>
            <a:solidFill>
              <a:srgbClr val="F3F3F3"/>
            </a:solidFill>
          </p:spPr>
        </p:sp>
        <p:sp>
          <p:nvSpPr>
            <p:cNvPr id="6" name="shape 6"/>
            <p:cNvSpPr/>
            <p:nvPr/>
          </p:nvSpPr>
          <p:spPr>
            <a:xfrm>
              <a:off x="6045454" y="0"/>
              <a:ext cx="36576" cy="160020"/>
            </a:xfrm>
            <a:prstGeom prst="rect">
              <a:avLst/>
            </a:prstGeom>
            <a:solidFill>
              <a:srgbClr val="F3F3F3"/>
            </a:solidFill>
          </p:spPr>
        </p:sp>
        <p:sp>
          <p:nvSpPr>
            <p:cNvPr id="7" name="shape 7"/>
            <p:cNvSpPr/>
            <p:nvPr/>
          </p:nvSpPr>
          <p:spPr>
            <a:xfrm>
              <a:off x="0" y="0"/>
              <a:ext cx="36576" cy="160020"/>
            </a:xfrm>
            <a:prstGeom prst="rect">
              <a:avLst/>
            </a:prstGeom>
            <a:solidFill>
              <a:srgbClr val="F3F3F3"/>
            </a:solidFill>
          </p:spPr>
        </p:sp>
        <p:sp>
          <p:nvSpPr>
            <p:cNvPr id="8" name="shape 8"/>
            <p:cNvSpPr/>
            <p:nvPr/>
          </p:nvSpPr>
          <p:spPr>
            <a:xfrm>
              <a:off x="36576" y="0"/>
              <a:ext cx="6008878" cy="160020"/>
            </a:xfrm>
            <a:prstGeom prst="rect">
              <a:avLst/>
            </a:prstGeom>
            <a:solidFill>
              <a:srgbClr val="F3F3F3"/>
            </a:solidFill>
          </p:spPr>
        </p:sp>
        <p:sp>
          <p:nvSpPr>
            <p:cNvPr id="9" name="shape 9"/>
            <p:cNvSpPr/>
            <p:nvPr/>
          </p:nvSpPr>
          <p:spPr>
            <a:xfrm>
              <a:off x="5941822" y="173686"/>
              <a:ext cx="103633" cy="51"/>
            </a:xfrm>
            <a:prstGeom prst="rect">
              <a:avLst/>
            </a:prstGeom>
            <a:solidFill>
              <a:srgbClr val="F3F3F3"/>
            </a:solidFill>
          </p:spPr>
        </p:sp>
        <p:sp>
          <p:nvSpPr>
            <p:cNvPr id="10" name="shape 10"/>
            <p:cNvSpPr/>
            <p:nvPr/>
          </p:nvSpPr>
          <p:spPr>
            <a:xfrm>
              <a:off x="36576" y="160020"/>
              <a:ext cx="6008878" cy="13666"/>
            </a:xfrm>
            <a:prstGeom prst="rect">
              <a:avLst/>
            </a:prstGeom>
            <a:solidFill>
              <a:srgbClr val="F3F3F3"/>
            </a:solidFill>
          </p:spPr>
        </p:sp>
        <p:sp>
          <p:nvSpPr>
            <p:cNvPr id="11" name="shape 11"/>
            <p:cNvSpPr/>
            <p:nvPr/>
          </p:nvSpPr>
          <p:spPr>
            <a:xfrm>
              <a:off x="36576" y="173686"/>
              <a:ext cx="108204" cy="724204"/>
            </a:xfrm>
            <a:prstGeom prst="rect">
              <a:avLst/>
            </a:prstGeom>
            <a:solidFill>
              <a:srgbClr val="F3F3F3"/>
            </a:solidFill>
          </p:spPr>
        </p:sp>
        <p:sp>
          <p:nvSpPr>
            <p:cNvPr id="12" name="shape 12"/>
            <p:cNvSpPr/>
            <p:nvPr/>
          </p:nvSpPr>
          <p:spPr>
            <a:xfrm>
              <a:off x="144780" y="173686"/>
              <a:ext cx="5797042" cy="724204"/>
            </a:xfrm>
            <a:prstGeom prst="rect">
              <a:avLst/>
            </a:prstGeom>
            <a:solidFill>
              <a:srgbClr val="F3F3F3"/>
            </a:solidFill>
          </p:spPr>
        </p:sp>
        <p:sp>
          <p:nvSpPr>
            <p:cNvPr id="13" name="shape 13"/>
            <p:cNvSpPr/>
            <p:nvPr/>
          </p:nvSpPr>
          <p:spPr>
            <a:xfrm>
              <a:off x="36576" y="897889"/>
              <a:ext cx="108204" cy="565405"/>
            </a:xfrm>
            <a:prstGeom prst="rect">
              <a:avLst/>
            </a:prstGeom>
            <a:solidFill>
              <a:srgbClr val="F3F3F3"/>
            </a:solidFill>
          </p:spPr>
        </p:sp>
        <p:sp>
          <p:nvSpPr>
            <p:cNvPr id="14" name="shape 14"/>
            <p:cNvSpPr/>
            <p:nvPr/>
          </p:nvSpPr>
          <p:spPr>
            <a:xfrm>
              <a:off x="144780" y="897889"/>
              <a:ext cx="5797042" cy="565405"/>
            </a:xfrm>
            <a:prstGeom prst="rect">
              <a:avLst/>
            </a:prstGeom>
            <a:solidFill>
              <a:srgbClr val="F3F3F3"/>
            </a:solidFill>
          </p:spPr>
        </p:sp>
        <p:sp>
          <p:nvSpPr>
            <p:cNvPr id="15" name="shape 15"/>
            <p:cNvSpPr/>
            <p:nvPr/>
          </p:nvSpPr>
          <p:spPr>
            <a:xfrm>
              <a:off x="36576" y="1463421"/>
              <a:ext cx="108204" cy="2388312"/>
            </a:xfrm>
            <a:prstGeom prst="rect">
              <a:avLst/>
            </a:prstGeom>
            <a:solidFill>
              <a:srgbClr val="F3F3F3"/>
            </a:solidFill>
          </p:spPr>
        </p:sp>
        <p:sp>
          <p:nvSpPr>
            <p:cNvPr id="16" name="shape 16"/>
            <p:cNvSpPr/>
            <p:nvPr/>
          </p:nvSpPr>
          <p:spPr>
            <a:xfrm>
              <a:off x="144780" y="1463421"/>
              <a:ext cx="5797042" cy="2388362"/>
            </a:xfrm>
            <a:prstGeom prst="rect">
              <a:avLst/>
            </a:prstGeom>
            <a:solidFill>
              <a:srgbClr val="000000"/>
            </a:solidFill>
          </p:spPr>
        </p:sp>
        <p:sp>
          <p:nvSpPr>
            <p:cNvPr id="17" name="shape 17"/>
            <p:cNvSpPr/>
            <p:nvPr/>
          </p:nvSpPr>
          <p:spPr>
            <a:xfrm>
              <a:off x="144780" y="3850259"/>
              <a:ext cx="5797042" cy="1524"/>
            </a:xfrm>
            <a:prstGeom prst="rect">
              <a:avLst/>
            </a:prstGeom>
            <a:solidFill>
              <a:srgbClr val="FFFFFF"/>
            </a:solidFill>
          </p:spPr>
        </p:sp>
        <p:sp>
          <p:nvSpPr>
            <p:cNvPr id="18" name="shape 18"/>
            <p:cNvSpPr/>
            <p:nvPr/>
          </p:nvSpPr>
          <p:spPr>
            <a:xfrm>
              <a:off x="36576" y="3851732"/>
              <a:ext cx="108204" cy="1044245"/>
            </a:xfrm>
            <a:prstGeom prst="rect">
              <a:avLst/>
            </a:prstGeom>
            <a:solidFill>
              <a:srgbClr val="F3F3F3"/>
            </a:solidFill>
          </p:spPr>
        </p:sp>
        <p:sp>
          <p:nvSpPr>
            <p:cNvPr id="19" name="shape 19"/>
            <p:cNvSpPr/>
            <p:nvPr/>
          </p:nvSpPr>
          <p:spPr>
            <a:xfrm>
              <a:off x="144780" y="3870020"/>
              <a:ext cx="5797042" cy="51"/>
            </a:xfrm>
            <a:prstGeom prst="rect">
              <a:avLst/>
            </a:prstGeom>
            <a:solidFill>
              <a:srgbClr val="000000"/>
            </a:solidFill>
          </p:spPr>
        </p:sp>
        <p:sp>
          <p:nvSpPr>
            <p:cNvPr id="20" name="shape 20"/>
            <p:cNvSpPr/>
            <p:nvPr/>
          </p:nvSpPr>
          <p:spPr>
            <a:xfrm>
              <a:off x="144780" y="3870071"/>
              <a:ext cx="5797042" cy="512014"/>
            </a:xfrm>
            <a:prstGeom prst="rect">
              <a:avLst/>
            </a:prstGeom>
            <a:solidFill>
              <a:srgbClr val="000000"/>
            </a:solidFill>
          </p:spPr>
        </p:sp>
        <p:sp>
          <p:nvSpPr>
            <p:cNvPr id="21" name="shape 21"/>
            <p:cNvSpPr/>
            <p:nvPr/>
          </p:nvSpPr>
          <p:spPr>
            <a:xfrm>
              <a:off x="144780" y="4382085"/>
              <a:ext cx="5797042" cy="513893"/>
            </a:xfrm>
            <a:prstGeom prst="rect">
              <a:avLst/>
            </a:prstGeom>
            <a:solidFill>
              <a:srgbClr val="000000"/>
            </a:solidFill>
          </p:spPr>
        </p:sp>
        <p:sp>
          <p:nvSpPr>
            <p:cNvPr id="22" name="shape 22"/>
            <p:cNvSpPr/>
            <p:nvPr/>
          </p:nvSpPr>
          <p:spPr>
            <a:xfrm>
              <a:off x="144780" y="3851783"/>
              <a:ext cx="5797042" cy="18289"/>
            </a:xfrm>
            <a:prstGeom prst="rect">
              <a:avLst/>
            </a:prstGeom>
            <a:solidFill>
              <a:srgbClr val="F5F5F5"/>
            </a:solidFill>
          </p:spPr>
        </p:sp>
        <p:sp>
          <p:nvSpPr>
            <p:cNvPr id="23" name="shape 23"/>
            <p:cNvSpPr/>
            <p:nvPr/>
          </p:nvSpPr>
          <p:spPr>
            <a:xfrm>
              <a:off x="144780" y="3870071"/>
              <a:ext cx="5797042" cy="1524"/>
            </a:xfrm>
            <a:prstGeom prst="rect">
              <a:avLst/>
            </a:prstGeom>
            <a:solidFill>
              <a:srgbClr val="000000"/>
            </a:solidFill>
          </p:spPr>
        </p:sp>
        <p:sp>
          <p:nvSpPr>
            <p:cNvPr id="24" name="shape 24"/>
            <p:cNvSpPr/>
            <p:nvPr/>
          </p:nvSpPr>
          <p:spPr>
            <a:xfrm>
              <a:off x="36576" y="4895977"/>
              <a:ext cx="6008878" cy="190500"/>
            </a:xfrm>
            <a:prstGeom prst="rect">
              <a:avLst/>
            </a:prstGeom>
            <a:solidFill>
              <a:srgbClr val="F3F3F3"/>
            </a:solidFill>
          </p:spPr>
        </p:sp>
        <p:sp>
          <p:nvSpPr>
            <p:cNvPr id="25" name="shape 25"/>
            <p:cNvSpPr/>
            <p:nvPr/>
          </p:nvSpPr>
          <p:spPr>
            <a:xfrm>
              <a:off x="36576" y="5086477"/>
              <a:ext cx="108204" cy="3569843"/>
            </a:xfrm>
            <a:prstGeom prst="rect">
              <a:avLst/>
            </a:prstGeom>
            <a:solidFill>
              <a:srgbClr val="F3F3F3"/>
            </a:solidFill>
          </p:spPr>
        </p:sp>
        <p:sp>
          <p:nvSpPr>
            <p:cNvPr id="26" name="shape 26"/>
            <p:cNvSpPr/>
            <p:nvPr/>
          </p:nvSpPr>
          <p:spPr>
            <a:xfrm>
              <a:off x="144780" y="5196205"/>
              <a:ext cx="5797042" cy="3388487"/>
            </a:xfrm>
            <a:prstGeom prst="rect">
              <a:avLst/>
            </a:prstGeom>
            <a:solidFill>
              <a:srgbClr val="FFFFFF"/>
            </a:solidFill>
          </p:spPr>
        </p:sp>
        <p:sp>
          <p:nvSpPr>
            <p:cNvPr id="27" name="shape 27"/>
            <p:cNvSpPr/>
            <p:nvPr/>
          </p:nvSpPr>
          <p:spPr>
            <a:xfrm>
              <a:off x="181356" y="5196205"/>
              <a:ext cx="5723891" cy="454153"/>
            </a:xfrm>
            <a:prstGeom prst="rect">
              <a:avLst/>
            </a:prstGeom>
            <a:solidFill>
              <a:srgbClr val="FFFFFF"/>
            </a:solidFill>
          </p:spPr>
        </p:sp>
        <p:sp>
          <p:nvSpPr>
            <p:cNvPr id="28" name="shape 28"/>
            <p:cNvSpPr/>
            <p:nvPr/>
          </p:nvSpPr>
          <p:spPr>
            <a:xfrm>
              <a:off x="181356" y="5650357"/>
              <a:ext cx="5723891" cy="190500"/>
            </a:xfrm>
            <a:prstGeom prst="rect">
              <a:avLst/>
            </a:prstGeom>
            <a:solidFill>
              <a:srgbClr val="FFFFFF"/>
            </a:solidFill>
          </p:spPr>
        </p:sp>
        <p:sp>
          <p:nvSpPr>
            <p:cNvPr id="29" name="shape 29"/>
            <p:cNvSpPr/>
            <p:nvPr/>
          </p:nvSpPr>
          <p:spPr>
            <a:xfrm>
              <a:off x="181356" y="5840857"/>
              <a:ext cx="5723891" cy="190500"/>
            </a:xfrm>
            <a:prstGeom prst="rect">
              <a:avLst/>
            </a:prstGeom>
            <a:solidFill>
              <a:srgbClr val="FFFFFF"/>
            </a:solidFill>
          </p:spPr>
        </p:sp>
        <p:sp>
          <p:nvSpPr>
            <p:cNvPr id="30" name="shape 30"/>
            <p:cNvSpPr/>
            <p:nvPr/>
          </p:nvSpPr>
          <p:spPr>
            <a:xfrm>
              <a:off x="181356" y="6031357"/>
              <a:ext cx="5723891" cy="190500"/>
            </a:xfrm>
            <a:prstGeom prst="rect">
              <a:avLst/>
            </a:prstGeom>
            <a:solidFill>
              <a:srgbClr val="FFFFFF"/>
            </a:solidFill>
          </p:spPr>
        </p:sp>
        <p:sp>
          <p:nvSpPr>
            <p:cNvPr id="31" name="shape 31"/>
            <p:cNvSpPr/>
            <p:nvPr/>
          </p:nvSpPr>
          <p:spPr>
            <a:xfrm>
              <a:off x="181356" y="6221934"/>
              <a:ext cx="5723891" cy="343205"/>
            </a:xfrm>
            <a:prstGeom prst="rect">
              <a:avLst/>
            </a:prstGeom>
            <a:solidFill>
              <a:srgbClr val="FFFFFF"/>
            </a:solidFill>
          </p:spPr>
        </p:sp>
        <p:sp>
          <p:nvSpPr>
            <p:cNvPr id="32" name="shape 32"/>
            <p:cNvSpPr/>
            <p:nvPr/>
          </p:nvSpPr>
          <p:spPr>
            <a:xfrm>
              <a:off x="181356" y="6565138"/>
              <a:ext cx="5723891" cy="342900"/>
            </a:xfrm>
            <a:prstGeom prst="rect">
              <a:avLst/>
            </a:prstGeom>
            <a:solidFill>
              <a:srgbClr val="FFFFFF"/>
            </a:solidFill>
          </p:spPr>
        </p:sp>
        <p:sp>
          <p:nvSpPr>
            <p:cNvPr id="33" name="shape 33"/>
            <p:cNvSpPr/>
            <p:nvPr/>
          </p:nvSpPr>
          <p:spPr>
            <a:xfrm>
              <a:off x="181356" y="6908038"/>
              <a:ext cx="5723891" cy="266700"/>
            </a:xfrm>
            <a:prstGeom prst="rect">
              <a:avLst/>
            </a:prstGeom>
            <a:solidFill>
              <a:srgbClr val="FFFFFF"/>
            </a:solidFill>
          </p:spPr>
        </p:sp>
        <p:sp>
          <p:nvSpPr>
            <p:cNvPr id="34" name="shape 34"/>
            <p:cNvSpPr/>
            <p:nvPr/>
          </p:nvSpPr>
          <p:spPr>
            <a:xfrm>
              <a:off x="181356" y="7174738"/>
              <a:ext cx="5723891" cy="266700"/>
            </a:xfrm>
            <a:prstGeom prst="rect">
              <a:avLst/>
            </a:prstGeom>
            <a:solidFill>
              <a:srgbClr val="FFFFFF"/>
            </a:solidFill>
          </p:spPr>
        </p:sp>
        <p:sp>
          <p:nvSpPr>
            <p:cNvPr id="35" name="shape 35"/>
            <p:cNvSpPr/>
            <p:nvPr/>
          </p:nvSpPr>
          <p:spPr>
            <a:xfrm>
              <a:off x="181356" y="7441438"/>
              <a:ext cx="5723891" cy="266700"/>
            </a:xfrm>
            <a:prstGeom prst="rect">
              <a:avLst/>
            </a:prstGeom>
            <a:solidFill>
              <a:srgbClr val="FFFFFF"/>
            </a:solidFill>
          </p:spPr>
        </p:sp>
        <p:sp>
          <p:nvSpPr>
            <p:cNvPr id="36" name="shape 36"/>
            <p:cNvSpPr/>
            <p:nvPr/>
          </p:nvSpPr>
          <p:spPr>
            <a:xfrm>
              <a:off x="181356" y="7708138"/>
              <a:ext cx="5723891" cy="266700"/>
            </a:xfrm>
            <a:prstGeom prst="rect">
              <a:avLst/>
            </a:prstGeom>
            <a:solidFill>
              <a:srgbClr val="FFFFFF"/>
            </a:solidFill>
          </p:spPr>
        </p:sp>
        <p:sp>
          <p:nvSpPr>
            <p:cNvPr id="37" name="shape 37"/>
            <p:cNvSpPr/>
            <p:nvPr/>
          </p:nvSpPr>
          <p:spPr>
            <a:xfrm>
              <a:off x="181356" y="7974838"/>
              <a:ext cx="5723891" cy="266649"/>
            </a:xfrm>
            <a:prstGeom prst="rect">
              <a:avLst/>
            </a:prstGeom>
            <a:solidFill>
              <a:srgbClr val="FFFFFF"/>
            </a:solidFill>
          </p:spPr>
        </p:sp>
        <p:sp>
          <p:nvSpPr>
            <p:cNvPr id="38" name="shape 38"/>
            <p:cNvSpPr/>
            <p:nvPr/>
          </p:nvSpPr>
          <p:spPr>
            <a:xfrm>
              <a:off x="181356" y="8241487"/>
              <a:ext cx="5723891" cy="343205"/>
            </a:xfrm>
            <a:prstGeom prst="rect">
              <a:avLst/>
            </a:prstGeom>
            <a:solidFill>
              <a:srgbClr val="FFFFFF"/>
            </a:solidFill>
          </p:spPr>
        </p:sp>
        <p:sp>
          <p:nvSpPr>
            <p:cNvPr id="39" name="shape 39"/>
            <p:cNvSpPr/>
            <p:nvPr/>
          </p:nvSpPr>
          <p:spPr>
            <a:xfrm>
              <a:off x="144780" y="5124577"/>
              <a:ext cx="5797042" cy="71629"/>
            </a:xfrm>
            <a:prstGeom prst="rect">
              <a:avLst/>
            </a:prstGeom>
            <a:solidFill>
              <a:srgbClr val="FFFFFF"/>
            </a:solidFill>
          </p:spPr>
        </p:sp>
        <p:sp>
          <p:nvSpPr>
            <p:cNvPr id="40" name="shape 40"/>
            <p:cNvSpPr/>
            <p:nvPr/>
          </p:nvSpPr>
          <p:spPr>
            <a:xfrm>
              <a:off x="144780" y="8584692"/>
              <a:ext cx="5797042" cy="71629"/>
            </a:xfrm>
            <a:prstGeom prst="rect">
              <a:avLst/>
            </a:prstGeom>
            <a:solidFill>
              <a:srgbClr val="FFFFFF"/>
            </a:solidFill>
          </p:spPr>
        </p:sp>
        <p:sp>
          <p:nvSpPr>
            <p:cNvPr id="41" name="shape 41"/>
            <p:cNvSpPr/>
            <p:nvPr/>
          </p:nvSpPr>
          <p:spPr>
            <a:xfrm>
              <a:off x="36576" y="8656320"/>
              <a:ext cx="6008878" cy="190500"/>
            </a:xfrm>
            <a:prstGeom prst="rect">
              <a:avLst/>
            </a:prstGeom>
            <a:solidFill>
              <a:srgbClr val="F3F3F3"/>
            </a:solidFill>
          </p:spPr>
        </p:sp>
        <p:sp>
          <p:nvSpPr>
            <p:cNvPr id="42" name="shape 42"/>
            <p:cNvSpPr/>
            <p:nvPr/>
          </p:nvSpPr>
          <p:spPr>
            <a:xfrm>
              <a:off x="36576" y="8846820"/>
              <a:ext cx="108204" cy="876300"/>
            </a:xfrm>
            <a:prstGeom prst="rect">
              <a:avLst/>
            </a:prstGeom>
            <a:solidFill>
              <a:srgbClr val="F3F3F3"/>
            </a:solidFill>
          </p:spPr>
        </p:sp>
        <p:pic>
          <p:nvPicPr>
            <p:cNvPr id="43" name="shape 43"/>
            <p:cNvPicPr>
              <a:picLocks noChangeAspect="1"/>
            </p:cNvPicPr>
            <p:nvPr/>
          </p:nvPicPr>
          <p:blipFill>
            <a:blip r:embed="rId2" cstate="print"/>
            <a:stretch>
              <a:fillRect/>
            </a:stretch>
          </p:blipFill>
          <p:spPr>
            <a:xfrm>
              <a:off x="144602" y="174498"/>
              <a:ext cx="5793232" cy="718820"/>
            </a:xfrm>
            <a:prstGeom prst="rect"/>
          </p:spPr>
        </p:pic>
        <p:pic>
          <p:nvPicPr>
            <p:cNvPr id="44" name="shape 44"/>
            <p:cNvPicPr>
              <a:picLocks noChangeAspect="1"/>
            </p:cNvPicPr>
            <p:nvPr/>
          </p:nvPicPr>
          <p:blipFill>
            <a:blip r:embed="rId3" cstate="print"/>
            <a:stretch>
              <a:fillRect/>
            </a:stretch>
          </p:blipFill>
          <p:spPr>
            <a:xfrm>
              <a:off x="144602" y="1463675"/>
              <a:ext cx="5795519" cy="2386965"/>
            </a:xfrm>
            <a:prstGeom prst="rect"/>
          </p:spPr>
        </p:pic>
      </p:grpSp>
      <p:sp>
        <p:nvSpPr>
          <p:cNvPr id="45" name="shape 45"/>
          <p:cNvSpPr txBox="1"/>
          <p:nvPr/>
        </p:nvSpPr>
        <p:spPr>
          <a:xfrm>
            <a:off x="941070" y="1324101"/>
            <a:ext cx="5519420" cy="106681"/>
          </a:xfrm>
          <a:prstGeom prst="rect"/>
          <a:noFill/>
        </p:spPr>
        <p:txBody>
          <a:bodyPr vertOverflow="overflow" horzOverflow="overflow" numCol="1" wrap="square" lIns="0" tIns="0" rIns="0" bIns="0">
            <a:spAutoFit/>
          </a:bodyPr>
          <a:p>
            <a:pPr marL="31115"/>
            <a:r>
              <a:rPr sz="700">
                <a:solidFill>
                  <a:srgbClr val="919191"/>
                </a:solidFill>
                <a:latin typeface="Verdana"/>
                <a:cs typeface="Verdana"/>
              </a:rPr>
              <a:t>Kazakhstan</a:t>
            </a:r>
            <a:r>
              <a:rPr sz="700" spc="250">
                <a:solidFill>
                  <a:srgbClr val="919191"/>
                </a:solidFill>
                <a:latin typeface="Verdana"/>
                <a:cs typeface="Verdana"/>
              </a:rPr>
              <a:t> </a:t>
            </a:r>
            <a:r>
              <a:rPr sz="700">
                <a:solidFill>
                  <a:srgbClr val="919191"/>
                </a:solidFill>
                <a:latin typeface="Verdana"/>
                <a:cs typeface="Verdana"/>
              </a:rPr>
              <a:t>|</a:t>
            </a:r>
            <a:r>
              <a:rPr sz="700" spc="240">
                <a:solidFill>
                  <a:srgbClr val="919191"/>
                </a:solidFill>
                <a:latin typeface="Verdana"/>
                <a:cs typeface="Verdana"/>
              </a:rPr>
              <a:t> </a:t>
            </a:r>
            <a:r>
              <a:rPr sz="700">
                <a:solidFill>
                  <a:srgbClr val="919191"/>
                </a:solidFill>
                <a:latin typeface="Verdana"/>
                <a:cs typeface="Verdana"/>
              </a:rPr>
              <a:t>Tax and Legal Department</a:t>
            </a:r>
            <a:r>
              <a:rPr sz="700" spc="245">
                <a:solidFill>
                  <a:srgbClr val="919191"/>
                </a:solidFill>
                <a:latin typeface="Verdana"/>
                <a:cs typeface="Verdana"/>
              </a:rPr>
              <a:t> </a:t>
            </a:r>
            <a:r>
              <a:rPr sz="700">
                <a:solidFill>
                  <a:srgbClr val="919191"/>
                </a:solidFill>
                <a:latin typeface="Verdana"/>
                <a:cs typeface="Verdana"/>
              </a:rPr>
              <a:t>| 3 April 2020</a:t>
            </a:r>
            <a:endParaRPr/>
          </a:p>
        </p:txBody>
      </p:sp>
      <p:sp>
        <p:nvSpPr>
          <p:cNvPr id="46" name="shape 46"/>
          <p:cNvSpPr txBox="1"/>
          <p:nvPr/>
        </p:nvSpPr>
        <p:spPr>
          <a:xfrm>
            <a:off x="941070" y="4272496"/>
            <a:ext cx="5519420" cy="565709"/>
          </a:xfrm>
          <a:prstGeom prst="rect"/>
          <a:noFill/>
        </p:spPr>
        <p:txBody>
          <a:bodyPr vertOverflow="overflow" horzOverflow="overflow" numCol="1" wrap="square" lIns="0" tIns="0" rIns="0" bIns="0">
            <a:spAutoFit/>
          </a:bodyPr>
          <a:p>
            <a:pPr marL="12700" marR="616585" algn="just">
              <a:lnSpc>
                <a:spcPct val="116353"/>
              </a:lnSpc>
            </a:pPr>
            <a:r>
              <a:rPr sz="1600" b="1" spc="-15">
                <a:solidFill>
                  <a:srgbClr val="FFFFFF"/>
                </a:solidFill>
                <a:latin typeface="Verdana"/>
                <a:cs typeface="Verdana"/>
              </a:rPr>
              <a:t>On the conscription of military draftees for </a:t>
            </a:r>
            <a:r>
              <a:rPr sz="1600" b="1">
                <a:solidFill>
                  <a:srgbClr val="FFFFFF"/>
                </a:solidFill>
                <a:latin typeface="Verdana"/>
                <a:cs typeface="Verdana"/>
              </a:rPr>
              <a:t>special training</a:t>
            </a:r>
            <a:endParaRPr/>
          </a:p>
        </p:txBody>
      </p:sp>
      <p:sp>
        <p:nvSpPr>
          <p:cNvPr id="47" name="shape 47"/>
          <p:cNvSpPr txBox="1"/>
          <p:nvPr/>
        </p:nvSpPr>
        <p:spPr>
          <a:xfrm>
            <a:off x="941070" y="5469509"/>
            <a:ext cx="5519420" cy="3142794"/>
          </a:xfrm>
          <a:prstGeom prst="rect"/>
          <a:noFill/>
        </p:spPr>
        <p:txBody>
          <a:bodyPr vertOverflow="overflow" horzOverflow="overflow" numCol="1" wrap="square" lIns="0" tIns="0" rIns="0" bIns="0">
            <a:spAutoFit/>
          </a:bodyPr>
          <a:p>
            <a:pPr marL="67945"/>
            <a:r>
              <a:rPr sz="1700" b="1">
                <a:latin typeface="Verdana"/>
                <a:cs typeface="Verdana"/>
              </a:rPr>
              <a:t>Dear friends,</a:t>
            </a:r>
            <a:endParaRPr/>
          </a:p>
          <a:p>
            <a:pPr marL="67945" marR="12700">
              <a:lnSpc>
                <a:spcPct val="113460"/>
              </a:lnSpc>
              <a:spcBef>
                <a:spcPts val="1000"/>
              </a:spcBef>
            </a:pPr>
            <a:r>
              <a:rPr sz="1100" spc="-5">
                <a:latin typeface="Verdana"/>
                <a:cs typeface="Verdana"/>
              </a:rPr>
              <a:t>On </a:t>
            </a:r>
            <a:r>
              <a:rPr sz="1100">
                <a:latin typeface="Verdana"/>
                <a:cs typeface="Verdana"/>
              </a:rPr>
              <a:t>2 April 2020, the Kazakhstan President signed Decree No.296 </a:t>
            </a:r>
            <a:r>
              <a:rPr sz="1100" i="1">
                <a:latin typeface="Verdana"/>
                <a:cs typeface="Verdana"/>
              </a:rPr>
              <a:t>On the </a:t>
            </a:r>
            <a:r>
              <a:rPr sz="1100" i="1" spc="-5">
                <a:latin typeface="Verdana"/>
                <a:cs typeface="Verdana"/>
              </a:rPr>
              <a:t>Conscription of Military Draftees for Special Training </a:t>
            </a:r>
            <a:r>
              <a:rPr sz="1100" spc="-5">
                <a:latin typeface="Verdana"/>
                <a:cs typeface="Verdana"/>
              </a:rPr>
              <a:t>(the “Decree”), whereby </a:t>
            </a:r>
            <a:r>
              <a:rPr sz="1100">
                <a:latin typeface="Verdana"/>
                <a:cs typeface="Verdana"/>
              </a:rPr>
              <a:t>anyone liable for military service will be conscripted for special training to help bring the Kazakhstan Armed Forces up to strength.</a:t>
            </a:r>
            <a:endParaRPr/>
          </a:p>
          <a:p>
            <a:pPr marL="67945">
              <a:spcBef>
                <a:spcPts val="1300"/>
              </a:spcBef>
            </a:pPr>
            <a:r>
              <a:rPr sz="1100">
                <a:latin typeface="Verdana"/>
                <a:cs typeface="Verdana"/>
              </a:rPr>
              <a:t>We</a:t>
            </a:r>
            <a:r>
              <a:rPr sz="1100">
                <a:latin typeface="Verdana"/>
                <a:cs typeface="Verdana"/>
              </a:rPr>
              <a:t> have prepared a brief explanation of what this means:</a:t>
            </a:r>
            <a:endParaRPr/>
          </a:p>
          <a:p>
            <a:pPr/>
            <a:r>
              <a:rPr sz="1000">
                <a:latin typeface="Verdana"/>
                <a:cs typeface="Verdana"/>
              </a:rPr>
              <a:t/>
            </a:r>
            <a:endParaRPr sz="1000"/>
          </a:p>
          <a:p>
            <a:pPr marL="322580" indent="-225425">
              <a:spcBef>
                <a:spcPts val="1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Who can be conscripted</a:t>
            </a:r>
            <a:endParaRPr/>
          </a:p>
          <a:p>
            <a:pPr marL="322580" indent="-225425">
              <a:spcBef>
                <a:spcPts val="8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Who is exempt</a:t>
            </a:r>
            <a:endParaRPr/>
          </a:p>
          <a:p>
            <a:pPr marL="322580" indent="-225425">
              <a:spcBef>
                <a:spcPts val="8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Conscription procedure</a:t>
            </a:r>
            <a:endParaRPr/>
          </a:p>
          <a:p>
            <a:pPr marL="322580" indent="-225425">
              <a:spcBef>
                <a:spcPts val="8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Payment</a:t>
            </a:r>
            <a:endParaRPr/>
          </a:p>
          <a:p>
            <a:pPr marL="322580" indent="-225425">
              <a:spcBef>
                <a:spcPts val="800"/>
              </a:spcBef>
              <a:buSzPts val="1100"/>
              <a:buFont typeface="Symbol"/>
              <a:buChar char=""/>
            </a:pPr>
            <a:r>
              <a:rPr sz="1100">
                <a:solidFill>
                  <a:srgbClr val="62B5E5"/>
                </a:solidFill>
                <a:latin typeface="Verdana"/>
                <a:cs typeface="Verdana"/>
                <a:hlinkClick r:id="rId6" action="ppaction://hlinksldjump">
                  <a:extLst>
                    <a:ext uri="{A12FA001-AC4F-418D-AE19-62706E023703}">
                      <ahyp:hlinkClr xmlns:ahyp="http://schemas.microsoft.com/office/drawing/2018/hyperlinkcolor" val="tx"/>
                    </a:ext>
                  </a:extLst>
                </a:hlinkClick>
              </a:rPr>
              <a:t>Training period</a:t>
            </a:r>
            <a:endParaRPr/>
          </a:p>
          <a:p>
            <a:pPr marL="322580" indent="-225425">
              <a:spcBef>
                <a:spcPts val="700"/>
              </a:spcBef>
              <a:buSzPts val="1100"/>
              <a:buFont typeface="Symbol"/>
              <a:buChar char=""/>
            </a:pPr>
            <a:r>
              <a:rPr sz="1100">
                <a:solidFill>
                  <a:srgbClr val="62B5E5"/>
                </a:solidFill>
                <a:latin typeface="Verdana"/>
                <a:cs typeface="Verdana"/>
              </a:rPr>
              <a:t>Liability for non-appearance</a:t>
            </a:r>
            <a:endParaRPr/>
          </a:p>
        </p:txBody>
      </p:sp>
      <p:sp>
        <p:nvSpPr>
          <p:cNvPr id="48" name="shape 48"/>
          <p:cNvSpPr txBox="1"/>
          <p:nvPr/>
        </p:nvSpPr>
        <p:spPr>
          <a:xfrm>
            <a:off x="941070" y="9228327"/>
            <a:ext cx="5519420" cy="513081"/>
          </a:xfrm>
          <a:prstGeom prst="rect"/>
          <a:noFill/>
        </p:spPr>
        <p:txBody>
          <a:bodyPr vertOverflow="overflow" horzOverflow="overflow" numCol="1" wrap="square" lIns="0" tIns="0" rIns="0" bIns="0">
            <a:spAutoFit/>
          </a:bodyPr>
          <a:p>
            <a:pPr marL="67945"/>
            <a:r>
              <a:rPr sz="1100" b="1">
                <a:solidFill>
                  <a:srgbClr val="43B02A"/>
                </a:solidFill>
                <a:latin typeface="Verdana"/>
                <a:cs typeface="Verdana"/>
              </a:rPr>
              <a:t>Wh</a:t>
            </a:r>
            <a:r>
              <a:rPr sz="1100" b="1">
                <a:solidFill>
                  <a:srgbClr val="43B02A"/>
                </a:solidFill>
                <a:latin typeface="Verdana"/>
                <a:cs typeface="Verdana"/>
              </a:rPr>
              <a:t>o can be conscripted:</a:t>
            </a:r>
            <a:endParaRPr/>
          </a:p>
          <a:p>
            <a:pPr/>
            <a:r>
              <a:rPr sz="1000">
                <a:latin typeface="Verdana"/>
                <a:cs typeface="Verdana"/>
              </a:rPr>
              <a:t/>
            </a:r>
            <a:endParaRPr sz="1000"/>
          </a:p>
          <a:p>
            <a:pPr marL="417195" indent="-349250">
              <a:spcBef>
                <a:spcPts val="200"/>
              </a:spcBef>
              <a:tabLst>
                <a:tab pos="417195" algn="l"/>
              </a:tabLst>
            </a:pPr>
            <a:r>
              <a:rPr sz="1100">
                <a:latin typeface="Verdana"/>
                <a:cs typeface="Verdana"/>
              </a:rPr>
              <a:t>•</a:t>
            </a:r>
            <a:r>
              <a:rPr sz="1100">
                <a:latin typeface="Verdana"/>
                <a:cs typeface="Verdana"/>
              </a:rPr>
              <a:t>	</a:t>
            </a:r>
            <a:r>
              <a:rPr sz="1100">
                <a:latin typeface="Verdana"/>
                <a:cs typeface="Verdana"/>
              </a:rPr>
              <a:t>those registered with the military;</a:t>
            </a:r>
            <a:endParaRPr/>
          </a:p>
        </p:txBody>
      </p:sp>
      <p:sp>
        <p:nvSpPr>
          <p:cNvPr id="49" name="shape 49">
            <a:hlinkClick r:id="rId6" action="ppaction://hlinksldjump"/>
          </p:cNvPr>
          <p:cNvSpPr/>
          <p:nvPr/>
        </p:nvSpPr>
        <p:spPr>
          <a:xfrm>
            <a:off x="1238250" y="8436737"/>
            <a:ext cx="2026793" cy="342900"/>
          </a:xfrm>
          <a:prstGeom prst="rect">
            <a:avLst/>
          </a:prstGeom>
          <a:solidFill>
            <a:srgbClr val="000000">
              <a:alpha val="0"/>
            </a:srgbClr>
          </a:solid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pic>
        <p:nvPicPr>
          <p:cNvPr id="2" name="shape 2">
            <a:hlinkClick r:id="rId3" action="ppaction://hlinksldjump"/>
          </p:cNvPr>
          <p:cNvPicPr>
            <a:picLocks noChangeAspect="1"/>
          </p:cNvPicPr>
          <p:nvPr/>
        </p:nvPicPr>
        <p:blipFill>
          <a:blip r:embed="rId2" cstate="print"/>
          <a:stretch>
            <a:fillRect/>
          </a:stretch>
        </p:blipFill>
        <p:spPr>
          <a:xfrm>
            <a:off x="1008380" y="2233168"/>
            <a:ext cx="1449579" cy="298450"/>
          </a:xfrm>
          <a:prstGeom prst="rect"/>
        </p:spPr>
      </p:pic>
      <p:pic>
        <p:nvPicPr>
          <p:cNvPr id="3" name="shape 3">
            <a:hlinkClick r:id="rId3" action="ppaction://hlinksldjump"/>
          </p:cNvPr>
          <p:cNvPicPr>
            <a:picLocks noChangeAspect="1"/>
          </p:cNvPicPr>
          <p:nvPr/>
        </p:nvPicPr>
        <p:blipFill>
          <a:blip r:embed="rId4" cstate="print"/>
          <a:stretch>
            <a:fillRect/>
          </a:stretch>
        </p:blipFill>
        <p:spPr>
          <a:xfrm>
            <a:off x="1008380" y="6559042"/>
            <a:ext cx="1449579" cy="298450"/>
          </a:xfrm>
          <a:prstGeom prst="rect"/>
        </p:spPr>
      </p:pic>
      <p:pic>
        <p:nvPicPr>
          <p:cNvPr id="4" name="shape 4">
            <a:hlinkClick r:id="rId3" action="ppaction://hlinksldjump"/>
          </p:cNvPr>
          <p:cNvPicPr>
            <a:picLocks noChangeAspect="1"/>
          </p:cNvPicPr>
          <p:nvPr/>
        </p:nvPicPr>
        <p:blipFill>
          <a:blip r:embed="rId4" cstate="print"/>
          <a:stretch>
            <a:fillRect/>
          </a:stretch>
        </p:blipFill>
        <p:spPr>
          <a:xfrm>
            <a:off x="1008380" y="9018015"/>
            <a:ext cx="1449579" cy="298450"/>
          </a:xfrm>
          <a:prstGeom prst="rect"/>
        </p:spPr>
      </p:pic>
      <p:graphicFrame>
        <p:nvGraphicFramePr>
          <p:cNvPr id="5" name="shape 5"/>
          <p:cNvGraphicFramePr>
            <a:graphicFrameLocks noGrp="1"/>
          </p:cNvGraphicFramePr>
          <p:nvPr/>
        </p:nvGraphicFramePr>
        <p:xfrm>
          <a:off x="719633" y="198882"/>
          <a:ext cx="6082030" cy="9722358"/>
        </p:xfrm>
        <a:graphic>
          <a:graphicData uri="http://schemas.openxmlformats.org/drawingml/2006/table">
            <a:tbl>
              <a:tblPr>
                <a:tableStyleId>{2D5ABB26-0587-4C30-8999-92F81FD0307C}</a:tableStyleId>
              </a:tblPr>
              <a:tblGrid>
                <a:gridCol w="144780"/>
                <a:gridCol w="5796915"/>
                <a:gridCol w="140335"/>
              </a:tblGrid>
              <a:tr h="9722485">
                <a:tc>
                  <a:txBody>
                    <a:bodyPr/>
                    <a:p>
                      <a:pPr>
                        <a:lnSpc>
                          <a:spcPct val="100000"/>
                        </a:lnSpc>
                      </a:pPr>
                      <a:endParaRPr sz="1000"/>
                    </a:p>
                  </a:txBody>
                  <a:tcPr marL="0" marR="0" marT="0" marB="0">
                    <a:lnL/>
                    <a:lnR/>
                    <a:lnT/>
                    <a:lnB/>
                    <a:solidFill>
                      <a:srgbClr val="F3F3F3"/>
                    </a:solidFill>
                  </a:tcPr>
                </a:tc>
                <a:tc>
                  <a:txBody>
                    <a:bodyPr/>
                    <a:p>
                      <a:pPr marL="494030" marR="193675" indent="-349250" algn="just">
                        <a:lnSpc>
                          <a:spcPct val="117685"/>
                        </a:lnSpc>
                        <a:spcBef>
                          <a:spcPts val="700"/>
                        </a:spcBef>
                        <a:buSzPts val="1100"/>
                        <a:buFont typeface="Verdana"/>
                        <a:buChar char="•"/>
                      </a:pPr>
                      <a:r>
                        <a:rPr sz="1100" spc="-10">
                          <a:latin typeface="Verdana"/>
                          <a:cs typeface="Verdana"/>
                        </a:rPr>
                        <a:t>persons registered as reservists up to the age of 50 (soldiers/sergeants) </a:t>
                      </a:r>
                      <a:r>
                        <a:rPr sz="1100">
                          <a:latin typeface="Verdana"/>
                          <a:cs typeface="Verdana"/>
                        </a:rPr>
                        <a:t>and 60 (officers), including those who have:</a:t>
                      </a:r>
                      <a:endParaRPr/>
                    </a:p>
                    <a:p>
                      <a:pPr marL="494030" marR="984250" indent="-349250" algn="just">
                        <a:lnSpc>
                          <a:spcPct val="116170"/>
                        </a:lnSpc>
                        <a:spcBef>
                          <a:spcPts val="600"/>
                        </a:spcBef>
                        <a:buSzPts val="1100"/>
                        <a:buFont typeface="Verdana"/>
                        <a:buChar char="•"/>
                      </a:pPr>
                      <a:r>
                        <a:rPr sz="1100" spc="-10">
                          <a:latin typeface="Verdana"/>
                          <a:cs typeface="Verdana"/>
                        </a:rPr>
                        <a:t>not completed military service because of </a:t>
                      </a:r>
                      <a:r>
                        <a:rPr sz="1100" spc="-15">
                          <a:latin typeface="Verdana"/>
                          <a:cs typeface="Verdana"/>
                        </a:rPr>
                        <a:t>an </a:t>
                      </a:r>
                      <a:r>
                        <a:rPr sz="1100" spc="-10">
                          <a:latin typeface="Verdana"/>
                          <a:cs typeface="Verdana"/>
                        </a:rPr>
                        <a:t>exemption from </a:t>
                      </a:r>
                      <a:r>
                        <a:rPr sz="1100">
                          <a:latin typeface="Verdana"/>
                          <a:cs typeface="Verdana"/>
                        </a:rPr>
                        <a:t>conscription;</a:t>
                      </a:r>
                      <a:endParaRPr/>
                    </a:p>
                    <a:p>
                      <a:pPr marL="494030" marR="255270" indent="-349250" algn="just">
                        <a:lnSpc>
                          <a:spcPct val="115868"/>
                        </a:lnSpc>
                        <a:spcBef>
                          <a:spcPts val="600"/>
                        </a:spcBef>
                        <a:buSzPts val="1100"/>
                        <a:buFont typeface="Verdana"/>
                        <a:buChar char="•"/>
                      </a:pPr>
                      <a:r>
                        <a:rPr sz="1100" spc="-10">
                          <a:latin typeface="Verdana"/>
                          <a:cs typeface="Verdana"/>
                        </a:rPr>
                        <a:t>not completed military service because of </a:t>
                      </a:r>
                      <a:r>
                        <a:rPr sz="1100" spc="-15">
                          <a:latin typeface="Verdana"/>
                          <a:cs typeface="Verdana"/>
                        </a:rPr>
                        <a:t>a </a:t>
                      </a:r>
                      <a:r>
                        <a:rPr sz="1100" spc="-10">
                          <a:latin typeface="Verdana"/>
                          <a:cs typeface="Verdana"/>
                        </a:rPr>
                        <a:t>conscription deferral due to </a:t>
                      </a:r>
                      <a:r>
                        <a:rPr sz="1100">
                          <a:latin typeface="Verdana"/>
                          <a:cs typeface="Verdana"/>
                        </a:rPr>
                        <a:t>having reached the age of 27;</a:t>
                      </a:r>
                      <a:endParaRPr/>
                    </a:p>
                    <a:p>
                      <a:pPr marL="494030" marR="747395" indent="-349250" algn="just">
                        <a:lnSpc>
                          <a:spcPct val="115869"/>
                        </a:lnSpc>
                        <a:spcBef>
                          <a:spcPts val="600"/>
                        </a:spcBef>
                        <a:buSzPts val="1100"/>
                        <a:buFont typeface="Verdana"/>
                        <a:buChar char="•"/>
                      </a:pPr>
                      <a:r>
                        <a:rPr sz="1100" spc="-10">
                          <a:latin typeface="Verdana"/>
                          <a:cs typeface="Verdana"/>
                        </a:rPr>
                        <a:t>undergone reserve officers’ training in college/university military </a:t>
                      </a:r>
                      <a:r>
                        <a:rPr sz="1100">
                          <a:latin typeface="Verdana"/>
                          <a:cs typeface="Verdana"/>
                        </a:rPr>
                        <a:t>departments.</a:t>
                      </a:r>
                      <a:endParaRPr/>
                    </a:p>
                    <a:p>
                      <a:pPr marL="494030" indent="-349250">
                        <a:buSzPts val="1100"/>
                        <a:buFont typeface="Verdana"/>
                        <a:buChar char="•"/>
                      </a:pPr>
                      <a:r>
                        <a:rPr sz="1000">
                          <a:latin typeface="Verdana"/>
                          <a:cs typeface="Verdana"/>
                        </a:rPr>
                        <a:t/>
                      </a:r>
                      <a:endParaRPr sz="1000"/>
                    </a:p>
                    <a:p>
                      <a:pPr marL="494030" indent="-349250">
                        <a:buSzPts val="1100"/>
                        <a:buFont typeface="Verdana"/>
                        <a:buChar char="•"/>
                      </a:pPr>
                      <a:r>
                        <a:rPr sz="1000">
                          <a:latin typeface="Verdana"/>
                          <a:cs typeface="Verdana"/>
                        </a:rPr>
                        <a:t/>
                      </a:r>
                      <a:endParaRPr sz="1000"/>
                    </a:p>
                    <a:p>
                      <a:pPr marL="494030" indent="-349250">
                        <a:buSzPts val="1100"/>
                        <a:buFont typeface="Verdana"/>
                        <a:buChar char="•"/>
                      </a:pPr>
                      <a:r>
                        <a:rPr sz="1000">
                          <a:latin typeface="Verdana"/>
                          <a:cs typeface="Verdana"/>
                        </a:rPr>
                        <a:t/>
                      </a:r>
                      <a:endParaRPr sz="1000"/>
                    </a:p>
                    <a:p>
                      <a:pPr marL="494030" indent="-349250">
                        <a:buSzPts val="1100"/>
                        <a:buFont typeface="Verdana"/>
                        <a:buChar char="•"/>
                      </a:pPr>
                      <a:r>
                        <a:rPr sz="1000">
                          <a:latin typeface="Verdana"/>
                          <a:cs typeface="Verdana"/>
                        </a:rPr>
                        <a:t/>
                      </a:r>
                      <a:endParaRPr sz="1000"/>
                    </a:p>
                    <a:p>
                      <a:pPr marL="144780" marR="4426585" algn="just">
                        <a:spcBef>
                          <a:spcPts val="200"/>
                        </a:spcBef>
                      </a:pPr>
                      <a:r>
                        <a:rPr sz="1100" b="1">
                          <a:solidFill>
                            <a:srgbClr val="43B02A"/>
                          </a:solidFill>
                          <a:latin typeface="Verdana"/>
                          <a:cs typeface="Verdana"/>
                        </a:rPr>
                        <a:t>Who is exempt:</a:t>
                      </a:r>
                      <a:endParaRPr/>
                    </a:p>
                    <a:p>
                      <a:pPr/>
                      <a:r>
                        <a:rPr sz="1000">
                          <a:latin typeface="Verdana"/>
                          <a:cs typeface="Verdana"/>
                        </a:rPr>
                        <a:t/>
                      </a:r>
                      <a:endParaRPr sz="1000"/>
                    </a:p>
                    <a:p>
                      <a:pPr marL="144780" marR="3521075" algn="just">
                        <a:spcBef>
                          <a:spcPts val="200"/>
                        </a:spcBef>
                      </a:pPr>
                      <a:r>
                        <a:rPr sz="1100" spc="-5">
                          <a:latin typeface="Verdana"/>
                          <a:cs typeface="Verdana"/>
                        </a:rPr>
                        <a:t>The</a:t>
                      </a:r>
                      <a:r>
                        <a:rPr sz="1100" spc="-5">
                          <a:latin typeface="Verdana"/>
                          <a:cs typeface="Verdana"/>
                        </a:rPr>
                        <a:t> Decree does not apply to:</a:t>
                      </a:r>
                      <a:endParaRPr/>
                    </a:p>
                    <a:p>
                      <a:pPr marL="494030" marR="339090" indent="-349250" algn="just">
                        <a:lnSpc>
                          <a:spcPct val="115868"/>
                        </a:lnSpc>
                        <a:spcBef>
                          <a:spcPts val="1400"/>
                        </a:spcBef>
                        <a:buSzPts val="1100"/>
                        <a:buFont typeface="Verdana"/>
                        <a:buChar char="•"/>
                      </a:pPr>
                      <a:r>
                        <a:rPr sz="1100" spc="-10">
                          <a:latin typeface="Verdana"/>
                          <a:cs typeface="Verdana"/>
                        </a:rPr>
                        <a:t>persons exempt from military service by law - anyone considered by </a:t>
                      </a:r>
                      <a:r>
                        <a:rPr sz="1100" spc="-15">
                          <a:latin typeface="Verdana"/>
                          <a:cs typeface="Verdana"/>
                        </a:rPr>
                        <a:t>a </a:t>
                      </a:r>
                      <a:r>
                        <a:rPr sz="1100">
                          <a:latin typeface="Verdana"/>
                          <a:cs typeface="Verdana"/>
                        </a:rPr>
                        <a:t>medical (military medical) commission as unfit for military service;</a:t>
                      </a:r>
                      <a:endParaRPr/>
                    </a:p>
                    <a:p>
                      <a:pPr marL="494030" marR="339090" indent="-349250" algn="just">
                        <a:spcBef>
                          <a:spcPts val="700"/>
                        </a:spcBef>
                        <a:buSzPts val="1100"/>
                        <a:buFont typeface="Verdana"/>
                        <a:buChar char="•"/>
                      </a:pPr>
                      <a:r>
                        <a:rPr sz="1100">
                          <a:latin typeface="Verdana"/>
                          <a:cs typeface="Verdana"/>
                        </a:rPr>
                        <a:t>persons permanently residing outside of Kazakhstan;</a:t>
                      </a:r>
                      <a:endParaRPr/>
                    </a:p>
                    <a:p>
                      <a:pPr marL="494030" marR="339090" indent="-349250">
                        <a:lnSpc>
                          <a:spcPct val="115868"/>
                        </a:lnSpc>
                        <a:spcBef>
                          <a:spcPts val="800"/>
                        </a:spcBef>
                        <a:buSzPts val="1100"/>
                        <a:buFont typeface="Verdana"/>
                        <a:buChar char="•"/>
                      </a:pPr>
                      <a:r>
                        <a:rPr sz="1100" spc="-10">
                          <a:latin typeface="Verdana"/>
                          <a:cs typeface="Verdana"/>
                        </a:rPr>
                        <a:t>recruits –</a:t>
                      </a:r>
                      <a:r>
                        <a:rPr sz="1100" spc="110">
                          <a:latin typeface="Verdana"/>
                          <a:cs typeface="Verdana"/>
                        </a:rPr>
                        <a:t> </a:t>
                      </a:r>
                      <a:r>
                        <a:rPr sz="1100" spc="-10">
                          <a:latin typeface="Verdana"/>
                          <a:cs typeface="Verdana"/>
                        </a:rPr>
                        <a:t>male Kazakhstan nationals assigned to conscription areas of </a:t>
                      </a:r>
                      <a:r>
                        <a:rPr sz="1100" spc="-5">
                          <a:latin typeface="Verdana"/>
                          <a:cs typeface="Verdana"/>
                        </a:rPr>
                        <a:t>local military command bodies and subject to conscription for military </a:t>
                      </a:r>
                      <a:r>
                        <a:rPr sz="1100">
                          <a:latin typeface="Verdana"/>
                          <a:cs typeface="Verdana"/>
                        </a:rPr>
                        <a:t>service;</a:t>
                      </a:r>
                      <a:endParaRPr/>
                    </a:p>
                    <a:p>
                      <a:pPr marL="494030" marR="339090" indent="-349250">
                        <a:spcBef>
                          <a:spcPts val="600"/>
                        </a:spcBef>
                        <a:buSzPts val="1100"/>
                        <a:buFont typeface="Verdana"/>
                        <a:buChar char="•"/>
                      </a:pPr>
                      <a:r>
                        <a:rPr sz="1100">
                          <a:latin typeface="Verdana"/>
                          <a:cs typeface="Verdana"/>
                        </a:rPr>
                        <a:t>full-time students;</a:t>
                      </a:r>
                      <a:endParaRPr/>
                    </a:p>
                    <a:p>
                      <a:pPr marL="494030" marR="339090" indent="-349250">
                        <a:spcBef>
                          <a:spcPts val="800"/>
                        </a:spcBef>
                        <a:buSzPts val="1100"/>
                        <a:buFont typeface="Verdana"/>
                        <a:buChar char="•"/>
                      </a:pPr>
                      <a:r>
                        <a:rPr sz="1100">
                          <a:latin typeface="Verdana"/>
                          <a:cs typeface="Verdana"/>
                        </a:rPr>
                        <a:t>persons with three or more children under the age of </a:t>
                      </a:r>
                      <a:r>
                        <a:rPr sz="1100" spc="-5">
                          <a:latin typeface="Verdana"/>
                          <a:cs typeface="Verdana"/>
                        </a:rPr>
                        <a:t>18</a:t>
                      </a:r>
                      <a:r>
                        <a:rPr sz="1100">
                          <a:latin typeface="Verdana"/>
                          <a:cs typeface="Verdana"/>
                        </a:rPr>
                        <a:t>.</a:t>
                      </a:r>
                      <a:endParaRPr/>
                    </a:p>
                    <a:p>
                      <a:pPr marL="144780" marR="248285">
                        <a:lnSpc>
                          <a:spcPct val="116340"/>
                        </a:lnSpc>
                        <a:spcBef>
                          <a:spcPts val="1400"/>
                        </a:spcBef>
                      </a:pPr>
                      <a:r>
                        <a:rPr sz="1100" spc="-10">
                          <a:latin typeface="Verdana"/>
                          <a:cs typeface="Verdana"/>
                        </a:rPr>
                        <a:t>On 3 April 2020, at a briefi</a:t>
                      </a:r>
                      <a:r>
                        <a:rPr sz="1100">
                          <a:latin typeface="Verdana"/>
                          <a:cs typeface="Verdana"/>
                        </a:rPr>
                        <a:t>ng</a:t>
                      </a:r>
                      <a:r>
                        <a:rPr sz="1100" spc="-10">
                          <a:latin typeface="Verdana"/>
                          <a:cs typeface="Verdana"/>
                        </a:rPr>
                        <a:t>, the Minister of Defence (Major General Nurlan </a:t>
                      </a:r>
                      <a:r>
                        <a:rPr sz="1100">
                          <a:latin typeface="Verdana"/>
                          <a:cs typeface="Verdana"/>
                        </a:rPr>
                        <a:t>Yermekbayev</a:t>
                      </a:r>
                      <a:r>
                        <a:rPr sz="1100" spc="5">
                          <a:latin typeface="Verdana"/>
                          <a:cs typeface="Verdana"/>
                        </a:rPr>
                        <a:t>) </a:t>
                      </a:r>
                      <a:r>
                        <a:rPr sz="1100">
                          <a:latin typeface="Verdana"/>
                          <a:cs typeface="Verdana"/>
                        </a:rPr>
                        <a:t>said that remote work </a:t>
                      </a:r>
                      <a:r>
                        <a:rPr sz="1100" spc="-5">
                          <a:latin typeface="Verdana"/>
                          <a:cs typeface="Verdana"/>
                        </a:rPr>
                        <a:t>wi</a:t>
                      </a:r>
                      <a:r>
                        <a:rPr sz="1100">
                          <a:latin typeface="Verdana"/>
                          <a:cs typeface="Verdana"/>
                        </a:rPr>
                        <a:t>ll not be grounds for </a:t>
                      </a:r>
                      <a:r>
                        <a:rPr sz="1100" spc="-5">
                          <a:latin typeface="Verdana"/>
                          <a:cs typeface="Verdana"/>
                        </a:rPr>
                        <a:t>an </a:t>
                      </a:r>
                      <a:r>
                        <a:rPr sz="1100">
                          <a:latin typeface="Verdana"/>
                          <a:cs typeface="Verdana"/>
                        </a:rPr>
                        <a:t>exemption from conscription, but preference would be given to those who have voluntarily expressed a desire to take special training as well as to younger persons.</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822065">
                        <a:spcBef>
                          <a:spcPts val="300"/>
                        </a:spcBef>
                      </a:pPr>
                      <a:r>
                        <a:rPr sz="1100" b="1" spc="-5">
                          <a:solidFill>
                            <a:srgbClr val="43B02A"/>
                          </a:solidFill>
                          <a:latin typeface="Verdana"/>
                          <a:cs typeface="Verdana"/>
                        </a:rPr>
                        <a:t>Conscription procedure</a:t>
                      </a:r>
                      <a:endParaRPr/>
                    </a:p>
                    <a:p>
                      <a:pPr marL="144780" marR="270510">
                        <a:lnSpc>
                          <a:spcPct val="115868"/>
                        </a:lnSpc>
                        <a:spcBef>
                          <a:spcPts val="1400"/>
                        </a:spcBef>
                      </a:pPr>
                      <a:r>
                        <a:rPr sz="1100" spc="-10">
                          <a:latin typeface="Verdana"/>
                          <a:cs typeface="Verdana"/>
                        </a:rPr>
                        <a:t>Acco</a:t>
                      </a:r>
                      <a:r>
                        <a:rPr sz="1100" spc="-10">
                          <a:latin typeface="Verdana"/>
                          <a:cs typeface="Verdana"/>
                        </a:rPr>
                        <a:t>rding to information provided by the Minister of Defence at the briefing, </a:t>
                      </a:r>
                      <a:r>
                        <a:rPr sz="1100">
                          <a:latin typeface="Verdana"/>
                          <a:cs typeface="Verdana"/>
                        </a:rPr>
                        <a:t>military training will be carried out based on decisions of local executive bodies in coordination with local military registration authorities.</a:t>
                      </a:r>
                      <a:endParaRPr/>
                    </a:p>
                    <a:p>
                      <a:pPr marL="144780" marR="374015" algn="just">
                        <a:lnSpc>
                          <a:spcPct val="115868"/>
                        </a:lnSpc>
                        <a:spcBef>
                          <a:spcPts val="1200"/>
                        </a:spcBef>
                      </a:pPr>
                      <a:r>
                        <a:rPr sz="1100" spc="-10">
                          <a:latin typeface="Verdana"/>
                          <a:cs typeface="Verdana"/>
                        </a:rPr>
                        <a:t>Conscripts will be called up at the</a:t>
                      </a:r>
                      <a:r>
                        <a:rPr sz="1100" spc="-20">
                          <a:latin typeface="Verdana"/>
                          <a:cs typeface="Verdana"/>
                        </a:rPr>
                        <a:t>ir </a:t>
                      </a:r>
                      <a:r>
                        <a:rPr sz="1100" spc="-10">
                          <a:latin typeface="Verdana"/>
                          <a:cs typeface="Verdana"/>
                        </a:rPr>
                        <a:t>place of their residence, and will return </a:t>
                      </a:r>
                      <a:r>
                        <a:rPr sz="1100">
                          <a:latin typeface="Verdana"/>
                          <a:cs typeface="Verdana"/>
                        </a:rPr>
                        <a:t>home at the end of each working day after training.</a:t>
                      </a:r>
                      <a:endParaRPr/>
                    </a:p>
                    <a:p>
                      <a:pPr marL="144780" marR="1670685" algn="just">
                        <a:spcBef>
                          <a:spcPts val="1200"/>
                        </a:spcBef>
                      </a:pPr>
                      <a:r>
                        <a:rPr sz="1100" spc="-5">
                          <a:latin typeface="Verdana"/>
                          <a:cs typeface="Verdana"/>
                        </a:rPr>
                        <a:t>All persons will undergo a medical before training starts.</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4959985" algn="just">
                        <a:spcBef>
                          <a:spcPts val="400"/>
                        </a:spcBef>
                      </a:pPr>
                      <a:r>
                        <a:rPr sz="1100" b="1">
                          <a:solidFill>
                            <a:srgbClr val="43B02A"/>
                          </a:solidFill>
                          <a:latin typeface="Verdana"/>
                          <a:cs typeface="Verdana"/>
                        </a:rPr>
                        <a:t>Payment</a:t>
                      </a:r>
                      <a:endParaRPr/>
                    </a:p>
                  </a:txBody>
                  <a:tcPr marL="0" marR="0" marT="88900" marB="0">
                    <a:lnL/>
                    <a:lnR/>
                    <a:lnT w="38100" cmpd="sng">
                      <a:solidFill>
                        <a:srgbClr val="F3F3F3"/>
                      </a:solidFill>
                    </a:lnT>
                    <a:lnB/>
                  </a:tcPr>
                </a:tc>
                <a:tc>
                  <a:txBody>
                    <a:bodyPr/>
                    <a:p>
                      <a:pPr>
                        <a:lnSpc>
                          <a:spcPct val="100000"/>
                        </a:lnSpc>
                      </a:pPr>
                      <a:endParaRPr sz="1000"/>
                    </a:p>
                  </a:txBody>
                  <a:tcPr marL="0" marR="0" marT="0" marB="0">
                    <a:lnL/>
                    <a:lnR/>
                    <a:lnT w="38100" cmpd="sng">
                      <a:solidFill>
                        <a:srgbClr val="F3F3F3"/>
                      </a:solidFill>
                    </a:lnT>
                    <a:lnB/>
                    <a:solidFill>
                      <a:srgbClr val="F3F3F3"/>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a:hlinkClick r:id="rId2" action="ppaction://hlinksldjump"/>
          </p:cNvPr>
          <p:cNvGrpSpPr/>
          <p:nvPr/>
        </p:nvGrpSpPr>
        <p:grpSpPr>
          <a:xfrm>
            <a:off x="719633" y="179832"/>
            <a:ext cx="6082030" cy="9741408"/>
            <a:chOff x="0" y="0"/>
            <a:chExt cx="6082030" cy="9741408"/>
          </a:xfrm>
        </p:grpSpPr>
        <p:sp>
          <p:nvSpPr>
            <p:cNvPr id="3" name="shape 3"/>
            <p:cNvSpPr/>
            <p:nvPr/>
          </p:nvSpPr>
          <p:spPr>
            <a:xfrm>
              <a:off x="5941822" y="8817864"/>
              <a:ext cx="140208" cy="923544"/>
            </a:xfrm>
            <a:prstGeom prst="rect">
              <a:avLst/>
            </a:prstGeom>
            <a:solidFill>
              <a:srgbClr val="F3F3F3"/>
            </a:solidFill>
          </p:spPr>
        </p:sp>
        <p:sp>
          <p:nvSpPr>
            <p:cNvPr id="4" name="shape 4"/>
            <p:cNvSpPr/>
            <p:nvPr/>
          </p:nvSpPr>
          <p:spPr>
            <a:xfrm>
              <a:off x="6045454" y="8627364"/>
              <a:ext cx="36576" cy="190500"/>
            </a:xfrm>
            <a:prstGeom prst="rect">
              <a:avLst/>
            </a:prstGeom>
            <a:solidFill>
              <a:srgbClr val="F3F3F3"/>
            </a:solidFill>
          </p:spPr>
        </p:sp>
        <p:sp>
          <p:nvSpPr>
            <p:cNvPr id="5" name="shape 5"/>
            <p:cNvSpPr/>
            <p:nvPr/>
          </p:nvSpPr>
          <p:spPr>
            <a:xfrm>
              <a:off x="5941822" y="8119619"/>
              <a:ext cx="140208" cy="507746"/>
            </a:xfrm>
            <a:prstGeom prst="rect">
              <a:avLst/>
            </a:prstGeom>
            <a:solidFill>
              <a:srgbClr val="F3F3F3"/>
            </a:solidFill>
          </p:spPr>
        </p:sp>
        <p:sp>
          <p:nvSpPr>
            <p:cNvPr id="6" name="shape 6"/>
            <p:cNvSpPr/>
            <p:nvPr/>
          </p:nvSpPr>
          <p:spPr>
            <a:xfrm>
              <a:off x="6045454" y="7929119"/>
              <a:ext cx="36576" cy="190500"/>
            </a:xfrm>
            <a:prstGeom prst="rect">
              <a:avLst/>
            </a:prstGeom>
            <a:solidFill>
              <a:srgbClr val="F3F3F3"/>
            </a:solidFill>
          </p:spPr>
        </p:sp>
        <p:sp>
          <p:nvSpPr>
            <p:cNvPr id="7" name="shape 7"/>
            <p:cNvSpPr/>
            <p:nvPr/>
          </p:nvSpPr>
          <p:spPr>
            <a:xfrm>
              <a:off x="5941822" y="5659628"/>
              <a:ext cx="140208" cy="2269491"/>
            </a:xfrm>
            <a:prstGeom prst="rect">
              <a:avLst/>
            </a:prstGeom>
            <a:solidFill>
              <a:srgbClr val="F3F3F3"/>
            </a:solidFill>
          </p:spPr>
        </p:sp>
        <p:sp>
          <p:nvSpPr>
            <p:cNvPr id="8" name="shape 8"/>
            <p:cNvSpPr/>
            <p:nvPr/>
          </p:nvSpPr>
          <p:spPr>
            <a:xfrm>
              <a:off x="0" y="8817864"/>
              <a:ext cx="36576" cy="923544"/>
            </a:xfrm>
            <a:prstGeom prst="rect">
              <a:avLst/>
            </a:prstGeom>
            <a:solidFill>
              <a:srgbClr val="F3F3F3"/>
            </a:solidFill>
          </p:spPr>
        </p:sp>
        <p:sp>
          <p:nvSpPr>
            <p:cNvPr id="9" name="shape 9"/>
            <p:cNvSpPr/>
            <p:nvPr/>
          </p:nvSpPr>
          <p:spPr>
            <a:xfrm>
              <a:off x="0" y="8627364"/>
              <a:ext cx="36576" cy="190500"/>
            </a:xfrm>
            <a:prstGeom prst="rect">
              <a:avLst/>
            </a:prstGeom>
            <a:solidFill>
              <a:srgbClr val="F3F3F3"/>
            </a:solidFill>
          </p:spPr>
        </p:sp>
        <p:sp>
          <p:nvSpPr>
            <p:cNvPr id="10" name="shape 10"/>
            <p:cNvSpPr/>
            <p:nvPr/>
          </p:nvSpPr>
          <p:spPr>
            <a:xfrm>
              <a:off x="0" y="8119619"/>
              <a:ext cx="36576" cy="507746"/>
            </a:xfrm>
            <a:prstGeom prst="rect">
              <a:avLst/>
            </a:prstGeom>
            <a:solidFill>
              <a:srgbClr val="F3F3F3"/>
            </a:solidFill>
          </p:spPr>
        </p:sp>
        <p:sp>
          <p:nvSpPr>
            <p:cNvPr id="11" name="shape 11"/>
            <p:cNvSpPr/>
            <p:nvPr/>
          </p:nvSpPr>
          <p:spPr>
            <a:xfrm>
              <a:off x="0" y="7929119"/>
              <a:ext cx="36576" cy="190500"/>
            </a:xfrm>
            <a:prstGeom prst="rect">
              <a:avLst/>
            </a:prstGeom>
            <a:solidFill>
              <a:srgbClr val="F3F3F3"/>
            </a:solidFill>
          </p:spPr>
        </p:sp>
        <p:sp>
          <p:nvSpPr>
            <p:cNvPr id="12" name="shape 12"/>
            <p:cNvSpPr/>
            <p:nvPr/>
          </p:nvSpPr>
          <p:spPr>
            <a:xfrm>
              <a:off x="0" y="5621528"/>
              <a:ext cx="36576" cy="2307591"/>
            </a:xfrm>
            <a:prstGeom prst="rect">
              <a:avLst/>
            </a:prstGeom>
            <a:solidFill>
              <a:srgbClr val="F3F3F3"/>
            </a:solidFill>
          </p:spPr>
        </p:sp>
        <p:sp>
          <p:nvSpPr>
            <p:cNvPr id="13" name="shape 13"/>
            <p:cNvSpPr/>
            <p:nvPr/>
          </p:nvSpPr>
          <p:spPr>
            <a:xfrm>
              <a:off x="0" y="5621401"/>
              <a:ext cx="6082030" cy="128"/>
            </a:xfrm>
            <a:prstGeom prst="rect">
              <a:avLst/>
            </a:prstGeom>
            <a:solidFill>
              <a:srgbClr val="F3F3F3"/>
            </a:solidFill>
          </p:spPr>
        </p:sp>
        <p:sp>
          <p:nvSpPr>
            <p:cNvPr id="14" name="shape 14"/>
            <p:cNvSpPr/>
            <p:nvPr/>
          </p:nvSpPr>
          <p:spPr>
            <a:xfrm>
              <a:off x="6045454" y="5430901"/>
              <a:ext cx="36576" cy="190500"/>
            </a:xfrm>
            <a:prstGeom prst="rect">
              <a:avLst/>
            </a:prstGeom>
            <a:solidFill>
              <a:srgbClr val="F3F3F3"/>
            </a:solidFill>
          </p:spPr>
        </p:sp>
        <p:sp>
          <p:nvSpPr>
            <p:cNvPr id="15" name="shape 15"/>
            <p:cNvSpPr/>
            <p:nvPr/>
          </p:nvSpPr>
          <p:spPr>
            <a:xfrm>
              <a:off x="0" y="5430901"/>
              <a:ext cx="36576" cy="190500"/>
            </a:xfrm>
            <a:prstGeom prst="rect">
              <a:avLst/>
            </a:prstGeom>
            <a:solidFill>
              <a:srgbClr val="F3F3F3"/>
            </a:solidFill>
          </p:spPr>
        </p:sp>
        <p:sp>
          <p:nvSpPr>
            <p:cNvPr id="16" name="shape 16"/>
            <p:cNvSpPr/>
            <p:nvPr/>
          </p:nvSpPr>
          <p:spPr>
            <a:xfrm>
              <a:off x="5941822" y="38100"/>
              <a:ext cx="140208" cy="5392801"/>
            </a:xfrm>
            <a:prstGeom prst="rect">
              <a:avLst/>
            </a:prstGeom>
            <a:solidFill>
              <a:srgbClr val="F3F3F3"/>
            </a:solidFill>
          </p:spPr>
        </p:sp>
        <p:sp>
          <p:nvSpPr>
            <p:cNvPr id="17" name="shape 17"/>
            <p:cNvSpPr/>
            <p:nvPr/>
          </p:nvSpPr>
          <p:spPr>
            <a:xfrm>
              <a:off x="0" y="0"/>
              <a:ext cx="36576" cy="5430901"/>
            </a:xfrm>
            <a:prstGeom prst="rect">
              <a:avLst/>
            </a:prstGeom>
            <a:solidFill>
              <a:srgbClr val="F3F3F3"/>
            </a:solidFill>
          </p:spPr>
        </p:sp>
        <p:sp>
          <p:nvSpPr>
            <p:cNvPr id="18" name="shape 18"/>
            <p:cNvSpPr/>
            <p:nvPr/>
          </p:nvSpPr>
          <p:spPr>
            <a:xfrm>
              <a:off x="36576" y="0"/>
              <a:ext cx="108204" cy="5430901"/>
            </a:xfrm>
            <a:prstGeom prst="rect">
              <a:avLst/>
            </a:prstGeom>
            <a:solidFill>
              <a:srgbClr val="F3F3F3"/>
            </a:solidFill>
          </p:spPr>
        </p:sp>
        <p:sp>
          <p:nvSpPr>
            <p:cNvPr id="19" name="shape 19"/>
            <p:cNvSpPr/>
            <p:nvPr/>
          </p:nvSpPr>
          <p:spPr>
            <a:xfrm>
              <a:off x="36576" y="5430901"/>
              <a:ext cx="6008878" cy="190500"/>
            </a:xfrm>
            <a:prstGeom prst="rect">
              <a:avLst/>
            </a:prstGeom>
            <a:solidFill>
              <a:srgbClr val="F3F3F3"/>
            </a:solidFill>
          </p:spPr>
        </p:sp>
        <p:sp>
          <p:nvSpPr>
            <p:cNvPr id="20" name="shape 20"/>
            <p:cNvSpPr/>
            <p:nvPr/>
          </p:nvSpPr>
          <p:spPr>
            <a:xfrm>
              <a:off x="36576" y="5621528"/>
              <a:ext cx="108204" cy="2307591"/>
            </a:xfrm>
            <a:prstGeom prst="rect">
              <a:avLst/>
            </a:prstGeom>
            <a:solidFill>
              <a:srgbClr val="F3F3F3"/>
            </a:solidFill>
          </p:spPr>
        </p:sp>
        <p:sp>
          <p:nvSpPr>
            <p:cNvPr id="21" name="shape 21"/>
            <p:cNvSpPr/>
            <p:nvPr/>
          </p:nvSpPr>
          <p:spPr>
            <a:xfrm>
              <a:off x="5941822" y="8119567"/>
              <a:ext cx="103633" cy="52"/>
            </a:xfrm>
            <a:prstGeom prst="rect">
              <a:avLst/>
            </a:prstGeom>
            <a:solidFill>
              <a:srgbClr val="F3F3F3"/>
            </a:solidFill>
          </p:spPr>
        </p:sp>
        <p:sp>
          <p:nvSpPr>
            <p:cNvPr id="22" name="shape 22"/>
            <p:cNvSpPr/>
            <p:nvPr/>
          </p:nvSpPr>
          <p:spPr>
            <a:xfrm>
              <a:off x="36576" y="7929119"/>
              <a:ext cx="6008878" cy="190449"/>
            </a:xfrm>
            <a:prstGeom prst="rect">
              <a:avLst/>
            </a:prstGeom>
            <a:solidFill>
              <a:srgbClr val="F3F3F3"/>
            </a:solidFill>
          </p:spPr>
        </p:sp>
        <p:sp>
          <p:nvSpPr>
            <p:cNvPr id="23" name="shape 23"/>
            <p:cNvSpPr/>
            <p:nvPr/>
          </p:nvSpPr>
          <p:spPr>
            <a:xfrm>
              <a:off x="36576" y="8119567"/>
              <a:ext cx="108204" cy="507797"/>
            </a:xfrm>
            <a:prstGeom prst="rect">
              <a:avLst/>
            </a:prstGeom>
            <a:solidFill>
              <a:srgbClr val="F3F3F3"/>
            </a:solidFill>
          </p:spPr>
        </p:sp>
        <p:sp>
          <p:nvSpPr>
            <p:cNvPr id="24" name="shape 24"/>
            <p:cNvSpPr/>
            <p:nvPr/>
          </p:nvSpPr>
          <p:spPr>
            <a:xfrm>
              <a:off x="36576" y="8627364"/>
              <a:ext cx="6008878" cy="190500"/>
            </a:xfrm>
            <a:prstGeom prst="rect">
              <a:avLst/>
            </a:prstGeom>
            <a:solidFill>
              <a:srgbClr val="F3F3F3"/>
            </a:solidFill>
          </p:spPr>
        </p:sp>
        <p:sp>
          <p:nvSpPr>
            <p:cNvPr id="25" name="shape 25"/>
            <p:cNvSpPr/>
            <p:nvPr/>
          </p:nvSpPr>
          <p:spPr>
            <a:xfrm>
              <a:off x="36576" y="8817864"/>
              <a:ext cx="108204" cy="923544"/>
            </a:xfrm>
            <a:prstGeom prst="rect">
              <a:avLst/>
            </a:prstGeom>
            <a:solidFill>
              <a:srgbClr val="F3F3F3"/>
            </a:solidFill>
          </p:spPr>
        </p:sp>
        <p:pic>
          <p:nvPicPr>
            <p:cNvPr id="26" name="shape 26">
              <a:hlinkClick r:id="rId2" action="ppaction://hlinksldjump"/>
            </p:cNvPr>
            <p:cNvPicPr>
              <a:picLocks noChangeAspect="1"/>
            </p:cNvPicPr>
            <p:nvPr/>
          </p:nvPicPr>
          <p:blipFill>
            <a:blip r:embed="rId3" cstate="print"/>
            <a:stretch>
              <a:fillRect/>
            </a:stretch>
          </p:blipFill>
          <p:spPr>
            <a:xfrm>
              <a:off x="288747" y="1043813"/>
              <a:ext cx="1449579" cy="298450"/>
            </a:xfrm>
            <a:prstGeom prst="rect"/>
          </p:spPr>
        </p:pic>
        <p:pic>
          <p:nvPicPr>
            <p:cNvPr id="27" name="shape 27">
              <a:hlinkClick r:id="rId2" action="ppaction://hlinksldjump"/>
            </p:cNvPr>
            <p:cNvPicPr>
              <a:picLocks noChangeAspect="1"/>
            </p:cNvPicPr>
            <p:nvPr/>
          </p:nvPicPr>
          <p:blipFill>
            <a:blip r:embed="rId4" cstate="print"/>
            <a:stretch>
              <a:fillRect/>
            </a:stretch>
          </p:blipFill>
          <p:spPr>
            <a:xfrm>
              <a:off x="288747" y="2612263"/>
              <a:ext cx="1449579" cy="298450"/>
            </a:xfrm>
            <a:prstGeom prst="rect"/>
          </p:spPr>
        </p:pic>
        <p:pic>
          <p:nvPicPr>
            <p:cNvPr id="28" name="shape 28">
              <a:hlinkClick r:id="rId2" action="ppaction://hlinksldjump"/>
            </p:cNvPr>
            <p:cNvPicPr>
              <a:picLocks noChangeAspect="1"/>
            </p:cNvPicPr>
            <p:nvPr/>
          </p:nvPicPr>
          <p:blipFill>
            <a:blip r:embed="rId4" cstate="print"/>
            <a:stretch>
              <a:fillRect/>
            </a:stretch>
          </p:blipFill>
          <p:spPr>
            <a:xfrm>
              <a:off x="288747" y="3985387"/>
              <a:ext cx="1449579" cy="298450"/>
            </a:xfrm>
            <a:prstGeom prst="rect"/>
          </p:spPr>
        </p:pic>
        <p:pic>
          <p:nvPicPr>
            <p:cNvPr id="29" name="shape 29"/>
            <p:cNvPicPr>
              <a:picLocks noChangeAspect="1"/>
            </p:cNvPicPr>
            <p:nvPr/>
          </p:nvPicPr>
          <p:blipFill>
            <a:blip r:embed="rId5" cstate="print"/>
            <a:stretch>
              <a:fillRect/>
            </a:stretch>
          </p:blipFill>
          <p:spPr>
            <a:xfrm>
              <a:off x="303828" y="6668103"/>
              <a:ext cx="1071564" cy="1071564"/>
            </a:xfrm>
            <a:prstGeom prst="rect"/>
          </p:spPr>
        </p:pic>
        <p:pic>
          <p:nvPicPr>
            <p:cNvPr id="30" name="shape 30">
              <a:hlinkClick r:id="rId7"/>
            </p:cNvPr>
            <p:cNvPicPr>
              <a:picLocks noChangeAspect="1"/>
            </p:cNvPicPr>
            <p:nvPr/>
          </p:nvPicPr>
          <p:blipFill>
            <a:blip r:embed="rId6" cstate="print"/>
            <a:stretch>
              <a:fillRect/>
            </a:stretch>
          </p:blipFill>
          <p:spPr>
            <a:xfrm>
              <a:off x="1615262" y="7055612"/>
              <a:ext cx="2166620" cy="295275"/>
            </a:xfrm>
            <a:prstGeom prst="rect"/>
          </p:spPr>
        </p:pic>
        <p:pic>
          <p:nvPicPr>
            <p:cNvPr id="31" name="shape 31">
              <a:hlinkClick r:id="rId9"/>
            </p:cNvPr>
            <p:cNvPicPr>
              <a:picLocks noChangeAspect="1"/>
            </p:cNvPicPr>
            <p:nvPr/>
          </p:nvPicPr>
          <p:blipFill>
            <a:blip r:embed="rId8" cstate="print"/>
            <a:stretch>
              <a:fillRect/>
            </a:stretch>
          </p:blipFill>
          <p:spPr>
            <a:xfrm>
              <a:off x="2430348" y="8189722"/>
              <a:ext cx="287655" cy="287656"/>
            </a:xfrm>
            <a:prstGeom prst="rect"/>
          </p:spPr>
        </p:pic>
        <p:pic>
          <p:nvPicPr>
            <p:cNvPr id="32" name="shape 32">
              <a:hlinkClick r:id="rId11"/>
            </p:cNvPr>
            <p:cNvPicPr>
              <a:picLocks noChangeAspect="1"/>
            </p:cNvPicPr>
            <p:nvPr/>
          </p:nvPicPr>
          <p:blipFill>
            <a:blip r:embed="rId10" cstate="print"/>
            <a:stretch>
              <a:fillRect/>
            </a:stretch>
          </p:blipFill>
          <p:spPr>
            <a:xfrm>
              <a:off x="2910408" y="8189722"/>
              <a:ext cx="287655" cy="287656"/>
            </a:xfrm>
            <a:prstGeom prst="rect"/>
          </p:spPr>
        </p:pic>
        <p:pic>
          <p:nvPicPr>
            <p:cNvPr id="33" name="shape 33">
              <a:hlinkClick r:id="rId13"/>
            </p:cNvPr>
            <p:cNvPicPr>
              <a:picLocks noChangeAspect="1"/>
            </p:cNvPicPr>
            <p:nvPr/>
          </p:nvPicPr>
          <p:blipFill>
            <a:blip r:embed="rId12" cstate="print"/>
            <a:stretch>
              <a:fillRect/>
            </a:stretch>
          </p:blipFill>
          <p:spPr>
            <a:xfrm>
              <a:off x="3390468" y="8189722"/>
              <a:ext cx="287655" cy="287656"/>
            </a:xfrm>
            <a:prstGeom prst="rect"/>
          </p:spPr>
        </p:pic>
        <p:pic>
          <p:nvPicPr>
            <p:cNvPr id="34" name="shape 34"/>
            <p:cNvPicPr>
              <a:picLocks noChangeAspect="1"/>
            </p:cNvPicPr>
            <p:nvPr/>
          </p:nvPicPr>
          <p:blipFill>
            <a:blip r:embed="rId14" cstate="print"/>
            <a:stretch>
              <a:fillRect/>
            </a:stretch>
          </p:blipFill>
          <p:spPr>
            <a:xfrm>
              <a:off x="298276" y="8963825"/>
              <a:ext cx="1677032" cy="700406"/>
            </a:xfrm>
            <a:prstGeom prst="rect"/>
          </p:spPr>
        </p:pic>
      </p:grpSp>
      <p:sp>
        <p:nvSpPr>
          <p:cNvPr id="35" name="shape 35"/>
          <p:cNvSpPr txBox="1"/>
          <p:nvPr/>
        </p:nvSpPr>
        <p:spPr>
          <a:xfrm>
            <a:off x="996315" y="288544"/>
            <a:ext cx="5469890" cy="5080407"/>
          </a:xfrm>
          <a:prstGeom prst="rect"/>
          <a:noFill/>
        </p:spPr>
        <p:txBody>
          <a:bodyPr vertOverflow="overflow" horzOverflow="overflow" numCol="1" wrap="square" lIns="0" tIns="0" rIns="0" bIns="0">
            <a:spAutoFit/>
          </a:bodyPr>
          <a:p>
            <a:pPr marL="12700" marR="12700">
              <a:lnSpc>
                <a:spcPct val="116414"/>
              </a:lnSpc>
            </a:pPr>
            <a:r>
              <a:rPr sz="1100">
                <a:latin typeface="Verdana"/>
                <a:cs typeface="Verdana"/>
              </a:rPr>
              <a:t>By law, those liable for military service will retain their place of work and position during the military training period</a:t>
            </a:r>
            <a:r>
              <a:rPr sz="1100" spc="-5">
                <a:latin typeface="Verdana"/>
                <a:cs typeface="Verdana"/>
              </a:rPr>
              <a:t>, </a:t>
            </a:r>
            <a:r>
              <a:rPr sz="1100">
                <a:latin typeface="Verdana"/>
                <a:cs typeface="Verdana"/>
              </a:rPr>
              <a:t>and will receive </a:t>
            </a:r>
            <a:r>
              <a:rPr sz="1100" spc="-5">
                <a:latin typeface="Verdana"/>
                <a:cs typeface="Verdana"/>
              </a:rPr>
              <a:t>the</a:t>
            </a:r>
            <a:r>
              <a:rPr sz="1100">
                <a:latin typeface="Verdana"/>
                <a:cs typeface="Verdana"/>
              </a:rPr>
              <a:t>ir average </a:t>
            </a:r>
            <a:r>
              <a:rPr sz="1100" spc="-10">
                <a:latin typeface="Verdana"/>
                <a:cs typeface="Verdana"/>
              </a:rPr>
              <a:t>salary from the state. Anyone not employed will receive the minimum salary. </a:t>
            </a:r>
            <a:r>
              <a:rPr sz="1100">
                <a:latin typeface="Verdana"/>
                <a:cs typeface="Verdana"/>
              </a:rPr>
              <a:t>Payments will be made at the expense of the state.</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2700">
              <a:spcBef>
                <a:spcPts val="200"/>
              </a:spcBef>
            </a:pPr>
            <a:r>
              <a:rPr sz="1100" b="1">
                <a:solidFill>
                  <a:srgbClr val="43B02A"/>
                </a:solidFill>
                <a:latin typeface="Verdana"/>
                <a:cs typeface="Verdana"/>
              </a:rPr>
              <a:t>Training period</a:t>
            </a:r>
            <a:endParaRPr/>
          </a:p>
          <a:p>
            <a:pPr marL="12700" marR="115570">
              <a:lnSpc>
                <a:spcPct val="115868"/>
              </a:lnSpc>
              <a:spcBef>
                <a:spcPts val="1500"/>
              </a:spcBef>
            </a:pPr>
            <a:r>
              <a:rPr sz="1100">
                <a:latin typeface="Verdana"/>
                <a:cs typeface="Verdana"/>
              </a:rPr>
              <a:t>Speci</a:t>
            </a:r>
            <a:r>
              <a:rPr sz="1100">
                <a:latin typeface="Verdana"/>
                <a:cs typeface="Verdana"/>
              </a:rPr>
              <a:t>al training can last up to three months. However, according to the </a:t>
            </a:r>
            <a:r>
              <a:rPr sz="1100" spc="-5">
                <a:latin typeface="Verdana"/>
                <a:cs typeface="Verdana"/>
              </a:rPr>
              <a:t>Minister, training duration will be determined by local executive bodies, </a:t>
            </a:r>
            <a:r>
              <a:rPr sz="1100" spc="-10">
                <a:latin typeface="Verdana"/>
                <a:cs typeface="Verdana"/>
              </a:rPr>
              <a:t>and </a:t>
            </a:r>
            <a:r>
              <a:rPr sz="1100">
                <a:latin typeface="Verdana"/>
                <a:cs typeface="Verdana"/>
              </a:rPr>
              <a:t>should last no longer than two weeks.</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2700">
              <a:spcBef>
                <a:spcPts val="200"/>
              </a:spcBef>
            </a:pPr>
            <a:r>
              <a:rPr sz="1100" b="1">
                <a:solidFill>
                  <a:srgbClr val="43B02A"/>
                </a:solidFill>
                <a:latin typeface="Verdana"/>
                <a:cs typeface="Verdana"/>
              </a:rPr>
              <a:t>Liability for non-appearance</a:t>
            </a:r>
            <a:endParaRPr/>
          </a:p>
          <a:p>
            <a:pPr marL="12700" marR="107950" algn="just">
              <a:lnSpc>
                <a:spcPct val="115869"/>
              </a:lnSpc>
              <a:spcBef>
                <a:spcPts val="1400"/>
              </a:spcBef>
            </a:pPr>
            <a:r>
              <a:rPr sz="1100" spc="-5">
                <a:latin typeface="Verdana"/>
                <a:cs typeface="Verdana"/>
              </a:rPr>
              <a:t>In</a:t>
            </a:r>
            <a:r>
              <a:rPr sz="1100" spc="-5">
                <a:latin typeface="Verdana"/>
                <a:cs typeface="Verdana"/>
              </a:rPr>
              <a:t> accordance with the law failing to appear for training would be subject to </a:t>
            </a:r>
            <a:r>
              <a:rPr sz="1100">
                <a:latin typeface="Verdana"/>
                <a:cs typeface="Verdana"/>
              </a:rPr>
              <a:t>administrative liability in the amount of 5 MCI (KZT 13 255).</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2700" algn="just">
              <a:spcBef>
                <a:spcPts val="200"/>
              </a:spcBef>
            </a:pPr>
            <a:r>
              <a:rPr sz="1100" b="1">
                <a:solidFill>
                  <a:srgbClr val="62B5E5"/>
                </a:solidFill>
                <a:latin typeface="Verdana"/>
                <a:cs typeface="Verdana"/>
              </a:rPr>
              <a:t>How Deloitte can help:</a:t>
            </a:r>
            <a:endParaRPr/>
          </a:p>
          <a:p>
            <a:pPr marL="12700" marR="94615" algn="just">
              <a:lnSpc>
                <a:spcPct val="115868"/>
              </a:lnSpc>
              <a:spcBef>
                <a:spcPts val="1300"/>
              </a:spcBef>
            </a:pPr>
            <a:r>
              <a:rPr sz="1100" spc="-15">
                <a:latin typeface="Verdana"/>
                <a:cs typeface="Verdana"/>
              </a:rPr>
              <a:t>The Deloitte Legal team will be happy to provide more detailed advice on any </a:t>
            </a:r>
            <a:r>
              <a:rPr sz="1100">
                <a:latin typeface="Verdana"/>
                <a:cs typeface="Verdana"/>
              </a:rPr>
              <a:t>issues that arise after you have read this newsletter.</a:t>
            </a:r>
            <a:endParaRPr/>
          </a:p>
        </p:txBody>
      </p:sp>
      <p:sp>
        <p:nvSpPr>
          <p:cNvPr id="36" name="shape 36"/>
          <p:cNvSpPr txBox="1"/>
          <p:nvPr/>
        </p:nvSpPr>
        <p:spPr>
          <a:xfrm>
            <a:off x="996315" y="6063869"/>
            <a:ext cx="5469890" cy="528524"/>
          </a:xfrm>
          <a:prstGeom prst="rect"/>
          <a:noFill/>
        </p:spPr>
        <p:txBody>
          <a:bodyPr vertOverflow="overflow" horzOverflow="overflow" numCol="1" wrap="square" lIns="0" tIns="0" rIns="0" bIns="0">
            <a:spAutoFit/>
          </a:bodyPr>
          <a:p>
            <a:pPr marL="12700" marR="906145" algn="just">
              <a:lnSpc>
                <a:spcPct val="102041"/>
              </a:lnSpc>
            </a:pPr>
            <a:r>
              <a:rPr sz="1700" b="1" spc="-15">
                <a:solidFill>
                  <a:srgbClr val="43B02A"/>
                </a:solidFill>
                <a:latin typeface="Verdana"/>
                <a:cs typeface="Verdana"/>
              </a:rPr>
              <a:t>“Deloitte” talking. Listen and benefit! </a:t>
            </a:r>
            <a:r>
              <a:rPr sz="1700">
                <a:latin typeface="Verdana"/>
                <a:cs typeface="Verdana"/>
              </a:rPr>
              <a:t>Series of audio-podcasts</a:t>
            </a: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p:cNvGrpSpPr/>
          <p:nvPr/>
        </p:nvGrpSpPr>
        <p:grpSpPr>
          <a:xfrm>
            <a:off x="719633" y="179832"/>
            <a:ext cx="6082030" cy="3194939"/>
            <a:chOff x="0" y="0"/>
            <a:chExt cx="6082030" cy="3194939"/>
          </a:xfrm>
        </p:grpSpPr>
        <p:sp>
          <p:nvSpPr>
            <p:cNvPr id="3" name="shape 3"/>
            <p:cNvSpPr/>
            <p:nvPr/>
          </p:nvSpPr>
          <p:spPr>
            <a:xfrm>
              <a:off x="6045454" y="3034920"/>
              <a:ext cx="36576" cy="160020"/>
            </a:xfrm>
            <a:prstGeom prst="rect">
              <a:avLst/>
            </a:prstGeom>
            <a:solidFill>
              <a:srgbClr val="F3F3F3"/>
            </a:solidFill>
          </p:spPr>
        </p:sp>
        <p:sp>
          <p:nvSpPr>
            <p:cNvPr id="4" name="shape 4"/>
            <p:cNvSpPr/>
            <p:nvPr/>
          </p:nvSpPr>
          <p:spPr>
            <a:xfrm>
              <a:off x="6045454" y="2844420"/>
              <a:ext cx="36576" cy="190500"/>
            </a:xfrm>
            <a:prstGeom prst="rect">
              <a:avLst/>
            </a:prstGeom>
            <a:solidFill>
              <a:srgbClr val="F3F3F3"/>
            </a:solidFill>
          </p:spPr>
        </p:sp>
        <p:sp>
          <p:nvSpPr>
            <p:cNvPr id="5" name="shape 5"/>
            <p:cNvSpPr/>
            <p:nvPr/>
          </p:nvSpPr>
          <p:spPr>
            <a:xfrm>
              <a:off x="0" y="3034920"/>
              <a:ext cx="36576" cy="160020"/>
            </a:xfrm>
            <a:prstGeom prst="rect">
              <a:avLst/>
            </a:prstGeom>
            <a:solidFill>
              <a:srgbClr val="F3F3F3"/>
            </a:solidFill>
          </p:spPr>
        </p:sp>
        <p:sp>
          <p:nvSpPr>
            <p:cNvPr id="6" name="shape 6"/>
            <p:cNvSpPr/>
            <p:nvPr/>
          </p:nvSpPr>
          <p:spPr>
            <a:xfrm>
              <a:off x="0" y="2844420"/>
              <a:ext cx="36576" cy="190500"/>
            </a:xfrm>
            <a:prstGeom prst="rect">
              <a:avLst/>
            </a:prstGeom>
            <a:solidFill>
              <a:srgbClr val="F3F3F3"/>
            </a:solidFill>
          </p:spPr>
        </p:sp>
        <p:sp>
          <p:nvSpPr>
            <p:cNvPr id="7" name="shape 7"/>
            <p:cNvSpPr/>
            <p:nvPr/>
          </p:nvSpPr>
          <p:spPr>
            <a:xfrm>
              <a:off x="144780" y="2842895"/>
              <a:ext cx="5937250" cy="1525"/>
            </a:xfrm>
            <a:prstGeom prst="rect">
              <a:avLst/>
            </a:prstGeom>
            <a:solidFill>
              <a:srgbClr val="F3F3F3"/>
            </a:solidFill>
          </p:spPr>
        </p:sp>
        <p:sp>
          <p:nvSpPr>
            <p:cNvPr id="8" name="shape 8"/>
            <p:cNvSpPr/>
            <p:nvPr/>
          </p:nvSpPr>
          <p:spPr>
            <a:xfrm>
              <a:off x="5941822" y="0"/>
              <a:ext cx="140208" cy="2842895"/>
            </a:xfrm>
            <a:prstGeom prst="rect">
              <a:avLst/>
            </a:prstGeom>
            <a:solidFill>
              <a:srgbClr val="F3F3F3"/>
            </a:solidFill>
          </p:spPr>
        </p:sp>
        <p:sp>
          <p:nvSpPr>
            <p:cNvPr id="9" name="shape 9"/>
            <p:cNvSpPr/>
            <p:nvPr/>
          </p:nvSpPr>
          <p:spPr>
            <a:xfrm>
              <a:off x="0" y="0"/>
              <a:ext cx="36576" cy="2844420"/>
            </a:xfrm>
            <a:prstGeom prst="rect">
              <a:avLst/>
            </a:prstGeom>
            <a:solidFill>
              <a:srgbClr val="F3F3F3"/>
            </a:solidFill>
          </p:spPr>
        </p:sp>
        <p:sp>
          <p:nvSpPr>
            <p:cNvPr id="10" name="shape 10"/>
            <p:cNvSpPr/>
            <p:nvPr/>
          </p:nvSpPr>
          <p:spPr>
            <a:xfrm>
              <a:off x="36576" y="0"/>
              <a:ext cx="108204" cy="2844420"/>
            </a:xfrm>
            <a:prstGeom prst="rect">
              <a:avLst/>
            </a:prstGeom>
            <a:solidFill>
              <a:srgbClr val="F3F3F3"/>
            </a:solidFill>
          </p:spPr>
        </p:sp>
        <p:sp>
          <p:nvSpPr>
            <p:cNvPr id="11" name="shape 11"/>
            <p:cNvSpPr txBox="1"/>
            <p:nvPr/>
          </p:nvSpPr>
          <p:spPr>
            <a:xfrm>
              <a:off x="276682" y="146812"/>
              <a:ext cx="5494020" cy="2007515"/>
            </a:xfrm>
            <a:prstGeom prst="rect"/>
            <a:noFill/>
          </p:spPr>
          <p:txBody>
            <a:bodyPr vertOverflow="overflow" horzOverflow="overflow" numCol="1" wrap="square" lIns="0" tIns="0" rIns="0" bIns="0">
              <a:spAutoFit/>
            </a:bodyPr>
            <a:p>
              <a:pPr marL="12700"/>
              <a:r>
                <a:rPr sz="1100">
                  <a:solidFill>
                    <a:srgbClr val="62B5E5"/>
                  </a:solidFill>
                  <a:latin typeface="Verdana"/>
                  <a:cs typeface="Verdana"/>
                  <a:hlinkClick r:id="rId2">
                    <a:extLst>
                      <a:ext uri="{A12FA001-AC4F-418D-AE19-62706E023703}">
                        <ahyp:hlinkClr xmlns:ahyp="http://schemas.microsoft.com/office/drawing/2018/hyperlinkcolor" val="tx"/>
                      </a:ext>
                    </a:extLst>
                  </a:hlinkClick>
                </a:rPr>
                <a:t>deloitte.kz</a:t>
              </a:r>
              <a:endParaRPr/>
            </a:p>
            <a:p>
              <a:pPr marL="12700" marR="124460">
                <a:lnSpc>
                  <a:spcPct val="100399"/>
                </a:lnSpc>
                <a:spcBef>
                  <a:spcPts val="900"/>
                </a:spcBef>
              </a:pPr>
              <a:r>
                <a:rPr sz="700" spc="-5">
                  <a:solidFill>
                    <a:srgbClr val="919191"/>
                  </a:solidFill>
                  <a:latin typeface="Verdana"/>
                  <a:cs typeface="Verdana"/>
                </a:rPr>
                <a:t>Deloitte refers to one or more of Deloitte Touche Tohmatsu</a:t>
              </a:r>
              <a:r>
                <a:rPr sz="700" spc="75">
                  <a:solidFill>
                    <a:srgbClr val="919191"/>
                  </a:solidFill>
                  <a:latin typeface="Verdana"/>
                  <a:cs typeface="Verdana"/>
                </a:rPr>
                <a:t> </a:t>
              </a:r>
              <a:r>
                <a:rPr sz="700" spc="-5">
                  <a:solidFill>
                    <a:srgbClr val="919191"/>
                  </a:solidFill>
                  <a:latin typeface="Verdana"/>
                  <a:cs typeface="Verdana"/>
                </a:rPr>
                <a:t>Limited</a:t>
              </a:r>
              <a:r>
                <a:rPr sz="700" spc="70">
                  <a:solidFill>
                    <a:srgbClr val="919191"/>
                  </a:solidFill>
                  <a:latin typeface="Verdana"/>
                  <a:cs typeface="Verdana"/>
                </a:rPr>
                <a:t> </a:t>
              </a:r>
              <a:r>
                <a:rPr sz="700" spc="-5">
                  <a:solidFill>
                    <a:srgbClr val="919191"/>
                  </a:solidFill>
                  <a:latin typeface="Verdana"/>
                  <a:cs typeface="Verdana"/>
                </a:rPr>
                <a:t>(“DTTL”),</a:t>
              </a:r>
              <a:r>
                <a:rPr sz="700" spc="70">
                  <a:solidFill>
                    <a:srgbClr val="919191"/>
                  </a:solidFill>
                  <a:latin typeface="Verdana"/>
                  <a:cs typeface="Verdana"/>
                </a:rPr>
                <a:t> </a:t>
              </a:r>
              <a:r>
                <a:rPr sz="700" spc="-5">
                  <a:solidFill>
                    <a:srgbClr val="919191"/>
                  </a:solidFill>
                  <a:latin typeface="Verdana"/>
                  <a:cs typeface="Verdana"/>
                </a:rPr>
                <a:t>its</a:t>
              </a:r>
              <a:r>
                <a:rPr sz="700" spc="70">
                  <a:solidFill>
                    <a:srgbClr val="919191"/>
                  </a:solidFill>
                  <a:latin typeface="Verdana"/>
                  <a:cs typeface="Verdana"/>
                </a:rPr>
                <a:t> </a:t>
              </a:r>
              <a:r>
                <a:rPr sz="700" spc="-5">
                  <a:solidFill>
                    <a:srgbClr val="919191"/>
                  </a:solidFill>
                  <a:latin typeface="Verdana"/>
                  <a:cs typeface="Verdana"/>
                </a:rPr>
                <a:t>global</a:t>
              </a:r>
              <a:r>
                <a:rPr sz="700" spc="60">
                  <a:solidFill>
                    <a:srgbClr val="919191"/>
                  </a:solidFill>
                  <a:latin typeface="Verdana"/>
                  <a:cs typeface="Verdana"/>
                </a:rPr>
                <a:t> </a:t>
              </a:r>
              <a:r>
                <a:rPr sz="700" spc="-5">
                  <a:solidFill>
                    <a:srgbClr val="919191"/>
                  </a:solidFill>
                  <a:latin typeface="Verdana"/>
                  <a:cs typeface="Verdana"/>
                </a:rPr>
                <a:t>network</a:t>
              </a:r>
              <a:r>
                <a:rPr sz="700" spc="65">
                  <a:solidFill>
                    <a:srgbClr val="919191"/>
                  </a:solidFill>
                  <a:latin typeface="Verdana"/>
                  <a:cs typeface="Verdana"/>
                </a:rPr>
                <a:t> </a:t>
              </a:r>
              <a:r>
                <a:rPr sz="700" spc="-5">
                  <a:solidFill>
                    <a:srgbClr val="919191"/>
                  </a:solidFill>
                  <a:latin typeface="Verdana"/>
                  <a:cs typeface="Verdana"/>
                </a:rPr>
                <a:t>of</a:t>
              </a:r>
              <a:r>
                <a:rPr sz="700" spc="80">
                  <a:solidFill>
                    <a:srgbClr val="919191"/>
                  </a:solidFill>
                  <a:latin typeface="Verdana"/>
                  <a:cs typeface="Verdana"/>
                </a:rPr>
                <a:t> </a:t>
              </a:r>
              <a:r>
                <a:rPr sz="700" spc="-5">
                  <a:solidFill>
                    <a:srgbClr val="919191"/>
                  </a:solidFill>
                  <a:latin typeface="Verdana"/>
                  <a:cs typeface="Verdana"/>
                </a:rPr>
                <a:t>member</a:t>
              </a:r>
              <a:r>
                <a:rPr sz="700" spc="75">
                  <a:solidFill>
                    <a:srgbClr val="919191"/>
                  </a:solidFill>
                  <a:latin typeface="Verdana"/>
                  <a:cs typeface="Verdana"/>
                </a:rPr>
                <a:t> </a:t>
              </a:r>
              <a:r>
                <a:rPr sz="700" spc="-5">
                  <a:solidFill>
                    <a:srgbClr val="919191"/>
                  </a:solidFill>
                  <a:latin typeface="Verdana"/>
                  <a:cs typeface="Verdana"/>
                </a:rPr>
                <a:t>firms,</a:t>
              </a:r>
              <a:r>
                <a:rPr sz="700" spc="70">
                  <a:solidFill>
                    <a:srgbClr val="919191"/>
                  </a:solidFill>
                  <a:latin typeface="Verdana"/>
                  <a:cs typeface="Verdana"/>
                </a:rPr>
                <a:t> </a:t>
              </a:r>
              <a:r>
                <a:rPr sz="700" spc="-5">
                  <a:solidFill>
                    <a:srgbClr val="919191"/>
                  </a:solidFill>
                  <a:latin typeface="Verdana"/>
                  <a:cs typeface="Verdana"/>
                </a:rPr>
                <a:t>and </a:t>
              </a:r>
              <a:r>
                <a:rPr sz="700" spc="-15">
                  <a:solidFill>
                    <a:srgbClr val="919191"/>
                  </a:solidFill>
                  <a:latin typeface="Verdana"/>
                  <a:cs typeface="Verdana"/>
                </a:rPr>
                <a:t>their</a:t>
              </a:r>
              <a:r>
                <a:rPr sz="700" spc="50">
                  <a:solidFill>
                    <a:srgbClr val="919191"/>
                  </a:solidFill>
                  <a:latin typeface="Verdana"/>
                  <a:cs typeface="Verdana"/>
                </a:rPr>
                <a:t> </a:t>
              </a:r>
              <a:r>
                <a:rPr sz="700" spc="-15">
                  <a:solidFill>
                    <a:srgbClr val="919191"/>
                  </a:solidFill>
                  <a:latin typeface="Verdana"/>
                  <a:cs typeface="Verdana"/>
                </a:rPr>
                <a:t>related</a:t>
              </a:r>
              <a:r>
                <a:rPr sz="700" spc="50">
                  <a:solidFill>
                    <a:srgbClr val="919191"/>
                  </a:solidFill>
                  <a:latin typeface="Verdana"/>
                  <a:cs typeface="Verdana"/>
                </a:rPr>
                <a:t> </a:t>
              </a:r>
              <a:r>
                <a:rPr sz="700" spc="-15">
                  <a:solidFill>
                    <a:srgbClr val="919191"/>
                  </a:solidFill>
                  <a:latin typeface="Verdana"/>
                  <a:cs typeface="Verdana"/>
                </a:rPr>
                <a:t>entities.</a:t>
              </a:r>
              <a:r>
                <a:rPr sz="700" spc="60">
                  <a:solidFill>
                    <a:srgbClr val="919191"/>
                  </a:solidFill>
                  <a:latin typeface="Verdana"/>
                  <a:cs typeface="Verdana"/>
                </a:rPr>
                <a:t> </a:t>
              </a:r>
              <a:r>
                <a:rPr sz="700" spc="-15">
                  <a:solidFill>
                    <a:srgbClr val="919191"/>
                  </a:solidFill>
                  <a:latin typeface="Verdana"/>
                  <a:cs typeface="Verdana"/>
                </a:rPr>
                <a:t>DTTL</a:t>
              </a:r>
              <a:r>
                <a:rPr sz="700" spc="60">
                  <a:solidFill>
                    <a:srgbClr val="919191"/>
                  </a:solidFill>
                  <a:latin typeface="Verdana"/>
                  <a:cs typeface="Verdana"/>
                </a:rPr>
                <a:t> </a:t>
              </a:r>
              <a:r>
                <a:rPr sz="700" spc="-15">
                  <a:solidFill>
                    <a:srgbClr val="919191"/>
                  </a:solidFill>
                  <a:latin typeface="Verdana"/>
                  <a:cs typeface="Verdana"/>
                </a:rPr>
                <a:t>(also</a:t>
              </a:r>
              <a:r>
                <a:rPr sz="700" spc="60">
                  <a:solidFill>
                    <a:srgbClr val="919191"/>
                  </a:solidFill>
                  <a:latin typeface="Verdana"/>
                  <a:cs typeface="Verdana"/>
                </a:rPr>
                <a:t> </a:t>
              </a:r>
              <a:r>
                <a:rPr sz="700" spc="-15">
                  <a:solidFill>
                    <a:srgbClr val="919191"/>
                  </a:solidFill>
                  <a:latin typeface="Verdana"/>
                  <a:cs typeface="Verdana"/>
                </a:rPr>
                <a:t>referred</a:t>
              </a:r>
              <a:r>
                <a:rPr sz="700" spc="50">
                  <a:solidFill>
                    <a:srgbClr val="919191"/>
                  </a:solidFill>
                  <a:latin typeface="Verdana"/>
                  <a:cs typeface="Verdana"/>
                </a:rPr>
                <a:t> </a:t>
              </a:r>
              <a:r>
                <a:rPr sz="700" spc="-15">
                  <a:solidFill>
                    <a:srgbClr val="919191"/>
                  </a:solidFill>
                  <a:latin typeface="Verdana"/>
                  <a:cs typeface="Verdana"/>
                </a:rPr>
                <a:t>to</a:t>
              </a:r>
              <a:r>
                <a:rPr sz="700" spc="50">
                  <a:solidFill>
                    <a:srgbClr val="919191"/>
                  </a:solidFill>
                  <a:latin typeface="Verdana"/>
                  <a:cs typeface="Verdana"/>
                </a:rPr>
                <a:t> </a:t>
              </a:r>
              <a:r>
                <a:rPr sz="700" spc="-15">
                  <a:solidFill>
                    <a:srgbClr val="919191"/>
                  </a:solidFill>
                  <a:latin typeface="Verdana"/>
                  <a:cs typeface="Verdana"/>
                </a:rPr>
                <a:t>as</a:t>
              </a:r>
              <a:r>
                <a:rPr sz="700" spc="45">
                  <a:solidFill>
                    <a:srgbClr val="919191"/>
                  </a:solidFill>
                  <a:latin typeface="Verdana"/>
                  <a:cs typeface="Verdana"/>
                </a:rPr>
                <a:t> </a:t>
              </a:r>
              <a:r>
                <a:rPr sz="700" spc="-15">
                  <a:solidFill>
                    <a:srgbClr val="919191"/>
                  </a:solidFill>
                  <a:latin typeface="Verdana"/>
                  <a:cs typeface="Verdana"/>
                </a:rPr>
                <a:t>“Deloitte</a:t>
              </a:r>
              <a:r>
                <a:rPr sz="700" spc="65">
                  <a:solidFill>
                    <a:srgbClr val="919191"/>
                  </a:solidFill>
                  <a:latin typeface="Verdana"/>
                  <a:cs typeface="Verdana"/>
                </a:rPr>
                <a:t> </a:t>
              </a:r>
              <a:r>
                <a:rPr sz="700" spc="-15">
                  <a:solidFill>
                    <a:srgbClr val="919191"/>
                  </a:solidFill>
                  <a:latin typeface="Verdana"/>
                  <a:cs typeface="Verdana"/>
                </a:rPr>
                <a:t>Global”)</a:t>
              </a:r>
              <a:r>
                <a:rPr sz="700" spc="45">
                  <a:solidFill>
                    <a:srgbClr val="919191"/>
                  </a:solidFill>
                  <a:latin typeface="Verdana"/>
                  <a:cs typeface="Verdana"/>
                </a:rPr>
                <a:t> </a:t>
              </a:r>
              <a:r>
                <a:rPr sz="700" spc="-15">
                  <a:solidFill>
                    <a:srgbClr val="919191"/>
                  </a:solidFill>
                  <a:latin typeface="Verdana"/>
                  <a:cs typeface="Verdana"/>
                </a:rPr>
                <a:t>and</a:t>
              </a:r>
              <a:r>
                <a:rPr sz="700" spc="50">
                  <a:solidFill>
                    <a:srgbClr val="919191"/>
                  </a:solidFill>
                  <a:latin typeface="Verdana"/>
                  <a:cs typeface="Verdana"/>
                </a:rPr>
                <a:t> </a:t>
              </a:r>
              <a:r>
                <a:rPr sz="700" spc="-15">
                  <a:solidFill>
                    <a:srgbClr val="919191"/>
                  </a:solidFill>
                  <a:latin typeface="Verdana"/>
                  <a:cs typeface="Verdana"/>
                </a:rPr>
                <a:t>each</a:t>
              </a:r>
              <a:r>
                <a:rPr sz="700" spc="65">
                  <a:solidFill>
                    <a:srgbClr val="919191"/>
                  </a:solidFill>
                  <a:latin typeface="Verdana"/>
                  <a:cs typeface="Verdana"/>
                </a:rPr>
                <a:t> </a:t>
              </a:r>
              <a:r>
                <a:rPr sz="700" spc="-15">
                  <a:solidFill>
                    <a:srgbClr val="919191"/>
                  </a:solidFill>
                  <a:latin typeface="Verdana"/>
                  <a:cs typeface="Verdana"/>
                </a:rPr>
                <a:t>of</a:t>
              </a:r>
              <a:r>
                <a:rPr sz="700" spc="70">
                  <a:solidFill>
                    <a:srgbClr val="919191"/>
                  </a:solidFill>
                  <a:latin typeface="Verdana"/>
                  <a:cs typeface="Verdana"/>
                </a:rPr>
                <a:t> </a:t>
              </a:r>
              <a:r>
                <a:rPr sz="700" spc="-15">
                  <a:solidFill>
                    <a:srgbClr val="919191"/>
                  </a:solidFill>
                  <a:latin typeface="Verdana"/>
                  <a:cs typeface="Verdana"/>
                </a:rPr>
                <a:t>its</a:t>
              </a:r>
              <a:r>
                <a:rPr sz="700" spc="70">
                  <a:solidFill>
                    <a:srgbClr val="919191"/>
                  </a:solidFill>
                  <a:latin typeface="Verdana"/>
                  <a:cs typeface="Verdana"/>
                </a:rPr>
                <a:t> </a:t>
              </a:r>
              <a:r>
                <a:rPr sz="700" spc="-15">
                  <a:solidFill>
                    <a:srgbClr val="919191"/>
                  </a:solidFill>
                  <a:latin typeface="Verdana"/>
                  <a:cs typeface="Verdana"/>
                </a:rPr>
                <a:t>member</a:t>
              </a:r>
              <a:r>
                <a:rPr sz="700" spc="65">
                  <a:solidFill>
                    <a:srgbClr val="919191"/>
                  </a:solidFill>
                  <a:latin typeface="Verdana"/>
                  <a:cs typeface="Verdana"/>
                </a:rPr>
                <a:t> </a:t>
              </a:r>
              <a:r>
                <a:rPr sz="700" spc="-15">
                  <a:solidFill>
                    <a:srgbClr val="919191"/>
                  </a:solidFill>
                  <a:latin typeface="Verdana"/>
                  <a:cs typeface="Verdana"/>
                </a:rPr>
                <a:t>firms</a:t>
              </a:r>
              <a:r>
                <a:rPr sz="700" spc="60">
                  <a:solidFill>
                    <a:srgbClr val="919191"/>
                  </a:solidFill>
                  <a:latin typeface="Verdana"/>
                  <a:cs typeface="Verdana"/>
                </a:rPr>
                <a:t> </a:t>
              </a:r>
              <a:r>
                <a:rPr sz="700" spc="-15">
                  <a:solidFill>
                    <a:srgbClr val="919191"/>
                  </a:solidFill>
                  <a:latin typeface="Verdana"/>
                  <a:cs typeface="Verdana"/>
                </a:rPr>
                <a:t>are</a:t>
              </a:r>
              <a:r>
                <a:rPr sz="700" spc="65">
                  <a:solidFill>
                    <a:srgbClr val="919191"/>
                  </a:solidFill>
                  <a:latin typeface="Verdana"/>
                  <a:cs typeface="Verdana"/>
                </a:rPr>
                <a:t> </a:t>
              </a:r>
              <a:r>
                <a:rPr sz="700" spc="-15">
                  <a:solidFill>
                    <a:srgbClr val="919191"/>
                  </a:solidFill>
                  <a:latin typeface="Verdana"/>
                  <a:cs typeface="Verdana"/>
                </a:rPr>
                <a:t>legally</a:t>
              </a:r>
              <a:r>
                <a:rPr sz="700" spc="45">
                  <a:solidFill>
                    <a:srgbClr val="919191"/>
                  </a:solidFill>
                  <a:latin typeface="Verdana"/>
                  <a:cs typeface="Verdana"/>
                </a:rPr>
                <a:t> </a:t>
              </a:r>
              <a:r>
                <a:rPr sz="700" spc="-15">
                  <a:solidFill>
                    <a:srgbClr val="919191"/>
                  </a:solidFill>
                  <a:latin typeface="Verdana"/>
                  <a:cs typeface="Verdana"/>
                </a:rPr>
                <a:t>separate</a:t>
              </a:r>
              <a:r>
                <a:rPr sz="700" spc="55">
                  <a:solidFill>
                    <a:srgbClr val="919191"/>
                  </a:solidFill>
                  <a:latin typeface="Verdana"/>
                  <a:cs typeface="Verdana"/>
                </a:rPr>
                <a:t> </a:t>
              </a:r>
              <a:r>
                <a:rPr sz="700" spc="-15">
                  <a:solidFill>
                    <a:srgbClr val="919191"/>
                  </a:solidFill>
                  <a:latin typeface="Verdana"/>
                  <a:cs typeface="Verdana"/>
                </a:rPr>
                <a:t>and </a:t>
              </a:r>
              <a:r>
                <a:rPr sz="700">
                  <a:solidFill>
                    <a:srgbClr val="919191"/>
                  </a:solidFill>
                  <a:latin typeface="Verdana"/>
                  <a:cs typeface="Verdana"/>
                </a:rPr>
                <a:t>independent entities. DTTL does not provide services to clients. Please see </a:t>
              </a:r>
              <a:r>
                <a:rPr sz="700">
                  <a:solidFill>
                    <a:srgbClr val="62B5E5"/>
                  </a:solidFill>
                  <a:latin typeface="Verdana"/>
                  <a:cs typeface="Verdana"/>
                  <a:hlinkClick r:id="rId3">
                    <a:extLst>
                      <a:ext uri="{A12FA001-AC4F-418D-AE19-62706E023703}">
                        <ahyp:hlinkClr xmlns:ahyp="http://schemas.microsoft.com/office/drawing/2018/hyperlinkcolor" val="tx"/>
                      </a:ext>
                    </a:extLst>
                  </a:hlinkClick>
                </a:rPr>
                <a:t>www.deloitte.com/about</a:t>
              </a:r>
              <a:r>
                <a:rPr sz="700">
                  <a:solidFill>
                    <a:srgbClr val="62B5E5"/>
                  </a:solidFill>
                  <a:latin typeface="Verdana"/>
                  <a:cs typeface="Verdana"/>
                </a:rPr>
                <a:t> </a:t>
              </a:r>
              <a:r>
                <a:rPr sz="700">
                  <a:solidFill>
                    <a:srgbClr val="919191"/>
                  </a:solidFill>
                  <a:latin typeface="Verdana"/>
                  <a:cs typeface="Verdana"/>
                </a:rPr>
                <a:t>to learn more.</a:t>
              </a:r>
              <a:endParaRPr/>
            </a:p>
            <a:p>
              <a:pPr marL="12700" marR="12700">
                <a:lnSpc>
                  <a:spcPct val="101179"/>
                </a:lnSpc>
                <a:spcBef>
                  <a:spcPts val="900"/>
                </a:spcBef>
              </a:pPr>
              <a:r>
                <a:rPr sz="700">
                  <a:solidFill>
                    <a:srgbClr val="919191"/>
                  </a:solidFill>
                  <a:latin typeface="Verdana"/>
                  <a:cs typeface="Verdana"/>
                </a:rPr>
                <a:t>Deloitte is a leading global provider of audit and assurance, consulting, financial advisory, risk advisory, tax and related services. Our network of member firms in more than 150 countries and territories serves four out of five Fortune Global </a:t>
              </a:r>
              <a:r>
                <a:rPr sz="700" spc="-10">
                  <a:solidFill>
                    <a:srgbClr val="919191"/>
                  </a:solidFill>
                  <a:latin typeface="Verdana"/>
                  <a:cs typeface="Verdana"/>
                </a:rPr>
                <a:t>500®</a:t>
              </a:r>
              <a:r>
                <a:rPr sz="700" spc="70">
                  <a:solidFill>
                    <a:srgbClr val="919191"/>
                  </a:solidFill>
                  <a:latin typeface="Verdana"/>
                  <a:cs typeface="Verdana"/>
                </a:rPr>
                <a:t> </a:t>
              </a:r>
              <a:r>
                <a:rPr sz="700" spc="-10">
                  <a:solidFill>
                    <a:srgbClr val="919191"/>
                  </a:solidFill>
                  <a:latin typeface="Verdana"/>
                  <a:cs typeface="Verdana"/>
                </a:rPr>
                <a:t>companies.</a:t>
              </a:r>
              <a:r>
                <a:rPr sz="700" spc="65">
                  <a:solidFill>
                    <a:srgbClr val="919191"/>
                  </a:solidFill>
                  <a:latin typeface="Verdana"/>
                  <a:cs typeface="Verdana"/>
                </a:rPr>
                <a:t> </a:t>
              </a:r>
              <a:r>
                <a:rPr sz="700" spc="-10">
                  <a:solidFill>
                    <a:srgbClr val="919191"/>
                  </a:solidFill>
                  <a:latin typeface="Verdana"/>
                  <a:cs typeface="Verdana"/>
                </a:rPr>
                <a:t>Learn</a:t>
              </a:r>
              <a:r>
                <a:rPr sz="700" spc="60">
                  <a:solidFill>
                    <a:srgbClr val="919191"/>
                  </a:solidFill>
                  <a:latin typeface="Verdana"/>
                  <a:cs typeface="Verdana"/>
                </a:rPr>
                <a:t> </a:t>
              </a:r>
              <a:r>
                <a:rPr sz="700" spc="-10">
                  <a:solidFill>
                    <a:srgbClr val="919191"/>
                  </a:solidFill>
                  <a:latin typeface="Verdana"/>
                  <a:cs typeface="Verdana"/>
                </a:rPr>
                <a:t>how</a:t>
              </a:r>
              <a:r>
                <a:rPr sz="700" spc="60">
                  <a:solidFill>
                    <a:srgbClr val="919191"/>
                  </a:solidFill>
                  <a:latin typeface="Verdana"/>
                  <a:cs typeface="Verdana"/>
                </a:rPr>
                <a:t> </a:t>
              </a:r>
              <a:r>
                <a:rPr sz="700" spc="-10">
                  <a:solidFill>
                    <a:srgbClr val="919191"/>
                  </a:solidFill>
                  <a:latin typeface="Verdana"/>
                  <a:cs typeface="Verdana"/>
                </a:rPr>
                <a:t>Deloitte’s</a:t>
              </a:r>
              <a:r>
                <a:rPr sz="700" spc="50">
                  <a:solidFill>
                    <a:srgbClr val="919191"/>
                  </a:solidFill>
                  <a:latin typeface="Verdana"/>
                  <a:cs typeface="Verdana"/>
                </a:rPr>
                <a:t> </a:t>
              </a:r>
              <a:r>
                <a:rPr sz="700" spc="-10">
                  <a:solidFill>
                    <a:srgbClr val="919191"/>
                  </a:solidFill>
                  <a:latin typeface="Verdana"/>
                  <a:cs typeface="Verdana"/>
                </a:rPr>
                <a:t>approximately</a:t>
              </a:r>
              <a:r>
                <a:rPr sz="700" spc="60">
                  <a:solidFill>
                    <a:srgbClr val="919191"/>
                  </a:solidFill>
                  <a:latin typeface="Verdana"/>
                  <a:cs typeface="Verdana"/>
                </a:rPr>
                <a:t> </a:t>
              </a:r>
              <a:r>
                <a:rPr sz="700" spc="-10">
                  <a:solidFill>
                    <a:srgbClr val="919191"/>
                  </a:solidFill>
                  <a:latin typeface="Verdana"/>
                  <a:cs typeface="Verdana"/>
                </a:rPr>
                <a:t>312,000</a:t>
              </a:r>
              <a:r>
                <a:rPr sz="700" spc="70">
                  <a:solidFill>
                    <a:srgbClr val="919191"/>
                  </a:solidFill>
                  <a:latin typeface="Verdana"/>
                  <a:cs typeface="Verdana"/>
                </a:rPr>
                <a:t> </a:t>
              </a:r>
              <a:r>
                <a:rPr sz="700" spc="-10">
                  <a:solidFill>
                    <a:srgbClr val="919191"/>
                  </a:solidFill>
                  <a:latin typeface="Verdana"/>
                  <a:cs typeface="Verdana"/>
                </a:rPr>
                <a:t>people</a:t>
              </a:r>
              <a:r>
                <a:rPr sz="700" spc="60">
                  <a:solidFill>
                    <a:srgbClr val="919191"/>
                  </a:solidFill>
                  <a:latin typeface="Verdana"/>
                  <a:cs typeface="Verdana"/>
                </a:rPr>
                <a:t> </a:t>
              </a:r>
              <a:r>
                <a:rPr sz="700" spc="-10">
                  <a:solidFill>
                    <a:srgbClr val="919191"/>
                  </a:solidFill>
                  <a:latin typeface="Verdana"/>
                  <a:cs typeface="Verdana"/>
                </a:rPr>
                <a:t>make</a:t>
              </a:r>
              <a:r>
                <a:rPr sz="700" spc="60">
                  <a:solidFill>
                    <a:srgbClr val="919191"/>
                  </a:solidFill>
                  <a:latin typeface="Verdana"/>
                  <a:cs typeface="Verdana"/>
                </a:rPr>
                <a:t> </a:t>
              </a:r>
              <a:r>
                <a:rPr sz="700" spc="-10">
                  <a:solidFill>
                    <a:srgbClr val="919191"/>
                  </a:solidFill>
                  <a:latin typeface="Verdana"/>
                  <a:cs typeface="Verdana"/>
                </a:rPr>
                <a:t>an</a:t>
              </a:r>
              <a:r>
                <a:rPr sz="700" spc="70">
                  <a:solidFill>
                    <a:srgbClr val="919191"/>
                  </a:solidFill>
                  <a:latin typeface="Verdana"/>
                  <a:cs typeface="Verdana"/>
                </a:rPr>
                <a:t> </a:t>
              </a:r>
              <a:r>
                <a:rPr sz="700" spc="-10">
                  <a:solidFill>
                    <a:srgbClr val="919191"/>
                  </a:solidFill>
                  <a:latin typeface="Verdana"/>
                  <a:cs typeface="Verdana"/>
                </a:rPr>
                <a:t>impact</a:t>
              </a:r>
              <a:r>
                <a:rPr sz="700" spc="55">
                  <a:solidFill>
                    <a:srgbClr val="919191"/>
                  </a:solidFill>
                  <a:latin typeface="Verdana"/>
                  <a:cs typeface="Verdana"/>
                </a:rPr>
                <a:t> </a:t>
              </a:r>
              <a:r>
                <a:rPr sz="700" spc="-10">
                  <a:solidFill>
                    <a:srgbClr val="919191"/>
                  </a:solidFill>
                  <a:latin typeface="Verdana"/>
                  <a:cs typeface="Verdana"/>
                </a:rPr>
                <a:t>that</a:t>
              </a:r>
              <a:r>
                <a:rPr sz="700" spc="70">
                  <a:solidFill>
                    <a:srgbClr val="919191"/>
                  </a:solidFill>
                  <a:latin typeface="Verdana"/>
                  <a:cs typeface="Verdana"/>
                </a:rPr>
                <a:t> </a:t>
              </a:r>
              <a:r>
                <a:rPr sz="700" spc="-10">
                  <a:solidFill>
                    <a:srgbClr val="919191"/>
                  </a:solidFill>
                  <a:latin typeface="Verdana"/>
                  <a:cs typeface="Verdana"/>
                </a:rPr>
                <a:t>matters</a:t>
              </a:r>
              <a:r>
                <a:rPr sz="700" spc="50">
                  <a:solidFill>
                    <a:srgbClr val="919191"/>
                  </a:solidFill>
                  <a:latin typeface="Verdana"/>
                  <a:cs typeface="Verdana"/>
                </a:rPr>
                <a:t> </a:t>
              </a:r>
              <a:r>
                <a:rPr sz="700" spc="-10">
                  <a:solidFill>
                    <a:srgbClr val="919191"/>
                  </a:solidFill>
                  <a:latin typeface="Verdana"/>
                  <a:cs typeface="Verdana"/>
                </a:rPr>
                <a:t>at</a:t>
              </a:r>
              <a:r>
                <a:rPr sz="700" spc="120">
                  <a:solidFill>
                    <a:srgbClr val="919191"/>
                  </a:solidFill>
                  <a:latin typeface="Verdana"/>
                  <a:cs typeface="Verdana"/>
                </a:rPr>
                <a:t> </a:t>
              </a:r>
              <a:r>
                <a:rPr sz="700" spc="-10">
                  <a:solidFill>
                    <a:srgbClr val="62B5E5"/>
                  </a:solidFill>
                  <a:latin typeface="Verdana"/>
                  <a:cs typeface="Verdana"/>
                  <a:hlinkClick r:id="rId4">
                    <a:extLst>
                      <a:ext uri="{A12FA001-AC4F-418D-AE19-62706E023703}">
                        <ahyp:hlinkClr xmlns:ahyp="http://schemas.microsoft.com/office/drawing/2018/hyperlinkcolor" val="tx"/>
                      </a:ext>
                    </a:extLst>
                  </a:hlinkClick>
                </a:rPr>
                <a:t>www.deloitte.com</a:t>
              </a:r>
              <a:r>
                <a:rPr sz="700" spc="-10">
                  <a:solidFill>
                    <a:srgbClr val="919191"/>
                  </a:solidFill>
                  <a:latin typeface="Verdana"/>
                  <a:cs typeface="Verdana"/>
                  <a:hlinkClick r:id="rId4">
                    <a:extLst>
                      <a:ext uri="{A12FA001-AC4F-418D-AE19-62706E023703}">
                        <ahyp:hlinkClr xmlns:ahyp="http://schemas.microsoft.com/office/drawing/2018/hyperlinkcolor" val="tx"/>
                      </a:ext>
                    </a:extLst>
                  </a:hlinkClick>
                </a:rPr>
                <a:t>.</a:t>
              </a:r>
              <a:endParaRPr/>
            </a:p>
            <a:p>
              <a:pPr marL="12700" marR="73025">
                <a:lnSpc>
                  <a:spcPct val="101443"/>
                </a:lnSpc>
                <a:spcBef>
                  <a:spcPts val="800"/>
                </a:spcBef>
              </a:pPr>
              <a:r>
                <a:rPr sz="700" spc="-5">
                  <a:solidFill>
                    <a:srgbClr val="919191"/>
                  </a:solidFill>
                  <a:latin typeface="Verdana"/>
                  <a:cs typeface="Verdana"/>
                </a:rPr>
                <a:t>This communication contains general information only, and none of Deloitte Touche Tohmatsu Limited, its member firms </a:t>
              </a:r>
              <a:r>
                <a:rPr sz="700" spc="-10">
                  <a:solidFill>
                    <a:srgbClr val="919191"/>
                  </a:solidFill>
                  <a:latin typeface="Verdana"/>
                  <a:cs typeface="Verdana"/>
                </a:rPr>
                <a:t>or</a:t>
              </a:r>
              <a:r>
                <a:rPr sz="700" spc="55">
                  <a:solidFill>
                    <a:srgbClr val="919191"/>
                  </a:solidFill>
                  <a:latin typeface="Verdana"/>
                  <a:cs typeface="Verdana"/>
                </a:rPr>
                <a:t> </a:t>
              </a:r>
              <a:r>
                <a:rPr sz="700" spc="-10">
                  <a:solidFill>
                    <a:srgbClr val="919191"/>
                  </a:solidFill>
                  <a:latin typeface="Verdana"/>
                  <a:cs typeface="Verdana"/>
                </a:rPr>
                <a:t>their</a:t>
              </a:r>
              <a:r>
                <a:rPr sz="700" spc="70">
                  <a:solidFill>
                    <a:srgbClr val="919191"/>
                  </a:solidFill>
                  <a:latin typeface="Verdana"/>
                  <a:cs typeface="Verdana"/>
                </a:rPr>
                <a:t> </a:t>
              </a:r>
              <a:r>
                <a:rPr sz="700" spc="-10">
                  <a:solidFill>
                    <a:srgbClr val="919191"/>
                  </a:solidFill>
                  <a:latin typeface="Verdana"/>
                  <a:cs typeface="Verdana"/>
                </a:rPr>
                <a:t>related</a:t>
              </a:r>
              <a:r>
                <a:rPr sz="700" spc="55">
                  <a:solidFill>
                    <a:srgbClr val="919191"/>
                  </a:solidFill>
                  <a:latin typeface="Verdana"/>
                  <a:cs typeface="Verdana"/>
                </a:rPr>
                <a:t> </a:t>
              </a:r>
              <a:r>
                <a:rPr sz="700" spc="-10">
                  <a:solidFill>
                    <a:srgbClr val="919191"/>
                  </a:solidFill>
                  <a:latin typeface="Verdana"/>
                  <a:cs typeface="Verdana"/>
                </a:rPr>
                <a:t>entities</a:t>
              </a:r>
              <a:r>
                <a:rPr sz="700" spc="65">
                  <a:solidFill>
                    <a:srgbClr val="919191"/>
                  </a:solidFill>
                  <a:latin typeface="Verdana"/>
                  <a:cs typeface="Verdana"/>
                </a:rPr>
                <a:t> </a:t>
              </a:r>
              <a:r>
                <a:rPr sz="700" spc="-10">
                  <a:solidFill>
                    <a:srgbClr val="919191"/>
                  </a:solidFill>
                  <a:latin typeface="Verdana"/>
                  <a:cs typeface="Verdana"/>
                </a:rPr>
                <a:t>(collectively,</a:t>
              </a:r>
              <a:r>
                <a:rPr sz="700" spc="55">
                  <a:solidFill>
                    <a:srgbClr val="919191"/>
                  </a:solidFill>
                  <a:latin typeface="Verdana"/>
                  <a:cs typeface="Verdana"/>
                </a:rPr>
                <a:t> </a:t>
              </a:r>
              <a:r>
                <a:rPr sz="700" spc="-10">
                  <a:solidFill>
                    <a:srgbClr val="919191"/>
                  </a:solidFill>
                  <a:latin typeface="Verdana"/>
                  <a:cs typeface="Verdana"/>
                </a:rPr>
                <a:t>the</a:t>
              </a:r>
              <a:r>
                <a:rPr sz="700" spc="60">
                  <a:solidFill>
                    <a:srgbClr val="919191"/>
                  </a:solidFill>
                  <a:latin typeface="Verdana"/>
                  <a:cs typeface="Verdana"/>
                </a:rPr>
                <a:t> </a:t>
              </a:r>
              <a:r>
                <a:rPr sz="700" spc="-10">
                  <a:solidFill>
                    <a:srgbClr val="919191"/>
                  </a:solidFill>
                  <a:latin typeface="Verdana"/>
                  <a:cs typeface="Verdana"/>
                </a:rPr>
                <a:t>“Deloitte</a:t>
              </a:r>
              <a:r>
                <a:rPr sz="700" spc="70">
                  <a:solidFill>
                    <a:srgbClr val="919191"/>
                  </a:solidFill>
                  <a:latin typeface="Verdana"/>
                  <a:cs typeface="Verdana"/>
                </a:rPr>
                <a:t> </a:t>
              </a:r>
              <a:r>
                <a:rPr sz="700" spc="-10">
                  <a:solidFill>
                    <a:srgbClr val="919191"/>
                  </a:solidFill>
                  <a:latin typeface="Verdana"/>
                  <a:cs typeface="Verdana"/>
                </a:rPr>
                <a:t>network”)</a:t>
              </a:r>
              <a:r>
                <a:rPr sz="700" spc="75">
                  <a:solidFill>
                    <a:srgbClr val="919191"/>
                  </a:solidFill>
                  <a:latin typeface="Verdana"/>
                  <a:cs typeface="Verdana"/>
                </a:rPr>
                <a:t> </a:t>
              </a:r>
              <a:r>
                <a:rPr sz="700" spc="-10">
                  <a:solidFill>
                    <a:srgbClr val="919191"/>
                  </a:solidFill>
                  <a:latin typeface="Verdana"/>
                  <a:cs typeface="Verdana"/>
                </a:rPr>
                <a:t>is,</a:t>
              </a:r>
              <a:r>
                <a:rPr sz="700" spc="65">
                  <a:solidFill>
                    <a:srgbClr val="919191"/>
                  </a:solidFill>
                  <a:latin typeface="Verdana"/>
                  <a:cs typeface="Verdana"/>
                </a:rPr>
                <a:t> </a:t>
              </a:r>
              <a:r>
                <a:rPr sz="700" spc="-10">
                  <a:solidFill>
                    <a:srgbClr val="919191"/>
                  </a:solidFill>
                  <a:latin typeface="Verdana"/>
                  <a:cs typeface="Verdana"/>
                </a:rPr>
                <a:t>by</a:t>
              </a:r>
              <a:r>
                <a:rPr sz="700" spc="60">
                  <a:solidFill>
                    <a:srgbClr val="919191"/>
                  </a:solidFill>
                  <a:latin typeface="Verdana"/>
                  <a:cs typeface="Verdana"/>
                </a:rPr>
                <a:t> </a:t>
              </a:r>
              <a:r>
                <a:rPr sz="700" spc="-10">
                  <a:solidFill>
                    <a:srgbClr val="919191"/>
                  </a:solidFill>
                  <a:latin typeface="Verdana"/>
                  <a:cs typeface="Verdana"/>
                </a:rPr>
                <a:t>means</a:t>
              </a:r>
              <a:r>
                <a:rPr sz="700" spc="50">
                  <a:solidFill>
                    <a:srgbClr val="919191"/>
                  </a:solidFill>
                  <a:latin typeface="Verdana"/>
                  <a:cs typeface="Verdana"/>
                </a:rPr>
                <a:t> </a:t>
              </a:r>
              <a:r>
                <a:rPr sz="700" spc="-10">
                  <a:solidFill>
                    <a:srgbClr val="919191"/>
                  </a:solidFill>
                  <a:latin typeface="Verdana"/>
                  <a:cs typeface="Verdana"/>
                </a:rPr>
                <a:t>of</a:t>
              </a:r>
              <a:r>
                <a:rPr sz="700" spc="50">
                  <a:solidFill>
                    <a:srgbClr val="919191"/>
                  </a:solidFill>
                  <a:latin typeface="Verdana"/>
                  <a:cs typeface="Verdana"/>
                </a:rPr>
                <a:t> </a:t>
              </a:r>
              <a:r>
                <a:rPr sz="700" spc="-10">
                  <a:solidFill>
                    <a:srgbClr val="919191"/>
                  </a:solidFill>
                  <a:latin typeface="Verdana"/>
                  <a:cs typeface="Verdana"/>
                </a:rPr>
                <a:t>this</a:t>
              </a:r>
              <a:r>
                <a:rPr sz="700" spc="65">
                  <a:solidFill>
                    <a:srgbClr val="919191"/>
                  </a:solidFill>
                  <a:latin typeface="Verdana"/>
                  <a:cs typeface="Verdana"/>
                </a:rPr>
                <a:t> </a:t>
              </a:r>
              <a:r>
                <a:rPr sz="700" spc="-10">
                  <a:solidFill>
                    <a:srgbClr val="919191"/>
                  </a:solidFill>
                  <a:latin typeface="Verdana"/>
                  <a:cs typeface="Verdana"/>
                </a:rPr>
                <a:t>communication,</a:t>
              </a:r>
              <a:r>
                <a:rPr sz="700" spc="55">
                  <a:solidFill>
                    <a:srgbClr val="919191"/>
                  </a:solidFill>
                  <a:latin typeface="Verdana"/>
                  <a:cs typeface="Verdana"/>
                </a:rPr>
                <a:t> </a:t>
              </a:r>
              <a:r>
                <a:rPr sz="700" spc="-10">
                  <a:solidFill>
                    <a:srgbClr val="919191"/>
                  </a:solidFill>
                  <a:latin typeface="Verdana"/>
                  <a:cs typeface="Verdana"/>
                </a:rPr>
                <a:t>rendering</a:t>
              </a:r>
              <a:r>
                <a:rPr sz="700" spc="65">
                  <a:solidFill>
                    <a:srgbClr val="919191"/>
                  </a:solidFill>
                  <a:latin typeface="Verdana"/>
                  <a:cs typeface="Verdana"/>
                </a:rPr>
                <a:t> </a:t>
              </a:r>
              <a:r>
                <a:rPr sz="700" spc="-10">
                  <a:solidFill>
                    <a:srgbClr val="919191"/>
                  </a:solidFill>
                  <a:latin typeface="Verdana"/>
                  <a:cs typeface="Verdana"/>
                </a:rPr>
                <a:t>professional </a:t>
              </a:r>
              <a:r>
                <a:rPr sz="700">
                  <a:solidFill>
                    <a:srgbClr val="919191"/>
                  </a:solidFill>
                  <a:latin typeface="Verdana"/>
                  <a:cs typeface="Verdana"/>
                </a:rPr>
                <a:t>advice or services. Before making any decision or taking any action that may affect your finances or your business, you should consult a qualified professional adviser. No entity in the Deloitte network shall be responsible for any loss whatsoever sustained by any person who relies on this communication.</a:t>
              </a:r>
              <a:endParaRPr/>
            </a:p>
            <a:p>
              <a:pPr marL="12700">
                <a:spcBef>
                  <a:spcPts val="900"/>
                </a:spcBef>
              </a:pPr>
              <a:r>
                <a:rPr sz="700">
                  <a:solidFill>
                    <a:srgbClr val="919191"/>
                  </a:solidFill>
                  <a:latin typeface="Verdana"/>
                  <a:cs typeface="Verdana"/>
                </a:rPr>
                <a:t>36 Al Farabi Ave.</a:t>
              </a:r>
              <a:endParaRPr/>
            </a:p>
            <a:p>
              <a:pPr marL="12700"/>
              <a:r>
                <a:rPr sz="700">
                  <a:solidFill>
                    <a:srgbClr val="919191"/>
                  </a:solidFill>
                  <a:latin typeface="Verdana"/>
                  <a:cs typeface="Verdana"/>
                </a:rPr>
                <a:t>Almaty, 050059, Republic of Kazakhstan</a:t>
              </a:r>
              <a:endParaRPr/>
            </a:p>
          </p:txBody>
        </p:sp>
        <p:sp>
          <p:nvSpPr>
            <p:cNvPr id="12" name="shape 12"/>
            <p:cNvSpPr txBox="1"/>
            <p:nvPr/>
          </p:nvSpPr>
          <p:spPr>
            <a:xfrm>
              <a:off x="276682" y="2264410"/>
              <a:ext cx="5423535" cy="436474"/>
            </a:xfrm>
            <a:prstGeom prst="rect"/>
            <a:noFill/>
          </p:spPr>
          <p:txBody>
            <a:bodyPr vertOverflow="overflow" horzOverflow="overflow" numCol="1" wrap="square" lIns="0" tIns="0" rIns="0" bIns="0">
              <a:spAutoFit/>
            </a:bodyPr>
            <a:p>
              <a:pPr marL="12700" algn="just"/>
              <a:r>
                <a:rPr sz="700">
                  <a:solidFill>
                    <a:srgbClr val="919191"/>
                  </a:solidFill>
                  <a:latin typeface="Verdana"/>
                  <a:cs typeface="Verdana"/>
                </a:rPr>
                <a:t>©</a:t>
              </a:r>
              <a:r>
                <a:rPr sz="700" spc="65">
                  <a:solidFill>
                    <a:srgbClr val="919191"/>
                  </a:solidFill>
                  <a:latin typeface="Verdana"/>
                  <a:cs typeface="Verdana"/>
                </a:rPr>
                <a:t> </a:t>
              </a:r>
              <a:r>
                <a:rPr sz="700">
                  <a:solidFill>
                    <a:srgbClr val="919191"/>
                  </a:solidFill>
                  <a:latin typeface="Verdana"/>
                  <a:cs typeface="Verdana"/>
                </a:rPr>
                <a:t>2020 Deloitte LLP &amp; Deloitte TCF, LLP. All rights reserved.</a:t>
              </a:r>
              <a:endParaRPr/>
            </a:p>
            <a:p>
              <a:pPr marL="12700" marR="12700" algn="just">
                <a:lnSpc>
                  <a:spcPct val="100751"/>
                </a:lnSpc>
                <a:spcBef>
                  <a:spcPts val="900"/>
                </a:spcBef>
              </a:pPr>
              <a:r>
                <a:rPr sz="700" spc="-5">
                  <a:latin typeface="Verdana"/>
                  <a:cs typeface="Verdana"/>
                </a:rPr>
                <a:t>To no longer receive emails about this topic please send a return email to the sender with the word “Unsubscribe” in the </a:t>
              </a:r>
              <a:r>
                <a:rPr sz="700">
                  <a:latin typeface="Verdana"/>
                  <a:cs typeface="Verdana"/>
                </a:rPr>
                <a:t>subject line.</a:t>
              </a:r>
              <a:endParaRPr/>
            </a:p>
          </p:txBody>
        </p:sp>
        <p:sp>
          <p:nvSpPr>
            <p:cNvPr id="13" name="shape 13"/>
            <p:cNvSpPr/>
            <p:nvPr/>
          </p:nvSpPr>
          <p:spPr>
            <a:xfrm>
              <a:off x="36576" y="2844420"/>
              <a:ext cx="6008878" cy="190500"/>
            </a:xfrm>
            <a:prstGeom prst="rect">
              <a:avLst/>
            </a:prstGeom>
            <a:solidFill>
              <a:srgbClr val="F3F3F3"/>
            </a:solidFill>
          </p:spPr>
        </p:sp>
        <p:sp>
          <p:nvSpPr>
            <p:cNvPr id="14" name="shape 14"/>
            <p:cNvSpPr/>
            <p:nvPr/>
          </p:nvSpPr>
          <p:spPr>
            <a:xfrm>
              <a:off x="36576" y="3034920"/>
              <a:ext cx="6008878" cy="160020"/>
            </a:xfrm>
            <a:prstGeom prst="rect">
              <a:avLst/>
            </a:prstGeom>
            <a:solidFill>
              <a:srgbClr val="F3F3F3"/>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p:cNvGrpSpPr/>
          <p:nvPr/>
        </p:nvGrpSpPr>
        <p:grpSpPr>
          <a:xfrm>
            <a:off x="719633" y="179832"/>
            <a:ext cx="6082030" cy="9358883"/>
            <a:chOff x="0" y="0"/>
            <a:chExt cx="6082030" cy="9358883"/>
          </a:xfrm>
        </p:grpSpPr>
        <p:sp>
          <p:nvSpPr>
            <p:cNvPr id="3" name="shape 3"/>
            <p:cNvSpPr/>
            <p:nvPr/>
          </p:nvSpPr>
          <p:spPr>
            <a:xfrm>
              <a:off x="6045454" y="9168383"/>
              <a:ext cx="36576" cy="190500"/>
            </a:xfrm>
            <a:prstGeom prst="rect">
              <a:avLst/>
            </a:prstGeom>
            <a:solidFill>
              <a:srgbClr val="F3F3F3"/>
            </a:solidFill>
          </p:spPr>
        </p:sp>
        <p:sp>
          <p:nvSpPr>
            <p:cNvPr id="4" name="shape 4"/>
            <p:cNvSpPr/>
            <p:nvPr/>
          </p:nvSpPr>
          <p:spPr>
            <a:xfrm>
              <a:off x="0" y="9168383"/>
              <a:ext cx="36576" cy="190500"/>
            </a:xfrm>
            <a:prstGeom prst="rect">
              <a:avLst/>
            </a:prstGeom>
            <a:solidFill>
              <a:srgbClr val="F3F3F3"/>
            </a:solidFill>
          </p:spPr>
        </p:sp>
        <p:sp>
          <p:nvSpPr>
            <p:cNvPr id="5" name="shape 5"/>
            <p:cNvSpPr/>
            <p:nvPr/>
          </p:nvSpPr>
          <p:spPr>
            <a:xfrm>
              <a:off x="0" y="161544"/>
              <a:ext cx="6082030" cy="9006839"/>
            </a:xfrm>
            <a:prstGeom prst="rect">
              <a:avLst/>
            </a:prstGeom>
            <a:solidFill>
              <a:srgbClr val="F3F3F3"/>
            </a:solidFill>
          </p:spPr>
        </p:sp>
        <p:sp>
          <p:nvSpPr>
            <p:cNvPr id="6" name="shape 6"/>
            <p:cNvSpPr/>
            <p:nvPr/>
          </p:nvSpPr>
          <p:spPr>
            <a:xfrm>
              <a:off x="6045454" y="0"/>
              <a:ext cx="36576" cy="161544"/>
            </a:xfrm>
            <a:prstGeom prst="rect">
              <a:avLst/>
            </a:prstGeom>
            <a:solidFill>
              <a:srgbClr val="F3F3F3"/>
            </a:solidFill>
          </p:spPr>
        </p:sp>
        <p:sp>
          <p:nvSpPr>
            <p:cNvPr id="7" name="shape 7"/>
            <p:cNvSpPr/>
            <p:nvPr/>
          </p:nvSpPr>
          <p:spPr>
            <a:xfrm>
              <a:off x="0" y="0"/>
              <a:ext cx="36576" cy="161544"/>
            </a:xfrm>
            <a:prstGeom prst="rect">
              <a:avLst/>
            </a:prstGeom>
            <a:solidFill>
              <a:srgbClr val="F3F3F3"/>
            </a:solidFill>
          </p:spPr>
        </p:sp>
        <p:sp>
          <p:nvSpPr>
            <p:cNvPr id="8" name="shape 8"/>
            <p:cNvSpPr/>
            <p:nvPr/>
          </p:nvSpPr>
          <p:spPr>
            <a:xfrm>
              <a:off x="36576" y="0"/>
              <a:ext cx="6008878" cy="161544"/>
            </a:xfrm>
            <a:prstGeom prst="rect">
              <a:avLst/>
            </a:prstGeom>
            <a:solidFill>
              <a:srgbClr val="F3F3F3"/>
            </a:solidFill>
          </p:spPr>
        </p:sp>
        <p:sp>
          <p:nvSpPr>
            <p:cNvPr id="9" name="shape 9"/>
            <p:cNvSpPr/>
            <p:nvPr/>
          </p:nvSpPr>
          <p:spPr>
            <a:xfrm>
              <a:off x="5941822" y="175209"/>
              <a:ext cx="103633" cy="51"/>
            </a:xfrm>
            <a:prstGeom prst="rect">
              <a:avLst/>
            </a:prstGeom>
            <a:solidFill>
              <a:srgbClr val="F3F3F3"/>
            </a:solidFill>
          </p:spPr>
        </p:sp>
        <p:sp>
          <p:nvSpPr>
            <p:cNvPr id="10" name="shape 10"/>
            <p:cNvSpPr/>
            <p:nvPr/>
          </p:nvSpPr>
          <p:spPr>
            <a:xfrm>
              <a:off x="36576" y="161543"/>
              <a:ext cx="6008878" cy="13666"/>
            </a:xfrm>
            <a:prstGeom prst="rect">
              <a:avLst/>
            </a:prstGeom>
            <a:solidFill>
              <a:srgbClr val="F3F3F3"/>
            </a:solidFill>
          </p:spPr>
        </p:sp>
        <p:sp>
          <p:nvSpPr>
            <p:cNvPr id="11" name="shape 11"/>
            <p:cNvSpPr/>
            <p:nvPr/>
          </p:nvSpPr>
          <p:spPr>
            <a:xfrm>
              <a:off x="36576" y="175209"/>
              <a:ext cx="108204" cy="724205"/>
            </a:xfrm>
            <a:prstGeom prst="rect">
              <a:avLst/>
            </a:prstGeom>
            <a:solidFill>
              <a:srgbClr val="F3F3F3"/>
            </a:solidFill>
          </p:spPr>
        </p:sp>
        <p:sp>
          <p:nvSpPr>
            <p:cNvPr id="12" name="shape 12"/>
            <p:cNvSpPr/>
            <p:nvPr/>
          </p:nvSpPr>
          <p:spPr>
            <a:xfrm>
              <a:off x="144780" y="175209"/>
              <a:ext cx="5797042" cy="724205"/>
            </a:xfrm>
            <a:prstGeom prst="rect">
              <a:avLst/>
            </a:prstGeom>
            <a:solidFill>
              <a:srgbClr val="F3F3F3"/>
            </a:solidFill>
          </p:spPr>
        </p:sp>
        <p:sp>
          <p:nvSpPr>
            <p:cNvPr id="13" name="shape 13"/>
            <p:cNvSpPr/>
            <p:nvPr/>
          </p:nvSpPr>
          <p:spPr>
            <a:xfrm>
              <a:off x="36576" y="899413"/>
              <a:ext cx="108204" cy="565405"/>
            </a:xfrm>
            <a:prstGeom prst="rect">
              <a:avLst/>
            </a:prstGeom>
            <a:solidFill>
              <a:srgbClr val="F3F3F3"/>
            </a:solidFill>
          </p:spPr>
        </p:sp>
        <p:sp>
          <p:nvSpPr>
            <p:cNvPr id="14" name="shape 14"/>
            <p:cNvSpPr/>
            <p:nvPr/>
          </p:nvSpPr>
          <p:spPr>
            <a:xfrm>
              <a:off x="144780" y="899413"/>
              <a:ext cx="5797042" cy="565405"/>
            </a:xfrm>
            <a:prstGeom prst="rect">
              <a:avLst/>
            </a:prstGeom>
            <a:solidFill>
              <a:srgbClr val="F3F3F3"/>
            </a:solidFill>
          </p:spPr>
        </p:sp>
        <p:sp>
          <p:nvSpPr>
            <p:cNvPr id="15" name="shape 15"/>
            <p:cNvSpPr/>
            <p:nvPr/>
          </p:nvSpPr>
          <p:spPr>
            <a:xfrm>
              <a:off x="36576" y="1464944"/>
              <a:ext cx="108204" cy="2386788"/>
            </a:xfrm>
            <a:prstGeom prst="rect">
              <a:avLst/>
            </a:prstGeom>
            <a:solidFill>
              <a:srgbClr val="F3F3F3"/>
            </a:solidFill>
          </p:spPr>
        </p:sp>
        <p:sp>
          <p:nvSpPr>
            <p:cNvPr id="16" name="shape 16"/>
            <p:cNvSpPr/>
            <p:nvPr/>
          </p:nvSpPr>
          <p:spPr>
            <a:xfrm>
              <a:off x="144780" y="1464944"/>
              <a:ext cx="5797042" cy="2386838"/>
            </a:xfrm>
            <a:prstGeom prst="rect">
              <a:avLst/>
            </a:prstGeom>
            <a:solidFill>
              <a:srgbClr val="000000"/>
            </a:solidFill>
          </p:spPr>
        </p:sp>
        <p:sp>
          <p:nvSpPr>
            <p:cNvPr id="17" name="shape 17"/>
            <p:cNvSpPr/>
            <p:nvPr/>
          </p:nvSpPr>
          <p:spPr>
            <a:xfrm>
              <a:off x="36576" y="3851732"/>
              <a:ext cx="108204" cy="1045769"/>
            </a:xfrm>
            <a:prstGeom prst="rect">
              <a:avLst/>
            </a:prstGeom>
            <a:solidFill>
              <a:srgbClr val="F3F3F3"/>
            </a:solidFill>
          </p:spPr>
        </p:sp>
        <p:sp>
          <p:nvSpPr>
            <p:cNvPr id="18" name="shape 18"/>
            <p:cNvSpPr/>
            <p:nvPr/>
          </p:nvSpPr>
          <p:spPr>
            <a:xfrm>
              <a:off x="144780" y="3871544"/>
              <a:ext cx="5797042" cy="52"/>
            </a:xfrm>
            <a:prstGeom prst="rect">
              <a:avLst/>
            </a:prstGeom>
            <a:solidFill>
              <a:srgbClr val="000000"/>
            </a:solidFill>
          </p:spPr>
        </p:sp>
        <p:sp>
          <p:nvSpPr>
            <p:cNvPr id="19" name="shape 19"/>
            <p:cNvSpPr/>
            <p:nvPr/>
          </p:nvSpPr>
          <p:spPr>
            <a:xfrm>
              <a:off x="144780" y="3871595"/>
              <a:ext cx="5797042" cy="512013"/>
            </a:xfrm>
            <a:prstGeom prst="rect">
              <a:avLst/>
            </a:prstGeom>
            <a:solidFill>
              <a:srgbClr val="000000"/>
            </a:solidFill>
          </p:spPr>
        </p:sp>
        <p:sp>
          <p:nvSpPr>
            <p:cNvPr id="20" name="shape 20"/>
            <p:cNvSpPr/>
            <p:nvPr/>
          </p:nvSpPr>
          <p:spPr>
            <a:xfrm>
              <a:off x="144780" y="4383608"/>
              <a:ext cx="5797042" cy="513893"/>
            </a:xfrm>
            <a:prstGeom prst="rect">
              <a:avLst/>
            </a:prstGeom>
            <a:solidFill>
              <a:srgbClr val="000000"/>
            </a:solidFill>
          </p:spPr>
        </p:sp>
        <p:sp>
          <p:nvSpPr>
            <p:cNvPr id="21" name="shape 21"/>
            <p:cNvSpPr/>
            <p:nvPr/>
          </p:nvSpPr>
          <p:spPr>
            <a:xfrm>
              <a:off x="144780" y="3870070"/>
              <a:ext cx="5797042" cy="1524"/>
            </a:xfrm>
            <a:prstGeom prst="rect">
              <a:avLst/>
            </a:prstGeom>
            <a:solidFill>
              <a:srgbClr val="000000"/>
            </a:solidFill>
          </p:spPr>
        </p:sp>
        <p:sp>
          <p:nvSpPr>
            <p:cNvPr id="22" name="shape 22"/>
            <p:cNvSpPr/>
            <p:nvPr/>
          </p:nvSpPr>
          <p:spPr>
            <a:xfrm>
              <a:off x="36576" y="4897501"/>
              <a:ext cx="6008878" cy="190500"/>
            </a:xfrm>
            <a:prstGeom prst="rect">
              <a:avLst/>
            </a:prstGeom>
            <a:solidFill>
              <a:srgbClr val="F3F3F3"/>
            </a:solidFill>
          </p:spPr>
        </p:sp>
        <p:sp>
          <p:nvSpPr>
            <p:cNvPr id="23" name="shape 23"/>
            <p:cNvSpPr/>
            <p:nvPr/>
          </p:nvSpPr>
          <p:spPr>
            <a:xfrm>
              <a:off x="36576" y="5088001"/>
              <a:ext cx="108204" cy="4080383"/>
            </a:xfrm>
            <a:prstGeom prst="rect">
              <a:avLst/>
            </a:prstGeom>
            <a:solidFill>
              <a:srgbClr val="F3F3F3"/>
            </a:solidFill>
          </p:spPr>
        </p:sp>
        <p:sp>
          <p:nvSpPr>
            <p:cNvPr id="24" name="shape 24"/>
            <p:cNvSpPr/>
            <p:nvPr/>
          </p:nvSpPr>
          <p:spPr>
            <a:xfrm>
              <a:off x="144780" y="5197729"/>
              <a:ext cx="5797042" cy="3899027"/>
            </a:xfrm>
            <a:prstGeom prst="rect">
              <a:avLst/>
            </a:prstGeom>
            <a:solidFill>
              <a:srgbClr val="FFFFFF"/>
            </a:solidFill>
          </p:spPr>
        </p:sp>
        <p:sp>
          <p:nvSpPr>
            <p:cNvPr id="25" name="shape 25"/>
            <p:cNvSpPr/>
            <p:nvPr/>
          </p:nvSpPr>
          <p:spPr>
            <a:xfrm>
              <a:off x="181356" y="5197729"/>
              <a:ext cx="5723891" cy="454152"/>
            </a:xfrm>
            <a:prstGeom prst="rect">
              <a:avLst/>
            </a:prstGeom>
            <a:solidFill>
              <a:srgbClr val="FFFFFF"/>
            </a:solidFill>
          </p:spPr>
        </p:sp>
        <p:sp>
          <p:nvSpPr>
            <p:cNvPr id="26" name="shape 26"/>
            <p:cNvSpPr/>
            <p:nvPr/>
          </p:nvSpPr>
          <p:spPr>
            <a:xfrm>
              <a:off x="181356" y="5651881"/>
              <a:ext cx="5723891" cy="195072"/>
            </a:xfrm>
            <a:prstGeom prst="rect">
              <a:avLst/>
            </a:prstGeom>
            <a:solidFill>
              <a:srgbClr val="FFFFFF"/>
            </a:solidFill>
          </p:spPr>
        </p:sp>
        <p:sp>
          <p:nvSpPr>
            <p:cNvPr id="27" name="shape 27"/>
            <p:cNvSpPr/>
            <p:nvPr/>
          </p:nvSpPr>
          <p:spPr>
            <a:xfrm>
              <a:off x="181356" y="5846953"/>
              <a:ext cx="5723891" cy="195072"/>
            </a:xfrm>
            <a:prstGeom prst="rect">
              <a:avLst/>
            </a:prstGeom>
            <a:solidFill>
              <a:srgbClr val="FFFFFF"/>
            </a:solidFill>
          </p:spPr>
        </p:sp>
        <p:sp>
          <p:nvSpPr>
            <p:cNvPr id="28" name="shape 28"/>
            <p:cNvSpPr/>
            <p:nvPr/>
          </p:nvSpPr>
          <p:spPr>
            <a:xfrm>
              <a:off x="181356" y="6042025"/>
              <a:ext cx="5723891" cy="195072"/>
            </a:xfrm>
            <a:prstGeom prst="rect">
              <a:avLst/>
            </a:prstGeom>
            <a:solidFill>
              <a:srgbClr val="FFFFFF"/>
            </a:solidFill>
          </p:spPr>
        </p:sp>
        <p:sp>
          <p:nvSpPr>
            <p:cNvPr id="29" name="shape 29"/>
            <p:cNvSpPr/>
            <p:nvPr/>
          </p:nvSpPr>
          <p:spPr>
            <a:xfrm>
              <a:off x="181356" y="6237097"/>
              <a:ext cx="5723891" cy="195073"/>
            </a:xfrm>
            <a:prstGeom prst="rect">
              <a:avLst/>
            </a:prstGeom>
            <a:solidFill>
              <a:srgbClr val="FFFFFF"/>
            </a:solidFill>
          </p:spPr>
        </p:sp>
        <p:sp>
          <p:nvSpPr>
            <p:cNvPr id="30" name="shape 30"/>
            <p:cNvSpPr/>
            <p:nvPr/>
          </p:nvSpPr>
          <p:spPr>
            <a:xfrm>
              <a:off x="181356" y="6432245"/>
              <a:ext cx="5723891" cy="195377"/>
            </a:xfrm>
            <a:prstGeom prst="rect">
              <a:avLst/>
            </a:prstGeom>
            <a:solidFill>
              <a:srgbClr val="FFFFFF"/>
            </a:solidFill>
          </p:spPr>
        </p:sp>
        <p:sp>
          <p:nvSpPr>
            <p:cNvPr id="31" name="shape 31"/>
            <p:cNvSpPr/>
            <p:nvPr/>
          </p:nvSpPr>
          <p:spPr>
            <a:xfrm>
              <a:off x="181356" y="6627621"/>
              <a:ext cx="5723891" cy="347473"/>
            </a:xfrm>
            <a:prstGeom prst="rect">
              <a:avLst/>
            </a:prstGeom>
            <a:solidFill>
              <a:srgbClr val="FFFFFF"/>
            </a:solidFill>
          </p:spPr>
        </p:sp>
        <p:sp>
          <p:nvSpPr>
            <p:cNvPr id="32" name="shape 32"/>
            <p:cNvSpPr/>
            <p:nvPr/>
          </p:nvSpPr>
          <p:spPr>
            <a:xfrm>
              <a:off x="181356" y="6975094"/>
              <a:ext cx="5723891" cy="196596"/>
            </a:xfrm>
            <a:prstGeom prst="rect">
              <a:avLst/>
            </a:prstGeom>
            <a:solidFill>
              <a:srgbClr val="FFFFFF"/>
            </a:solidFill>
          </p:spPr>
        </p:sp>
        <p:sp>
          <p:nvSpPr>
            <p:cNvPr id="33" name="shape 33"/>
            <p:cNvSpPr/>
            <p:nvPr/>
          </p:nvSpPr>
          <p:spPr>
            <a:xfrm>
              <a:off x="181356" y="7171690"/>
              <a:ext cx="5723891" cy="347472"/>
            </a:xfrm>
            <a:prstGeom prst="rect">
              <a:avLst/>
            </a:prstGeom>
            <a:solidFill>
              <a:srgbClr val="FFFFFF"/>
            </a:solidFill>
          </p:spPr>
        </p:sp>
        <p:sp>
          <p:nvSpPr>
            <p:cNvPr id="34" name="shape 34"/>
            <p:cNvSpPr/>
            <p:nvPr/>
          </p:nvSpPr>
          <p:spPr>
            <a:xfrm>
              <a:off x="181356" y="7519161"/>
              <a:ext cx="5723891" cy="245365"/>
            </a:xfrm>
            <a:prstGeom prst="rect">
              <a:avLst/>
            </a:prstGeom>
            <a:solidFill>
              <a:srgbClr val="FFFFFF"/>
            </a:solidFill>
          </p:spPr>
        </p:sp>
        <p:sp>
          <p:nvSpPr>
            <p:cNvPr id="35" name="shape 35"/>
            <p:cNvSpPr/>
            <p:nvPr/>
          </p:nvSpPr>
          <p:spPr>
            <a:xfrm>
              <a:off x="181356" y="7764526"/>
              <a:ext cx="5723891" cy="245365"/>
            </a:xfrm>
            <a:prstGeom prst="rect">
              <a:avLst/>
            </a:prstGeom>
            <a:solidFill>
              <a:srgbClr val="FFFFFF"/>
            </a:solidFill>
          </p:spPr>
        </p:sp>
        <p:sp>
          <p:nvSpPr>
            <p:cNvPr id="36" name="shape 36"/>
            <p:cNvSpPr/>
            <p:nvPr/>
          </p:nvSpPr>
          <p:spPr>
            <a:xfrm>
              <a:off x="181356" y="8009890"/>
              <a:ext cx="5723891" cy="246838"/>
            </a:xfrm>
            <a:prstGeom prst="rect">
              <a:avLst/>
            </a:prstGeom>
            <a:solidFill>
              <a:srgbClr val="FFFFFF"/>
            </a:solidFill>
          </p:spPr>
        </p:sp>
        <p:sp>
          <p:nvSpPr>
            <p:cNvPr id="37" name="shape 37"/>
            <p:cNvSpPr/>
            <p:nvPr/>
          </p:nvSpPr>
          <p:spPr>
            <a:xfrm>
              <a:off x="181356" y="8256727"/>
              <a:ext cx="5723891" cy="245668"/>
            </a:xfrm>
            <a:prstGeom prst="rect">
              <a:avLst/>
            </a:prstGeom>
            <a:solidFill>
              <a:srgbClr val="FFFFFF"/>
            </a:solidFill>
          </p:spPr>
        </p:sp>
        <p:sp>
          <p:nvSpPr>
            <p:cNvPr id="38" name="shape 38"/>
            <p:cNvSpPr/>
            <p:nvPr/>
          </p:nvSpPr>
          <p:spPr>
            <a:xfrm>
              <a:off x="181356" y="8502395"/>
              <a:ext cx="5723891" cy="246889"/>
            </a:xfrm>
            <a:prstGeom prst="rect">
              <a:avLst/>
            </a:prstGeom>
            <a:solidFill>
              <a:srgbClr val="FFFFFF"/>
            </a:solidFill>
          </p:spPr>
        </p:sp>
        <p:sp>
          <p:nvSpPr>
            <p:cNvPr id="39" name="shape 39"/>
            <p:cNvSpPr/>
            <p:nvPr/>
          </p:nvSpPr>
          <p:spPr>
            <a:xfrm>
              <a:off x="181356" y="8749283"/>
              <a:ext cx="5723891" cy="347473"/>
            </a:xfrm>
            <a:prstGeom prst="rect">
              <a:avLst/>
            </a:prstGeom>
            <a:solidFill>
              <a:srgbClr val="FFFFFF"/>
            </a:solidFill>
          </p:spPr>
        </p:sp>
        <p:sp>
          <p:nvSpPr>
            <p:cNvPr id="40" name="shape 40"/>
            <p:cNvSpPr/>
            <p:nvPr/>
          </p:nvSpPr>
          <p:spPr>
            <a:xfrm>
              <a:off x="144780" y="5126101"/>
              <a:ext cx="5797042" cy="71629"/>
            </a:xfrm>
            <a:prstGeom prst="rect">
              <a:avLst/>
            </a:prstGeom>
            <a:solidFill>
              <a:srgbClr val="FFFFFF"/>
            </a:solidFill>
          </p:spPr>
        </p:sp>
        <p:sp>
          <p:nvSpPr>
            <p:cNvPr id="41" name="shape 41"/>
            <p:cNvSpPr/>
            <p:nvPr/>
          </p:nvSpPr>
          <p:spPr>
            <a:xfrm>
              <a:off x="144780" y="9096756"/>
              <a:ext cx="5797042" cy="71628"/>
            </a:xfrm>
            <a:prstGeom prst="rect">
              <a:avLst/>
            </a:prstGeom>
            <a:solidFill>
              <a:srgbClr val="FFFFFF"/>
            </a:solidFill>
          </p:spPr>
        </p:sp>
        <p:sp>
          <p:nvSpPr>
            <p:cNvPr id="42" name="shape 42"/>
            <p:cNvSpPr/>
            <p:nvPr/>
          </p:nvSpPr>
          <p:spPr>
            <a:xfrm>
              <a:off x="36576" y="9168383"/>
              <a:ext cx="6008878" cy="190500"/>
            </a:xfrm>
            <a:prstGeom prst="rect">
              <a:avLst/>
            </a:prstGeom>
            <a:solidFill>
              <a:srgbClr val="F3F3F3"/>
            </a:solidFill>
          </p:spPr>
        </p:sp>
        <p:pic>
          <p:nvPicPr>
            <p:cNvPr id="43" name="shape 43"/>
            <p:cNvPicPr>
              <a:picLocks noChangeAspect="1"/>
            </p:cNvPicPr>
            <p:nvPr/>
          </p:nvPicPr>
          <p:blipFill>
            <a:blip r:embed="rId2" cstate="print"/>
            <a:stretch>
              <a:fillRect/>
            </a:stretch>
          </p:blipFill>
          <p:spPr>
            <a:xfrm>
              <a:off x="144602" y="175767"/>
              <a:ext cx="5793232" cy="718820"/>
            </a:xfrm>
            <a:prstGeom prst="rect"/>
          </p:spPr>
        </p:pic>
        <p:pic>
          <p:nvPicPr>
            <p:cNvPr id="44" name="shape 44"/>
            <p:cNvPicPr>
              <a:picLocks noChangeAspect="1"/>
            </p:cNvPicPr>
            <p:nvPr/>
          </p:nvPicPr>
          <p:blipFill>
            <a:blip r:embed="rId3" cstate="print"/>
            <a:stretch>
              <a:fillRect/>
            </a:stretch>
          </p:blipFill>
          <p:spPr>
            <a:xfrm>
              <a:off x="144602" y="1464944"/>
              <a:ext cx="5795519" cy="2386965"/>
            </a:xfrm>
            <a:prstGeom prst="rect"/>
          </p:spPr>
        </p:pic>
      </p:grpSp>
      <p:graphicFrame>
        <p:nvGraphicFramePr>
          <p:cNvPr id="45" name="shape 45"/>
          <p:cNvGraphicFramePr>
            <a:graphicFrameLocks noGrp="1"/>
          </p:cNvGraphicFramePr>
          <p:nvPr/>
        </p:nvGraphicFramePr>
        <p:xfrm>
          <a:off x="864413" y="1308895"/>
          <a:ext cx="5797042" cy="8039320"/>
        </p:xfrm>
        <a:graphic>
          <a:graphicData uri="http://schemas.openxmlformats.org/drawingml/2006/table">
            <a:tbl>
              <a:tblPr>
                <a:tableStyleId>{2D5ABB26-0587-4C30-8999-92F81FD0307C}</a:tableStyleId>
              </a:tblPr>
              <a:tblGrid>
                <a:gridCol w="5796915"/>
              </a:tblGrid>
              <a:tr h="335915">
                <a:tc rowSpan="5">
                  <a:txBody>
                    <a:bodyPr/>
                    <a:p>
                      <a:pPr marL="107950" marR="2317750"/>
                      <a:r>
                        <a:rPr sz="700" spc="-15">
                          <a:solidFill>
                            <a:srgbClr val="919191"/>
                          </a:solidFill>
                          <a:latin typeface="Verdana"/>
                          <a:cs typeface="Verdana"/>
                        </a:rPr>
                        <a:t>Казахстан</a:t>
                      </a:r>
                      <a:r>
                        <a:rPr sz="700" spc="305">
                          <a:solidFill>
                            <a:srgbClr val="919191"/>
                          </a:solidFill>
                          <a:latin typeface="Verdana"/>
                          <a:cs typeface="Verdana"/>
                        </a:rPr>
                        <a:t> </a:t>
                      </a:r>
                      <a:r>
                        <a:rPr sz="700" spc="-5">
                          <a:solidFill>
                            <a:srgbClr val="919191"/>
                          </a:solidFill>
                          <a:latin typeface="Verdana"/>
                          <a:cs typeface="Verdana"/>
                        </a:rPr>
                        <a:t>|</a:t>
                      </a:r>
                      <a:r>
                        <a:rPr sz="700" spc="225">
                          <a:solidFill>
                            <a:srgbClr val="919191"/>
                          </a:solidFill>
                          <a:latin typeface="Verdana"/>
                          <a:cs typeface="Verdana"/>
                        </a:rPr>
                        <a:t> </a:t>
                      </a:r>
                      <a:r>
                        <a:rPr sz="700" spc="-15">
                          <a:solidFill>
                            <a:srgbClr val="919191"/>
                          </a:solidFill>
                          <a:latin typeface="Verdana"/>
                          <a:cs typeface="Verdana"/>
                        </a:rPr>
                        <a:t>Департамент</a:t>
                      </a:r>
                      <a:r>
                        <a:rPr sz="700" spc="55">
                          <a:solidFill>
                            <a:srgbClr val="919191"/>
                          </a:solidFill>
                          <a:latin typeface="Verdana"/>
                          <a:cs typeface="Verdana"/>
                        </a:rPr>
                        <a:t> </a:t>
                      </a:r>
                      <a:r>
                        <a:rPr sz="700" spc="-15">
                          <a:solidFill>
                            <a:srgbClr val="919191"/>
                          </a:solidFill>
                          <a:latin typeface="Verdana"/>
                          <a:cs typeface="Verdana"/>
                        </a:rPr>
                        <a:t>налогообложения</a:t>
                      </a:r>
                      <a:r>
                        <a:rPr sz="700" spc="65">
                          <a:solidFill>
                            <a:srgbClr val="919191"/>
                          </a:solidFill>
                          <a:latin typeface="Verdana"/>
                          <a:cs typeface="Verdana"/>
                        </a:rPr>
                        <a:t> </a:t>
                      </a:r>
                      <a:r>
                        <a:rPr sz="700" spc="-15">
                          <a:solidFill>
                            <a:srgbClr val="919191"/>
                          </a:solidFill>
                          <a:latin typeface="Verdana"/>
                          <a:cs typeface="Verdana"/>
                        </a:rPr>
                        <a:t>и</a:t>
                      </a:r>
                      <a:r>
                        <a:rPr sz="700" spc="60">
                          <a:solidFill>
                            <a:srgbClr val="919191"/>
                          </a:solidFill>
                          <a:latin typeface="Verdana"/>
                          <a:cs typeface="Verdana"/>
                        </a:rPr>
                        <a:t> </a:t>
                      </a:r>
                      <a:r>
                        <a:rPr sz="700" spc="-15">
                          <a:solidFill>
                            <a:srgbClr val="919191"/>
                          </a:solidFill>
                          <a:latin typeface="Verdana"/>
                          <a:cs typeface="Verdana"/>
                        </a:rPr>
                        <a:t>права</a:t>
                      </a:r>
                      <a:r>
                        <a:rPr sz="700" spc="305">
                          <a:solidFill>
                            <a:srgbClr val="919191"/>
                          </a:solidFill>
                          <a:latin typeface="Verdana"/>
                          <a:cs typeface="Verdana"/>
                        </a:rPr>
                        <a:t> </a:t>
                      </a:r>
                      <a:r>
                        <a:rPr sz="700" spc="-15">
                          <a:solidFill>
                            <a:srgbClr val="919191"/>
                          </a:solidFill>
                          <a:latin typeface="Verdana"/>
                          <a:cs typeface="Verdana"/>
                        </a:rPr>
                        <a:t>|</a:t>
                      </a:r>
                      <a:r>
                        <a:rPr sz="700" spc="315">
                          <a:solidFill>
                            <a:srgbClr val="919191"/>
                          </a:solidFill>
                          <a:latin typeface="Verdana"/>
                          <a:cs typeface="Verdana"/>
                        </a:rPr>
                        <a:t> </a:t>
                      </a:r>
                      <a:r>
                        <a:rPr sz="700" spc="-15">
                          <a:solidFill>
                            <a:srgbClr val="919191"/>
                          </a:solidFill>
                          <a:latin typeface="Verdana"/>
                          <a:cs typeface="Verdana"/>
                        </a:rPr>
                        <a:t>06</a:t>
                      </a:r>
                      <a:r>
                        <a:rPr sz="700" spc="65">
                          <a:solidFill>
                            <a:srgbClr val="919191"/>
                          </a:solidFill>
                          <a:latin typeface="Verdana"/>
                          <a:cs typeface="Verdana"/>
                        </a:rPr>
                        <a:t> </a:t>
                      </a:r>
                      <a:r>
                        <a:rPr sz="700" spc="-15">
                          <a:solidFill>
                            <a:srgbClr val="919191"/>
                          </a:solidFill>
                          <a:latin typeface="Verdana"/>
                          <a:cs typeface="Verdana"/>
                        </a:rPr>
                        <a:t>апреля</a:t>
                      </a:r>
                      <a:r>
                        <a:rPr sz="700" spc="50">
                          <a:solidFill>
                            <a:srgbClr val="919191"/>
                          </a:solidFill>
                          <a:latin typeface="Verdana"/>
                          <a:cs typeface="Verdana"/>
                        </a:rPr>
                        <a:t> </a:t>
                      </a:r>
                      <a:r>
                        <a:rPr sz="700" spc="-15">
                          <a:solidFill>
                            <a:srgbClr val="919191"/>
                          </a:solidFill>
                          <a:latin typeface="Verdana"/>
                          <a:cs typeface="Verdana"/>
                        </a:rPr>
                        <a:t>2020</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89535" marR="241935" algn="just">
                        <a:lnSpc>
                          <a:spcPct val="116353"/>
                        </a:lnSpc>
                        <a:spcBef>
                          <a:spcPts val="1000"/>
                        </a:spcBef>
                      </a:pPr>
                      <a:r>
                        <a:rPr sz="1600" b="1" spc="-20">
                          <a:solidFill>
                            <a:srgbClr val="FFFFFF"/>
                          </a:solidFill>
                          <a:latin typeface="Verdana"/>
                          <a:cs typeface="Verdana"/>
                        </a:rPr>
                        <a:t>О призыве военнообязанных на специальные </a:t>
                      </a:r>
                      <a:r>
                        <a:rPr sz="1600" b="1">
                          <a:solidFill>
                            <a:srgbClr val="FFFFFF"/>
                          </a:solidFill>
                          <a:latin typeface="Verdana"/>
                          <a:cs typeface="Verdana"/>
                        </a:rPr>
                        <a:t>сборы</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166745">
                        <a:spcBef>
                          <a:spcPts val="1100"/>
                        </a:spcBef>
                      </a:pPr>
                      <a:r>
                        <a:rPr sz="1700" b="1" spc="-35">
                          <a:latin typeface="Verdana"/>
                          <a:cs typeface="Verdana"/>
                        </a:rPr>
                        <a:t>Уважаемые  друзья,</a:t>
                      </a:r>
                      <a:endParaRPr/>
                    </a:p>
                    <a:p>
                      <a:pPr marL="144780" marR="224790">
                        <a:lnSpc>
                          <a:spcPct val="115971"/>
                        </a:lnSpc>
                        <a:spcBef>
                          <a:spcPts val="1000"/>
                        </a:spcBef>
                      </a:pPr>
                      <a:r>
                        <a:rPr sz="1100" spc="-5">
                          <a:latin typeface="Verdana"/>
                          <a:cs typeface="Verdana"/>
                        </a:rPr>
                        <a:t>Информируем</a:t>
                      </a:r>
                      <a:r>
                        <a:rPr sz="1100" spc="104">
                          <a:latin typeface="Verdana"/>
                          <a:cs typeface="Verdana"/>
                        </a:rPr>
                        <a:t> </a:t>
                      </a:r>
                      <a:r>
                        <a:rPr sz="1100" spc="-5">
                          <a:latin typeface="Verdana"/>
                          <a:cs typeface="Verdana"/>
                        </a:rPr>
                        <a:t>Вас</a:t>
                      </a:r>
                      <a:r>
                        <a:rPr sz="1100" spc="100">
                          <a:latin typeface="Verdana"/>
                          <a:cs typeface="Verdana"/>
                        </a:rPr>
                        <a:t> </a:t>
                      </a:r>
                      <a:r>
                        <a:rPr sz="1100" spc="-5">
                          <a:latin typeface="Verdana"/>
                          <a:cs typeface="Verdana"/>
                        </a:rPr>
                        <a:t>о</a:t>
                      </a:r>
                      <a:r>
                        <a:rPr sz="1100" spc="110">
                          <a:latin typeface="Verdana"/>
                          <a:cs typeface="Verdana"/>
                        </a:rPr>
                        <a:t> </a:t>
                      </a:r>
                      <a:r>
                        <a:rPr sz="1100" spc="-5">
                          <a:latin typeface="Verdana"/>
                          <a:cs typeface="Verdana"/>
                        </a:rPr>
                        <a:t>том,</a:t>
                      </a:r>
                      <a:r>
                        <a:rPr sz="1100" spc="100">
                          <a:latin typeface="Verdana"/>
                          <a:cs typeface="Verdana"/>
                        </a:rPr>
                        <a:t> </a:t>
                      </a:r>
                      <a:r>
                        <a:rPr sz="1100" spc="-5">
                          <a:latin typeface="Verdana"/>
                          <a:cs typeface="Verdana"/>
                        </a:rPr>
                        <a:t>что</a:t>
                      </a:r>
                      <a:r>
                        <a:rPr sz="1100" spc="110">
                          <a:latin typeface="Verdana"/>
                          <a:cs typeface="Verdana"/>
                        </a:rPr>
                        <a:t> </a:t>
                      </a:r>
                      <a:r>
                        <a:rPr sz="1100" spc="-5">
                          <a:latin typeface="Verdana"/>
                          <a:cs typeface="Verdana"/>
                        </a:rPr>
                        <a:t>2</a:t>
                      </a:r>
                      <a:r>
                        <a:rPr sz="1100" spc="95">
                          <a:latin typeface="Verdana"/>
                          <a:cs typeface="Verdana"/>
                        </a:rPr>
                        <a:t> </a:t>
                      </a:r>
                      <a:r>
                        <a:rPr sz="1100" spc="-5">
                          <a:latin typeface="Verdana"/>
                          <a:cs typeface="Verdana"/>
                        </a:rPr>
                        <a:t>апреля</a:t>
                      </a:r>
                      <a:r>
                        <a:rPr sz="1100" spc="100">
                          <a:latin typeface="Verdana"/>
                          <a:cs typeface="Verdana"/>
                        </a:rPr>
                        <a:t> </a:t>
                      </a:r>
                      <a:r>
                        <a:rPr sz="1100" spc="-5">
                          <a:latin typeface="Verdana"/>
                          <a:cs typeface="Verdana"/>
                        </a:rPr>
                        <a:t>2020</a:t>
                      </a:r>
                      <a:r>
                        <a:rPr sz="1100" spc="100">
                          <a:latin typeface="Verdana"/>
                          <a:cs typeface="Verdana"/>
                        </a:rPr>
                        <a:t> </a:t>
                      </a:r>
                      <a:r>
                        <a:rPr sz="1100" spc="-5">
                          <a:latin typeface="Verdana"/>
                          <a:cs typeface="Verdana"/>
                        </a:rPr>
                        <a:t>года</a:t>
                      </a:r>
                      <a:r>
                        <a:rPr sz="1100" spc="100">
                          <a:latin typeface="Verdana"/>
                          <a:cs typeface="Verdana"/>
                        </a:rPr>
                        <a:t> </a:t>
                      </a:r>
                      <a:r>
                        <a:rPr sz="1100" spc="-5">
                          <a:latin typeface="Verdana"/>
                          <a:cs typeface="Verdana"/>
                        </a:rPr>
                        <a:t>Президент</a:t>
                      </a:r>
                      <a:r>
                        <a:rPr sz="1100" spc="104">
                          <a:latin typeface="Verdana"/>
                          <a:cs typeface="Verdana"/>
                        </a:rPr>
                        <a:t> </a:t>
                      </a:r>
                      <a:r>
                        <a:rPr sz="1100" spc="-5">
                          <a:latin typeface="Verdana"/>
                          <a:cs typeface="Verdana"/>
                        </a:rPr>
                        <a:t>Республики </a:t>
                      </a:r>
                      <a:r>
                        <a:rPr sz="1100">
                          <a:latin typeface="Verdana"/>
                          <a:cs typeface="Verdana"/>
                        </a:rPr>
                        <a:t>Казахстан</a:t>
                      </a:r>
                      <a:r>
                        <a:rPr sz="1100" spc="115">
                          <a:latin typeface="Verdana"/>
                          <a:cs typeface="Verdana"/>
                        </a:rPr>
                        <a:t> </a:t>
                      </a:r>
                      <a:r>
                        <a:rPr sz="1100">
                          <a:latin typeface="Verdana"/>
                          <a:cs typeface="Verdana"/>
                        </a:rPr>
                        <a:t>Касым-Жомарт</a:t>
                      </a:r>
                      <a:r>
                        <a:rPr sz="1100" spc="115">
                          <a:latin typeface="Verdana"/>
                          <a:cs typeface="Verdana"/>
                        </a:rPr>
                        <a:t> </a:t>
                      </a:r>
                      <a:r>
                        <a:rPr sz="1100">
                          <a:latin typeface="Verdana"/>
                          <a:cs typeface="Verdana"/>
                        </a:rPr>
                        <a:t>Токаев</a:t>
                      </a:r>
                      <a:r>
                        <a:rPr sz="1100" spc="115">
                          <a:latin typeface="Verdana"/>
                          <a:cs typeface="Verdana"/>
                        </a:rPr>
                        <a:t> </a:t>
                      </a:r>
                      <a:r>
                        <a:rPr sz="1100">
                          <a:latin typeface="Verdana"/>
                          <a:cs typeface="Verdana"/>
                        </a:rPr>
                        <a:t>подписал</a:t>
                      </a:r>
                      <a:r>
                        <a:rPr sz="1100" spc="104">
                          <a:latin typeface="Verdana"/>
                          <a:cs typeface="Verdana"/>
                        </a:rPr>
                        <a:t> </a:t>
                      </a:r>
                      <a:r>
                        <a:rPr sz="1100">
                          <a:latin typeface="Verdana"/>
                          <a:cs typeface="Verdana"/>
                        </a:rPr>
                        <a:t>Указ</a:t>
                      </a:r>
                      <a:r>
                        <a:rPr sz="1100" spc="115">
                          <a:latin typeface="Verdana"/>
                          <a:cs typeface="Verdana"/>
                        </a:rPr>
                        <a:t> </a:t>
                      </a:r>
                      <a:r>
                        <a:rPr sz="1100">
                          <a:latin typeface="Verdana"/>
                          <a:cs typeface="Verdana"/>
                        </a:rPr>
                        <a:t>№296</a:t>
                      </a:r>
                      <a:r>
                        <a:rPr sz="1100" spc="104">
                          <a:latin typeface="Verdana"/>
                          <a:cs typeface="Verdana"/>
                        </a:rPr>
                        <a:t> </a:t>
                      </a:r>
                      <a:r>
                        <a:rPr sz="1100" i="1">
                          <a:latin typeface="Verdana"/>
                          <a:cs typeface="Verdana"/>
                        </a:rPr>
                        <a:t>«О</a:t>
                      </a:r>
                      <a:r>
                        <a:rPr sz="1100" i="1" spc="104">
                          <a:latin typeface="Verdana"/>
                          <a:cs typeface="Verdana"/>
                        </a:rPr>
                        <a:t> </a:t>
                      </a:r>
                      <a:r>
                        <a:rPr sz="1100" i="1">
                          <a:latin typeface="Verdana"/>
                          <a:cs typeface="Verdana"/>
                        </a:rPr>
                        <a:t>призыве военнообязанных</a:t>
                      </a:r>
                      <a:r>
                        <a:rPr sz="1100" i="1" spc="104">
                          <a:latin typeface="Verdana"/>
                          <a:cs typeface="Verdana"/>
                        </a:rPr>
                        <a:t> </a:t>
                      </a:r>
                      <a:r>
                        <a:rPr sz="1100" i="1">
                          <a:latin typeface="Verdana"/>
                          <a:cs typeface="Verdana"/>
                        </a:rPr>
                        <a:t>на</a:t>
                      </a:r>
                      <a:r>
                        <a:rPr sz="1100" i="1" spc="95">
                          <a:latin typeface="Verdana"/>
                          <a:cs typeface="Verdana"/>
                        </a:rPr>
                        <a:t> </a:t>
                      </a:r>
                      <a:r>
                        <a:rPr sz="1100" i="1">
                          <a:latin typeface="Verdana"/>
                          <a:cs typeface="Verdana"/>
                        </a:rPr>
                        <a:t>специальные</a:t>
                      </a:r>
                      <a:r>
                        <a:rPr sz="1100" i="1" spc="115">
                          <a:latin typeface="Verdana"/>
                          <a:cs typeface="Verdana"/>
                        </a:rPr>
                        <a:t> </a:t>
                      </a:r>
                      <a:r>
                        <a:rPr sz="1100" i="1">
                          <a:latin typeface="Verdana"/>
                          <a:cs typeface="Verdana"/>
                        </a:rPr>
                        <a:t>сборы»</a:t>
                      </a:r>
                      <a:r>
                        <a:rPr sz="1100" i="1" spc="120">
                          <a:latin typeface="Verdana"/>
                          <a:cs typeface="Verdana"/>
                        </a:rPr>
                        <a:t> </a:t>
                      </a:r>
                      <a:r>
                        <a:rPr sz="1100">
                          <a:latin typeface="Verdana"/>
                          <a:cs typeface="Verdana"/>
                        </a:rPr>
                        <a:t>(далее</a:t>
                      </a:r>
                      <a:r>
                        <a:rPr sz="1100" spc="110">
                          <a:latin typeface="Verdana"/>
                          <a:cs typeface="Verdana"/>
                        </a:rPr>
                        <a:t> </a:t>
                      </a:r>
                      <a:r>
                        <a:rPr sz="1100">
                          <a:latin typeface="Verdana"/>
                          <a:cs typeface="Verdana"/>
                        </a:rPr>
                        <a:t>—</a:t>
                      </a:r>
                      <a:r>
                        <a:rPr sz="1100" spc="110">
                          <a:latin typeface="Verdana"/>
                          <a:cs typeface="Verdana"/>
                        </a:rPr>
                        <a:t> </a:t>
                      </a:r>
                      <a:r>
                        <a:rPr sz="1100">
                          <a:latin typeface="Verdana"/>
                          <a:cs typeface="Verdana"/>
                        </a:rPr>
                        <a:t>«Указ»).</a:t>
                      </a:r>
                      <a:r>
                        <a:rPr sz="1100" spc="95">
                          <a:latin typeface="Verdana"/>
                          <a:cs typeface="Verdana"/>
                        </a:rPr>
                        <a:t> </a:t>
                      </a:r>
                      <a:r>
                        <a:rPr sz="1100">
                          <a:latin typeface="Verdana"/>
                          <a:cs typeface="Verdana"/>
                        </a:rPr>
                        <a:t>В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Указом</a:t>
                      </a:r>
                      <a:r>
                        <a:rPr sz="1100" spc="90">
                          <a:latin typeface="Verdana"/>
                          <a:cs typeface="Verdana"/>
                        </a:rPr>
                        <a:t> </a:t>
                      </a:r>
                      <a:r>
                        <a:rPr sz="1100" spc="-20">
                          <a:latin typeface="Verdana"/>
                          <a:cs typeface="Verdana"/>
                        </a:rPr>
                        <a:t>военнообязанные</a:t>
                      </a:r>
                      <a:r>
                        <a:rPr sz="1100" spc="80">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призваны</a:t>
                      </a:r>
                      <a:r>
                        <a:rPr sz="1100" spc="75">
                          <a:latin typeface="Verdana"/>
                          <a:cs typeface="Verdana"/>
                        </a:rPr>
                        <a:t> </a:t>
                      </a:r>
                      <a:r>
                        <a:rPr sz="1100" spc="-20">
                          <a:latin typeface="Verdana"/>
                          <a:cs typeface="Verdana"/>
                        </a:rPr>
                        <a:t>на</a:t>
                      </a:r>
                      <a:r>
                        <a:rPr sz="1100" spc="85">
                          <a:latin typeface="Verdana"/>
                          <a:cs typeface="Verdana"/>
                        </a:rPr>
                        <a:t> </a:t>
                      </a:r>
                      <a:r>
                        <a:rPr sz="1100" spc="-20">
                          <a:latin typeface="Verdana"/>
                          <a:cs typeface="Verdana"/>
                        </a:rPr>
                        <a:t>специальные </a:t>
                      </a:r>
                      <a:r>
                        <a:rPr sz="1100">
                          <a:latin typeface="Verdana"/>
                          <a:cs typeface="Verdana"/>
                        </a:rPr>
                        <a:t>сборы</a:t>
                      </a:r>
                      <a:r>
                        <a:rPr sz="1100" spc="110">
                          <a:latin typeface="Verdana"/>
                          <a:cs typeface="Verdana"/>
                        </a:rPr>
                        <a:t> </a:t>
                      </a:r>
                      <a:r>
                        <a:rPr sz="1100">
                          <a:latin typeface="Verdana"/>
                          <a:cs typeface="Verdana"/>
                        </a:rPr>
                        <a:t>для</a:t>
                      </a:r>
                      <a:r>
                        <a:rPr sz="1100" spc="104">
                          <a:latin typeface="Verdana"/>
                          <a:cs typeface="Verdana"/>
                        </a:rPr>
                        <a:t> </a:t>
                      </a:r>
                      <a:r>
                        <a:rPr sz="1100">
                          <a:latin typeface="Verdana"/>
                          <a:cs typeface="Verdana"/>
                        </a:rPr>
                        <a:t>укомплектования</a:t>
                      </a:r>
                      <a:r>
                        <a:rPr sz="1100" spc="110">
                          <a:latin typeface="Verdana"/>
                          <a:cs typeface="Verdana"/>
                        </a:rPr>
                        <a:t> </a:t>
                      </a:r>
                      <a:r>
                        <a:rPr sz="1100">
                          <a:latin typeface="Verdana"/>
                          <a:cs typeface="Verdana"/>
                        </a:rPr>
                        <a:t>территориальных</a:t>
                      </a:r>
                      <a:r>
                        <a:rPr sz="1100" spc="104">
                          <a:latin typeface="Verdana"/>
                          <a:cs typeface="Verdana"/>
                        </a:rPr>
                        <a:t> </a:t>
                      </a:r>
                      <a:r>
                        <a:rPr sz="1100">
                          <a:latin typeface="Verdana"/>
                          <a:cs typeface="Verdana"/>
                        </a:rPr>
                        <a:t>войск</a:t>
                      </a:r>
                      <a:r>
                        <a:rPr sz="1100" spc="104">
                          <a:latin typeface="Verdana"/>
                          <a:cs typeface="Verdana"/>
                        </a:rPr>
                        <a:t> </a:t>
                      </a:r>
                      <a:r>
                        <a:rPr sz="1100">
                          <a:latin typeface="Verdana"/>
                          <a:cs typeface="Verdana"/>
                        </a:rPr>
                        <a:t>Вооруженных</a:t>
                      </a:r>
                      <a:r>
                        <a:rPr sz="1100" spc="104">
                          <a:latin typeface="Verdana"/>
                          <a:cs typeface="Verdana"/>
                        </a:rPr>
                        <a:t> </a:t>
                      </a:r>
                      <a:r>
                        <a:rPr sz="1100">
                          <a:latin typeface="Verdana"/>
                          <a:cs typeface="Verdana"/>
                        </a:rPr>
                        <a:t>Сил Республики  Казахстан.</a:t>
                      </a:r>
                      <a:endParaRPr/>
                    </a:p>
                    <a:p>
                      <a:pPr marL="144780" marR="281305" algn="just">
                        <a:lnSpc>
                          <a:spcPct val="117685"/>
                        </a:lnSpc>
                        <a:spcBef>
                          <a:spcPts val="1200"/>
                        </a:spcBef>
                      </a:pPr>
                      <a:r>
                        <a:rPr sz="1100" spc="-10">
                          <a:latin typeface="Verdana"/>
                          <a:cs typeface="Verdana"/>
                        </a:rPr>
                        <a:t>В связи с вышеуказанным ниже мы подготовили краткую разъясняющую </a:t>
                      </a:r>
                      <a:r>
                        <a:rPr sz="1100">
                          <a:latin typeface="Verdana"/>
                          <a:cs typeface="Verdana"/>
                        </a:rPr>
                        <a:t>ин</a:t>
                      </a:r>
                      <a:r>
                        <a:rPr sz="1100">
                          <a:latin typeface="Verdana"/>
                          <a:cs typeface="Verdana"/>
                        </a:rPr>
                        <a:t>формацию:</a:t>
                      </a:r>
                      <a:endParaRPr/>
                    </a:p>
                    <a:p>
                      <a:pPr marL="400685" marR="281305" indent="-228600" algn="just">
                        <a:spcBef>
                          <a:spcPts val="1200"/>
                        </a:spcBef>
                        <a:tabLst>
                          <a:tab pos="400685" algn="l"/>
                        </a:tabLst>
                      </a:pPr>
                      <a:r>
                        <a:rPr sz="1100">
                          <a:solidFill>
                            <a:srgbClr val="62B5E5"/>
                          </a:solidFill>
                          <a:latin typeface="Symbol"/>
                          <a:cs typeface="Symbol"/>
                        </a:rPr>
                        <a:t></a:t>
                      </a:r>
                      <a:r>
                        <a:rPr sz="1100">
                          <a:solidFill>
                            <a:srgbClr val="62B5E5"/>
                          </a:solidFill>
                          <a:latin typeface="Symbol"/>
                          <a:cs typeface="Symbol"/>
                        </a:rPr>
                        <a:t>	</a:t>
                      </a:r>
                      <a:r>
                        <a:rPr sz="1100">
                          <a:solidFill>
                            <a:srgbClr val="62B5E5"/>
                          </a:solidFill>
                          <a:latin typeface="Verdana"/>
                          <a:cs typeface="Verdana"/>
                        </a:rPr>
                        <a:t>Кто  может  быть  призван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Кто  освобожден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Порядок  призыва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Оплата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Сроки</a:t>
                      </a:r>
                      <a:endParaRPr/>
                    </a:p>
                    <a:p>
                      <a:pPr marL="400685" marR="281305" indent="-228600" algn="just">
                        <a:spcBef>
                          <a:spcPts val="700"/>
                        </a:spcBef>
                        <a:buSzPts val="1100"/>
                        <a:buFont typeface="Symbol"/>
                        <a:buChar char=""/>
                      </a:pPr>
                      <a:r>
                        <a:rPr sz="1100">
                          <a:solidFill>
                            <a:srgbClr val="62B5E5"/>
                          </a:solidFill>
                          <a:latin typeface="Verdana"/>
                          <a:cs typeface="Verdana"/>
                        </a:rPr>
                        <a:t>Ответственность  за  неявку</a:t>
                      </a:r>
                      <a:endParaRPr/>
                    </a:p>
                  </a:txBody>
                  <a:tcPr marL="0" marR="0" marT="0" marB="0">
                    <a:lnL/>
                    <a:lnR/>
                    <a:lnT/>
                    <a:lnB/>
                    <a:solidFill>
                      <a:srgbClr val="F3F3F3"/>
                    </a:solidFill>
                  </a:tcPr>
                </a:tc>
              </a:tr>
              <a:tr h="2395220">
                <a:tc rowSpan="5">
                  <a:txBody>
                    <a:bodyPr/>
                    <a:p>
                      <a:pPr marL="107950" marR="2317750"/>
                      <a:r>
                        <a:rPr sz="700" spc="-15">
                          <a:solidFill>
                            <a:srgbClr val="919191"/>
                          </a:solidFill>
                          <a:latin typeface="Verdana"/>
                          <a:cs typeface="Verdana"/>
                        </a:rPr>
                        <a:t>Казахстан</a:t>
                      </a:r>
                      <a:r>
                        <a:rPr sz="700" spc="305">
                          <a:solidFill>
                            <a:srgbClr val="919191"/>
                          </a:solidFill>
                          <a:latin typeface="Verdana"/>
                          <a:cs typeface="Verdana"/>
                        </a:rPr>
                        <a:t> </a:t>
                      </a:r>
                      <a:r>
                        <a:rPr sz="700" spc="-5">
                          <a:solidFill>
                            <a:srgbClr val="919191"/>
                          </a:solidFill>
                          <a:latin typeface="Verdana"/>
                          <a:cs typeface="Verdana"/>
                        </a:rPr>
                        <a:t>|</a:t>
                      </a:r>
                      <a:r>
                        <a:rPr sz="700" spc="225">
                          <a:solidFill>
                            <a:srgbClr val="919191"/>
                          </a:solidFill>
                          <a:latin typeface="Verdana"/>
                          <a:cs typeface="Verdana"/>
                        </a:rPr>
                        <a:t> </a:t>
                      </a:r>
                      <a:r>
                        <a:rPr sz="700" spc="-15">
                          <a:solidFill>
                            <a:srgbClr val="919191"/>
                          </a:solidFill>
                          <a:latin typeface="Verdana"/>
                          <a:cs typeface="Verdana"/>
                        </a:rPr>
                        <a:t>Департамент</a:t>
                      </a:r>
                      <a:r>
                        <a:rPr sz="700" spc="55">
                          <a:solidFill>
                            <a:srgbClr val="919191"/>
                          </a:solidFill>
                          <a:latin typeface="Verdana"/>
                          <a:cs typeface="Verdana"/>
                        </a:rPr>
                        <a:t> </a:t>
                      </a:r>
                      <a:r>
                        <a:rPr sz="700" spc="-15">
                          <a:solidFill>
                            <a:srgbClr val="919191"/>
                          </a:solidFill>
                          <a:latin typeface="Verdana"/>
                          <a:cs typeface="Verdana"/>
                        </a:rPr>
                        <a:t>налогообложения</a:t>
                      </a:r>
                      <a:r>
                        <a:rPr sz="700" spc="65">
                          <a:solidFill>
                            <a:srgbClr val="919191"/>
                          </a:solidFill>
                          <a:latin typeface="Verdana"/>
                          <a:cs typeface="Verdana"/>
                        </a:rPr>
                        <a:t> </a:t>
                      </a:r>
                      <a:r>
                        <a:rPr sz="700" spc="-15">
                          <a:solidFill>
                            <a:srgbClr val="919191"/>
                          </a:solidFill>
                          <a:latin typeface="Verdana"/>
                          <a:cs typeface="Verdana"/>
                        </a:rPr>
                        <a:t>и</a:t>
                      </a:r>
                      <a:r>
                        <a:rPr sz="700" spc="60">
                          <a:solidFill>
                            <a:srgbClr val="919191"/>
                          </a:solidFill>
                          <a:latin typeface="Verdana"/>
                          <a:cs typeface="Verdana"/>
                        </a:rPr>
                        <a:t> </a:t>
                      </a:r>
                      <a:r>
                        <a:rPr sz="700" spc="-15">
                          <a:solidFill>
                            <a:srgbClr val="919191"/>
                          </a:solidFill>
                          <a:latin typeface="Verdana"/>
                          <a:cs typeface="Verdana"/>
                        </a:rPr>
                        <a:t>права</a:t>
                      </a:r>
                      <a:r>
                        <a:rPr sz="700" spc="305">
                          <a:solidFill>
                            <a:srgbClr val="919191"/>
                          </a:solidFill>
                          <a:latin typeface="Verdana"/>
                          <a:cs typeface="Verdana"/>
                        </a:rPr>
                        <a:t> </a:t>
                      </a:r>
                      <a:r>
                        <a:rPr sz="700" spc="-15">
                          <a:solidFill>
                            <a:srgbClr val="919191"/>
                          </a:solidFill>
                          <a:latin typeface="Verdana"/>
                          <a:cs typeface="Verdana"/>
                        </a:rPr>
                        <a:t>|</a:t>
                      </a:r>
                      <a:r>
                        <a:rPr sz="700" spc="315">
                          <a:solidFill>
                            <a:srgbClr val="919191"/>
                          </a:solidFill>
                          <a:latin typeface="Verdana"/>
                          <a:cs typeface="Verdana"/>
                        </a:rPr>
                        <a:t> </a:t>
                      </a:r>
                      <a:r>
                        <a:rPr sz="700" spc="-15">
                          <a:solidFill>
                            <a:srgbClr val="919191"/>
                          </a:solidFill>
                          <a:latin typeface="Verdana"/>
                          <a:cs typeface="Verdana"/>
                        </a:rPr>
                        <a:t>06</a:t>
                      </a:r>
                      <a:r>
                        <a:rPr sz="700" spc="65">
                          <a:solidFill>
                            <a:srgbClr val="919191"/>
                          </a:solidFill>
                          <a:latin typeface="Verdana"/>
                          <a:cs typeface="Verdana"/>
                        </a:rPr>
                        <a:t> </a:t>
                      </a:r>
                      <a:r>
                        <a:rPr sz="700" spc="-15">
                          <a:solidFill>
                            <a:srgbClr val="919191"/>
                          </a:solidFill>
                          <a:latin typeface="Verdana"/>
                          <a:cs typeface="Verdana"/>
                        </a:rPr>
                        <a:t>апреля</a:t>
                      </a:r>
                      <a:r>
                        <a:rPr sz="700" spc="50">
                          <a:solidFill>
                            <a:srgbClr val="919191"/>
                          </a:solidFill>
                          <a:latin typeface="Verdana"/>
                          <a:cs typeface="Verdana"/>
                        </a:rPr>
                        <a:t> </a:t>
                      </a:r>
                      <a:r>
                        <a:rPr sz="700" spc="-15">
                          <a:solidFill>
                            <a:srgbClr val="919191"/>
                          </a:solidFill>
                          <a:latin typeface="Verdana"/>
                          <a:cs typeface="Verdana"/>
                        </a:rPr>
                        <a:t>2020</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89535" marR="241935" algn="just">
                        <a:lnSpc>
                          <a:spcPct val="116353"/>
                        </a:lnSpc>
                        <a:spcBef>
                          <a:spcPts val="1000"/>
                        </a:spcBef>
                      </a:pPr>
                      <a:r>
                        <a:rPr sz="1600" b="1" spc="-20">
                          <a:solidFill>
                            <a:srgbClr val="FFFFFF"/>
                          </a:solidFill>
                          <a:latin typeface="Verdana"/>
                          <a:cs typeface="Verdana"/>
                        </a:rPr>
                        <a:t>О призыве военнообязанных на специальные </a:t>
                      </a:r>
                      <a:r>
                        <a:rPr sz="1600" b="1">
                          <a:solidFill>
                            <a:srgbClr val="FFFFFF"/>
                          </a:solidFill>
                          <a:latin typeface="Verdana"/>
                          <a:cs typeface="Verdana"/>
                        </a:rPr>
                        <a:t>сборы</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166745">
                        <a:spcBef>
                          <a:spcPts val="1100"/>
                        </a:spcBef>
                      </a:pPr>
                      <a:r>
                        <a:rPr sz="1700" b="1" spc="-35">
                          <a:latin typeface="Verdana"/>
                          <a:cs typeface="Verdana"/>
                        </a:rPr>
                        <a:t>Уважаемые  друзья,</a:t>
                      </a:r>
                      <a:endParaRPr/>
                    </a:p>
                    <a:p>
                      <a:pPr marL="144780" marR="224790">
                        <a:lnSpc>
                          <a:spcPct val="115971"/>
                        </a:lnSpc>
                        <a:spcBef>
                          <a:spcPts val="1000"/>
                        </a:spcBef>
                      </a:pPr>
                      <a:r>
                        <a:rPr sz="1100" spc="-5">
                          <a:latin typeface="Verdana"/>
                          <a:cs typeface="Verdana"/>
                        </a:rPr>
                        <a:t>Информируем</a:t>
                      </a:r>
                      <a:r>
                        <a:rPr sz="1100" spc="104">
                          <a:latin typeface="Verdana"/>
                          <a:cs typeface="Verdana"/>
                        </a:rPr>
                        <a:t> </a:t>
                      </a:r>
                      <a:r>
                        <a:rPr sz="1100" spc="-5">
                          <a:latin typeface="Verdana"/>
                          <a:cs typeface="Verdana"/>
                        </a:rPr>
                        <a:t>Вас</a:t>
                      </a:r>
                      <a:r>
                        <a:rPr sz="1100" spc="100">
                          <a:latin typeface="Verdana"/>
                          <a:cs typeface="Verdana"/>
                        </a:rPr>
                        <a:t> </a:t>
                      </a:r>
                      <a:r>
                        <a:rPr sz="1100" spc="-5">
                          <a:latin typeface="Verdana"/>
                          <a:cs typeface="Verdana"/>
                        </a:rPr>
                        <a:t>о</a:t>
                      </a:r>
                      <a:r>
                        <a:rPr sz="1100" spc="110">
                          <a:latin typeface="Verdana"/>
                          <a:cs typeface="Verdana"/>
                        </a:rPr>
                        <a:t> </a:t>
                      </a:r>
                      <a:r>
                        <a:rPr sz="1100" spc="-5">
                          <a:latin typeface="Verdana"/>
                          <a:cs typeface="Verdana"/>
                        </a:rPr>
                        <a:t>том,</a:t>
                      </a:r>
                      <a:r>
                        <a:rPr sz="1100" spc="100">
                          <a:latin typeface="Verdana"/>
                          <a:cs typeface="Verdana"/>
                        </a:rPr>
                        <a:t> </a:t>
                      </a:r>
                      <a:r>
                        <a:rPr sz="1100" spc="-5">
                          <a:latin typeface="Verdana"/>
                          <a:cs typeface="Verdana"/>
                        </a:rPr>
                        <a:t>что</a:t>
                      </a:r>
                      <a:r>
                        <a:rPr sz="1100" spc="110">
                          <a:latin typeface="Verdana"/>
                          <a:cs typeface="Verdana"/>
                        </a:rPr>
                        <a:t> </a:t>
                      </a:r>
                      <a:r>
                        <a:rPr sz="1100" spc="-5">
                          <a:latin typeface="Verdana"/>
                          <a:cs typeface="Verdana"/>
                        </a:rPr>
                        <a:t>2</a:t>
                      </a:r>
                      <a:r>
                        <a:rPr sz="1100" spc="95">
                          <a:latin typeface="Verdana"/>
                          <a:cs typeface="Verdana"/>
                        </a:rPr>
                        <a:t> </a:t>
                      </a:r>
                      <a:r>
                        <a:rPr sz="1100" spc="-5">
                          <a:latin typeface="Verdana"/>
                          <a:cs typeface="Verdana"/>
                        </a:rPr>
                        <a:t>апреля</a:t>
                      </a:r>
                      <a:r>
                        <a:rPr sz="1100" spc="100">
                          <a:latin typeface="Verdana"/>
                          <a:cs typeface="Verdana"/>
                        </a:rPr>
                        <a:t> </a:t>
                      </a:r>
                      <a:r>
                        <a:rPr sz="1100" spc="-5">
                          <a:latin typeface="Verdana"/>
                          <a:cs typeface="Verdana"/>
                        </a:rPr>
                        <a:t>2020</a:t>
                      </a:r>
                      <a:r>
                        <a:rPr sz="1100" spc="100">
                          <a:latin typeface="Verdana"/>
                          <a:cs typeface="Verdana"/>
                        </a:rPr>
                        <a:t> </a:t>
                      </a:r>
                      <a:r>
                        <a:rPr sz="1100" spc="-5">
                          <a:latin typeface="Verdana"/>
                          <a:cs typeface="Verdana"/>
                        </a:rPr>
                        <a:t>года</a:t>
                      </a:r>
                      <a:r>
                        <a:rPr sz="1100" spc="100">
                          <a:latin typeface="Verdana"/>
                          <a:cs typeface="Verdana"/>
                        </a:rPr>
                        <a:t> </a:t>
                      </a:r>
                      <a:r>
                        <a:rPr sz="1100" spc="-5">
                          <a:latin typeface="Verdana"/>
                          <a:cs typeface="Verdana"/>
                        </a:rPr>
                        <a:t>Президент</a:t>
                      </a:r>
                      <a:r>
                        <a:rPr sz="1100" spc="104">
                          <a:latin typeface="Verdana"/>
                          <a:cs typeface="Verdana"/>
                        </a:rPr>
                        <a:t> </a:t>
                      </a:r>
                      <a:r>
                        <a:rPr sz="1100" spc="-5">
                          <a:latin typeface="Verdana"/>
                          <a:cs typeface="Verdana"/>
                        </a:rPr>
                        <a:t>Республики </a:t>
                      </a:r>
                      <a:r>
                        <a:rPr sz="1100">
                          <a:latin typeface="Verdana"/>
                          <a:cs typeface="Verdana"/>
                        </a:rPr>
                        <a:t>Казахстан</a:t>
                      </a:r>
                      <a:r>
                        <a:rPr sz="1100" spc="115">
                          <a:latin typeface="Verdana"/>
                          <a:cs typeface="Verdana"/>
                        </a:rPr>
                        <a:t> </a:t>
                      </a:r>
                      <a:r>
                        <a:rPr sz="1100">
                          <a:latin typeface="Verdana"/>
                          <a:cs typeface="Verdana"/>
                        </a:rPr>
                        <a:t>Касым-Жомарт</a:t>
                      </a:r>
                      <a:r>
                        <a:rPr sz="1100" spc="115">
                          <a:latin typeface="Verdana"/>
                          <a:cs typeface="Verdana"/>
                        </a:rPr>
                        <a:t> </a:t>
                      </a:r>
                      <a:r>
                        <a:rPr sz="1100">
                          <a:latin typeface="Verdana"/>
                          <a:cs typeface="Verdana"/>
                        </a:rPr>
                        <a:t>Токаев</a:t>
                      </a:r>
                      <a:r>
                        <a:rPr sz="1100" spc="115">
                          <a:latin typeface="Verdana"/>
                          <a:cs typeface="Verdana"/>
                        </a:rPr>
                        <a:t> </a:t>
                      </a:r>
                      <a:r>
                        <a:rPr sz="1100">
                          <a:latin typeface="Verdana"/>
                          <a:cs typeface="Verdana"/>
                        </a:rPr>
                        <a:t>подписал</a:t>
                      </a:r>
                      <a:r>
                        <a:rPr sz="1100" spc="104">
                          <a:latin typeface="Verdana"/>
                          <a:cs typeface="Verdana"/>
                        </a:rPr>
                        <a:t> </a:t>
                      </a:r>
                      <a:r>
                        <a:rPr sz="1100">
                          <a:latin typeface="Verdana"/>
                          <a:cs typeface="Verdana"/>
                        </a:rPr>
                        <a:t>Указ</a:t>
                      </a:r>
                      <a:r>
                        <a:rPr sz="1100" spc="115">
                          <a:latin typeface="Verdana"/>
                          <a:cs typeface="Verdana"/>
                        </a:rPr>
                        <a:t> </a:t>
                      </a:r>
                      <a:r>
                        <a:rPr sz="1100">
                          <a:latin typeface="Verdana"/>
                          <a:cs typeface="Verdana"/>
                        </a:rPr>
                        <a:t>№296</a:t>
                      </a:r>
                      <a:r>
                        <a:rPr sz="1100" spc="104">
                          <a:latin typeface="Verdana"/>
                          <a:cs typeface="Verdana"/>
                        </a:rPr>
                        <a:t> </a:t>
                      </a:r>
                      <a:r>
                        <a:rPr sz="1100" i="1">
                          <a:latin typeface="Verdana"/>
                          <a:cs typeface="Verdana"/>
                        </a:rPr>
                        <a:t>«О</a:t>
                      </a:r>
                      <a:r>
                        <a:rPr sz="1100" i="1" spc="104">
                          <a:latin typeface="Verdana"/>
                          <a:cs typeface="Verdana"/>
                        </a:rPr>
                        <a:t> </a:t>
                      </a:r>
                      <a:r>
                        <a:rPr sz="1100" i="1">
                          <a:latin typeface="Verdana"/>
                          <a:cs typeface="Verdana"/>
                        </a:rPr>
                        <a:t>призыве военнообязанных</a:t>
                      </a:r>
                      <a:r>
                        <a:rPr sz="1100" i="1" spc="104">
                          <a:latin typeface="Verdana"/>
                          <a:cs typeface="Verdana"/>
                        </a:rPr>
                        <a:t> </a:t>
                      </a:r>
                      <a:r>
                        <a:rPr sz="1100" i="1">
                          <a:latin typeface="Verdana"/>
                          <a:cs typeface="Verdana"/>
                        </a:rPr>
                        <a:t>на</a:t>
                      </a:r>
                      <a:r>
                        <a:rPr sz="1100" i="1" spc="95">
                          <a:latin typeface="Verdana"/>
                          <a:cs typeface="Verdana"/>
                        </a:rPr>
                        <a:t> </a:t>
                      </a:r>
                      <a:r>
                        <a:rPr sz="1100" i="1">
                          <a:latin typeface="Verdana"/>
                          <a:cs typeface="Verdana"/>
                        </a:rPr>
                        <a:t>специальные</a:t>
                      </a:r>
                      <a:r>
                        <a:rPr sz="1100" i="1" spc="115">
                          <a:latin typeface="Verdana"/>
                          <a:cs typeface="Verdana"/>
                        </a:rPr>
                        <a:t> </a:t>
                      </a:r>
                      <a:r>
                        <a:rPr sz="1100" i="1">
                          <a:latin typeface="Verdana"/>
                          <a:cs typeface="Verdana"/>
                        </a:rPr>
                        <a:t>сборы»</a:t>
                      </a:r>
                      <a:r>
                        <a:rPr sz="1100" i="1" spc="120">
                          <a:latin typeface="Verdana"/>
                          <a:cs typeface="Verdana"/>
                        </a:rPr>
                        <a:t> </a:t>
                      </a:r>
                      <a:r>
                        <a:rPr sz="1100">
                          <a:latin typeface="Verdana"/>
                          <a:cs typeface="Verdana"/>
                        </a:rPr>
                        <a:t>(далее</a:t>
                      </a:r>
                      <a:r>
                        <a:rPr sz="1100" spc="110">
                          <a:latin typeface="Verdana"/>
                          <a:cs typeface="Verdana"/>
                        </a:rPr>
                        <a:t> </a:t>
                      </a:r>
                      <a:r>
                        <a:rPr sz="1100">
                          <a:latin typeface="Verdana"/>
                          <a:cs typeface="Verdana"/>
                        </a:rPr>
                        <a:t>—</a:t>
                      </a:r>
                      <a:r>
                        <a:rPr sz="1100" spc="110">
                          <a:latin typeface="Verdana"/>
                          <a:cs typeface="Verdana"/>
                        </a:rPr>
                        <a:t> </a:t>
                      </a:r>
                      <a:r>
                        <a:rPr sz="1100">
                          <a:latin typeface="Verdana"/>
                          <a:cs typeface="Verdana"/>
                        </a:rPr>
                        <a:t>«Указ»).</a:t>
                      </a:r>
                      <a:r>
                        <a:rPr sz="1100" spc="95">
                          <a:latin typeface="Verdana"/>
                          <a:cs typeface="Verdana"/>
                        </a:rPr>
                        <a:t> </a:t>
                      </a:r>
                      <a:r>
                        <a:rPr sz="1100">
                          <a:latin typeface="Verdana"/>
                          <a:cs typeface="Verdana"/>
                        </a:rPr>
                        <a:t>В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Указом</a:t>
                      </a:r>
                      <a:r>
                        <a:rPr sz="1100" spc="90">
                          <a:latin typeface="Verdana"/>
                          <a:cs typeface="Verdana"/>
                        </a:rPr>
                        <a:t> </a:t>
                      </a:r>
                      <a:r>
                        <a:rPr sz="1100" spc="-20">
                          <a:latin typeface="Verdana"/>
                          <a:cs typeface="Verdana"/>
                        </a:rPr>
                        <a:t>военнообязанные</a:t>
                      </a:r>
                      <a:r>
                        <a:rPr sz="1100" spc="80">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призваны</a:t>
                      </a:r>
                      <a:r>
                        <a:rPr sz="1100" spc="75">
                          <a:latin typeface="Verdana"/>
                          <a:cs typeface="Verdana"/>
                        </a:rPr>
                        <a:t> </a:t>
                      </a:r>
                      <a:r>
                        <a:rPr sz="1100" spc="-20">
                          <a:latin typeface="Verdana"/>
                          <a:cs typeface="Verdana"/>
                        </a:rPr>
                        <a:t>на</a:t>
                      </a:r>
                      <a:r>
                        <a:rPr sz="1100" spc="85">
                          <a:latin typeface="Verdana"/>
                          <a:cs typeface="Verdana"/>
                        </a:rPr>
                        <a:t> </a:t>
                      </a:r>
                      <a:r>
                        <a:rPr sz="1100" spc="-20">
                          <a:latin typeface="Verdana"/>
                          <a:cs typeface="Verdana"/>
                        </a:rPr>
                        <a:t>специальные </a:t>
                      </a:r>
                      <a:r>
                        <a:rPr sz="1100">
                          <a:latin typeface="Verdana"/>
                          <a:cs typeface="Verdana"/>
                        </a:rPr>
                        <a:t>сборы</a:t>
                      </a:r>
                      <a:r>
                        <a:rPr sz="1100" spc="110">
                          <a:latin typeface="Verdana"/>
                          <a:cs typeface="Verdana"/>
                        </a:rPr>
                        <a:t> </a:t>
                      </a:r>
                      <a:r>
                        <a:rPr sz="1100">
                          <a:latin typeface="Verdana"/>
                          <a:cs typeface="Verdana"/>
                        </a:rPr>
                        <a:t>для</a:t>
                      </a:r>
                      <a:r>
                        <a:rPr sz="1100" spc="104">
                          <a:latin typeface="Verdana"/>
                          <a:cs typeface="Verdana"/>
                        </a:rPr>
                        <a:t> </a:t>
                      </a:r>
                      <a:r>
                        <a:rPr sz="1100">
                          <a:latin typeface="Verdana"/>
                          <a:cs typeface="Verdana"/>
                        </a:rPr>
                        <a:t>укомплектования</a:t>
                      </a:r>
                      <a:r>
                        <a:rPr sz="1100" spc="110">
                          <a:latin typeface="Verdana"/>
                          <a:cs typeface="Verdana"/>
                        </a:rPr>
                        <a:t> </a:t>
                      </a:r>
                      <a:r>
                        <a:rPr sz="1100">
                          <a:latin typeface="Verdana"/>
                          <a:cs typeface="Verdana"/>
                        </a:rPr>
                        <a:t>территориальных</a:t>
                      </a:r>
                      <a:r>
                        <a:rPr sz="1100" spc="104">
                          <a:latin typeface="Verdana"/>
                          <a:cs typeface="Verdana"/>
                        </a:rPr>
                        <a:t> </a:t>
                      </a:r>
                      <a:r>
                        <a:rPr sz="1100">
                          <a:latin typeface="Verdana"/>
                          <a:cs typeface="Verdana"/>
                        </a:rPr>
                        <a:t>войск</a:t>
                      </a:r>
                      <a:r>
                        <a:rPr sz="1100" spc="104">
                          <a:latin typeface="Verdana"/>
                          <a:cs typeface="Verdana"/>
                        </a:rPr>
                        <a:t> </a:t>
                      </a:r>
                      <a:r>
                        <a:rPr sz="1100">
                          <a:latin typeface="Verdana"/>
                          <a:cs typeface="Verdana"/>
                        </a:rPr>
                        <a:t>Вооруженных</a:t>
                      </a:r>
                      <a:r>
                        <a:rPr sz="1100" spc="104">
                          <a:latin typeface="Verdana"/>
                          <a:cs typeface="Verdana"/>
                        </a:rPr>
                        <a:t> </a:t>
                      </a:r>
                      <a:r>
                        <a:rPr sz="1100">
                          <a:latin typeface="Verdana"/>
                          <a:cs typeface="Verdana"/>
                        </a:rPr>
                        <a:t>Сил Республики  Казахстан.</a:t>
                      </a:r>
                      <a:endParaRPr/>
                    </a:p>
                    <a:p>
                      <a:pPr marL="144780" marR="281305" algn="just">
                        <a:lnSpc>
                          <a:spcPct val="117685"/>
                        </a:lnSpc>
                        <a:spcBef>
                          <a:spcPts val="1200"/>
                        </a:spcBef>
                      </a:pPr>
                      <a:r>
                        <a:rPr sz="1100" spc="-10">
                          <a:latin typeface="Verdana"/>
                          <a:cs typeface="Verdana"/>
                        </a:rPr>
                        <a:t>В связи с вышеуказанным ниже мы подготовили краткую разъясняющую </a:t>
                      </a:r>
                      <a:r>
                        <a:rPr sz="1100">
                          <a:latin typeface="Verdana"/>
                          <a:cs typeface="Verdana"/>
                        </a:rPr>
                        <a:t>ин</a:t>
                      </a:r>
                      <a:r>
                        <a:rPr sz="1100">
                          <a:latin typeface="Verdana"/>
                          <a:cs typeface="Verdana"/>
                        </a:rPr>
                        <a:t>формацию:</a:t>
                      </a:r>
                      <a:endParaRPr/>
                    </a:p>
                    <a:p>
                      <a:pPr marL="400685" marR="281305" indent="-228600" algn="just">
                        <a:spcBef>
                          <a:spcPts val="1200"/>
                        </a:spcBef>
                        <a:tabLst>
                          <a:tab pos="400685" algn="l"/>
                        </a:tabLst>
                      </a:pPr>
                      <a:r>
                        <a:rPr sz="1100">
                          <a:solidFill>
                            <a:srgbClr val="62B5E5"/>
                          </a:solidFill>
                          <a:latin typeface="Symbol"/>
                          <a:cs typeface="Symbol"/>
                        </a:rPr>
                        <a:t></a:t>
                      </a:r>
                      <a:r>
                        <a:rPr sz="1100">
                          <a:solidFill>
                            <a:srgbClr val="62B5E5"/>
                          </a:solidFill>
                          <a:latin typeface="Symbol"/>
                          <a:cs typeface="Symbol"/>
                        </a:rPr>
                        <a:t>	</a:t>
                      </a:r>
                      <a:r>
                        <a:rPr sz="1100">
                          <a:solidFill>
                            <a:srgbClr val="62B5E5"/>
                          </a:solidFill>
                          <a:latin typeface="Verdana"/>
                          <a:cs typeface="Verdana"/>
                        </a:rPr>
                        <a:t>Кто  может  быть  призван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Кто  освобожден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Порядок  призыва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Оплата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Сроки</a:t>
                      </a:r>
                      <a:endParaRPr/>
                    </a:p>
                    <a:p>
                      <a:pPr marL="400685" marR="281305" indent="-228600" algn="just">
                        <a:spcBef>
                          <a:spcPts val="700"/>
                        </a:spcBef>
                        <a:buSzPts val="1100"/>
                        <a:buFont typeface="Symbol"/>
                        <a:buChar char=""/>
                      </a:pPr>
                      <a:r>
                        <a:rPr sz="1100">
                          <a:solidFill>
                            <a:srgbClr val="62B5E5"/>
                          </a:solidFill>
                          <a:latin typeface="Verdana"/>
                          <a:cs typeface="Verdana"/>
                        </a:rPr>
                        <a:t>Ответственность  за  неявку</a:t>
                      </a:r>
                      <a:endParaRPr/>
                    </a:p>
                  </a:txBody>
                  <a:tcPr marL="0" marR="0" marT="0" marB="0">
                    <a:lnL/>
                    <a:lnR/>
                    <a:lnT/>
                    <a:lnB/>
                    <a:solidFill>
                      <a:srgbClr val="F3F3F3"/>
                    </a:solidFill>
                  </a:tcPr>
                </a:tc>
              </a:tr>
              <a:tr h="1037589">
                <a:tc rowSpan="5">
                  <a:txBody>
                    <a:bodyPr/>
                    <a:p>
                      <a:pPr marL="107950" marR="2317750"/>
                      <a:r>
                        <a:rPr sz="700" spc="-15">
                          <a:solidFill>
                            <a:srgbClr val="919191"/>
                          </a:solidFill>
                          <a:latin typeface="Verdana"/>
                          <a:cs typeface="Verdana"/>
                        </a:rPr>
                        <a:t>Казахстан</a:t>
                      </a:r>
                      <a:r>
                        <a:rPr sz="700" spc="305">
                          <a:solidFill>
                            <a:srgbClr val="919191"/>
                          </a:solidFill>
                          <a:latin typeface="Verdana"/>
                          <a:cs typeface="Verdana"/>
                        </a:rPr>
                        <a:t> </a:t>
                      </a:r>
                      <a:r>
                        <a:rPr sz="700" spc="-5">
                          <a:solidFill>
                            <a:srgbClr val="919191"/>
                          </a:solidFill>
                          <a:latin typeface="Verdana"/>
                          <a:cs typeface="Verdana"/>
                        </a:rPr>
                        <a:t>|</a:t>
                      </a:r>
                      <a:r>
                        <a:rPr sz="700" spc="225">
                          <a:solidFill>
                            <a:srgbClr val="919191"/>
                          </a:solidFill>
                          <a:latin typeface="Verdana"/>
                          <a:cs typeface="Verdana"/>
                        </a:rPr>
                        <a:t> </a:t>
                      </a:r>
                      <a:r>
                        <a:rPr sz="700" spc="-15">
                          <a:solidFill>
                            <a:srgbClr val="919191"/>
                          </a:solidFill>
                          <a:latin typeface="Verdana"/>
                          <a:cs typeface="Verdana"/>
                        </a:rPr>
                        <a:t>Департамент</a:t>
                      </a:r>
                      <a:r>
                        <a:rPr sz="700" spc="55">
                          <a:solidFill>
                            <a:srgbClr val="919191"/>
                          </a:solidFill>
                          <a:latin typeface="Verdana"/>
                          <a:cs typeface="Verdana"/>
                        </a:rPr>
                        <a:t> </a:t>
                      </a:r>
                      <a:r>
                        <a:rPr sz="700" spc="-15">
                          <a:solidFill>
                            <a:srgbClr val="919191"/>
                          </a:solidFill>
                          <a:latin typeface="Verdana"/>
                          <a:cs typeface="Verdana"/>
                        </a:rPr>
                        <a:t>налогообложения</a:t>
                      </a:r>
                      <a:r>
                        <a:rPr sz="700" spc="65">
                          <a:solidFill>
                            <a:srgbClr val="919191"/>
                          </a:solidFill>
                          <a:latin typeface="Verdana"/>
                          <a:cs typeface="Verdana"/>
                        </a:rPr>
                        <a:t> </a:t>
                      </a:r>
                      <a:r>
                        <a:rPr sz="700" spc="-15">
                          <a:solidFill>
                            <a:srgbClr val="919191"/>
                          </a:solidFill>
                          <a:latin typeface="Verdana"/>
                          <a:cs typeface="Verdana"/>
                        </a:rPr>
                        <a:t>и</a:t>
                      </a:r>
                      <a:r>
                        <a:rPr sz="700" spc="60">
                          <a:solidFill>
                            <a:srgbClr val="919191"/>
                          </a:solidFill>
                          <a:latin typeface="Verdana"/>
                          <a:cs typeface="Verdana"/>
                        </a:rPr>
                        <a:t> </a:t>
                      </a:r>
                      <a:r>
                        <a:rPr sz="700" spc="-15">
                          <a:solidFill>
                            <a:srgbClr val="919191"/>
                          </a:solidFill>
                          <a:latin typeface="Verdana"/>
                          <a:cs typeface="Verdana"/>
                        </a:rPr>
                        <a:t>права</a:t>
                      </a:r>
                      <a:r>
                        <a:rPr sz="700" spc="305">
                          <a:solidFill>
                            <a:srgbClr val="919191"/>
                          </a:solidFill>
                          <a:latin typeface="Verdana"/>
                          <a:cs typeface="Verdana"/>
                        </a:rPr>
                        <a:t> </a:t>
                      </a:r>
                      <a:r>
                        <a:rPr sz="700" spc="-15">
                          <a:solidFill>
                            <a:srgbClr val="919191"/>
                          </a:solidFill>
                          <a:latin typeface="Verdana"/>
                          <a:cs typeface="Verdana"/>
                        </a:rPr>
                        <a:t>|</a:t>
                      </a:r>
                      <a:r>
                        <a:rPr sz="700" spc="315">
                          <a:solidFill>
                            <a:srgbClr val="919191"/>
                          </a:solidFill>
                          <a:latin typeface="Verdana"/>
                          <a:cs typeface="Verdana"/>
                        </a:rPr>
                        <a:t> </a:t>
                      </a:r>
                      <a:r>
                        <a:rPr sz="700" spc="-15">
                          <a:solidFill>
                            <a:srgbClr val="919191"/>
                          </a:solidFill>
                          <a:latin typeface="Verdana"/>
                          <a:cs typeface="Verdana"/>
                        </a:rPr>
                        <a:t>06</a:t>
                      </a:r>
                      <a:r>
                        <a:rPr sz="700" spc="65">
                          <a:solidFill>
                            <a:srgbClr val="919191"/>
                          </a:solidFill>
                          <a:latin typeface="Verdana"/>
                          <a:cs typeface="Verdana"/>
                        </a:rPr>
                        <a:t> </a:t>
                      </a:r>
                      <a:r>
                        <a:rPr sz="700" spc="-15">
                          <a:solidFill>
                            <a:srgbClr val="919191"/>
                          </a:solidFill>
                          <a:latin typeface="Verdana"/>
                          <a:cs typeface="Verdana"/>
                        </a:rPr>
                        <a:t>апреля</a:t>
                      </a:r>
                      <a:r>
                        <a:rPr sz="700" spc="50">
                          <a:solidFill>
                            <a:srgbClr val="919191"/>
                          </a:solidFill>
                          <a:latin typeface="Verdana"/>
                          <a:cs typeface="Verdana"/>
                        </a:rPr>
                        <a:t> </a:t>
                      </a:r>
                      <a:r>
                        <a:rPr sz="700" spc="-15">
                          <a:solidFill>
                            <a:srgbClr val="919191"/>
                          </a:solidFill>
                          <a:latin typeface="Verdana"/>
                          <a:cs typeface="Verdana"/>
                        </a:rPr>
                        <a:t>2020</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89535" marR="241935" algn="just">
                        <a:lnSpc>
                          <a:spcPct val="116353"/>
                        </a:lnSpc>
                        <a:spcBef>
                          <a:spcPts val="1000"/>
                        </a:spcBef>
                      </a:pPr>
                      <a:r>
                        <a:rPr sz="1600" b="1" spc="-20">
                          <a:solidFill>
                            <a:srgbClr val="FFFFFF"/>
                          </a:solidFill>
                          <a:latin typeface="Verdana"/>
                          <a:cs typeface="Verdana"/>
                        </a:rPr>
                        <a:t>О призыве военнообязанных на специальные </a:t>
                      </a:r>
                      <a:r>
                        <a:rPr sz="1600" b="1">
                          <a:solidFill>
                            <a:srgbClr val="FFFFFF"/>
                          </a:solidFill>
                          <a:latin typeface="Verdana"/>
                          <a:cs typeface="Verdana"/>
                        </a:rPr>
                        <a:t>сборы</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166745">
                        <a:spcBef>
                          <a:spcPts val="1100"/>
                        </a:spcBef>
                      </a:pPr>
                      <a:r>
                        <a:rPr sz="1700" b="1" spc="-35">
                          <a:latin typeface="Verdana"/>
                          <a:cs typeface="Verdana"/>
                        </a:rPr>
                        <a:t>Уважаемые  друзья,</a:t>
                      </a:r>
                      <a:endParaRPr/>
                    </a:p>
                    <a:p>
                      <a:pPr marL="144780" marR="224790">
                        <a:lnSpc>
                          <a:spcPct val="115971"/>
                        </a:lnSpc>
                        <a:spcBef>
                          <a:spcPts val="1000"/>
                        </a:spcBef>
                      </a:pPr>
                      <a:r>
                        <a:rPr sz="1100" spc="-5">
                          <a:latin typeface="Verdana"/>
                          <a:cs typeface="Verdana"/>
                        </a:rPr>
                        <a:t>Информируем</a:t>
                      </a:r>
                      <a:r>
                        <a:rPr sz="1100" spc="104">
                          <a:latin typeface="Verdana"/>
                          <a:cs typeface="Verdana"/>
                        </a:rPr>
                        <a:t> </a:t>
                      </a:r>
                      <a:r>
                        <a:rPr sz="1100" spc="-5">
                          <a:latin typeface="Verdana"/>
                          <a:cs typeface="Verdana"/>
                        </a:rPr>
                        <a:t>Вас</a:t>
                      </a:r>
                      <a:r>
                        <a:rPr sz="1100" spc="100">
                          <a:latin typeface="Verdana"/>
                          <a:cs typeface="Verdana"/>
                        </a:rPr>
                        <a:t> </a:t>
                      </a:r>
                      <a:r>
                        <a:rPr sz="1100" spc="-5">
                          <a:latin typeface="Verdana"/>
                          <a:cs typeface="Verdana"/>
                        </a:rPr>
                        <a:t>о</a:t>
                      </a:r>
                      <a:r>
                        <a:rPr sz="1100" spc="110">
                          <a:latin typeface="Verdana"/>
                          <a:cs typeface="Verdana"/>
                        </a:rPr>
                        <a:t> </a:t>
                      </a:r>
                      <a:r>
                        <a:rPr sz="1100" spc="-5">
                          <a:latin typeface="Verdana"/>
                          <a:cs typeface="Verdana"/>
                        </a:rPr>
                        <a:t>том,</a:t>
                      </a:r>
                      <a:r>
                        <a:rPr sz="1100" spc="100">
                          <a:latin typeface="Verdana"/>
                          <a:cs typeface="Verdana"/>
                        </a:rPr>
                        <a:t> </a:t>
                      </a:r>
                      <a:r>
                        <a:rPr sz="1100" spc="-5">
                          <a:latin typeface="Verdana"/>
                          <a:cs typeface="Verdana"/>
                        </a:rPr>
                        <a:t>что</a:t>
                      </a:r>
                      <a:r>
                        <a:rPr sz="1100" spc="110">
                          <a:latin typeface="Verdana"/>
                          <a:cs typeface="Verdana"/>
                        </a:rPr>
                        <a:t> </a:t>
                      </a:r>
                      <a:r>
                        <a:rPr sz="1100" spc="-5">
                          <a:latin typeface="Verdana"/>
                          <a:cs typeface="Verdana"/>
                        </a:rPr>
                        <a:t>2</a:t>
                      </a:r>
                      <a:r>
                        <a:rPr sz="1100" spc="95">
                          <a:latin typeface="Verdana"/>
                          <a:cs typeface="Verdana"/>
                        </a:rPr>
                        <a:t> </a:t>
                      </a:r>
                      <a:r>
                        <a:rPr sz="1100" spc="-5">
                          <a:latin typeface="Verdana"/>
                          <a:cs typeface="Verdana"/>
                        </a:rPr>
                        <a:t>апреля</a:t>
                      </a:r>
                      <a:r>
                        <a:rPr sz="1100" spc="100">
                          <a:latin typeface="Verdana"/>
                          <a:cs typeface="Verdana"/>
                        </a:rPr>
                        <a:t> </a:t>
                      </a:r>
                      <a:r>
                        <a:rPr sz="1100" spc="-5">
                          <a:latin typeface="Verdana"/>
                          <a:cs typeface="Verdana"/>
                        </a:rPr>
                        <a:t>2020</a:t>
                      </a:r>
                      <a:r>
                        <a:rPr sz="1100" spc="100">
                          <a:latin typeface="Verdana"/>
                          <a:cs typeface="Verdana"/>
                        </a:rPr>
                        <a:t> </a:t>
                      </a:r>
                      <a:r>
                        <a:rPr sz="1100" spc="-5">
                          <a:latin typeface="Verdana"/>
                          <a:cs typeface="Verdana"/>
                        </a:rPr>
                        <a:t>года</a:t>
                      </a:r>
                      <a:r>
                        <a:rPr sz="1100" spc="100">
                          <a:latin typeface="Verdana"/>
                          <a:cs typeface="Verdana"/>
                        </a:rPr>
                        <a:t> </a:t>
                      </a:r>
                      <a:r>
                        <a:rPr sz="1100" spc="-5">
                          <a:latin typeface="Verdana"/>
                          <a:cs typeface="Verdana"/>
                        </a:rPr>
                        <a:t>Президент</a:t>
                      </a:r>
                      <a:r>
                        <a:rPr sz="1100" spc="104">
                          <a:latin typeface="Verdana"/>
                          <a:cs typeface="Verdana"/>
                        </a:rPr>
                        <a:t> </a:t>
                      </a:r>
                      <a:r>
                        <a:rPr sz="1100" spc="-5">
                          <a:latin typeface="Verdana"/>
                          <a:cs typeface="Verdana"/>
                        </a:rPr>
                        <a:t>Республики </a:t>
                      </a:r>
                      <a:r>
                        <a:rPr sz="1100">
                          <a:latin typeface="Verdana"/>
                          <a:cs typeface="Verdana"/>
                        </a:rPr>
                        <a:t>Казахстан</a:t>
                      </a:r>
                      <a:r>
                        <a:rPr sz="1100" spc="115">
                          <a:latin typeface="Verdana"/>
                          <a:cs typeface="Verdana"/>
                        </a:rPr>
                        <a:t> </a:t>
                      </a:r>
                      <a:r>
                        <a:rPr sz="1100">
                          <a:latin typeface="Verdana"/>
                          <a:cs typeface="Verdana"/>
                        </a:rPr>
                        <a:t>Касым-Жомарт</a:t>
                      </a:r>
                      <a:r>
                        <a:rPr sz="1100" spc="115">
                          <a:latin typeface="Verdana"/>
                          <a:cs typeface="Verdana"/>
                        </a:rPr>
                        <a:t> </a:t>
                      </a:r>
                      <a:r>
                        <a:rPr sz="1100">
                          <a:latin typeface="Verdana"/>
                          <a:cs typeface="Verdana"/>
                        </a:rPr>
                        <a:t>Токаев</a:t>
                      </a:r>
                      <a:r>
                        <a:rPr sz="1100" spc="115">
                          <a:latin typeface="Verdana"/>
                          <a:cs typeface="Verdana"/>
                        </a:rPr>
                        <a:t> </a:t>
                      </a:r>
                      <a:r>
                        <a:rPr sz="1100">
                          <a:latin typeface="Verdana"/>
                          <a:cs typeface="Verdana"/>
                        </a:rPr>
                        <a:t>подписал</a:t>
                      </a:r>
                      <a:r>
                        <a:rPr sz="1100" spc="104">
                          <a:latin typeface="Verdana"/>
                          <a:cs typeface="Verdana"/>
                        </a:rPr>
                        <a:t> </a:t>
                      </a:r>
                      <a:r>
                        <a:rPr sz="1100">
                          <a:latin typeface="Verdana"/>
                          <a:cs typeface="Verdana"/>
                        </a:rPr>
                        <a:t>Указ</a:t>
                      </a:r>
                      <a:r>
                        <a:rPr sz="1100" spc="115">
                          <a:latin typeface="Verdana"/>
                          <a:cs typeface="Verdana"/>
                        </a:rPr>
                        <a:t> </a:t>
                      </a:r>
                      <a:r>
                        <a:rPr sz="1100">
                          <a:latin typeface="Verdana"/>
                          <a:cs typeface="Verdana"/>
                        </a:rPr>
                        <a:t>№296</a:t>
                      </a:r>
                      <a:r>
                        <a:rPr sz="1100" spc="104">
                          <a:latin typeface="Verdana"/>
                          <a:cs typeface="Verdana"/>
                        </a:rPr>
                        <a:t> </a:t>
                      </a:r>
                      <a:r>
                        <a:rPr sz="1100" i="1">
                          <a:latin typeface="Verdana"/>
                          <a:cs typeface="Verdana"/>
                        </a:rPr>
                        <a:t>«О</a:t>
                      </a:r>
                      <a:r>
                        <a:rPr sz="1100" i="1" spc="104">
                          <a:latin typeface="Verdana"/>
                          <a:cs typeface="Verdana"/>
                        </a:rPr>
                        <a:t> </a:t>
                      </a:r>
                      <a:r>
                        <a:rPr sz="1100" i="1">
                          <a:latin typeface="Verdana"/>
                          <a:cs typeface="Verdana"/>
                        </a:rPr>
                        <a:t>призыве военнообязанных</a:t>
                      </a:r>
                      <a:r>
                        <a:rPr sz="1100" i="1" spc="104">
                          <a:latin typeface="Verdana"/>
                          <a:cs typeface="Verdana"/>
                        </a:rPr>
                        <a:t> </a:t>
                      </a:r>
                      <a:r>
                        <a:rPr sz="1100" i="1">
                          <a:latin typeface="Verdana"/>
                          <a:cs typeface="Verdana"/>
                        </a:rPr>
                        <a:t>на</a:t>
                      </a:r>
                      <a:r>
                        <a:rPr sz="1100" i="1" spc="95">
                          <a:latin typeface="Verdana"/>
                          <a:cs typeface="Verdana"/>
                        </a:rPr>
                        <a:t> </a:t>
                      </a:r>
                      <a:r>
                        <a:rPr sz="1100" i="1">
                          <a:latin typeface="Verdana"/>
                          <a:cs typeface="Verdana"/>
                        </a:rPr>
                        <a:t>специальные</a:t>
                      </a:r>
                      <a:r>
                        <a:rPr sz="1100" i="1" spc="115">
                          <a:latin typeface="Verdana"/>
                          <a:cs typeface="Verdana"/>
                        </a:rPr>
                        <a:t> </a:t>
                      </a:r>
                      <a:r>
                        <a:rPr sz="1100" i="1">
                          <a:latin typeface="Verdana"/>
                          <a:cs typeface="Verdana"/>
                        </a:rPr>
                        <a:t>сборы»</a:t>
                      </a:r>
                      <a:r>
                        <a:rPr sz="1100" i="1" spc="120">
                          <a:latin typeface="Verdana"/>
                          <a:cs typeface="Verdana"/>
                        </a:rPr>
                        <a:t> </a:t>
                      </a:r>
                      <a:r>
                        <a:rPr sz="1100">
                          <a:latin typeface="Verdana"/>
                          <a:cs typeface="Verdana"/>
                        </a:rPr>
                        <a:t>(далее</a:t>
                      </a:r>
                      <a:r>
                        <a:rPr sz="1100" spc="110">
                          <a:latin typeface="Verdana"/>
                          <a:cs typeface="Verdana"/>
                        </a:rPr>
                        <a:t> </a:t>
                      </a:r>
                      <a:r>
                        <a:rPr sz="1100">
                          <a:latin typeface="Verdana"/>
                          <a:cs typeface="Verdana"/>
                        </a:rPr>
                        <a:t>—</a:t>
                      </a:r>
                      <a:r>
                        <a:rPr sz="1100" spc="110">
                          <a:latin typeface="Verdana"/>
                          <a:cs typeface="Verdana"/>
                        </a:rPr>
                        <a:t> </a:t>
                      </a:r>
                      <a:r>
                        <a:rPr sz="1100">
                          <a:latin typeface="Verdana"/>
                          <a:cs typeface="Verdana"/>
                        </a:rPr>
                        <a:t>«Указ»).</a:t>
                      </a:r>
                      <a:r>
                        <a:rPr sz="1100" spc="95">
                          <a:latin typeface="Verdana"/>
                          <a:cs typeface="Verdana"/>
                        </a:rPr>
                        <a:t> </a:t>
                      </a:r>
                      <a:r>
                        <a:rPr sz="1100">
                          <a:latin typeface="Verdana"/>
                          <a:cs typeface="Verdana"/>
                        </a:rPr>
                        <a:t>В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Указом</a:t>
                      </a:r>
                      <a:r>
                        <a:rPr sz="1100" spc="90">
                          <a:latin typeface="Verdana"/>
                          <a:cs typeface="Verdana"/>
                        </a:rPr>
                        <a:t> </a:t>
                      </a:r>
                      <a:r>
                        <a:rPr sz="1100" spc="-20">
                          <a:latin typeface="Verdana"/>
                          <a:cs typeface="Verdana"/>
                        </a:rPr>
                        <a:t>военнообязанные</a:t>
                      </a:r>
                      <a:r>
                        <a:rPr sz="1100" spc="80">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призваны</a:t>
                      </a:r>
                      <a:r>
                        <a:rPr sz="1100" spc="75">
                          <a:latin typeface="Verdana"/>
                          <a:cs typeface="Verdana"/>
                        </a:rPr>
                        <a:t> </a:t>
                      </a:r>
                      <a:r>
                        <a:rPr sz="1100" spc="-20">
                          <a:latin typeface="Verdana"/>
                          <a:cs typeface="Verdana"/>
                        </a:rPr>
                        <a:t>на</a:t>
                      </a:r>
                      <a:r>
                        <a:rPr sz="1100" spc="85">
                          <a:latin typeface="Verdana"/>
                          <a:cs typeface="Verdana"/>
                        </a:rPr>
                        <a:t> </a:t>
                      </a:r>
                      <a:r>
                        <a:rPr sz="1100" spc="-20">
                          <a:latin typeface="Verdana"/>
                          <a:cs typeface="Verdana"/>
                        </a:rPr>
                        <a:t>специальные </a:t>
                      </a:r>
                      <a:r>
                        <a:rPr sz="1100">
                          <a:latin typeface="Verdana"/>
                          <a:cs typeface="Verdana"/>
                        </a:rPr>
                        <a:t>сборы</a:t>
                      </a:r>
                      <a:r>
                        <a:rPr sz="1100" spc="110">
                          <a:latin typeface="Verdana"/>
                          <a:cs typeface="Verdana"/>
                        </a:rPr>
                        <a:t> </a:t>
                      </a:r>
                      <a:r>
                        <a:rPr sz="1100">
                          <a:latin typeface="Verdana"/>
                          <a:cs typeface="Verdana"/>
                        </a:rPr>
                        <a:t>для</a:t>
                      </a:r>
                      <a:r>
                        <a:rPr sz="1100" spc="104">
                          <a:latin typeface="Verdana"/>
                          <a:cs typeface="Verdana"/>
                        </a:rPr>
                        <a:t> </a:t>
                      </a:r>
                      <a:r>
                        <a:rPr sz="1100">
                          <a:latin typeface="Verdana"/>
                          <a:cs typeface="Verdana"/>
                        </a:rPr>
                        <a:t>укомплектования</a:t>
                      </a:r>
                      <a:r>
                        <a:rPr sz="1100" spc="110">
                          <a:latin typeface="Verdana"/>
                          <a:cs typeface="Verdana"/>
                        </a:rPr>
                        <a:t> </a:t>
                      </a:r>
                      <a:r>
                        <a:rPr sz="1100">
                          <a:latin typeface="Verdana"/>
                          <a:cs typeface="Verdana"/>
                        </a:rPr>
                        <a:t>территориальных</a:t>
                      </a:r>
                      <a:r>
                        <a:rPr sz="1100" spc="104">
                          <a:latin typeface="Verdana"/>
                          <a:cs typeface="Verdana"/>
                        </a:rPr>
                        <a:t> </a:t>
                      </a:r>
                      <a:r>
                        <a:rPr sz="1100">
                          <a:latin typeface="Verdana"/>
                          <a:cs typeface="Verdana"/>
                        </a:rPr>
                        <a:t>войск</a:t>
                      </a:r>
                      <a:r>
                        <a:rPr sz="1100" spc="104">
                          <a:latin typeface="Verdana"/>
                          <a:cs typeface="Verdana"/>
                        </a:rPr>
                        <a:t> </a:t>
                      </a:r>
                      <a:r>
                        <a:rPr sz="1100">
                          <a:latin typeface="Verdana"/>
                          <a:cs typeface="Verdana"/>
                        </a:rPr>
                        <a:t>Вооруженных</a:t>
                      </a:r>
                      <a:r>
                        <a:rPr sz="1100" spc="104">
                          <a:latin typeface="Verdana"/>
                          <a:cs typeface="Verdana"/>
                        </a:rPr>
                        <a:t> </a:t>
                      </a:r>
                      <a:r>
                        <a:rPr sz="1100">
                          <a:latin typeface="Verdana"/>
                          <a:cs typeface="Verdana"/>
                        </a:rPr>
                        <a:t>Сил Республики  Казахстан.</a:t>
                      </a:r>
                      <a:endParaRPr/>
                    </a:p>
                    <a:p>
                      <a:pPr marL="144780" marR="281305" algn="just">
                        <a:lnSpc>
                          <a:spcPct val="117685"/>
                        </a:lnSpc>
                        <a:spcBef>
                          <a:spcPts val="1200"/>
                        </a:spcBef>
                      </a:pPr>
                      <a:r>
                        <a:rPr sz="1100" spc="-10">
                          <a:latin typeface="Verdana"/>
                          <a:cs typeface="Verdana"/>
                        </a:rPr>
                        <a:t>В связи с вышеуказанным ниже мы подготовили краткую разъясняющую </a:t>
                      </a:r>
                      <a:r>
                        <a:rPr sz="1100">
                          <a:latin typeface="Verdana"/>
                          <a:cs typeface="Verdana"/>
                        </a:rPr>
                        <a:t>ин</a:t>
                      </a:r>
                      <a:r>
                        <a:rPr sz="1100">
                          <a:latin typeface="Verdana"/>
                          <a:cs typeface="Verdana"/>
                        </a:rPr>
                        <a:t>формацию:</a:t>
                      </a:r>
                      <a:endParaRPr/>
                    </a:p>
                    <a:p>
                      <a:pPr marL="400685" marR="281305" indent="-228600" algn="just">
                        <a:spcBef>
                          <a:spcPts val="1200"/>
                        </a:spcBef>
                        <a:tabLst>
                          <a:tab pos="400685" algn="l"/>
                        </a:tabLst>
                      </a:pPr>
                      <a:r>
                        <a:rPr sz="1100">
                          <a:solidFill>
                            <a:srgbClr val="62B5E5"/>
                          </a:solidFill>
                          <a:latin typeface="Symbol"/>
                          <a:cs typeface="Symbol"/>
                        </a:rPr>
                        <a:t></a:t>
                      </a:r>
                      <a:r>
                        <a:rPr sz="1100">
                          <a:solidFill>
                            <a:srgbClr val="62B5E5"/>
                          </a:solidFill>
                          <a:latin typeface="Symbol"/>
                          <a:cs typeface="Symbol"/>
                        </a:rPr>
                        <a:t>	</a:t>
                      </a:r>
                      <a:r>
                        <a:rPr sz="1100">
                          <a:solidFill>
                            <a:srgbClr val="62B5E5"/>
                          </a:solidFill>
                          <a:latin typeface="Verdana"/>
                          <a:cs typeface="Verdana"/>
                        </a:rPr>
                        <a:t>Кто  может  быть  призван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Кто  освобожден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Порядок  призыва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Оплата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Сроки</a:t>
                      </a:r>
                      <a:endParaRPr/>
                    </a:p>
                    <a:p>
                      <a:pPr marL="400685" marR="281305" indent="-228600" algn="just">
                        <a:spcBef>
                          <a:spcPts val="700"/>
                        </a:spcBef>
                        <a:buSzPts val="1100"/>
                        <a:buFont typeface="Symbol"/>
                        <a:buChar char=""/>
                      </a:pPr>
                      <a:r>
                        <a:rPr sz="1100">
                          <a:solidFill>
                            <a:srgbClr val="62B5E5"/>
                          </a:solidFill>
                          <a:latin typeface="Verdana"/>
                          <a:cs typeface="Verdana"/>
                        </a:rPr>
                        <a:t>Ответственность  за  неявку</a:t>
                      </a:r>
                      <a:endParaRPr/>
                    </a:p>
                  </a:txBody>
                  <a:tcPr marL="0" marR="0" marT="0" marB="0">
                    <a:lnL/>
                    <a:lnR/>
                    <a:lnT/>
                    <a:lnB/>
                    <a:solidFill>
                      <a:srgbClr val="F3F3F3"/>
                    </a:solidFill>
                  </a:tcPr>
                </a:tc>
              </a:tr>
              <a:tr h="209550">
                <a:tc rowSpan="5">
                  <a:txBody>
                    <a:bodyPr/>
                    <a:p>
                      <a:pPr marL="107950" marR="2317750"/>
                      <a:r>
                        <a:rPr sz="700" spc="-15">
                          <a:solidFill>
                            <a:srgbClr val="919191"/>
                          </a:solidFill>
                          <a:latin typeface="Verdana"/>
                          <a:cs typeface="Verdana"/>
                        </a:rPr>
                        <a:t>Казахстан</a:t>
                      </a:r>
                      <a:r>
                        <a:rPr sz="700" spc="305">
                          <a:solidFill>
                            <a:srgbClr val="919191"/>
                          </a:solidFill>
                          <a:latin typeface="Verdana"/>
                          <a:cs typeface="Verdana"/>
                        </a:rPr>
                        <a:t> </a:t>
                      </a:r>
                      <a:r>
                        <a:rPr sz="700" spc="-5">
                          <a:solidFill>
                            <a:srgbClr val="919191"/>
                          </a:solidFill>
                          <a:latin typeface="Verdana"/>
                          <a:cs typeface="Verdana"/>
                        </a:rPr>
                        <a:t>|</a:t>
                      </a:r>
                      <a:r>
                        <a:rPr sz="700" spc="225">
                          <a:solidFill>
                            <a:srgbClr val="919191"/>
                          </a:solidFill>
                          <a:latin typeface="Verdana"/>
                          <a:cs typeface="Verdana"/>
                        </a:rPr>
                        <a:t> </a:t>
                      </a:r>
                      <a:r>
                        <a:rPr sz="700" spc="-15">
                          <a:solidFill>
                            <a:srgbClr val="919191"/>
                          </a:solidFill>
                          <a:latin typeface="Verdana"/>
                          <a:cs typeface="Verdana"/>
                        </a:rPr>
                        <a:t>Департамент</a:t>
                      </a:r>
                      <a:r>
                        <a:rPr sz="700" spc="55">
                          <a:solidFill>
                            <a:srgbClr val="919191"/>
                          </a:solidFill>
                          <a:latin typeface="Verdana"/>
                          <a:cs typeface="Verdana"/>
                        </a:rPr>
                        <a:t> </a:t>
                      </a:r>
                      <a:r>
                        <a:rPr sz="700" spc="-15">
                          <a:solidFill>
                            <a:srgbClr val="919191"/>
                          </a:solidFill>
                          <a:latin typeface="Verdana"/>
                          <a:cs typeface="Verdana"/>
                        </a:rPr>
                        <a:t>налогообложения</a:t>
                      </a:r>
                      <a:r>
                        <a:rPr sz="700" spc="65">
                          <a:solidFill>
                            <a:srgbClr val="919191"/>
                          </a:solidFill>
                          <a:latin typeface="Verdana"/>
                          <a:cs typeface="Verdana"/>
                        </a:rPr>
                        <a:t> </a:t>
                      </a:r>
                      <a:r>
                        <a:rPr sz="700" spc="-15">
                          <a:solidFill>
                            <a:srgbClr val="919191"/>
                          </a:solidFill>
                          <a:latin typeface="Verdana"/>
                          <a:cs typeface="Verdana"/>
                        </a:rPr>
                        <a:t>и</a:t>
                      </a:r>
                      <a:r>
                        <a:rPr sz="700" spc="60">
                          <a:solidFill>
                            <a:srgbClr val="919191"/>
                          </a:solidFill>
                          <a:latin typeface="Verdana"/>
                          <a:cs typeface="Verdana"/>
                        </a:rPr>
                        <a:t> </a:t>
                      </a:r>
                      <a:r>
                        <a:rPr sz="700" spc="-15">
                          <a:solidFill>
                            <a:srgbClr val="919191"/>
                          </a:solidFill>
                          <a:latin typeface="Verdana"/>
                          <a:cs typeface="Verdana"/>
                        </a:rPr>
                        <a:t>права</a:t>
                      </a:r>
                      <a:r>
                        <a:rPr sz="700" spc="305">
                          <a:solidFill>
                            <a:srgbClr val="919191"/>
                          </a:solidFill>
                          <a:latin typeface="Verdana"/>
                          <a:cs typeface="Verdana"/>
                        </a:rPr>
                        <a:t> </a:t>
                      </a:r>
                      <a:r>
                        <a:rPr sz="700" spc="-15">
                          <a:solidFill>
                            <a:srgbClr val="919191"/>
                          </a:solidFill>
                          <a:latin typeface="Verdana"/>
                          <a:cs typeface="Verdana"/>
                        </a:rPr>
                        <a:t>|</a:t>
                      </a:r>
                      <a:r>
                        <a:rPr sz="700" spc="315">
                          <a:solidFill>
                            <a:srgbClr val="919191"/>
                          </a:solidFill>
                          <a:latin typeface="Verdana"/>
                          <a:cs typeface="Verdana"/>
                        </a:rPr>
                        <a:t> </a:t>
                      </a:r>
                      <a:r>
                        <a:rPr sz="700" spc="-15">
                          <a:solidFill>
                            <a:srgbClr val="919191"/>
                          </a:solidFill>
                          <a:latin typeface="Verdana"/>
                          <a:cs typeface="Verdana"/>
                        </a:rPr>
                        <a:t>06</a:t>
                      </a:r>
                      <a:r>
                        <a:rPr sz="700" spc="65">
                          <a:solidFill>
                            <a:srgbClr val="919191"/>
                          </a:solidFill>
                          <a:latin typeface="Verdana"/>
                          <a:cs typeface="Verdana"/>
                        </a:rPr>
                        <a:t> </a:t>
                      </a:r>
                      <a:r>
                        <a:rPr sz="700" spc="-15">
                          <a:solidFill>
                            <a:srgbClr val="919191"/>
                          </a:solidFill>
                          <a:latin typeface="Verdana"/>
                          <a:cs typeface="Verdana"/>
                        </a:rPr>
                        <a:t>апреля</a:t>
                      </a:r>
                      <a:r>
                        <a:rPr sz="700" spc="50">
                          <a:solidFill>
                            <a:srgbClr val="919191"/>
                          </a:solidFill>
                          <a:latin typeface="Verdana"/>
                          <a:cs typeface="Verdana"/>
                        </a:rPr>
                        <a:t> </a:t>
                      </a:r>
                      <a:r>
                        <a:rPr sz="700" spc="-15">
                          <a:solidFill>
                            <a:srgbClr val="919191"/>
                          </a:solidFill>
                          <a:latin typeface="Verdana"/>
                          <a:cs typeface="Verdana"/>
                        </a:rPr>
                        <a:t>2020</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89535" marR="241935" algn="just">
                        <a:lnSpc>
                          <a:spcPct val="116353"/>
                        </a:lnSpc>
                        <a:spcBef>
                          <a:spcPts val="1000"/>
                        </a:spcBef>
                      </a:pPr>
                      <a:r>
                        <a:rPr sz="1600" b="1" spc="-20">
                          <a:solidFill>
                            <a:srgbClr val="FFFFFF"/>
                          </a:solidFill>
                          <a:latin typeface="Verdana"/>
                          <a:cs typeface="Verdana"/>
                        </a:rPr>
                        <a:t>О призыве военнообязанных на специальные </a:t>
                      </a:r>
                      <a:r>
                        <a:rPr sz="1600" b="1">
                          <a:solidFill>
                            <a:srgbClr val="FFFFFF"/>
                          </a:solidFill>
                          <a:latin typeface="Verdana"/>
                          <a:cs typeface="Verdana"/>
                        </a:rPr>
                        <a:t>сборы</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166745">
                        <a:spcBef>
                          <a:spcPts val="1100"/>
                        </a:spcBef>
                      </a:pPr>
                      <a:r>
                        <a:rPr sz="1700" b="1" spc="-35">
                          <a:latin typeface="Verdana"/>
                          <a:cs typeface="Verdana"/>
                        </a:rPr>
                        <a:t>Уважаемые  друзья,</a:t>
                      </a:r>
                      <a:endParaRPr/>
                    </a:p>
                    <a:p>
                      <a:pPr marL="144780" marR="224790">
                        <a:lnSpc>
                          <a:spcPct val="115971"/>
                        </a:lnSpc>
                        <a:spcBef>
                          <a:spcPts val="1000"/>
                        </a:spcBef>
                      </a:pPr>
                      <a:r>
                        <a:rPr sz="1100" spc="-5">
                          <a:latin typeface="Verdana"/>
                          <a:cs typeface="Verdana"/>
                        </a:rPr>
                        <a:t>Информируем</a:t>
                      </a:r>
                      <a:r>
                        <a:rPr sz="1100" spc="104">
                          <a:latin typeface="Verdana"/>
                          <a:cs typeface="Verdana"/>
                        </a:rPr>
                        <a:t> </a:t>
                      </a:r>
                      <a:r>
                        <a:rPr sz="1100" spc="-5">
                          <a:latin typeface="Verdana"/>
                          <a:cs typeface="Verdana"/>
                        </a:rPr>
                        <a:t>Вас</a:t>
                      </a:r>
                      <a:r>
                        <a:rPr sz="1100" spc="100">
                          <a:latin typeface="Verdana"/>
                          <a:cs typeface="Verdana"/>
                        </a:rPr>
                        <a:t> </a:t>
                      </a:r>
                      <a:r>
                        <a:rPr sz="1100" spc="-5">
                          <a:latin typeface="Verdana"/>
                          <a:cs typeface="Verdana"/>
                        </a:rPr>
                        <a:t>о</a:t>
                      </a:r>
                      <a:r>
                        <a:rPr sz="1100" spc="110">
                          <a:latin typeface="Verdana"/>
                          <a:cs typeface="Verdana"/>
                        </a:rPr>
                        <a:t> </a:t>
                      </a:r>
                      <a:r>
                        <a:rPr sz="1100" spc="-5">
                          <a:latin typeface="Verdana"/>
                          <a:cs typeface="Verdana"/>
                        </a:rPr>
                        <a:t>том,</a:t>
                      </a:r>
                      <a:r>
                        <a:rPr sz="1100" spc="100">
                          <a:latin typeface="Verdana"/>
                          <a:cs typeface="Verdana"/>
                        </a:rPr>
                        <a:t> </a:t>
                      </a:r>
                      <a:r>
                        <a:rPr sz="1100" spc="-5">
                          <a:latin typeface="Verdana"/>
                          <a:cs typeface="Verdana"/>
                        </a:rPr>
                        <a:t>что</a:t>
                      </a:r>
                      <a:r>
                        <a:rPr sz="1100" spc="110">
                          <a:latin typeface="Verdana"/>
                          <a:cs typeface="Verdana"/>
                        </a:rPr>
                        <a:t> </a:t>
                      </a:r>
                      <a:r>
                        <a:rPr sz="1100" spc="-5">
                          <a:latin typeface="Verdana"/>
                          <a:cs typeface="Verdana"/>
                        </a:rPr>
                        <a:t>2</a:t>
                      </a:r>
                      <a:r>
                        <a:rPr sz="1100" spc="95">
                          <a:latin typeface="Verdana"/>
                          <a:cs typeface="Verdana"/>
                        </a:rPr>
                        <a:t> </a:t>
                      </a:r>
                      <a:r>
                        <a:rPr sz="1100" spc="-5">
                          <a:latin typeface="Verdana"/>
                          <a:cs typeface="Verdana"/>
                        </a:rPr>
                        <a:t>апреля</a:t>
                      </a:r>
                      <a:r>
                        <a:rPr sz="1100" spc="100">
                          <a:latin typeface="Verdana"/>
                          <a:cs typeface="Verdana"/>
                        </a:rPr>
                        <a:t> </a:t>
                      </a:r>
                      <a:r>
                        <a:rPr sz="1100" spc="-5">
                          <a:latin typeface="Verdana"/>
                          <a:cs typeface="Verdana"/>
                        </a:rPr>
                        <a:t>2020</a:t>
                      </a:r>
                      <a:r>
                        <a:rPr sz="1100" spc="100">
                          <a:latin typeface="Verdana"/>
                          <a:cs typeface="Verdana"/>
                        </a:rPr>
                        <a:t> </a:t>
                      </a:r>
                      <a:r>
                        <a:rPr sz="1100" spc="-5">
                          <a:latin typeface="Verdana"/>
                          <a:cs typeface="Verdana"/>
                        </a:rPr>
                        <a:t>года</a:t>
                      </a:r>
                      <a:r>
                        <a:rPr sz="1100" spc="100">
                          <a:latin typeface="Verdana"/>
                          <a:cs typeface="Verdana"/>
                        </a:rPr>
                        <a:t> </a:t>
                      </a:r>
                      <a:r>
                        <a:rPr sz="1100" spc="-5">
                          <a:latin typeface="Verdana"/>
                          <a:cs typeface="Verdana"/>
                        </a:rPr>
                        <a:t>Президент</a:t>
                      </a:r>
                      <a:r>
                        <a:rPr sz="1100" spc="104">
                          <a:latin typeface="Verdana"/>
                          <a:cs typeface="Verdana"/>
                        </a:rPr>
                        <a:t> </a:t>
                      </a:r>
                      <a:r>
                        <a:rPr sz="1100" spc="-5">
                          <a:latin typeface="Verdana"/>
                          <a:cs typeface="Verdana"/>
                        </a:rPr>
                        <a:t>Республики </a:t>
                      </a:r>
                      <a:r>
                        <a:rPr sz="1100">
                          <a:latin typeface="Verdana"/>
                          <a:cs typeface="Verdana"/>
                        </a:rPr>
                        <a:t>Казахстан</a:t>
                      </a:r>
                      <a:r>
                        <a:rPr sz="1100" spc="115">
                          <a:latin typeface="Verdana"/>
                          <a:cs typeface="Verdana"/>
                        </a:rPr>
                        <a:t> </a:t>
                      </a:r>
                      <a:r>
                        <a:rPr sz="1100">
                          <a:latin typeface="Verdana"/>
                          <a:cs typeface="Verdana"/>
                        </a:rPr>
                        <a:t>Касым-Жомарт</a:t>
                      </a:r>
                      <a:r>
                        <a:rPr sz="1100" spc="115">
                          <a:latin typeface="Verdana"/>
                          <a:cs typeface="Verdana"/>
                        </a:rPr>
                        <a:t> </a:t>
                      </a:r>
                      <a:r>
                        <a:rPr sz="1100">
                          <a:latin typeface="Verdana"/>
                          <a:cs typeface="Verdana"/>
                        </a:rPr>
                        <a:t>Токаев</a:t>
                      </a:r>
                      <a:r>
                        <a:rPr sz="1100" spc="115">
                          <a:latin typeface="Verdana"/>
                          <a:cs typeface="Verdana"/>
                        </a:rPr>
                        <a:t> </a:t>
                      </a:r>
                      <a:r>
                        <a:rPr sz="1100">
                          <a:latin typeface="Verdana"/>
                          <a:cs typeface="Verdana"/>
                        </a:rPr>
                        <a:t>подписал</a:t>
                      </a:r>
                      <a:r>
                        <a:rPr sz="1100" spc="104">
                          <a:latin typeface="Verdana"/>
                          <a:cs typeface="Verdana"/>
                        </a:rPr>
                        <a:t> </a:t>
                      </a:r>
                      <a:r>
                        <a:rPr sz="1100">
                          <a:latin typeface="Verdana"/>
                          <a:cs typeface="Verdana"/>
                        </a:rPr>
                        <a:t>Указ</a:t>
                      </a:r>
                      <a:r>
                        <a:rPr sz="1100" spc="115">
                          <a:latin typeface="Verdana"/>
                          <a:cs typeface="Verdana"/>
                        </a:rPr>
                        <a:t> </a:t>
                      </a:r>
                      <a:r>
                        <a:rPr sz="1100">
                          <a:latin typeface="Verdana"/>
                          <a:cs typeface="Verdana"/>
                        </a:rPr>
                        <a:t>№296</a:t>
                      </a:r>
                      <a:r>
                        <a:rPr sz="1100" spc="104">
                          <a:latin typeface="Verdana"/>
                          <a:cs typeface="Verdana"/>
                        </a:rPr>
                        <a:t> </a:t>
                      </a:r>
                      <a:r>
                        <a:rPr sz="1100" i="1">
                          <a:latin typeface="Verdana"/>
                          <a:cs typeface="Verdana"/>
                        </a:rPr>
                        <a:t>«О</a:t>
                      </a:r>
                      <a:r>
                        <a:rPr sz="1100" i="1" spc="104">
                          <a:latin typeface="Verdana"/>
                          <a:cs typeface="Verdana"/>
                        </a:rPr>
                        <a:t> </a:t>
                      </a:r>
                      <a:r>
                        <a:rPr sz="1100" i="1">
                          <a:latin typeface="Verdana"/>
                          <a:cs typeface="Verdana"/>
                        </a:rPr>
                        <a:t>призыве военнообязанных</a:t>
                      </a:r>
                      <a:r>
                        <a:rPr sz="1100" i="1" spc="104">
                          <a:latin typeface="Verdana"/>
                          <a:cs typeface="Verdana"/>
                        </a:rPr>
                        <a:t> </a:t>
                      </a:r>
                      <a:r>
                        <a:rPr sz="1100" i="1">
                          <a:latin typeface="Verdana"/>
                          <a:cs typeface="Verdana"/>
                        </a:rPr>
                        <a:t>на</a:t>
                      </a:r>
                      <a:r>
                        <a:rPr sz="1100" i="1" spc="95">
                          <a:latin typeface="Verdana"/>
                          <a:cs typeface="Verdana"/>
                        </a:rPr>
                        <a:t> </a:t>
                      </a:r>
                      <a:r>
                        <a:rPr sz="1100" i="1">
                          <a:latin typeface="Verdana"/>
                          <a:cs typeface="Verdana"/>
                        </a:rPr>
                        <a:t>специальные</a:t>
                      </a:r>
                      <a:r>
                        <a:rPr sz="1100" i="1" spc="115">
                          <a:latin typeface="Verdana"/>
                          <a:cs typeface="Verdana"/>
                        </a:rPr>
                        <a:t> </a:t>
                      </a:r>
                      <a:r>
                        <a:rPr sz="1100" i="1">
                          <a:latin typeface="Verdana"/>
                          <a:cs typeface="Verdana"/>
                        </a:rPr>
                        <a:t>сборы»</a:t>
                      </a:r>
                      <a:r>
                        <a:rPr sz="1100" i="1" spc="120">
                          <a:latin typeface="Verdana"/>
                          <a:cs typeface="Verdana"/>
                        </a:rPr>
                        <a:t> </a:t>
                      </a:r>
                      <a:r>
                        <a:rPr sz="1100">
                          <a:latin typeface="Verdana"/>
                          <a:cs typeface="Verdana"/>
                        </a:rPr>
                        <a:t>(далее</a:t>
                      </a:r>
                      <a:r>
                        <a:rPr sz="1100" spc="110">
                          <a:latin typeface="Verdana"/>
                          <a:cs typeface="Verdana"/>
                        </a:rPr>
                        <a:t> </a:t>
                      </a:r>
                      <a:r>
                        <a:rPr sz="1100">
                          <a:latin typeface="Verdana"/>
                          <a:cs typeface="Verdana"/>
                        </a:rPr>
                        <a:t>—</a:t>
                      </a:r>
                      <a:r>
                        <a:rPr sz="1100" spc="110">
                          <a:latin typeface="Verdana"/>
                          <a:cs typeface="Verdana"/>
                        </a:rPr>
                        <a:t> </a:t>
                      </a:r>
                      <a:r>
                        <a:rPr sz="1100">
                          <a:latin typeface="Verdana"/>
                          <a:cs typeface="Verdana"/>
                        </a:rPr>
                        <a:t>«Указ»).</a:t>
                      </a:r>
                      <a:r>
                        <a:rPr sz="1100" spc="95">
                          <a:latin typeface="Verdana"/>
                          <a:cs typeface="Verdana"/>
                        </a:rPr>
                        <a:t> </a:t>
                      </a:r>
                      <a:r>
                        <a:rPr sz="1100">
                          <a:latin typeface="Verdana"/>
                          <a:cs typeface="Verdana"/>
                        </a:rPr>
                        <a:t>В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Указом</a:t>
                      </a:r>
                      <a:r>
                        <a:rPr sz="1100" spc="90">
                          <a:latin typeface="Verdana"/>
                          <a:cs typeface="Verdana"/>
                        </a:rPr>
                        <a:t> </a:t>
                      </a:r>
                      <a:r>
                        <a:rPr sz="1100" spc="-20">
                          <a:latin typeface="Verdana"/>
                          <a:cs typeface="Verdana"/>
                        </a:rPr>
                        <a:t>военнообязанные</a:t>
                      </a:r>
                      <a:r>
                        <a:rPr sz="1100" spc="80">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призваны</a:t>
                      </a:r>
                      <a:r>
                        <a:rPr sz="1100" spc="75">
                          <a:latin typeface="Verdana"/>
                          <a:cs typeface="Verdana"/>
                        </a:rPr>
                        <a:t> </a:t>
                      </a:r>
                      <a:r>
                        <a:rPr sz="1100" spc="-20">
                          <a:latin typeface="Verdana"/>
                          <a:cs typeface="Verdana"/>
                        </a:rPr>
                        <a:t>на</a:t>
                      </a:r>
                      <a:r>
                        <a:rPr sz="1100" spc="85">
                          <a:latin typeface="Verdana"/>
                          <a:cs typeface="Verdana"/>
                        </a:rPr>
                        <a:t> </a:t>
                      </a:r>
                      <a:r>
                        <a:rPr sz="1100" spc="-20">
                          <a:latin typeface="Verdana"/>
                          <a:cs typeface="Verdana"/>
                        </a:rPr>
                        <a:t>специальные </a:t>
                      </a:r>
                      <a:r>
                        <a:rPr sz="1100">
                          <a:latin typeface="Verdana"/>
                          <a:cs typeface="Verdana"/>
                        </a:rPr>
                        <a:t>сборы</a:t>
                      </a:r>
                      <a:r>
                        <a:rPr sz="1100" spc="110">
                          <a:latin typeface="Verdana"/>
                          <a:cs typeface="Verdana"/>
                        </a:rPr>
                        <a:t> </a:t>
                      </a:r>
                      <a:r>
                        <a:rPr sz="1100">
                          <a:latin typeface="Verdana"/>
                          <a:cs typeface="Verdana"/>
                        </a:rPr>
                        <a:t>для</a:t>
                      </a:r>
                      <a:r>
                        <a:rPr sz="1100" spc="104">
                          <a:latin typeface="Verdana"/>
                          <a:cs typeface="Verdana"/>
                        </a:rPr>
                        <a:t> </a:t>
                      </a:r>
                      <a:r>
                        <a:rPr sz="1100">
                          <a:latin typeface="Verdana"/>
                          <a:cs typeface="Verdana"/>
                        </a:rPr>
                        <a:t>укомплектования</a:t>
                      </a:r>
                      <a:r>
                        <a:rPr sz="1100" spc="110">
                          <a:latin typeface="Verdana"/>
                          <a:cs typeface="Verdana"/>
                        </a:rPr>
                        <a:t> </a:t>
                      </a:r>
                      <a:r>
                        <a:rPr sz="1100">
                          <a:latin typeface="Verdana"/>
                          <a:cs typeface="Verdana"/>
                        </a:rPr>
                        <a:t>территориальных</a:t>
                      </a:r>
                      <a:r>
                        <a:rPr sz="1100" spc="104">
                          <a:latin typeface="Verdana"/>
                          <a:cs typeface="Verdana"/>
                        </a:rPr>
                        <a:t> </a:t>
                      </a:r>
                      <a:r>
                        <a:rPr sz="1100">
                          <a:latin typeface="Verdana"/>
                          <a:cs typeface="Verdana"/>
                        </a:rPr>
                        <a:t>войск</a:t>
                      </a:r>
                      <a:r>
                        <a:rPr sz="1100" spc="104">
                          <a:latin typeface="Verdana"/>
                          <a:cs typeface="Verdana"/>
                        </a:rPr>
                        <a:t> </a:t>
                      </a:r>
                      <a:r>
                        <a:rPr sz="1100">
                          <a:latin typeface="Verdana"/>
                          <a:cs typeface="Verdana"/>
                        </a:rPr>
                        <a:t>Вооруженных</a:t>
                      </a:r>
                      <a:r>
                        <a:rPr sz="1100" spc="104">
                          <a:latin typeface="Verdana"/>
                          <a:cs typeface="Verdana"/>
                        </a:rPr>
                        <a:t> </a:t>
                      </a:r>
                      <a:r>
                        <a:rPr sz="1100">
                          <a:latin typeface="Verdana"/>
                          <a:cs typeface="Verdana"/>
                        </a:rPr>
                        <a:t>Сил Республики  Казахстан.</a:t>
                      </a:r>
                      <a:endParaRPr/>
                    </a:p>
                    <a:p>
                      <a:pPr marL="144780" marR="281305" algn="just">
                        <a:lnSpc>
                          <a:spcPct val="117685"/>
                        </a:lnSpc>
                        <a:spcBef>
                          <a:spcPts val="1200"/>
                        </a:spcBef>
                      </a:pPr>
                      <a:r>
                        <a:rPr sz="1100" spc="-10">
                          <a:latin typeface="Verdana"/>
                          <a:cs typeface="Verdana"/>
                        </a:rPr>
                        <a:t>В связи с вышеуказанным ниже мы подготовили краткую разъясняющую </a:t>
                      </a:r>
                      <a:r>
                        <a:rPr sz="1100">
                          <a:latin typeface="Verdana"/>
                          <a:cs typeface="Verdana"/>
                        </a:rPr>
                        <a:t>ин</a:t>
                      </a:r>
                      <a:r>
                        <a:rPr sz="1100">
                          <a:latin typeface="Verdana"/>
                          <a:cs typeface="Verdana"/>
                        </a:rPr>
                        <a:t>формацию:</a:t>
                      </a:r>
                      <a:endParaRPr/>
                    </a:p>
                    <a:p>
                      <a:pPr marL="400685" marR="281305" indent="-228600" algn="just">
                        <a:spcBef>
                          <a:spcPts val="1200"/>
                        </a:spcBef>
                        <a:tabLst>
                          <a:tab pos="400685" algn="l"/>
                        </a:tabLst>
                      </a:pPr>
                      <a:r>
                        <a:rPr sz="1100">
                          <a:solidFill>
                            <a:srgbClr val="62B5E5"/>
                          </a:solidFill>
                          <a:latin typeface="Symbol"/>
                          <a:cs typeface="Symbol"/>
                        </a:rPr>
                        <a:t></a:t>
                      </a:r>
                      <a:r>
                        <a:rPr sz="1100">
                          <a:solidFill>
                            <a:srgbClr val="62B5E5"/>
                          </a:solidFill>
                          <a:latin typeface="Symbol"/>
                          <a:cs typeface="Symbol"/>
                        </a:rPr>
                        <a:t>	</a:t>
                      </a:r>
                      <a:r>
                        <a:rPr sz="1100">
                          <a:solidFill>
                            <a:srgbClr val="62B5E5"/>
                          </a:solidFill>
                          <a:latin typeface="Verdana"/>
                          <a:cs typeface="Verdana"/>
                        </a:rPr>
                        <a:t>Кто  может  быть  призван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Кто  освобожден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Порядок  призыва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Оплата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Сроки</a:t>
                      </a:r>
                      <a:endParaRPr/>
                    </a:p>
                    <a:p>
                      <a:pPr marL="400685" marR="281305" indent="-228600" algn="just">
                        <a:spcBef>
                          <a:spcPts val="700"/>
                        </a:spcBef>
                        <a:buSzPts val="1100"/>
                        <a:buFont typeface="Symbol"/>
                        <a:buChar char=""/>
                      </a:pPr>
                      <a:r>
                        <a:rPr sz="1100">
                          <a:solidFill>
                            <a:srgbClr val="62B5E5"/>
                          </a:solidFill>
                          <a:latin typeface="Verdana"/>
                          <a:cs typeface="Verdana"/>
                        </a:rPr>
                        <a:t>Ответственность  за  неявку</a:t>
                      </a:r>
                      <a:endParaRPr/>
                    </a:p>
                  </a:txBody>
                  <a:tcPr marL="0" marR="0" marT="0" marB="0">
                    <a:lnL/>
                    <a:lnR/>
                    <a:lnT/>
                    <a:lnB/>
                    <a:solidFill>
                      <a:srgbClr val="F3F3F3"/>
                    </a:solidFill>
                  </a:tcPr>
                </a:tc>
              </a:tr>
              <a:tr h="4061459">
                <a:tc rowSpan="5">
                  <a:txBody>
                    <a:bodyPr/>
                    <a:p>
                      <a:pPr marL="107950" marR="2317750"/>
                      <a:r>
                        <a:rPr sz="700" spc="-15">
                          <a:solidFill>
                            <a:srgbClr val="919191"/>
                          </a:solidFill>
                          <a:latin typeface="Verdana"/>
                          <a:cs typeface="Verdana"/>
                        </a:rPr>
                        <a:t>Казахстан</a:t>
                      </a:r>
                      <a:r>
                        <a:rPr sz="700" spc="305">
                          <a:solidFill>
                            <a:srgbClr val="919191"/>
                          </a:solidFill>
                          <a:latin typeface="Verdana"/>
                          <a:cs typeface="Verdana"/>
                        </a:rPr>
                        <a:t> </a:t>
                      </a:r>
                      <a:r>
                        <a:rPr sz="700" spc="-5">
                          <a:solidFill>
                            <a:srgbClr val="919191"/>
                          </a:solidFill>
                          <a:latin typeface="Verdana"/>
                          <a:cs typeface="Verdana"/>
                        </a:rPr>
                        <a:t>|</a:t>
                      </a:r>
                      <a:r>
                        <a:rPr sz="700" spc="225">
                          <a:solidFill>
                            <a:srgbClr val="919191"/>
                          </a:solidFill>
                          <a:latin typeface="Verdana"/>
                          <a:cs typeface="Verdana"/>
                        </a:rPr>
                        <a:t> </a:t>
                      </a:r>
                      <a:r>
                        <a:rPr sz="700" spc="-15">
                          <a:solidFill>
                            <a:srgbClr val="919191"/>
                          </a:solidFill>
                          <a:latin typeface="Verdana"/>
                          <a:cs typeface="Verdana"/>
                        </a:rPr>
                        <a:t>Департамент</a:t>
                      </a:r>
                      <a:r>
                        <a:rPr sz="700" spc="55">
                          <a:solidFill>
                            <a:srgbClr val="919191"/>
                          </a:solidFill>
                          <a:latin typeface="Verdana"/>
                          <a:cs typeface="Verdana"/>
                        </a:rPr>
                        <a:t> </a:t>
                      </a:r>
                      <a:r>
                        <a:rPr sz="700" spc="-15">
                          <a:solidFill>
                            <a:srgbClr val="919191"/>
                          </a:solidFill>
                          <a:latin typeface="Verdana"/>
                          <a:cs typeface="Verdana"/>
                        </a:rPr>
                        <a:t>налогообложения</a:t>
                      </a:r>
                      <a:r>
                        <a:rPr sz="700" spc="65">
                          <a:solidFill>
                            <a:srgbClr val="919191"/>
                          </a:solidFill>
                          <a:latin typeface="Verdana"/>
                          <a:cs typeface="Verdana"/>
                        </a:rPr>
                        <a:t> </a:t>
                      </a:r>
                      <a:r>
                        <a:rPr sz="700" spc="-15">
                          <a:solidFill>
                            <a:srgbClr val="919191"/>
                          </a:solidFill>
                          <a:latin typeface="Verdana"/>
                          <a:cs typeface="Verdana"/>
                        </a:rPr>
                        <a:t>и</a:t>
                      </a:r>
                      <a:r>
                        <a:rPr sz="700" spc="60">
                          <a:solidFill>
                            <a:srgbClr val="919191"/>
                          </a:solidFill>
                          <a:latin typeface="Verdana"/>
                          <a:cs typeface="Verdana"/>
                        </a:rPr>
                        <a:t> </a:t>
                      </a:r>
                      <a:r>
                        <a:rPr sz="700" spc="-15">
                          <a:solidFill>
                            <a:srgbClr val="919191"/>
                          </a:solidFill>
                          <a:latin typeface="Verdana"/>
                          <a:cs typeface="Verdana"/>
                        </a:rPr>
                        <a:t>права</a:t>
                      </a:r>
                      <a:r>
                        <a:rPr sz="700" spc="305">
                          <a:solidFill>
                            <a:srgbClr val="919191"/>
                          </a:solidFill>
                          <a:latin typeface="Verdana"/>
                          <a:cs typeface="Verdana"/>
                        </a:rPr>
                        <a:t> </a:t>
                      </a:r>
                      <a:r>
                        <a:rPr sz="700" spc="-15">
                          <a:solidFill>
                            <a:srgbClr val="919191"/>
                          </a:solidFill>
                          <a:latin typeface="Verdana"/>
                          <a:cs typeface="Verdana"/>
                        </a:rPr>
                        <a:t>|</a:t>
                      </a:r>
                      <a:r>
                        <a:rPr sz="700" spc="315">
                          <a:solidFill>
                            <a:srgbClr val="919191"/>
                          </a:solidFill>
                          <a:latin typeface="Verdana"/>
                          <a:cs typeface="Verdana"/>
                        </a:rPr>
                        <a:t> </a:t>
                      </a:r>
                      <a:r>
                        <a:rPr sz="700" spc="-15">
                          <a:solidFill>
                            <a:srgbClr val="919191"/>
                          </a:solidFill>
                          <a:latin typeface="Verdana"/>
                          <a:cs typeface="Verdana"/>
                        </a:rPr>
                        <a:t>06</a:t>
                      </a:r>
                      <a:r>
                        <a:rPr sz="700" spc="65">
                          <a:solidFill>
                            <a:srgbClr val="919191"/>
                          </a:solidFill>
                          <a:latin typeface="Verdana"/>
                          <a:cs typeface="Verdana"/>
                        </a:rPr>
                        <a:t> </a:t>
                      </a:r>
                      <a:r>
                        <a:rPr sz="700" spc="-15">
                          <a:solidFill>
                            <a:srgbClr val="919191"/>
                          </a:solidFill>
                          <a:latin typeface="Verdana"/>
                          <a:cs typeface="Verdana"/>
                        </a:rPr>
                        <a:t>апреля</a:t>
                      </a:r>
                      <a:r>
                        <a:rPr sz="700" spc="50">
                          <a:solidFill>
                            <a:srgbClr val="919191"/>
                          </a:solidFill>
                          <a:latin typeface="Verdana"/>
                          <a:cs typeface="Verdana"/>
                        </a:rPr>
                        <a:t> </a:t>
                      </a:r>
                      <a:r>
                        <a:rPr sz="700" spc="-15">
                          <a:solidFill>
                            <a:srgbClr val="919191"/>
                          </a:solidFill>
                          <a:latin typeface="Verdana"/>
                          <a:cs typeface="Verdana"/>
                        </a:rPr>
                        <a:t>2020</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89535" marR="241935" algn="just">
                        <a:lnSpc>
                          <a:spcPct val="116353"/>
                        </a:lnSpc>
                        <a:spcBef>
                          <a:spcPts val="1000"/>
                        </a:spcBef>
                      </a:pPr>
                      <a:r>
                        <a:rPr sz="1600" b="1" spc="-20">
                          <a:solidFill>
                            <a:srgbClr val="FFFFFF"/>
                          </a:solidFill>
                          <a:latin typeface="Verdana"/>
                          <a:cs typeface="Verdana"/>
                        </a:rPr>
                        <a:t>О призыве военнообязанных на специальные </a:t>
                      </a:r>
                      <a:r>
                        <a:rPr sz="1600" b="1">
                          <a:solidFill>
                            <a:srgbClr val="FFFFFF"/>
                          </a:solidFill>
                          <a:latin typeface="Verdana"/>
                          <a:cs typeface="Verdana"/>
                        </a:rPr>
                        <a:t>сборы</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3166745">
                        <a:spcBef>
                          <a:spcPts val="1100"/>
                        </a:spcBef>
                      </a:pPr>
                      <a:r>
                        <a:rPr sz="1700" b="1" spc="-35">
                          <a:latin typeface="Verdana"/>
                          <a:cs typeface="Verdana"/>
                        </a:rPr>
                        <a:t>Уважаемые  друзья,</a:t>
                      </a:r>
                      <a:endParaRPr/>
                    </a:p>
                    <a:p>
                      <a:pPr marL="144780" marR="224790">
                        <a:lnSpc>
                          <a:spcPct val="115971"/>
                        </a:lnSpc>
                        <a:spcBef>
                          <a:spcPts val="1000"/>
                        </a:spcBef>
                      </a:pPr>
                      <a:r>
                        <a:rPr sz="1100" spc="-5">
                          <a:latin typeface="Verdana"/>
                          <a:cs typeface="Verdana"/>
                        </a:rPr>
                        <a:t>Информируем</a:t>
                      </a:r>
                      <a:r>
                        <a:rPr sz="1100" spc="104">
                          <a:latin typeface="Verdana"/>
                          <a:cs typeface="Verdana"/>
                        </a:rPr>
                        <a:t> </a:t>
                      </a:r>
                      <a:r>
                        <a:rPr sz="1100" spc="-5">
                          <a:latin typeface="Verdana"/>
                          <a:cs typeface="Verdana"/>
                        </a:rPr>
                        <a:t>Вас</a:t>
                      </a:r>
                      <a:r>
                        <a:rPr sz="1100" spc="100">
                          <a:latin typeface="Verdana"/>
                          <a:cs typeface="Verdana"/>
                        </a:rPr>
                        <a:t> </a:t>
                      </a:r>
                      <a:r>
                        <a:rPr sz="1100" spc="-5">
                          <a:latin typeface="Verdana"/>
                          <a:cs typeface="Verdana"/>
                        </a:rPr>
                        <a:t>о</a:t>
                      </a:r>
                      <a:r>
                        <a:rPr sz="1100" spc="110">
                          <a:latin typeface="Verdana"/>
                          <a:cs typeface="Verdana"/>
                        </a:rPr>
                        <a:t> </a:t>
                      </a:r>
                      <a:r>
                        <a:rPr sz="1100" spc="-5">
                          <a:latin typeface="Verdana"/>
                          <a:cs typeface="Verdana"/>
                        </a:rPr>
                        <a:t>том,</a:t>
                      </a:r>
                      <a:r>
                        <a:rPr sz="1100" spc="100">
                          <a:latin typeface="Verdana"/>
                          <a:cs typeface="Verdana"/>
                        </a:rPr>
                        <a:t> </a:t>
                      </a:r>
                      <a:r>
                        <a:rPr sz="1100" spc="-5">
                          <a:latin typeface="Verdana"/>
                          <a:cs typeface="Verdana"/>
                        </a:rPr>
                        <a:t>что</a:t>
                      </a:r>
                      <a:r>
                        <a:rPr sz="1100" spc="110">
                          <a:latin typeface="Verdana"/>
                          <a:cs typeface="Verdana"/>
                        </a:rPr>
                        <a:t> </a:t>
                      </a:r>
                      <a:r>
                        <a:rPr sz="1100" spc="-5">
                          <a:latin typeface="Verdana"/>
                          <a:cs typeface="Verdana"/>
                        </a:rPr>
                        <a:t>2</a:t>
                      </a:r>
                      <a:r>
                        <a:rPr sz="1100" spc="95">
                          <a:latin typeface="Verdana"/>
                          <a:cs typeface="Verdana"/>
                        </a:rPr>
                        <a:t> </a:t>
                      </a:r>
                      <a:r>
                        <a:rPr sz="1100" spc="-5">
                          <a:latin typeface="Verdana"/>
                          <a:cs typeface="Verdana"/>
                        </a:rPr>
                        <a:t>апреля</a:t>
                      </a:r>
                      <a:r>
                        <a:rPr sz="1100" spc="100">
                          <a:latin typeface="Verdana"/>
                          <a:cs typeface="Verdana"/>
                        </a:rPr>
                        <a:t> </a:t>
                      </a:r>
                      <a:r>
                        <a:rPr sz="1100" spc="-5">
                          <a:latin typeface="Verdana"/>
                          <a:cs typeface="Verdana"/>
                        </a:rPr>
                        <a:t>2020</a:t>
                      </a:r>
                      <a:r>
                        <a:rPr sz="1100" spc="100">
                          <a:latin typeface="Verdana"/>
                          <a:cs typeface="Verdana"/>
                        </a:rPr>
                        <a:t> </a:t>
                      </a:r>
                      <a:r>
                        <a:rPr sz="1100" spc="-5">
                          <a:latin typeface="Verdana"/>
                          <a:cs typeface="Verdana"/>
                        </a:rPr>
                        <a:t>года</a:t>
                      </a:r>
                      <a:r>
                        <a:rPr sz="1100" spc="100">
                          <a:latin typeface="Verdana"/>
                          <a:cs typeface="Verdana"/>
                        </a:rPr>
                        <a:t> </a:t>
                      </a:r>
                      <a:r>
                        <a:rPr sz="1100" spc="-5">
                          <a:latin typeface="Verdana"/>
                          <a:cs typeface="Verdana"/>
                        </a:rPr>
                        <a:t>Президент</a:t>
                      </a:r>
                      <a:r>
                        <a:rPr sz="1100" spc="104">
                          <a:latin typeface="Verdana"/>
                          <a:cs typeface="Verdana"/>
                        </a:rPr>
                        <a:t> </a:t>
                      </a:r>
                      <a:r>
                        <a:rPr sz="1100" spc="-5">
                          <a:latin typeface="Verdana"/>
                          <a:cs typeface="Verdana"/>
                        </a:rPr>
                        <a:t>Республики </a:t>
                      </a:r>
                      <a:r>
                        <a:rPr sz="1100">
                          <a:latin typeface="Verdana"/>
                          <a:cs typeface="Verdana"/>
                        </a:rPr>
                        <a:t>Казахстан</a:t>
                      </a:r>
                      <a:r>
                        <a:rPr sz="1100" spc="115">
                          <a:latin typeface="Verdana"/>
                          <a:cs typeface="Verdana"/>
                        </a:rPr>
                        <a:t> </a:t>
                      </a:r>
                      <a:r>
                        <a:rPr sz="1100">
                          <a:latin typeface="Verdana"/>
                          <a:cs typeface="Verdana"/>
                        </a:rPr>
                        <a:t>Касым-Жомарт</a:t>
                      </a:r>
                      <a:r>
                        <a:rPr sz="1100" spc="115">
                          <a:latin typeface="Verdana"/>
                          <a:cs typeface="Verdana"/>
                        </a:rPr>
                        <a:t> </a:t>
                      </a:r>
                      <a:r>
                        <a:rPr sz="1100">
                          <a:latin typeface="Verdana"/>
                          <a:cs typeface="Verdana"/>
                        </a:rPr>
                        <a:t>Токаев</a:t>
                      </a:r>
                      <a:r>
                        <a:rPr sz="1100" spc="115">
                          <a:latin typeface="Verdana"/>
                          <a:cs typeface="Verdana"/>
                        </a:rPr>
                        <a:t> </a:t>
                      </a:r>
                      <a:r>
                        <a:rPr sz="1100">
                          <a:latin typeface="Verdana"/>
                          <a:cs typeface="Verdana"/>
                        </a:rPr>
                        <a:t>подписал</a:t>
                      </a:r>
                      <a:r>
                        <a:rPr sz="1100" spc="104">
                          <a:latin typeface="Verdana"/>
                          <a:cs typeface="Verdana"/>
                        </a:rPr>
                        <a:t> </a:t>
                      </a:r>
                      <a:r>
                        <a:rPr sz="1100">
                          <a:latin typeface="Verdana"/>
                          <a:cs typeface="Verdana"/>
                        </a:rPr>
                        <a:t>Указ</a:t>
                      </a:r>
                      <a:r>
                        <a:rPr sz="1100" spc="115">
                          <a:latin typeface="Verdana"/>
                          <a:cs typeface="Verdana"/>
                        </a:rPr>
                        <a:t> </a:t>
                      </a:r>
                      <a:r>
                        <a:rPr sz="1100">
                          <a:latin typeface="Verdana"/>
                          <a:cs typeface="Verdana"/>
                        </a:rPr>
                        <a:t>№296</a:t>
                      </a:r>
                      <a:r>
                        <a:rPr sz="1100" spc="104">
                          <a:latin typeface="Verdana"/>
                          <a:cs typeface="Verdana"/>
                        </a:rPr>
                        <a:t> </a:t>
                      </a:r>
                      <a:r>
                        <a:rPr sz="1100" i="1">
                          <a:latin typeface="Verdana"/>
                          <a:cs typeface="Verdana"/>
                        </a:rPr>
                        <a:t>«О</a:t>
                      </a:r>
                      <a:r>
                        <a:rPr sz="1100" i="1" spc="104">
                          <a:latin typeface="Verdana"/>
                          <a:cs typeface="Verdana"/>
                        </a:rPr>
                        <a:t> </a:t>
                      </a:r>
                      <a:r>
                        <a:rPr sz="1100" i="1">
                          <a:latin typeface="Verdana"/>
                          <a:cs typeface="Verdana"/>
                        </a:rPr>
                        <a:t>призыве военнообязанных</a:t>
                      </a:r>
                      <a:r>
                        <a:rPr sz="1100" i="1" spc="104">
                          <a:latin typeface="Verdana"/>
                          <a:cs typeface="Verdana"/>
                        </a:rPr>
                        <a:t> </a:t>
                      </a:r>
                      <a:r>
                        <a:rPr sz="1100" i="1">
                          <a:latin typeface="Verdana"/>
                          <a:cs typeface="Verdana"/>
                        </a:rPr>
                        <a:t>на</a:t>
                      </a:r>
                      <a:r>
                        <a:rPr sz="1100" i="1" spc="95">
                          <a:latin typeface="Verdana"/>
                          <a:cs typeface="Verdana"/>
                        </a:rPr>
                        <a:t> </a:t>
                      </a:r>
                      <a:r>
                        <a:rPr sz="1100" i="1">
                          <a:latin typeface="Verdana"/>
                          <a:cs typeface="Verdana"/>
                        </a:rPr>
                        <a:t>специальные</a:t>
                      </a:r>
                      <a:r>
                        <a:rPr sz="1100" i="1" spc="115">
                          <a:latin typeface="Verdana"/>
                          <a:cs typeface="Verdana"/>
                        </a:rPr>
                        <a:t> </a:t>
                      </a:r>
                      <a:r>
                        <a:rPr sz="1100" i="1">
                          <a:latin typeface="Verdana"/>
                          <a:cs typeface="Verdana"/>
                        </a:rPr>
                        <a:t>сборы»</a:t>
                      </a:r>
                      <a:r>
                        <a:rPr sz="1100" i="1" spc="120">
                          <a:latin typeface="Verdana"/>
                          <a:cs typeface="Verdana"/>
                        </a:rPr>
                        <a:t> </a:t>
                      </a:r>
                      <a:r>
                        <a:rPr sz="1100">
                          <a:latin typeface="Verdana"/>
                          <a:cs typeface="Verdana"/>
                        </a:rPr>
                        <a:t>(далее</a:t>
                      </a:r>
                      <a:r>
                        <a:rPr sz="1100" spc="110">
                          <a:latin typeface="Verdana"/>
                          <a:cs typeface="Verdana"/>
                        </a:rPr>
                        <a:t> </a:t>
                      </a:r>
                      <a:r>
                        <a:rPr sz="1100">
                          <a:latin typeface="Verdana"/>
                          <a:cs typeface="Verdana"/>
                        </a:rPr>
                        <a:t>—</a:t>
                      </a:r>
                      <a:r>
                        <a:rPr sz="1100" spc="110">
                          <a:latin typeface="Verdana"/>
                          <a:cs typeface="Verdana"/>
                        </a:rPr>
                        <a:t> </a:t>
                      </a:r>
                      <a:r>
                        <a:rPr sz="1100">
                          <a:latin typeface="Verdana"/>
                          <a:cs typeface="Verdana"/>
                        </a:rPr>
                        <a:t>«Указ»).</a:t>
                      </a:r>
                      <a:r>
                        <a:rPr sz="1100" spc="95">
                          <a:latin typeface="Verdana"/>
                          <a:cs typeface="Verdana"/>
                        </a:rPr>
                        <a:t> </a:t>
                      </a:r>
                      <a:r>
                        <a:rPr sz="1100">
                          <a:latin typeface="Verdana"/>
                          <a:cs typeface="Verdana"/>
                        </a:rPr>
                        <a:t>В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Указом</a:t>
                      </a:r>
                      <a:r>
                        <a:rPr sz="1100" spc="90">
                          <a:latin typeface="Verdana"/>
                          <a:cs typeface="Verdana"/>
                        </a:rPr>
                        <a:t> </a:t>
                      </a:r>
                      <a:r>
                        <a:rPr sz="1100" spc="-20">
                          <a:latin typeface="Verdana"/>
                          <a:cs typeface="Verdana"/>
                        </a:rPr>
                        <a:t>военнообязанные</a:t>
                      </a:r>
                      <a:r>
                        <a:rPr sz="1100" spc="80">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призваны</a:t>
                      </a:r>
                      <a:r>
                        <a:rPr sz="1100" spc="75">
                          <a:latin typeface="Verdana"/>
                          <a:cs typeface="Verdana"/>
                        </a:rPr>
                        <a:t> </a:t>
                      </a:r>
                      <a:r>
                        <a:rPr sz="1100" spc="-20">
                          <a:latin typeface="Verdana"/>
                          <a:cs typeface="Verdana"/>
                        </a:rPr>
                        <a:t>на</a:t>
                      </a:r>
                      <a:r>
                        <a:rPr sz="1100" spc="85">
                          <a:latin typeface="Verdana"/>
                          <a:cs typeface="Verdana"/>
                        </a:rPr>
                        <a:t> </a:t>
                      </a:r>
                      <a:r>
                        <a:rPr sz="1100" spc="-20">
                          <a:latin typeface="Verdana"/>
                          <a:cs typeface="Verdana"/>
                        </a:rPr>
                        <a:t>специальные </a:t>
                      </a:r>
                      <a:r>
                        <a:rPr sz="1100">
                          <a:latin typeface="Verdana"/>
                          <a:cs typeface="Verdana"/>
                        </a:rPr>
                        <a:t>сборы</a:t>
                      </a:r>
                      <a:r>
                        <a:rPr sz="1100" spc="110">
                          <a:latin typeface="Verdana"/>
                          <a:cs typeface="Verdana"/>
                        </a:rPr>
                        <a:t> </a:t>
                      </a:r>
                      <a:r>
                        <a:rPr sz="1100">
                          <a:latin typeface="Verdana"/>
                          <a:cs typeface="Verdana"/>
                        </a:rPr>
                        <a:t>для</a:t>
                      </a:r>
                      <a:r>
                        <a:rPr sz="1100" spc="104">
                          <a:latin typeface="Verdana"/>
                          <a:cs typeface="Verdana"/>
                        </a:rPr>
                        <a:t> </a:t>
                      </a:r>
                      <a:r>
                        <a:rPr sz="1100">
                          <a:latin typeface="Verdana"/>
                          <a:cs typeface="Verdana"/>
                        </a:rPr>
                        <a:t>укомплектования</a:t>
                      </a:r>
                      <a:r>
                        <a:rPr sz="1100" spc="110">
                          <a:latin typeface="Verdana"/>
                          <a:cs typeface="Verdana"/>
                        </a:rPr>
                        <a:t> </a:t>
                      </a:r>
                      <a:r>
                        <a:rPr sz="1100">
                          <a:latin typeface="Verdana"/>
                          <a:cs typeface="Verdana"/>
                        </a:rPr>
                        <a:t>территориальных</a:t>
                      </a:r>
                      <a:r>
                        <a:rPr sz="1100" spc="104">
                          <a:latin typeface="Verdana"/>
                          <a:cs typeface="Verdana"/>
                        </a:rPr>
                        <a:t> </a:t>
                      </a:r>
                      <a:r>
                        <a:rPr sz="1100">
                          <a:latin typeface="Verdana"/>
                          <a:cs typeface="Verdana"/>
                        </a:rPr>
                        <a:t>войск</a:t>
                      </a:r>
                      <a:r>
                        <a:rPr sz="1100" spc="104">
                          <a:latin typeface="Verdana"/>
                          <a:cs typeface="Verdana"/>
                        </a:rPr>
                        <a:t> </a:t>
                      </a:r>
                      <a:r>
                        <a:rPr sz="1100">
                          <a:latin typeface="Verdana"/>
                          <a:cs typeface="Verdana"/>
                        </a:rPr>
                        <a:t>Вооруженных</a:t>
                      </a:r>
                      <a:r>
                        <a:rPr sz="1100" spc="104">
                          <a:latin typeface="Verdana"/>
                          <a:cs typeface="Verdana"/>
                        </a:rPr>
                        <a:t> </a:t>
                      </a:r>
                      <a:r>
                        <a:rPr sz="1100">
                          <a:latin typeface="Verdana"/>
                          <a:cs typeface="Verdana"/>
                        </a:rPr>
                        <a:t>Сил Республики  Казахстан.</a:t>
                      </a:r>
                      <a:endParaRPr/>
                    </a:p>
                    <a:p>
                      <a:pPr marL="144780" marR="281305" algn="just">
                        <a:lnSpc>
                          <a:spcPct val="117685"/>
                        </a:lnSpc>
                        <a:spcBef>
                          <a:spcPts val="1200"/>
                        </a:spcBef>
                      </a:pPr>
                      <a:r>
                        <a:rPr sz="1100" spc="-10">
                          <a:latin typeface="Verdana"/>
                          <a:cs typeface="Verdana"/>
                        </a:rPr>
                        <a:t>В связи с вышеуказанным ниже мы подготовили краткую разъясняющую </a:t>
                      </a:r>
                      <a:r>
                        <a:rPr sz="1100">
                          <a:latin typeface="Verdana"/>
                          <a:cs typeface="Verdana"/>
                        </a:rPr>
                        <a:t>ин</a:t>
                      </a:r>
                      <a:r>
                        <a:rPr sz="1100">
                          <a:latin typeface="Verdana"/>
                          <a:cs typeface="Verdana"/>
                        </a:rPr>
                        <a:t>формацию:</a:t>
                      </a:r>
                      <a:endParaRPr/>
                    </a:p>
                    <a:p>
                      <a:pPr marL="400685" marR="281305" indent="-228600" algn="just">
                        <a:spcBef>
                          <a:spcPts val="1200"/>
                        </a:spcBef>
                        <a:tabLst>
                          <a:tab pos="400685" algn="l"/>
                        </a:tabLst>
                      </a:pPr>
                      <a:r>
                        <a:rPr sz="1100">
                          <a:solidFill>
                            <a:srgbClr val="62B5E5"/>
                          </a:solidFill>
                          <a:latin typeface="Symbol"/>
                          <a:cs typeface="Symbol"/>
                        </a:rPr>
                        <a:t></a:t>
                      </a:r>
                      <a:r>
                        <a:rPr sz="1100">
                          <a:solidFill>
                            <a:srgbClr val="62B5E5"/>
                          </a:solidFill>
                          <a:latin typeface="Symbol"/>
                          <a:cs typeface="Symbol"/>
                        </a:rPr>
                        <a:t>	</a:t>
                      </a:r>
                      <a:r>
                        <a:rPr sz="1100">
                          <a:solidFill>
                            <a:srgbClr val="62B5E5"/>
                          </a:solidFill>
                          <a:latin typeface="Verdana"/>
                          <a:cs typeface="Verdana"/>
                        </a:rPr>
                        <a:t>Кто  может  быть  призван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Кто  освобожден</a:t>
                      </a:r>
                      <a:endParaRPr/>
                    </a:p>
                    <a:p>
                      <a:pPr marL="400685" marR="281305" indent="-228600" algn="just">
                        <a:spcBef>
                          <a:spcPts val="600"/>
                        </a:spcBef>
                        <a:buSzPts val="1100"/>
                        <a:buFont typeface="Symbol"/>
                        <a:buChar char=""/>
                      </a:pPr>
                      <a:r>
                        <a:rPr sz="1100">
                          <a:solidFill>
                            <a:srgbClr val="62B5E5"/>
                          </a:solidFill>
                          <a:latin typeface="Verdana"/>
                          <a:cs typeface="Verdana"/>
                          <a:hlinkClick r:id="rId4" action="ppaction://hlinksldjump">
                            <a:extLst>
                              <a:ext uri="{A12FA001-AC4F-418D-AE19-62706E023703}">
                                <ahyp:hlinkClr xmlns:ahyp="http://schemas.microsoft.com/office/drawing/2018/hyperlinkcolor" val="tx"/>
                              </a:ext>
                            </a:extLst>
                          </a:hlinkClick>
                        </a:rPr>
                        <a:t>Порядок  призыва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Оплата</a:t>
                      </a:r>
                      <a:endParaRPr/>
                    </a:p>
                    <a:p>
                      <a:pPr marL="400685" marR="281305" indent="-228600" algn="just">
                        <a:spcBef>
                          <a:spcPts val="600"/>
                        </a:spcBef>
                        <a:buSzPts val="1100"/>
                        <a:buFont typeface="Symbol"/>
                        <a:buChar char=""/>
                      </a:pPr>
                      <a:r>
                        <a:rPr sz="1100">
                          <a:solidFill>
                            <a:srgbClr val="62B5E5"/>
                          </a:solidFill>
                          <a:latin typeface="Verdana"/>
                          <a:cs typeface="Verdana"/>
                          <a:hlinkClick r:id="rId5" action="ppaction://hlinksldjump">
                            <a:extLst>
                              <a:ext uri="{A12FA001-AC4F-418D-AE19-62706E023703}">
                                <ahyp:hlinkClr xmlns:ahyp="http://schemas.microsoft.com/office/drawing/2018/hyperlinkcolor" val="tx"/>
                              </a:ext>
                            </a:extLst>
                          </a:hlinkClick>
                        </a:rPr>
                        <a:t>Сроки</a:t>
                      </a:r>
                      <a:endParaRPr/>
                    </a:p>
                    <a:p>
                      <a:pPr marL="400685" marR="281305" indent="-228600" algn="just">
                        <a:spcBef>
                          <a:spcPts val="700"/>
                        </a:spcBef>
                        <a:buSzPts val="1100"/>
                        <a:buFont typeface="Symbol"/>
                        <a:buChar char=""/>
                      </a:pPr>
                      <a:r>
                        <a:rPr sz="1100">
                          <a:solidFill>
                            <a:srgbClr val="62B5E5"/>
                          </a:solidFill>
                          <a:latin typeface="Verdana"/>
                          <a:cs typeface="Verdana"/>
                        </a:rPr>
                        <a:t>Ответственность  за  неявку</a:t>
                      </a:r>
                      <a:endParaRPr/>
                    </a:p>
                  </a:txBody>
                  <a:tcPr marL="0" marR="0" marT="0" marB="0">
                    <a:lnL/>
                    <a:lnR/>
                    <a:lnT/>
                    <a:lnB/>
                    <a:solidFill>
                      <a:srgbClr val="F3F3F3"/>
                    </a:solidFill>
                  </a:tcPr>
                </a:tc>
              </a:tr>
            </a:tbl>
          </a:graphicData>
        </a:graphic>
      </p:graphicFrame>
      <p:sp>
        <p:nvSpPr>
          <p:cNvPr id="46" name="shape 46">
            <a:hlinkClick r:id="rId4" action="ppaction://hlinksldjump"/>
          </p:cNvPr>
          <p:cNvSpPr/>
          <p:nvPr/>
        </p:nvSpPr>
        <p:spPr>
          <a:xfrm>
            <a:off x="871855" y="7697216"/>
            <a:ext cx="5780405" cy="245999"/>
          </a:xfrm>
          <a:prstGeom prst="rect">
            <a:avLst/>
          </a:prstGeom>
          <a:solidFill>
            <a:srgbClr val="000000">
              <a:alpha val="0"/>
            </a:srgbClr>
          </a:solidFill>
        </p:spPr>
      </p:sp>
      <p:sp>
        <p:nvSpPr>
          <p:cNvPr id="47" name="shape 47">
            <a:hlinkClick r:id="rId5" action="ppaction://hlinksldjump"/>
          </p:cNvPr>
          <p:cNvSpPr/>
          <p:nvPr/>
        </p:nvSpPr>
        <p:spPr>
          <a:xfrm>
            <a:off x="1235710" y="8927211"/>
            <a:ext cx="2028571" cy="347599"/>
          </a:xfrm>
          <a:prstGeom prst="rect">
            <a:avLst/>
          </a:prstGeom>
          <a:solidFill>
            <a:srgbClr val="000000">
              <a:alpha val="0"/>
            </a:srgbClr>
          </a:solid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pic>
        <p:nvPicPr>
          <p:cNvPr id="2" name="shape 2">
            <a:hlinkClick r:id="rId3" action="ppaction://hlinksldjump"/>
          </p:cNvPr>
          <p:cNvPicPr>
            <a:picLocks noChangeAspect="1"/>
          </p:cNvPicPr>
          <p:nvPr/>
        </p:nvPicPr>
        <p:blipFill>
          <a:blip r:embed="rId2" cstate="print"/>
          <a:stretch>
            <a:fillRect/>
          </a:stretch>
        </p:blipFill>
        <p:spPr>
          <a:xfrm>
            <a:off x="1008380" y="3004692"/>
            <a:ext cx="1456056" cy="302261"/>
          </a:xfrm>
          <a:prstGeom prst="rect"/>
        </p:spPr>
      </p:pic>
      <p:pic>
        <p:nvPicPr>
          <p:cNvPr id="3" name="shape 3">
            <a:hlinkClick r:id="rId3" action="ppaction://hlinksldjump"/>
          </p:cNvPr>
          <p:cNvPicPr>
            <a:picLocks noChangeAspect="1"/>
          </p:cNvPicPr>
          <p:nvPr/>
        </p:nvPicPr>
        <p:blipFill>
          <a:blip r:embed="rId4" cstate="print"/>
          <a:stretch>
            <a:fillRect/>
          </a:stretch>
        </p:blipFill>
        <p:spPr>
          <a:xfrm>
            <a:off x="1008380" y="7992491"/>
            <a:ext cx="1454786" cy="301625"/>
          </a:xfrm>
          <a:prstGeom prst="rect"/>
        </p:spPr>
      </p:pic>
      <p:graphicFrame>
        <p:nvGraphicFramePr>
          <p:cNvPr id="4" name="shape 4"/>
          <p:cNvGraphicFramePr>
            <a:graphicFrameLocks noGrp="1"/>
          </p:cNvGraphicFramePr>
          <p:nvPr/>
        </p:nvGraphicFramePr>
        <p:xfrm>
          <a:off x="719633" y="198882"/>
          <a:ext cx="6082030" cy="9630918"/>
        </p:xfrm>
        <a:graphic>
          <a:graphicData uri="http://schemas.openxmlformats.org/drawingml/2006/table">
            <a:tbl>
              <a:tblPr>
                <a:tableStyleId>{2D5ABB26-0587-4C30-8999-92F81FD0307C}</a:tableStyleId>
              </a:tblPr>
              <a:tblGrid>
                <a:gridCol w="144780"/>
                <a:gridCol w="5796915"/>
                <a:gridCol w="140335"/>
              </a:tblGrid>
              <a:tr h="9631045">
                <a:tc>
                  <a:txBody>
                    <a:bodyPr/>
                    <a:p>
                      <a:pPr>
                        <a:lnSpc>
                          <a:spcPct val="100000"/>
                        </a:lnSpc>
                      </a:pPr>
                      <a:endParaRPr sz="1000"/>
                    </a:p>
                  </a:txBody>
                  <a:tcPr marL="0" marR="0" marT="0" marB="0">
                    <a:lnL/>
                    <a:lnR/>
                    <a:lnT/>
                    <a:lnB/>
                    <a:solidFill>
                      <a:srgbClr val="F3F3F3"/>
                    </a:solidFill>
                  </a:tcPr>
                </a:tc>
                <a:tc>
                  <a:txBody>
                    <a:bodyPr/>
                    <a:p>
                      <a:pPr marL="144780" marR="3590925" algn="just">
                        <a:spcBef>
                          <a:spcPts val="1300"/>
                        </a:spcBef>
                      </a:pPr>
                      <a:r>
                        <a:rPr sz="1100" b="1" spc="-45">
                          <a:solidFill>
                            <a:srgbClr val="43B02A"/>
                          </a:solidFill>
                          <a:latin typeface="Verdana"/>
                          <a:cs typeface="Verdana"/>
                        </a:rPr>
                        <a:t>Кто</a:t>
                      </a:r>
                      <a:r>
                        <a:rPr sz="1100" b="1" spc="-45">
                          <a:solidFill>
                            <a:srgbClr val="43B02A"/>
                          </a:solidFill>
                          <a:latin typeface="Verdana"/>
                          <a:cs typeface="Verdana"/>
                        </a:rPr>
                        <a:t>  может  быть  призван:</a:t>
                      </a:r>
                      <a:endParaRPr/>
                    </a:p>
                    <a:p>
                      <a:pPr/>
                      <a:r>
                        <a:rPr sz="1000">
                          <a:latin typeface="Verdana"/>
                          <a:cs typeface="Verdana"/>
                        </a:rPr>
                        <a:t/>
                      </a:r>
                      <a:endParaRPr sz="1000"/>
                    </a:p>
                    <a:p>
                      <a:pPr marL="393065" marR="304165" indent="-227330" algn="just">
                        <a:spcBef>
                          <a:spcPts val="200"/>
                        </a:spcBef>
                        <a:buSzPts val="1100"/>
                        <a:buFont typeface="Verdana"/>
                        <a:buAutoNum type="arabicPeriod"/>
                      </a:pPr>
                      <a:r>
                        <a:rPr sz="1100">
                          <a:latin typeface="Verdana"/>
                          <a:cs typeface="Verdana"/>
                        </a:rPr>
                        <a:t>состоящие  на  воинском  учете;</a:t>
                      </a:r>
                      <a:endParaRPr/>
                    </a:p>
                    <a:p>
                      <a:pPr marL="393065" marR="304165" indent="-227330" algn="just">
                        <a:lnSpc>
                          <a:spcPct val="115869"/>
                        </a:lnSpc>
                        <a:spcBef>
                          <a:spcPts val="900"/>
                        </a:spcBef>
                        <a:buSzPts val="1100"/>
                        <a:buFont typeface="Verdana"/>
                        <a:buAutoNum type="arabicPeriod"/>
                      </a:pPr>
                      <a:r>
                        <a:rPr sz="1100" spc="-10">
                          <a:latin typeface="Verdana"/>
                          <a:cs typeface="Verdana"/>
                        </a:rPr>
                        <a:t>лица, зачисленные в запас до 50 лет (состав солдат/сержантов) и 60 </a:t>
                      </a:r>
                      <a:r>
                        <a:rPr sz="1100">
                          <a:latin typeface="Verdana"/>
                          <a:cs typeface="Verdana"/>
                        </a:rPr>
                        <a:t>лет</a:t>
                      </a:r>
                      <a:r>
                        <a:rPr sz="1100" spc="115">
                          <a:latin typeface="Verdana"/>
                          <a:cs typeface="Verdana"/>
                        </a:rPr>
                        <a:t> </a:t>
                      </a:r>
                      <a:r>
                        <a:rPr sz="1100">
                          <a:latin typeface="Verdana"/>
                          <a:cs typeface="Verdana"/>
                        </a:rPr>
                        <a:t>(состав</a:t>
                      </a:r>
                      <a:r>
                        <a:rPr sz="1100" spc="115">
                          <a:latin typeface="Verdana"/>
                          <a:cs typeface="Verdana"/>
                        </a:rPr>
                        <a:t> </a:t>
                      </a:r>
                      <a:r>
                        <a:rPr sz="1100">
                          <a:latin typeface="Verdana"/>
                          <a:cs typeface="Verdana"/>
                        </a:rPr>
                        <a:t>офицеров)</a:t>
                      </a:r>
                      <a:r>
                        <a:rPr sz="1100" spc="115">
                          <a:latin typeface="Verdana"/>
                          <a:cs typeface="Verdana"/>
                        </a:rPr>
                        <a:t> </a:t>
                      </a:r>
                      <a:r>
                        <a:rPr sz="1100">
                          <a:latin typeface="Verdana"/>
                          <a:cs typeface="Verdana"/>
                        </a:rPr>
                        <a:t>соответственно,</a:t>
                      </a:r>
                      <a:r>
                        <a:rPr sz="1100" spc="110">
                          <a:latin typeface="Verdana"/>
                          <a:cs typeface="Verdana"/>
                        </a:rPr>
                        <a:t> </a:t>
                      </a:r>
                      <a:r>
                        <a:rPr sz="1100">
                          <a:latin typeface="Verdana"/>
                          <a:cs typeface="Verdana"/>
                        </a:rPr>
                        <a:t>среди</a:t>
                      </a:r>
                      <a:r>
                        <a:rPr sz="1100" spc="110">
                          <a:latin typeface="Verdana"/>
                          <a:cs typeface="Verdana"/>
                        </a:rPr>
                        <a:t> </a:t>
                      </a:r>
                      <a:r>
                        <a:rPr sz="1100">
                          <a:latin typeface="Verdana"/>
                          <a:cs typeface="Verdana"/>
                        </a:rPr>
                        <a:t>прочих</a:t>
                      </a:r>
                      <a:r>
                        <a:rPr sz="1100" spc="5">
                          <a:latin typeface="Verdana"/>
                          <a:cs typeface="Verdana"/>
                        </a:rPr>
                        <a:t>:</a:t>
                      </a:r>
                      <a:endParaRPr/>
                    </a:p>
                    <a:p>
                      <a:pPr marL="597535" marR="700405" indent="-225425" algn="just">
                        <a:lnSpc>
                          <a:spcPct val="115868"/>
                        </a:lnSpc>
                        <a:spcBef>
                          <a:spcPts val="1200"/>
                        </a:spcBef>
                        <a:buSzPts val="1100"/>
                        <a:buFont typeface="Symbol"/>
                        <a:buChar char=""/>
                      </a:pPr>
                      <a:r>
                        <a:rPr sz="1100" spc="-10">
                          <a:latin typeface="Verdana"/>
                          <a:cs typeface="Verdana"/>
                        </a:rPr>
                        <a:t>не прошедшие воинской службы в связи с освобождением от </a:t>
                      </a:r>
                      <a:r>
                        <a:rPr sz="1100">
                          <a:latin typeface="Verdana"/>
                          <a:cs typeface="Verdana"/>
                        </a:rPr>
                        <a:t>призыва  на  воинскую  службу;</a:t>
                      </a:r>
                      <a:endParaRPr/>
                    </a:p>
                    <a:p>
                      <a:pPr marL="597535" marR="771525" indent="-225425" algn="just">
                        <a:lnSpc>
                          <a:spcPct val="115869"/>
                        </a:lnSpc>
                        <a:spcBef>
                          <a:spcPts val="600"/>
                        </a:spcBef>
                        <a:buSzPts val="1100"/>
                        <a:buFont typeface="Symbol"/>
                        <a:buChar char=""/>
                      </a:pPr>
                      <a:r>
                        <a:rPr sz="1100" spc="-10">
                          <a:latin typeface="Verdana"/>
                          <a:cs typeface="Verdana"/>
                        </a:rPr>
                        <a:t>не прошедшие воинской службы в связи с предоставлением </a:t>
                      </a:r>
                      <a:r>
                        <a:rPr sz="1100">
                          <a:latin typeface="Verdana"/>
                          <a:cs typeface="Verdana"/>
                        </a:rPr>
                        <a:t>отсрочек</a:t>
                      </a:r>
                      <a:r>
                        <a:rPr sz="1100" spc="104">
                          <a:latin typeface="Verdana"/>
                          <a:cs typeface="Verdana"/>
                        </a:rPr>
                        <a:t> </a:t>
                      </a:r>
                      <a:r>
                        <a:rPr sz="1100">
                          <a:latin typeface="Verdana"/>
                          <a:cs typeface="Verdana"/>
                        </a:rPr>
                        <a:t>от</a:t>
                      </a:r>
                      <a:r>
                        <a:rPr sz="1100" spc="104">
                          <a:latin typeface="Verdana"/>
                          <a:cs typeface="Verdana"/>
                        </a:rPr>
                        <a:t> </a:t>
                      </a:r>
                      <a:r>
                        <a:rPr sz="1100">
                          <a:latin typeface="Verdana"/>
                          <a:cs typeface="Verdana"/>
                        </a:rPr>
                        <a:t>призыва</a:t>
                      </a:r>
                      <a:r>
                        <a:rPr sz="1100" spc="95">
                          <a:latin typeface="Verdana"/>
                          <a:cs typeface="Verdana"/>
                        </a:rPr>
                        <a:t> </a:t>
                      </a:r>
                      <a:r>
                        <a:rPr sz="1100">
                          <a:latin typeface="Verdana"/>
                          <a:cs typeface="Verdana"/>
                        </a:rPr>
                        <a:t>по</a:t>
                      </a:r>
                      <a:r>
                        <a:rPr sz="1100" spc="115">
                          <a:latin typeface="Verdana"/>
                          <a:cs typeface="Verdana"/>
                        </a:rPr>
                        <a:t> </a:t>
                      </a:r>
                      <a:r>
                        <a:rPr sz="1100">
                          <a:latin typeface="Verdana"/>
                          <a:cs typeface="Verdana"/>
                        </a:rPr>
                        <a:t>достижении</a:t>
                      </a:r>
                      <a:r>
                        <a:rPr sz="1100" spc="115">
                          <a:latin typeface="Verdana"/>
                          <a:cs typeface="Verdana"/>
                        </a:rPr>
                        <a:t> </a:t>
                      </a:r>
                      <a:r>
                        <a:rPr sz="1100">
                          <a:latin typeface="Verdana"/>
                          <a:cs typeface="Verdana"/>
                        </a:rPr>
                        <a:t>возраста</a:t>
                      </a:r>
                      <a:r>
                        <a:rPr sz="1100" spc="120">
                          <a:latin typeface="Verdana"/>
                          <a:cs typeface="Verdana"/>
                        </a:rPr>
                        <a:t> </a:t>
                      </a:r>
                      <a:r>
                        <a:rPr sz="1100" spc="-5">
                          <a:latin typeface="Verdana"/>
                          <a:cs typeface="Verdana"/>
                        </a:rPr>
                        <a:t>27 </a:t>
                      </a:r>
                      <a:r>
                        <a:rPr sz="1100">
                          <a:latin typeface="Verdana"/>
                          <a:cs typeface="Verdana"/>
                        </a:rPr>
                        <a:t>лет;</a:t>
                      </a:r>
                      <a:endParaRPr/>
                    </a:p>
                    <a:p>
                      <a:pPr marL="597535" marR="234950" indent="-225425" algn="just">
                        <a:lnSpc>
                          <a:spcPct val="115868"/>
                        </a:lnSpc>
                        <a:spcBef>
                          <a:spcPts val="600"/>
                        </a:spcBef>
                        <a:buSzPts val="1100"/>
                        <a:buFont typeface="Symbol"/>
                        <a:buChar char=""/>
                      </a:pPr>
                      <a:r>
                        <a:rPr sz="1100" spc="-5">
                          <a:latin typeface="Verdana"/>
                          <a:cs typeface="Verdana"/>
                        </a:rPr>
                        <a:t>прошедшие подготовку по программе офицеров запаса на военных </a:t>
                      </a:r>
                      <a:r>
                        <a:rPr sz="1100">
                          <a:latin typeface="Verdana"/>
                          <a:cs typeface="Verdana"/>
                        </a:rPr>
                        <a:t>кафедрах  высших  учебных  заведений.</a:t>
                      </a:r>
                      <a:endParaRPr/>
                    </a:p>
                    <a:p>
                      <a:pPr marL="597535" indent="-225425">
                        <a:buSzPts val="1100"/>
                        <a:buFont typeface="Symbol"/>
                        <a:buChar char=""/>
                      </a:pPr>
                      <a:r>
                        <a:rPr sz="1000">
                          <a:latin typeface="Verdana"/>
                          <a:cs typeface="Verdana"/>
                        </a:rPr>
                        <a:t/>
                      </a:r>
                      <a:endParaRPr sz="1000"/>
                    </a:p>
                    <a:p>
                      <a:pPr marL="597535" indent="-225425">
                        <a:buSzPts val="1100"/>
                        <a:buFont typeface="Symbol"/>
                        <a:buChar char=""/>
                      </a:pPr>
                      <a:r>
                        <a:rPr sz="1000">
                          <a:latin typeface="Verdana"/>
                          <a:cs typeface="Verdana"/>
                        </a:rPr>
                        <a:t/>
                      </a:r>
                      <a:endParaRPr sz="1000"/>
                    </a:p>
                    <a:p>
                      <a:pPr marL="597535" indent="-225425">
                        <a:buSzPts val="1100"/>
                        <a:buFont typeface="Symbol"/>
                        <a:buChar char=""/>
                      </a:pPr>
                      <a:r>
                        <a:rPr sz="1000">
                          <a:latin typeface="Verdana"/>
                          <a:cs typeface="Verdana"/>
                        </a:rPr>
                        <a:t/>
                      </a:r>
                      <a:endParaRPr sz="1000"/>
                    </a:p>
                    <a:p>
                      <a:pPr marL="597535" indent="-225425">
                        <a:buSzPts val="1100"/>
                        <a:buFont typeface="Symbol"/>
                        <a:buChar char=""/>
                      </a:pPr>
                      <a:r>
                        <a:rPr sz="1000">
                          <a:latin typeface="Verdana"/>
                          <a:cs typeface="Verdana"/>
                        </a:rPr>
                        <a:t/>
                      </a:r>
                      <a:endParaRPr sz="1000"/>
                    </a:p>
                    <a:p>
                      <a:pPr marL="144780" marR="4275455">
                        <a:spcBef>
                          <a:spcPts val="200"/>
                        </a:spcBef>
                      </a:pPr>
                      <a:r>
                        <a:rPr sz="1100" b="1" spc="-25">
                          <a:solidFill>
                            <a:srgbClr val="43B02A"/>
                          </a:solidFill>
                          <a:latin typeface="Verdana"/>
                          <a:cs typeface="Verdana"/>
                        </a:rPr>
                        <a:t>Кто</a:t>
                      </a:r>
                      <a:r>
                        <a:rPr sz="1100" b="1" spc="-25">
                          <a:solidFill>
                            <a:srgbClr val="43B02A"/>
                          </a:solidFill>
                          <a:latin typeface="Verdana"/>
                          <a:cs typeface="Verdana"/>
                        </a:rPr>
                        <a:t>  освобожден:</a:t>
                      </a:r>
                      <a:endParaRPr/>
                    </a:p>
                    <a:p>
                      <a:pPr/>
                      <a:r>
                        <a:rPr sz="1000">
                          <a:latin typeface="Verdana"/>
                          <a:cs typeface="Verdana"/>
                        </a:rPr>
                        <a:t/>
                      </a:r>
                      <a:endParaRPr sz="1000"/>
                    </a:p>
                    <a:p>
                      <a:pPr marL="144780" marR="1118235">
                        <a:spcBef>
                          <a:spcPts val="200"/>
                        </a:spcBef>
                      </a:pPr>
                      <a:r>
                        <a:rPr sz="1100" spc="-15">
                          <a:latin typeface="Verdana"/>
                          <a:cs typeface="Verdana"/>
                        </a:rPr>
                        <a:t>Среди</a:t>
                      </a:r>
                      <a:r>
                        <a:rPr sz="1100" spc="95">
                          <a:latin typeface="Verdana"/>
                          <a:cs typeface="Verdana"/>
                        </a:rPr>
                        <a:t> </a:t>
                      </a:r>
                      <a:r>
                        <a:rPr sz="1100" spc="-15">
                          <a:latin typeface="Verdana"/>
                          <a:cs typeface="Verdana"/>
                        </a:rPr>
                        <a:t>прочих,</a:t>
                      </a:r>
                      <a:r>
                        <a:rPr sz="1100" spc="90">
                          <a:latin typeface="Verdana"/>
                          <a:cs typeface="Verdana"/>
                        </a:rPr>
                        <a:t> </a:t>
                      </a:r>
                      <a:r>
                        <a:rPr sz="1100" spc="-15">
                          <a:latin typeface="Verdana"/>
                          <a:cs typeface="Verdana"/>
                        </a:rPr>
                        <a:t>вышеуказанный</a:t>
                      </a:r>
                      <a:r>
                        <a:rPr sz="1100" spc="95">
                          <a:latin typeface="Verdana"/>
                          <a:cs typeface="Verdana"/>
                        </a:rPr>
                        <a:t> </a:t>
                      </a:r>
                      <a:r>
                        <a:rPr sz="1100" spc="-15">
                          <a:latin typeface="Verdana"/>
                          <a:cs typeface="Verdana"/>
                        </a:rPr>
                        <a:t>Указ</a:t>
                      </a:r>
                      <a:r>
                        <a:rPr sz="1100" spc="90">
                          <a:latin typeface="Verdana"/>
                          <a:cs typeface="Verdana"/>
                        </a:rPr>
                        <a:t> </a:t>
                      </a:r>
                      <a:r>
                        <a:rPr sz="1100" spc="-15">
                          <a:latin typeface="Verdana"/>
                          <a:cs typeface="Verdana"/>
                        </a:rPr>
                        <a:t>не</a:t>
                      </a:r>
                      <a:r>
                        <a:rPr sz="1100" spc="104">
                          <a:latin typeface="Verdana"/>
                          <a:cs typeface="Verdana"/>
                        </a:rPr>
                        <a:t> </a:t>
                      </a:r>
                      <a:r>
                        <a:rPr sz="1100" spc="-15">
                          <a:latin typeface="Verdana"/>
                          <a:cs typeface="Verdana"/>
                        </a:rPr>
                        <a:t>распространяется</a:t>
                      </a:r>
                      <a:r>
                        <a:rPr sz="1100" spc="90">
                          <a:latin typeface="Verdana"/>
                          <a:cs typeface="Verdana"/>
                        </a:rPr>
                        <a:t> </a:t>
                      </a:r>
                      <a:r>
                        <a:rPr sz="1100" spc="-15">
                          <a:latin typeface="Verdana"/>
                          <a:cs typeface="Verdana"/>
                        </a:rPr>
                        <a:t>на:</a:t>
                      </a:r>
                      <a:endParaRPr/>
                    </a:p>
                    <a:p>
                      <a:pPr marL="393065" marR="157480" indent="-227330">
                        <a:lnSpc>
                          <a:spcPct val="116010"/>
                        </a:lnSpc>
                        <a:spcBef>
                          <a:spcPts val="1400"/>
                        </a:spcBef>
                        <a:buSzPts val="1100"/>
                        <a:buFont typeface="Symbol"/>
                        <a:buChar char=""/>
                      </a:pPr>
                      <a:r>
                        <a:rPr sz="1100">
                          <a:latin typeface="Verdana"/>
                          <a:cs typeface="Verdana"/>
                        </a:rPr>
                        <a:t>лиц,</a:t>
                      </a:r>
                      <a:r>
                        <a:rPr sz="1100" spc="104">
                          <a:latin typeface="Verdana"/>
                          <a:cs typeface="Verdana"/>
                        </a:rPr>
                        <a:t> </a:t>
                      </a:r>
                      <a:r>
                        <a:rPr sz="1100">
                          <a:latin typeface="Verdana"/>
                          <a:cs typeface="Verdana"/>
                        </a:rPr>
                        <a:t>освобожденных</a:t>
                      </a:r>
                      <a:r>
                        <a:rPr sz="1100" spc="110">
                          <a:latin typeface="Verdana"/>
                          <a:cs typeface="Verdana"/>
                        </a:rPr>
                        <a:t> </a:t>
                      </a:r>
                      <a:r>
                        <a:rPr sz="1100">
                          <a:latin typeface="Verdana"/>
                          <a:cs typeface="Verdana"/>
                        </a:rPr>
                        <a:t>от</a:t>
                      </a:r>
                      <a:r>
                        <a:rPr sz="1100" spc="115">
                          <a:latin typeface="Verdana"/>
                          <a:cs typeface="Verdana"/>
                        </a:rPr>
                        <a:t> </a:t>
                      </a:r>
                      <a:r>
                        <a:rPr sz="1100">
                          <a:latin typeface="Verdana"/>
                          <a:cs typeface="Verdana"/>
                        </a:rPr>
                        <a:t>исполнения</a:t>
                      </a:r>
                      <a:r>
                        <a:rPr sz="1100" spc="110">
                          <a:latin typeface="Verdana"/>
                          <a:cs typeface="Verdana"/>
                        </a:rPr>
                        <a:t> </a:t>
                      </a:r>
                      <a:r>
                        <a:rPr sz="1100">
                          <a:latin typeface="Verdana"/>
                          <a:cs typeface="Verdana"/>
                        </a:rPr>
                        <a:t>воинской</a:t>
                      </a:r>
                      <a:r>
                        <a:rPr sz="1100" spc="110">
                          <a:latin typeface="Verdana"/>
                          <a:cs typeface="Verdana"/>
                        </a:rPr>
                        <a:t> </a:t>
                      </a:r>
                      <a:r>
                        <a:rPr sz="1100">
                          <a:latin typeface="Verdana"/>
                          <a:cs typeface="Verdana"/>
                        </a:rPr>
                        <a:t>обязанности</a:t>
                      </a:r>
                      <a:r>
                        <a:rPr sz="1100" spc="115">
                          <a:latin typeface="Verdana"/>
                          <a:cs typeface="Verdana"/>
                        </a:rPr>
                        <a:t> </a:t>
                      </a:r>
                      <a:r>
                        <a:rPr sz="1100">
                          <a:latin typeface="Verdana"/>
                          <a:cs typeface="Verdana"/>
                        </a:rPr>
                        <a:t>в соответствии</a:t>
                      </a:r>
                      <a:r>
                        <a:rPr sz="1100" spc="115">
                          <a:latin typeface="Verdana"/>
                          <a:cs typeface="Verdana"/>
                        </a:rPr>
                        <a:t> </a:t>
                      </a:r>
                      <a:r>
                        <a:rPr sz="1100">
                          <a:latin typeface="Verdana"/>
                          <a:cs typeface="Verdana"/>
                        </a:rPr>
                        <a:t>с</a:t>
                      </a:r>
                      <a:r>
                        <a:rPr sz="1100" spc="104">
                          <a:latin typeface="Verdana"/>
                          <a:cs typeface="Verdana"/>
                        </a:rPr>
                        <a:t> </a:t>
                      </a:r>
                      <a:r>
                        <a:rPr sz="1100">
                          <a:latin typeface="Verdana"/>
                          <a:cs typeface="Verdana"/>
                        </a:rPr>
                        <a:t>настоящим</a:t>
                      </a:r>
                      <a:r>
                        <a:rPr sz="1100" spc="115">
                          <a:latin typeface="Verdana"/>
                          <a:cs typeface="Verdana"/>
                        </a:rPr>
                        <a:t> </a:t>
                      </a:r>
                      <a:r>
                        <a:rPr sz="1100">
                          <a:latin typeface="Verdana"/>
                          <a:cs typeface="Verdana"/>
                        </a:rPr>
                        <a:t>Законом</a:t>
                      </a:r>
                      <a:r>
                        <a:rPr sz="1100" spc="120">
                          <a:latin typeface="Verdana"/>
                          <a:cs typeface="Verdana"/>
                        </a:rPr>
                        <a:t> </a:t>
                      </a:r>
                      <a:r>
                        <a:rPr sz="1100">
                          <a:latin typeface="Verdana"/>
                          <a:cs typeface="Verdana"/>
                        </a:rPr>
                        <a:t>—</a:t>
                      </a:r>
                      <a:r>
                        <a:rPr sz="1100" spc="110">
                          <a:latin typeface="Verdana"/>
                          <a:cs typeface="Verdana"/>
                        </a:rPr>
                        <a:t> </a:t>
                      </a:r>
                      <a:r>
                        <a:rPr sz="1100">
                          <a:latin typeface="Verdana"/>
                          <a:cs typeface="Verdana"/>
                        </a:rPr>
                        <a:t>граждане,</a:t>
                      </a:r>
                      <a:r>
                        <a:rPr sz="1100" spc="104">
                          <a:latin typeface="Verdana"/>
                          <a:cs typeface="Verdana"/>
                        </a:rPr>
                        <a:t> </a:t>
                      </a:r>
                      <a:r>
                        <a:rPr sz="1100">
                          <a:latin typeface="Verdana"/>
                          <a:cs typeface="Verdana"/>
                        </a:rPr>
                        <a:t>признанные медицинской</a:t>
                      </a:r>
                      <a:r>
                        <a:rPr sz="1100" spc="110">
                          <a:latin typeface="Verdana"/>
                          <a:cs typeface="Verdana"/>
                        </a:rPr>
                        <a:t> </a:t>
                      </a:r>
                      <a:r>
                        <a:rPr sz="1100">
                          <a:latin typeface="Verdana"/>
                          <a:cs typeface="Verdana"/>
                        </a:rPr>
                        <a:t>(военно-врачебной)</a:t>
                      </a:r>
                      <a:r>
                        <a:rPr sz="1100" spc="115">
                          <a:latin typeface="Verdana"/>
                          <a:cs typeface="Verdana"/>
                        </a:rPr>
                        <a:t> </a:t>
                      </a:r>
                      <a:r>
                        <a:rPr sz="1100">
                          <a:latin typeface="Verdana"/>
                          <a:cs typeface="Verdana"/>
                        </a:rPr>
                        <a:t>комиссией</a:t>
                      </a:r>
                      <a:r>
                        <a:rPr sz="1100" spc="115">
                          <a:latin typeface="Verdana"/>
                          <a:cs typeface="Verdana"/>
                        </a:rPr>
                        <a:t> </a:t>
                      </a:r>
                      <a:r>
                        <a:rPr sz="1100">
                          <a:latin typeface="Verdana"/>
                          <a:cs typeface="Verdana"/>
                        </a:rPr>
                        <a:t>не</a:t>
                      </a:r>
                      <a:r>
                        <a:rPr sz="1100" spc="115">
                          <a:latin typeface="Verdana"/>
                          <a:cs typeface="Verdana"/>
                        </a:rPr>
                        <a:t> </a:t>
                      </a:r>
                      <a:r>
                        <a:rPr sz="1100">
                          <a:latin typeface="Verdana"/>
                          <a:cs typeface="Verdana"/>
                        </a:rPr>
                        <a:t>годные</a:t>
                      </a:r>
                      <a:r>
                        <a:rPr sz="1100" spc="115">
                          <a:latin typeface="Verdana"/>
                          <a:cs typeface="Verdana"/>
                        </a:rPr>
                        <a:t> </a:t>
                      </a:r>
                      <a:r>
                        <a:rPr sz="1100">
                          <a:latin typeface="Verdana"/>
                          <a:cs typeface="Verdana"/>
                        </a:rPr>
                        <a:t>к</a:t>
                      </a:r>
                      <a:r>
                        <a:rPr sz="1100" spc="100">
                          <a:latin typeface="Verdana"/>
                          <a:cs typeface="Verdana"/>
                        </a:rPr>
                        <a:t> </a:t>
                      </a:r>
                      <a:r>
                        <a:rPr sz="1100">
                          <a:latin typeface="Verdana"/>
                          <a:cs typeface="Verdana"/>
                        </a:rPr>
                        <a:t>воинской службе;</a:t>
                      </a:r>
                      <a:endParaRPr/>
                    </a:p>
                    <a:p>
                      <a:pPr marL="393065" marR="157480" indent="-227330">
                        <a:spcBef>
                          <a:spcPts val="700"/>
                        </a:spcBef>
                        <a:buSzPts val="1100"/>
                        <a:buFont typeface="Symbol"/>
                        <a:buChar char=""/>
                      </a:pPr>
                      <a:r>
                        <a:rPr sz="1100">
                          <a:latin typeface="Verdana"/>
                          <a:cs typeface="Verdana"/>
                        </a:rPr>
                        <a:t>постоянно</a:t>
                      </a:r>
                      <a:r>
                        <a:rPr sz="1100" spc="100">
                          <a:latin typeface="Verdana"/>
                          <a:cs typeface="Verdana"/>
                        </a:rPr>
                        <a:t> </a:t>
                      </a:r>
                      <a:r>
                        <a:rPr sz="1100">
                          <a:latin typeface="Verdana"/>
                          <a:cs typeface="Verdana"/>
                        </a:rPr>
                        <a:t>проживающих</a:t>
                      </a:r>
                      <a:r>
                        <a:rPr sz="1100" spc="110">
                          <a:latin typeface="Verdana"/>
                          <a:cs typeface="Verdana"/>
                        </a:rPr>
                        <a:t> </a:t>
                      </a:r>
                      <a:r>
                        <a:rPr sz="1100">
                          <a:latin typeface="Verdana"/>
                          <a:cs typeface="Verdana"/>
                        </a:rPr>
                        <a:t>за</a:t>
                      </a:r>
                      <a:r>
                        <a:rPr sz="1100" spc="104">
                          <a:latin typeface="Verdana"/>
                          <a:cs typeface="Verdana"/>
                        </a:rPr>
                        <a:t> </a:t>
                      </a:r>
                      <a:r>
                        <a:rPr sz="1100">
                          <a:latin typeface="Verdana"/>
                          <a:cs typeface="Verdana"/>
                        </a:rPr>
                        <a:t>пределами</a:t>
                      </a:r>
                      <a:r>
                        <a:rPr sz="1100" spc="110">
                          <a:latin typeface="Verdana"/>
                          <a:cs typeface="Verdana"/>
                        </a:rPr>
                        <a:t> </a:t>
                      </a:r>
                      <a:r>
                        <a:rPr sz="1100">
                          <a:latin typeface="Verdana"/>
                          <a:cs typeface="Verdana"/>
                        </a:rPr>
                        <a:t>Республики</a:t>
                      </a:r>
                      <a:r>
                        <a:rPr sz="1100" spc="115">
                          <a:latin typeface="Verdana"/>
                          <a:cs typeface="Verdana"/>
                        </a:rPr>
                        <a:t> </a:t>
                      </a:r>
                      <a:r>
                        <a:rPr sz="1100">
                          <a:latin typeface="Verdana"/>
                          <a:cs typeface="Verdana"/>
                        </a:rPr>
                        <a:t>Казахстан;</a:t>
                      </a:r>
                      <a:endParaRPr/>
                    </a:p>
                    <a:p>
                      <a:pPr marL="393065" marR="157480" indent="-227330">
                        <a:lnSpc>
                          <a:spcPct val="115868"/>
                        </a:lnSpc>
                        <a:spcBef>
                          <a:spcPts val="800"/>
                        </a:spcBef>
                        <a:buSzPts val="1100"/>
                        <a:buFont typeface="Symbol"/>
                        <a:buChar char=""/>
                      </a:pPr>
                      <a:r>
                        <a:rPr sz="1100">
                          <a:latin typeface="Verdana"/>
                          <a:cs typeface="Verdana"/>
                        </a:rPr>
                        <a:t>призывников</a:t>
                      </a:r>
                      <a:r>
                        <a:rPr sz="1100" spc="120">
                          <a:latin typeface="Verdana"/>
                          <a:cs typeface="Verdana"/>
                        </a:rPr>
                        <a:t> </a:t>
                      </a:r>
                      <a:r>
                        <a:rPr sz="1100">
                          <a:latin typeface="Verdana"/>
                          <a:cs typeface="Verdana"/>
                        </a:rPr>
                        <a:t>—</a:t>
                      </a:r>
                      <a:r>
                        <a:rPr sz="1100" spc="110">
                          <a:latin typeface="Verdana"/>
                          <a:cs typeface="Verdana"/>
                        </a:rPr>
                        <a:t> </a:t>
                      </a:r>
                      <a:r>
                        <a:rPr sz="1100">
                          <a:latin typeface="Verdana"/>
                          <a:cs typeface="Verdana"/>
                        </a:rPr>
                        <a:t>граждане</a:t>
                      </a:r>
                      <a:r>
                        <a:rPr sz="1100" spc="115">
                          <a:latin typeface="Verdana"/>
                          <a:cs typeface="Verdana"/>
                        </a:rPr>
                        <a:t> </a:t>
                      </a:r>
                      <a:r>
                        <a:rPr sz="1100">
                          <a:latin typeface="Verdana"/>
                          <a:cs typeface="Verdana"/>
                        </a:rPr>
                        <a:t>Республики</a:t>
                      </a:r>
                      <a:r>
                        <a:rPr sz="1100" spc="100">
                          <a:latin typeface="Verdana"/>
                          <a:cs typeface="Verdana"/>
                        </a:rPr>
                        <a:t> </a:t>
                      </a:r>
                      <a:r>
                        <a:rPr sz="1100">
                          <a:latin typeface="Verdana"/>
                          <a:cs typeface="Verdana"/>
                        </a:rPr>
                        <a:t>Казахстан</a:t>
                      </a:r>
                      <a:r>
                        <a:rPr sz="1100" spc="115">
                          <a:latin typeface="Verdana"/>
                          <a:cs typeface="Verdana"/>
                        </a:rPr>
                        <a:t> </a:t>
                      </a:r>
                      <a:r>
                        <a:rPr sz="1100">
                          <a:latin typeface="Verdana"/>
                          <a:cs typeface="Verdana"/>
                        </a:rPr>
                        <a:t>мужского</a:t>
                      </a:r>
                      <a:r>
                        <a:rPr sz="1100" spc="110">
                          <a:latin typeface="Verdana"/>
                          <a:cs typeface="Verdana"/>
                        </a:rPr>
                        <a:t> </a:t>
                      </a:r>
                      <a:r>
                        <a:rPr sz="1100">
                          <a:latin typeface="Verdana"/>
                          <a:cs typeface="Verdana"/>
                        </a:rPr>
                        <a:t>пола, приписанные</a:t>
                      </a:r>
                      <a:r>
                        <a:rPr sz="1100" spc="115">
                          <a:latin typeface="Verdana"/>
                          <a:cs typeface="Verdana"/>
                        </a:rPr>
                        <a:t> </a:t>
                      </a:r>
                      <a:r>
                        <a:rPr sz="1100">
                          <a:latin typeface="Verdana"/>
                          <a:cs typeface="Verdana"/>
                        </a:rPr>
                        <a:t>к</a:t>
                      </a:r>
                      <a:r>
                        <a:rPr sz="1100" spc="100">
                          <a:latin typeface="Verdana"/>
                          <a:cs typeface="Verdana"/>
                        </a:rPr>
                        <a:t> </a:t>
                      </a:r>
                      <a:r>
                        <a:rPr sz="1100">
                          <a:latin typeface="Verdana"/>
                          <a:cs typeface="Verdana"/>
                        </a:rPr>
                        <a:t>призывным</a:t>
                      </a:r>
                      <a:r>
                        <a:rPr sz="1100" spc="110">
                          <a:latin typeface="Verdana"/>
                          <a:cs typeface="Verdana"/>
                        </a:rPr>
                        <a:t> </a:t>
                      </a:r>
                      <a:r>
                        <a:rPr sz="1100">
                          <a:latin typeface="Verdana"/>
                          <a:cs typeface="Verdana"/>
                        </a:rPr>
                        <a:t>участкам</a:t>
                      </a:r>
                      <a:r>
                        <a:rPr sz="1100" spc="110">
                          <a:latin typeface="Verdana"/>
                          <a:cs typeface="Verdana"/>
                        </a:rPr>
                        <a:t> </a:t>
                      </a:r>
                      <a:r>
                        <a:rPr sz="1100">
                          <a:latin typeface="Verdana"/>
                          <a:cs typeface="Verdana"/>
                        </a:rPr>
                        <a:t>местных</a:t>
                      </a:r>
                      <a:r>
                        <a:rPr sz="1100" spc="104">
                          <a:latin typeface="Verdana"/>
                          <a:cs typeface="Verdana"/>
                        </a:rPr>
                        <a:t> </a:t>
                      </a:r>
                      <a:r>
                        <a:rPr sz="1100">
                          <a:latin typeface="Verdana"/>
                          <a:cs typeface="Verdana"/>
                        </a:rPr>
                        <a:t>органов</a:t>
                      </a:r>
                      <a:r>
                        <a:rPr sz="1100" spc="115">
                          <a:latin typeface="Verdana"/>
                          <a:cs typeface="Verdana"/>
                        </a:rPr>
                        <a:t> </a:t>
                      </a:r>
                      <a:r>
                        <a:rPr sz="1100">
                          <a:latin typeface="Verdana"/>
                          <a:cs typeface="Verdana"/>
                        </a:rPr>
                        <a:t>военного управления</a:t>
                      </a:r>
                      <a:r>
                        <a:rPr sz="1100" spc="110">
                          <a:latin typeface="Verdana"/>
                          <a:cs typeface="Verdana"/>
                        </a:rPr>
                        <a:t> </a:t>
                      </a:r>
                      <a:r>
                        <a:rPr sz="1100">
                          <a:latin typeface="Verdana"/>
                          <a:cs typeface="Verdana"/>
                        </a:rPr>
                        <a:t>и</a:t>
                      </a:r>
                      <a:r>
                        <a:rPr sz="1100" spc="100">
                          <a:latin typeface="Verdana"/>
                          <a:cs typeface="Verdana"/>
                        </a:rPr>
                        <a:t> </a:t>
                      </a:r>
                      <a:r>
                        <a:rPr sz="1100">
                          <a:latin typeface="Verdana"/>
                          <a:cs typeface="Verdana"/>
                        </a:rPr>
                        <a:t>подлежащие</a:t>
                      </a:r>
                      <a:r>
                        <a:rPr sz="1100" spc="110">
                          <a:latin typeface="Verdana"/>
                          <a:cs typeface="Verdana"/>
                        </a:rPr>
                        <a:t> </a:t>
                      </a:r>
                      <a:r>
                        <a:rPr sz="1100">
                          <a:latin typeface="Verdana"/>
                          <a:cs typeface="Verdana"/>
                        </a:rPr>
                        <a:t>призыву</a:t>
                      </a:r>
                      <a:r>
                        <a:rPr sz="1100" spc="104">
                          <a:latin typeface="Verdana"/>
                          <a:cs typeface="Verdana"/>
                        </a:rPr>
                        <a:t> </a:t>
                      </a:r>
                      <a:r>
                        <a:rPr sz="1100">
                          <a:latin typeface="Verdana"/>
                          <a:cs typeface="Verdana"/>
                        </a:rPr>
                        <a:t>на</a:t>
                      </a:r>
                      <a:r>
                        <a:rPr sz="1100" spc="104">
                          <a:latin typeface="Verdana"/>
                          <a:cs typeface="Verdana"/>
                        </a:rPr>
                        <a:t> </a:t>
                      </a:r>
                      <a:r>
                        <a:rPr sz="1100">
                          <a:latin typeface="Verdana"/>
                          <a:cs typeface="Verdana"/>
                        </a:rPr>
                        <a:t>срочную</a:t>
                      </a:r>
                      <a:r>
                        <a:rPr sz="1100" spc="104">
                          <a:latin typeface="Verdana"/>
                          <a:cs typeface="Verdana"/>
                        </a:rPr>
                        <a:t> </a:t>
                      </a:r>
                      <a:r>
                        <a:rPr sz="1100">
                          <a:latin typeface="Verdana"/>
                          <a:cs typeface="Verdana"/>
                        </a:rPr>
                        <a:t>воинскую</a:t>
                      </a:r>
                      <a:r>
                        <a:rPr sz="1100" spc="104">
                          <a:latin typeface="Verdana"/>
                          <a:cs typeface="Verdana"/>
                        </a:rPr>
                        <a:t> </a:t>
                      </a:r>
                      <a:r>
                        <a:rPr sz="1100">
                          <a:latin typeface="Verdana"/>
                          <a:cs typeface="Verdana"/>
                        </a:rPr>
                        <a:t>службу;</a:t>
                      </a:r>
                      <a:endParaRPr/>
                    </a:p>
                    <a:p>
                      <a:pPr marL="393065" marR="157480" indent="-227330">
                        <a:spcBef>
                          <a:spcPts val="600"/>
                        </a:spcBef>
                        <a:buSzPts val="1100"/>
                        <a:buFont typeface="Symbol"/>
                        <a:buChar char=""/>
                      </a:pPr>
                      <a:r>
                        <a:rPr sz="1100">
                          <a:latin typeface="Verdana"/>
                          <a:cs typeface="Verdana"/>
                        </a:rPr>
                        <a:t>обучающихся</a:t>
                      </a:r>
                      <a:r>
                        <a:rPr sz="1100" spc="104">
                          <a:latin typeface="Verdana"/>
                          <a:cs typeface="Verdana"/>
                        </a:rPr>
                        <a:t> </a:t>
                      </a:r>
                      <a:r>
                        <a:rPr sz="1100">
                          <a:latin typeface="Verdana"/>
                          <a:cs typeface="Verdana"/>
                        </a:rPr>
                        <a:t>в</a:t>
                      </a:r>
                      <a:r>
                        <a:rPr sz="1100" spc="115">
                          <a:latin typeface="Verdana"/>
                          <a:cs typeface="Verdana"/>
                        </a:rPr>
                        <a:t> </a:t>
                      </a:r>
                      <a:r>
                        <a:rPr sz="1100">
                          <a:latin typeface="Verdana"/>
                          <a:cs typeface="Verdana"/>
                        </a:rPr>
                        <a:t>организациях</a:t>
                      </a:r>
                      <a:r>
                        <a:rPr sz="1100" spc="104">
                          <a:latin typeface="Verdana"/>
                          <a:cs typeface="Verdana"/>
                        </a:rPr>
                        <a:t> </a:t>
                      </a:r>
                      <a:r>
                        <a:rPr sz="1100">
                          <a:latin typeface="Verdana"/>
                          <a:cs typeface="Verdana"/>
                        </a:rPr>
                        <a:t>образования</a:t>
                      </a:r>
                      <a:r>
                        <a:rPr sz="1100" spc="110">
                          <a:latin typeface="Verdana"/>
                          <a:cs typeface="Verdana"/>
                        </a:rPr>
                        <a:t> </a:t>
                      </a:r>
                      <a:r>
                        <a:rPr sz="1100">
                          <a:latin typeface="Verdana"/>
                          <a:cs typeface="Verdana"/>
                        </a:rPr>
                        <a:t>очной</a:t>
                      </a:r>
                      <a:r>
                        <a:rPr sz="1100" spc="110">
                          <a:latin typeface="Verdana"/>
                          <a:cs typeface="Verdana"/>
                        </a:rPr>
                        <a:t> </a:t>
                      </a:r>
                      <a:r>
                        <a:rPr sz="1100">
                          <a:latin typeface="Verdana"/>
                          <a:cs typeface="Verdana"/>
                        </a:rPr>
                        <a:t>формы</a:t>
                      </a:r>
                      <a:r>
                        <a:rPr sz="1100" spc="110">
                          <a:latin typeface="Verdana"/>
                          <a:cs typeface="Verdana"/>
                        </a:rPr>
                        <a:t> </a:t>
                      </a:r>
                      <a:r>
                        <a:rPr sz="1100">
                          <a:latin typeface="Verdana"/>
                          <a:cs typeface="Verdana"/>
                        </a:rPr>
                        <a:t>обучения;</a:t>
                      </a:r>
                      <a:endParaRPr/>
                    </a:p>
                    <a:p>
                      <a:pPr marL="393065" marR="157480" indent="-227330">
                        <a:spcBef>
                          <a:spcPts val="800"/>
                        </a:spcBef>
                        <a:buSzPts val="1100"/>
                        <a:buFont typeface="Symbol"/>
                        <a:buChar char=""/>
                      </a:pPr>
                      <a:r>
                        <a:rPr sz="1100">
                          <a:latin typeface="Verdana"/>
                          <a:cs typeface="Verdana"/>
                        </a:rPr>
                        <a:t>военнообязанных-женщин;</a:t>
                      </a:r>
                      <a:endParaRPr/>
                    </a:p>
                    <a:p>
                      <a:pPr marL="393065" marR="157480" indent="-227330">
                        <a:spcBef>
                          <a:spcPts val="800"/>
                        </a:spcBef>
                        <a:buSzPts val="1100"/>
                        <a:buFont typeface="Symbol"/>
                        <a:buChar char=""/>
                      </a:pPr>
                      <a:r>
                        <a:rPr sz="1100">
                          <a:latin typeface="Verdana"/>
                          <a:cs typeface="Verdana"/>
                        </a:rPr>
                        <a:t>лиц,</a:t>
                      </a:r>
                      <a:r>
                        <a:rPr sz="1100" spc="104">
                          <a:latin typeface="Verdana"/>
                          <a:cs typeface="Verdana"/>
                        </a:rPr>
                        <a:t> </a:t>
                      </a:r>
                      <a:r>
                        <a:rPr sz="1100">
                          <a:latin typeface="Verdana"/>
                          <a:cs typeface="Verdana"/>
                        </a:rPr>
                        <a:t>имеющих</a:t>
                      </a:r>
                      <a:r>
                        <a:rPr sz="1100" spc="104">
                          <a:latin typeface="Verdana"/>
                          <a:cs typeface="Verdana"/>
                        </a:rPr>
                        <a:t> </a:t>
                      </a:r>
                      <a:r>
                        <a:rPr sz="1100">
                          <a:latin typeface="Verdana"/>
                          <a:cs typeface="Verdana"/>
                        </a:rPr>
                        <a:t>трех</a:t>
                      </a:r>
                      <a:r>
                        <a:rPr sz="1100" spc="104">
                          <a:latin typeface="Verdana"/>
                          <a:cs typeface="Verdana"/>
                        </a:rPr>
                        <a:t> </a:t>
                      </a:r>
                      <a:r>
                        <a:rPr sz="1100">
                          <a:latin typeface="Verdana"/>
                          <a:cs typeface="Verdana"/>
                        </a:rPr>
                        <a:t>и</a:t>
                      </a:r>
                      <a:r>
                        <a:rPr sz="1100" spc="100">
                          <a:latin typeface="Verdana"/>
                          <a:cs typeface="Verdana"/>
                        </a:rPr>
                        <a:t> </a:t>
                      </a:r>
                      <a:r>
                        <a:rPr sz="1100">
                          <a:latin typeface="Verdana"/>
                          <a:cs typeface="Verdana"/>
                        </a:rPr>
                        <a:t>более</a:t>
                      </a:r>
                      <a:r>
                        <a:rPr sz="1100" spc="115">
                          <a:latin typeface="Verdana"/>
                          <a:cs typeface="Verdana"/>
                        </a:rPr>
                        <a:t> </a:t>
                      </a:r>
                      <a:r>
                        <a:rPr sz="1100">
                          <a:latin typeface="Verdana"/>
                          <a:cs typeface="Verdana"/>
                        </a:rPr>
                        <a:t>детей</a:t>
                      </a:r>
                      <a:r>
                        <a:rPr sz="1100" spc="110">
                          <a:latin typeface="Verdana"/>
                          <a:cs typeface="Verdana"/>
                        </a:rPr>
                        <a:t> </a:t>
                      </a:r>
                      <a:r>
                        <a:rPr sz="1100">
                          <a:latin typeface="Verdana"/>
                          <a:cs typeface="Verdana"/>
                        </a:rPr>
                        <a:t>в</a:t>
                      </a:r>
                      <a:r>
                        <a:rPr sz="1100" spc="100">
                          <a:latin typeface="Verdana"/>
                          <a:cs typeface="Verdana"/>
                        </a:rPr>
                        <a:t> </a:t>
                      </a:r>
                      <a:r>
                        <a:rPr sz="1100">
                          <a:latin typeface="Verdana"/>
                          <a:cs typeface="Verdana"/>
                        </a:rPr>
                        <a:t>возрасте</a:t>
                      </a:r>
                      <a:r>
                        <a:rPr sz="1100" spc="115">
                          <a:latin typeface="Verdana"/>
                          <a:cs typeface="Verdana"/>
                        </a:rPr>
                        <a:t> </a:t>
                      </a:r>
                      <a:r>
                        <a:rPr sz="1100">
                          <a:latin typeface="Verdana"/>
                          <a:cs typeface="Verdana"/>
                        </a:rPr>
                        <a:t>до</a:t>
                      </a:r>
                      <a:r>
                        <a:rPr sz="1100" spc="110">
                          <a:latin typeface="Verdana"/>
                          <a:cs typeface="Verdana"/>
                        </a:rPr>
                        <a:t> </a:t>
                      </a:r>
                      <a:r>
                        <a:rPr sz="1100">
                          <a:latin typeface="Verdana"/>
                          <a:cs typeface="Verdana"/>
                        </a:rPr>
                        <a:t>восемнадцати</a:t>
                      </a:r>
                      <a:r>
                        <a:rPr sz="1100" spc="100">
                          <a:latin typeface="Verdana"/>
                          <a:cs typeface="Verdana"/>
                        </a:rPr>
                        <a:t> </a:t>
                      </a:r>
                      <a:r>
                        <a:rPr sz="1100">
                          <a:latin typeface="Verdana"/>
                          <a:cs typeface="Verdana"/>
                        </a:rPr>
                        <a:t>лет.</a:t>
                      </a:r>
                      <a:endParaRPr/>
                    </a:p>
                    <a:p>
                      <a:pPr marL="393065" indent="-227330">
                        <a:buSzPts val="1100"/>
                        <a:buFont typeface="Symbol"/>
                        <a:buChar char=""/>
                      </a:pPr>
                      <a:r>
                        <a:rPr sz="1000">
                          <a:latin typeface="Verdana"/>
                          <a:cs typeface="Verdana"/>
                        </a:rPr>
                        <a:t/>
                      </a:r>
                      <a:endParaRPr sz="1000"/>
                    </a:p>
                    <a:p>
                      <a:pPr marL="144780" marR="696595">
                        <a:spcBef>
                          <a:spcPts val="300"/>
                        </a:spcBef>
                      </a:pPr>
                      <a:r>
                        <a:rPr sz="1100" spc="-10">
                          <a:latin typeface="Verdana"/>
                          <a:cs typeface="Verdana"/>
                        </a:rPr>
                        <a:t>Министр</a:t>
                      </a:r>
                      <a:r>
                        <a:rPr sz="1100" spc="95">
                          <a:latin typeface="Verdana"/>
                          <a:cs typeface="Verdana"/>
                        </a:rPr>
                        <a:t> </a:t>
                      </a:r>
                      <a:r>
                        <a:rPr sz="1100" spc="-10">
                          <a:latin typeface="Verdana"/>
                          <a:cs typeface="Verdana"/>
                        </a:rPr>
                        <a:t>обороны</a:t>
                      </a:r>
                      <a:r>
                        <a:rPr sz="1100" spc="100">
                          <a:latin typeface="Verdana"/>
                          <a:cs typeface="Verdana"/>
                        </a:rPr>
                        <a:t> </a:t>
                      </a:r>
                      <a:r>
                        <a:rPr sz="1100" spc="-10">
                          <a:latin typeface="Verdana"/>
                          <a:cs typeface="Verdana"/>
                        </a:rPr>
                        <a:t>(Генерал-майор</a:t>
                      </a:r>
                      <a:r>
                        <a:rPr sz="1100" spc="95">
                          <a:latin typeface="Verdana"/>
                          <a:cs typeface="Verdana"/>
                        </a:rPr>
                        <a:t> </a:t>
                      </a:r>
                      <a:r>
                        <a:rPr sz="1100" spc="-10">
                          <a:latin typeface="Verdana"/>
                          <a:cs typeface="Verdana"/>
                        </a:rPr>
                        <a:t>Нурлан</a:t>
                      </a:r>
                      <a:r>
                        <a:rPr sz="1100" spc="104">
                          <a:latin typeface="Verdana"/>
                          <a:cs typeface="Verdana"/>
                        </a:rPr>
                        <a:t> </a:t>
                      </a:r>
                      <a:r>
                        <a:rPr sz="1100" spc="-10">
                          <a:latin typeface="Verdana"/>
                          <a:cs typeface="Verdana"/>
                        </a:rPr>
                        <a:t>Ермекбаев)</a:t>
                      </a:r>
                      <a:r>
                        <a:rPr sz="1100" spc="90">
                          <a:latin typeface="Verdana"/>
                          <a:cs typeface="Verdana"/>
                        </a:rPr>
                        <a:t> </a:t>
                      </a:r>
                      <a:r>
                        <a:rPr sz="1100" spc="-10">
                          <a:latin typeface="Verdana"/>
                          <a:cs typeface="Verdana"/>
                        </a:rPr>
                        <a:t>на</a:t>
                      </a:r>
                      <a:r>
                        <a:rPr sz="1100" spc="104">
                          <a:latin typeface="Verdana"/>
                          <a:cs typeface="Verdana"/>
                        </a:rPr>
                        <a:t> </a:t>
                      </a:r>
                      <a:r>
                        <a:rPr sz="1100" spc="-10">
                          <a:latin typeface="Verdana"/>
                          <a:cs typeface="Verdana"/>
                        </a:rPr>
                        <a:t>брифинге</a:t>
                      </a:r>
                      <a:endParaRPr/>
                    </a:p>
                    <a:p>
                      <a:pPr marL="144780" marR="157480">
                        <a:lnSpc>
                          <a:spcPct val="115868"/>
                        </a:lnSpc>
                        <a:spcBef>
                          <a:spcPts val="200"/>
                        </a:spcBef>
                      </a:pPr>
                      <a:r>
                        <a:rPr sz="1100" spc="-25">
                          <a:latin typeface="Verdana"/>
                          <a:cs typeface="Verdana"/>
                        </a:rPr>
                        <a:t>3 апреля</a:t>
                      </a:r>
                      <a:r>
                        <a:rPr sz="1100" spc="80">
                          <a:latin typeface="Verdana"/>
                          <a:cs typeface="Verdana"/>
                        </a:rPr>
                        <a:t> </a:t>
                      </a:r>
                      <a:r>
                        <a:rPr sz="1100" spc="-25">
                          <a:latin typeface="Verdana"/>
                          <a:cs typeface="Verdana"/>
                        </a:rPr>
                        <a:t>2020</a:t>
                      </a:r>
                      <a:r>
                        <a:rPr sz="1100" spc="80">
                          <a:latin typeface="Verdana"/>
                          <a:cs typeface="Verdana"/>
                        </a:rPr>
                        <a:t> </a:t>
                      </a:r>
                      <a:r>
                        <a:rPr sz="1100" spc="-25">
                          <a:latin typeface="Verdana"/>
                          <a:cs typeface="Verdana"/>
                        </a:rPr>
                        <a:t>г.</a:t>
                      </a:r>
                      <a:r>
                        <a:rPr sz="1100" spc="80">
                          <a:latin typeface="Verdana"/>
                          <a:cs typeface="Verdana"/>
                        </a:rPr>
                        <a:t> </a:t>
                      </a:r>
                      <a:r>
                        <a:rPr sz="1100" spc="-25">
                          <a:latin typeface="Verdana"/>
                          <a:cs typeface="Verdana"/>
                        </a:rPr>
                        <a:t>сообщил,</a:t>
                      </a:r>
                      <a:r>
                        <a:rPr sz="1100" spc="80">
                          <a:latin typeface="Verdana"/>
                          <a:cs typeface="Verdana"/>
                        </a:rPr>
                        <a:t> </a:t>
                      </a:r>
                      <a:r>
                        <a:rPr sz="1100" spc="-25">
                          <a:latin typeface="Verdana"/>
                          <a:cs typeface="Verdana"/>
                        </a:rPr>
                        <a:t>что</a:t>
                      </a:r>
                      <a:r>
                        <a:rPr sz="1100" spc="90">
                          <a:latin typeface="Verdana"/>
                          <a:cs typeface="Verdana"/>
                        </a:rPr>
                        <a:t> </a:t>
                      </a:r>
                      <a:r>
                        <a:rPr sz="1100" spc="-25">
                          <a:latin typeface="Verdana"/>
                          <a:cs typeface="Verdana"/>
                        </a:rPr>
                        <a:t>удаленная</a:t>
                      </a:r>
                      <a:r>
                        <a:rPr sz="1100" spc="70">
                          <a:latin typeface="Verdana"/>
                          <a:cs typeface="Verdana"/>
                        </a:rPr>
                        <a:t> </a:t>
                      </a:r>
                      <a:r>
                        <a:rPr sz="1100" spc="-25">
                          <a:latin typeface="Verdana"/>
                          <a:cs typeface="Verdana"/>
                        </a:rPr>
                        <a:t>работа</a:t>
                      </a:r>
                      <a:r>
                        <a:rPr sz="1100" spc="80">
                          <a:latin typeface="Verdana"/>
                          <a:cs typeface="Verdana"/>
                        </a:rPr>
                        <a:t> </a:t>
                      </a:r>
                      <a:r>
                        <a:rPr sz="1100" spc="-25">
                          <a:latin typeface="Verdana"/>
                          <a:cs typeface="Verdana"/>
                        </a:rPr>
                        <a:t>не</a:t>
                      </a:r>
                      <a:r>
                        <a:rPr sz="1100" spc="90">
                          <a:latin typeface="Verdana"/>
                          <a:cs typeface="Verdana"/>
                        </a:rPr>
                        <a:t> </a:t>
                      </a:r>
                      <a:r>
                        <a:rPr sz="1100" spc="-25">
                          <a:latin typeface="Verdana"/>
                          <a:cs typeface="Verdana"/>
                        </a:rPr>
                        <a:t>будет</a:t>
                      </a:r>
                      <a:r>
                        <a:rPr sz="1100" spc="90">
                          <a:latin typeface="Verdana"/>
                          <a:cs typeface="Verdana"/>
                        </a:rPr>
                        <a:t> </a:t>
                      </a:r>
                      <a:r>
                        <a:rPr sz="1100" spc="-25">
                          <a:latin typeface="Verdana"/>
                          <a:cs typeface="Verdana"/>
                        </a:rPr>
                        <a:t>основанием</a:t>
                      </a:r>
                      <a:r>
                        <a:rPr sz="1100" spc="85">
                          <a:latin typeface="Verdana"/>
                          <a:cs typeface="Verdana"/>
                        </a:rPr>
                        <a:t> </a:t>
                      </a:r>
                      <a:r>
                        <a:rPr sz="1100" spc="-25">
                          <a:latin typeface="Verdana"/>
                          <a:cs typeface="Verdana"/>
                        </a:rPr>
                        <a:t>для </a:t>
                      </a:r>
                      <a:r>
                        <a:rPr sz="1100">
                          <a:latin typeface="Verdana"/>
                          <a:cs typeface="Verdana"/>
                        </a:rPr>
                        <a:t>освобождения</a:t>
                      </a:r>
                      <a:r>
                        <a:rPr sz="1100" spc="95">
                          <a:latin typeface="Verdana"/>
                          <a:cs typeface="Verdana"/>
                        </a:rPr>
                        <a:t> </a:t>
                      </a:r>
                      <a:r>
                        <a:rPr sz="1100">
                          <a:latin typeface="Verdana"/>
                          <a:cs typeface="Verdana"/>
                        </a:rPr>
                        <a:t>от</a:t>
                      </a:r>
                      <a:r>
                        <a:rPr sz="1100" spc="115">
                          <a:latin typeface="Verdana"/>
                          <a:cs typeface="Verdana"/>
                        </a:rPr>
                        <a:t> </a:t>
                      </a:r>
                      <a:r>
                        <a:rPr sz="1100">
                          <a:latin typeface="Verdana"/>
                          <a:cs typeface="Verdana"/>
                        </a:rPr>
                        <a:t>призыва,</a:t>
                      </a:r>
                      <a:r>
                        <a:rPr sz="1100" spc="104">
                          <a:latin typeface="Verdana"/>
                          <a:cs typeface="Verdana"/>
                        </a:rPr>
                        <a:t> </a:t>
                      </a:r>
                      <a:r>
                        <a:rPr sz="1100">
                          <a:latin typeface="Verdana"/>
                          <a:cs typeface="Verdana"/>
                        </a:rPr>
                        <a:t>однако</a:t>
                      </a:r>
                      <a:r>
                        <a:rPr sz="1100" spc="115">
                          <a:latin typeface="Verdana"/>
                          <a:cs typeface="Verdana"/>
                        </a:rPr>
                        <a:t> </a:t>
                      </a:r>
                      <a:r>
                        <a:rPr sz="1100">
                          <a:latin typeface="Verdana"/>
                          <a:cs typeface="Verdana"/>
                        </a:rPr>
                        <a:t>предпочтение</a:t>
                      </a:r>
                      <a:r>
                        <a:rPr sz="1100" spc="115">
                          <a:latin typeface="Verdana"/>
                          <a:cs typeface="Verdana"/>
                        </a:rPr>
                        <a:t> </a:t>
                      </a:r>
                      <a:r>
                        <a:rPr sz="1100">
                          <a:latin typeface="Verdana"/>
                          <a:cs typeface="Verdana"/>
                        </a:rPr>
                        <a:t>будет</a:t>
                      </a:r>
                      <a:r>
                        <a:rPr sz="1100" spc="110">
                          <a:latin typeface="Verdana"/>
                          <a:cs typeface="Verdana"/>
                        </a:rPr>
                        <a:t> </a:t>
                      </a:r>
                      <a:r>
                        <a:rPr sz="1100">
                          <a:latin typeface="Verdana"/>
                          <a:cs typeface="Verdana"/>
                        </a:rPr>
                        <a:t>отдаваться</a:t>
                      </a:r>
                      <a:r>
                        <a:rPr sz="1100" spc="95">
                          <a:latin typeface="Verdana"/>
                          <a:cs typeface="Verdana"/>
                        </a:rPr>
                        <a:t> </a:t>
                      </a:r>
                      <a:r>
                        <a:rPr sz="1100">
                          <a:latin typeface="Verdana"/>
                          <a:cs typeface="Verdana"/>
                        </a:rPr>
                        <a:t>тем, кто</a:t>
                      </a:r>
                      <a:r>
                        <a:rPr sz="1100" spc="115">
                          <a:latin typeface="Verdana"/>
                          <a:cs typeface="Verdana"/>
                        </a:rPr>
                        <a:t> </a:t>
                      </a:r>
                      <a:r>
                        <a:rPr sz="1100">
                          <a:latin typeface="Verdana"/>
                          <a:cs typeface="Verdana"/>
                        </a:rPr>
                        <a:t>добровольно</a:t>
                      </a:r>
                      <a:r>
                        <a:rPr sz="1100" spc="115">
                          <a:latin typeface="Verdana"/>
                          <a:cs typeface="Verdana"/>
                        </a:rPr>
                        <a:t> </a:t>
                      </a:r>
                      <a:r>
                        <a:rPr sz="1100">
                          <a:latin typeface="Verdana"/>
                          <a:cs typeface="Verdana"/>
                        </a:rPr>
                        <a:t>изъявил</a:t>
                      </a:r>
                      <a:r>
                        <a:rPr sz="1100" spc="110">
                          <a:latin typeface="Verdana"/>
                          <a:cs typeface="Verdana"/>
                        </a:rPr>
                        <a:t> </a:t>
                      </a:r>
                      <a:r>
                        <a:rPr sz="1100">
                          <a:latin typeface="Verdana"/>
                          <a:cs typeface="Verdana"/>
                        </a:rPr>
                        <a:t>желание</a:t>
                      </a:r>
                      <a:r>
                        <a:rPr sz="1100" spc="100">
                          <a:latin typeface="Verdana"/>
                          <a:cs typeface="Verdana"/>
                        </a:rPr>
                        <a:t> </a:t>
                      </a:r>
                      <a:r>
                        <a:rPr sz="1100">
                          <a:latin typeface="Verdana"/>
                          <a:cs typeface="Verdana"/>
                        </a:rPr>
                        <a:t>пройти</a:t>
                      </a:r>
                      <a:r>
                        <a:rPr sz="1100" spc="115">
                          <a:latin typeface="Verdana"/>
                          <a:cs typeface="Verdana"/>
                        </a:rPr>
                        <a:t> </a:t>
                      </a:r>
                      <a:r>
                        <a:rPr sz="1100">
                          <a:latin typeface="Verdana"/>
                          <a:cs typeface="Verdana"/>
                        </a:rPr>
                        <a:t>специальные</a:t>
                      </a:r>
                      <a:r>
                        <a:rPr sz="1100" spc="115">
                          <a:latin typeface="Verdana"/>
                          <a:cs typeface="Verdana"/>
                        </a:rPr>
                        <a:t> </a:t>
                      </a:r>
                      <a:r>
                        <a:rPr sz="1100">
                          <a:latin typeface="Verdana"/>
                          <a:cs typeface="Verdana"/>
                        </a:rPr>
                        <a:t>сборы,</a:t>
                      </a:r>
                      <a:r>
                        <a:rPr sz="1100" spc="104">
                          <a:latin typeface="Verdana"/>
                          <a:cs typeface="Verdana"/>
                        </a:rPr>
                        <a:t> </a:t>
                      </a:r>
                      <a:r>
                        <a:rPr sz="1100">
                          <a:latin typeface="Verdana"/>
                          <a:cs typeface="Verdana"/>
                        </a:rPr>
                        <a:t>а</a:t>
                      </a:r>
                      <a:r>
                        <a:rPr sz="1100" spc="104">
                          <a:latin typeface="Verdana"/>
                          <a:cs typeface="Verdana"/>
                        </a:rPr>
                        <a:t> </a:t>
                      </a:r>
                      <a:r>
                        <a:rPr sz="1100">
                          <a:latin typeface="Verdana"/>
                          <a:cs typeface="Verdana"/>
                        </a:rPr>
                        <a:t>также лицам  более  молодого  возраста.</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44780" marR="4211320">
                        <a:spcBef>
                          <a:spcPts val="200"/>
                        </a:spcBef>
                      </a:pPr>
                      <a:r>
                        <a:rPr sz="1100" b="1" spc="-25">
                          <a:solidFill>
                            <a:srgbClr val="43B02A"/>
                          </a:solidFill>
                          <a:latin typeface="Verdana"/>
                          <a:cs typeface="Verdana"/>
                        </a:rPr>
                        <a:t>Порядок  призыва</a:t>
                      </a:r>
                      <a:endParaRPr/>
                    </a:p>
                    <a:p>
                      <a:pPr marL="144780" marR="434340">
                        <a:lnSpc>
                          <a:spcPct val="116725"/>
                        </a:lnSpc>
                        <a:spcBef>
                          <a:spcPts val="1400"/>
                        </a:spcBef>
                      </a:pPr>
                      <a:r>
                        <a:rPr sz="1100">
                          <a:latin typeface="Verdana"/>
                          <a:cs typeface="Verdana"/>
                        </a:rPr>
                        <a:t>Сог</a:t>
                      </a:r>
                      <a:r>
                        <a:rPr sz="1100">
                          <a:latin typeface="Verdana"/>
                          <a:cs typeface="Verdana"/>
                        </a:rPr>
                        <a:t>ласно</a:t>
                      </a:r>
                      <a:r>
                        <a:rPr sz="1100" spc="115">
                          <a:latin typeface="Verdana"/>
                          <a:cs typeface="Verdana"/>
                        </a:rPr>
                        <a:t> </a:t>
                      </a:r>
                      <a:r>
                        <a:rPr sz="1100">
                          <a:latin typeface="Verdana"/>
                          <a:cs typeface="Verdana"/>
                        </a:rPr>
                        <a:t>информации</a:t>
                      </a:r>
                      <a:r>
                        <a:rPr sz="1100" spc="115">
                          <a:latin typeface="Verdana"/>
                          <a:cs typeface="Verdana"/>
                        </a:rPr>
                        <a:t> </a:t>
                      </a:r>
                      <a:r>
                        <a:rPr sz="1100">
                          <a:latin typeface="Verdana"/>
                          <a:cs typeface="Verdana"/>
                        </a:rPr>
                        <a:t>Министра</a:t>
                      </a:r>
                      <a:r>
                        <a:rPr sz="1100" spc="104">
                          <a:latin typeface="Verdana"/>
                          <a:cs typeface="Verdana"/>
                        </a:rPr>
                        <a:t> </a:t>
                      </a:r>
                      <a:r>
                        <a:rPr sz="1100">
                          <a:latin typeface="Verdana"/>
                          <a:cs typeface="Verdana"/>
                        </a:rPr>
                        <a:t>обороны,</a:t>
                      </a:r>
                      <a:r>
                        <a:rPr sz="1100" spc="104">
                          <a:latin typeface="Verdana"/>
                          <a:cs typeface="Verdana"/>
                        </a:rPr>
                        <a:t> </a:t>
                      </a:r>
                      <a:r>
                        <a:rPr sz="1100">
                          <a:latin typeface="Verdana"/>
                          <a:cs typeface="Verdana"/>
                        </a:rPr>
                        <a:t>озвученной</a:t>
                      </a:r>
                      <a:r>
                        <a:rPr sz="1100" spc="115">
                          <a:latin typeface="Verdana"/>
                          <a:cs typeface="Verdana"/>
                        </a:rPr>
                        <a:t> </a:t>
                      </a:r>
                      <a:r>
                        <a:rPr sz="1100">
                          <a:latin typeface="Verdana"/>
                          <a:cs typeface="Verdana"/>
                        </a:rPr>
                        <a:t>на</a:t>
                      </a:r>
                      <a:r>
                        <a:rPr sz="1100" spc="104">
                          <a:latin typeface="Verdana"/>
                          <a:cs typeface="Verdana"/>
                        </a:rPr>
                        <a:t> </a:t>
                      </a:r>
                      <a:r>
                        <a:rPr sz="1100">
                          <a:latin typeface="Verdana"/>
                          <a:cs typeface="Verdana"/>
                        </a:rPr>
                        <a:t>брифинге, </a:t>
                      </a:r>
                      <a:r>
                        <a:rPr sz="1100" spc="-20">
                          <a:latin typeface="Verdana"/>
                          <a:cs typeface="Verdana"/>
                        </a:rPr>
                        <a:t>воинские</a:t>
                      </a:r>
                      <a:r>
                        <a:rPr sz="1100" spc="90">
                          <a:latin typeface="Verdana"/>
                          <a:cs typeface="Verdana"/>
                        </a:rPr>
                        <a:t> </a:t>
                      </a:r>
                      <a:r>
                        <a:rPr sz="1100" spc="-20">
                          <a:latin typeface="Verdana"/>
                          <a:cs typeface="Verdana"/>
                        </a:rPr>
                        <a:t>сборы</a:t>
                      </a:r>
                      <a:r>
                        <a:rPr sz="1100" spc="75">
                          <a:latin typeface="Verdana"/>
                          <a:cs typeface="Verdana"/>
                        </a:rPr>
                        <a:t> </a:t>
                      </a:r>
                      <a:r>
                        <a:rPr sz="1100" spc="-20">
                          <a:latin typeface="Verdana"/>
                          <a:cs typeface="Verdana"/>
                        </a:rPr>
                        <a:t>будут</a:t>
                      </a:r>
                      <a:r>
                        <a:rPr sz="1100" spc="95">
                          <a:latin typeface="Verdana"/>
                          <a:cs typeface="Verdana"/>
                        </a:rPr>
                        <a:t> </a:t>
                      </a:r>
                      <a:r>
                        <a:rPr sz="1100" spc="-20">
                          <a:latin typeface="Verdana"/>
                          <a:cs typeface="Verdana"/>
                        </a:rPr>
                        <a:t>осуществляться</a:t>
                      </a:r>
                      <a:r>
                        <a:rPr sz="1100" spc="85">
                          <a:latin typeface="Verdana"/>
                          <a:cs typeface="Verdana"/>
                        </a:rPr>
                        <a:t> </a:t>
                      </a:r>
                      <a:r>
                        <a:rPr sz="1100" spc="-20">
                          <a:latin typeface="Verdana"/>
                          <a:cs typeface="Verdana"/>
                        </a:rPr>
                        <a:t>на</a:t>
                      </a:r>
                      <a:r>
                        <a:rPr sz="1100" spc="75">
                          <a:latin typeface="Verdana"/>
                          <a:cs typeface="Verdana"/>
                        </a:rPr>
                        <a:t> </a:t>
                      </a:r>
                      <a:r>
                        <a:rPr sz="1100" spc="-20">
                          <a:latin typeface="Verdana"/>
                          <a:cs typeface="Verdana"/>
                        </a:rPr>
                        <a:t>основании</a:t>
                      </a:r>
                      <a:r>
                        <a:rPr sz="1100" spc="95">
                          <a:latin typeface="Verdana"/>
                          <a:cs typeface="Verdana"/>
                        </a:rPr>
                        <a:t> </a:t>
                      </a:r>
                      <a:r>
                        <a:rPr sz="1100" spc="-20">
                          <a:latin typeface="Verdana"/>
                          <a:cs typeface="Verdana"/>
                        </a:rPr>
                        <a:t>решений</a:t>
                      </a:r>
                      <a:r>
                        <a:rPr sz="1100" spc="80">
                          <a:latin typeface="Verdana"/>
                          <a:cs typeface="Verdana"/>
                        </a:rPr>
                        <a:t> </a:t>
                      </a:r>
                      <a:r>
                        <a:rPr sz="1100" spc="-20">
                          <a:latin typeface="Verdana"/>
                          <a:cs typeface="Verdana"/>
                        </a:rPr>
                        <a:t>местных </a:t>
                      </a:r>
                      <a:r>
                        <a:rPr sz="1100">
                          <a:latin typeface="Verdana"/>
                          <a:cs typeface="Verdana"/>
                        </a:rPr>
                        <a:t>исполнительных</a:t>
                      </a:r>
                      <a:r>
                        <a:rPr sz="1100" spc="104">
                          <a:latin typeface="Verdana"/>
                          <a:cs typeface="Verdana"/>
                        </a:rPr>
                        <a:t> </a:t>
                      </a:r>
                      <a:r>
                        <a:rPr sz="1100">
                          <a:latin typeface="Verdana"/>
                          <a:cs typeface="Verdana"/>
                        </a:rPr>
                        <a:t>органов</a:t>
                      </a:r>
                      <a:r>
                        <a:rPr sz="1100" spc="100">
                          <a:latin typeface="Verdana"/>
                          <a:cs typeface="Verdana"/>
                        </a:rPr>
                        <a:t> </a:t>
                      </a:r>
                      <a:r>
                        <a:rPr sz="1100">
                          <a:latin typeface="Verdana"/>
                          <a:cs typeface="Verdana"/>
                        </a:rPr>
                        <a:t>по</a:t>
                      </a:r>
                      <a:r>
                        <a:rPr sz="1100" spc="115">
                          <a:latin typeface="Verdana"/>
                          <a:cs typeface="Verdana"/>
                        </a:rPr>
                        <a:t> </a:t>
                      </a:r>
                      <a:r>
                        <a:rPr sz="1100">
                          <a:latin typeface="Verdana"/>
                          <a:cs typeface="Verdana"/>
                        </a:rPr>
                        <a:t>согласованию</a:t>
                      </a:r>
                      <a:r>
                        <a:rPr sz="1100" spc="104">
                          <a:latin typeface="Verdana"/>
                          <a:cs typeface="Verdana"/>
                        </a:rPr>
                        <a:t> </a:t>
                      </a:r>
                      <a:r>
                        <a:rPr sz="1100">
                          <a:latin typeface="Verdana"/>
                          <a:cs typeface="Verdana"/>
                        </a:rPr>
                        <a:t>с</a:t>
                      </a:r>
                      <a:r>
                        <a:rPr sz="1100" spc="104">
                          <a:latin typeface="Verdana"/>
                          <a:cs typeface="Verdana"/>
                        </a:rPr>
                        <a:t> </a:t>
                      </a:r>
                      <a:r>
                        <a:rPr sz="1100">
                          <a:latin typeface="Verdana"/>
                          <a:cs typeface="Verdana"/>
                        </a:rPr>
                        <a:t>местными</a:t>
                      </a:r>
                      <a:r>
                        <a:rPr sz="1100" spc="110">
                          <a:latin typeface="Verdana"/>
                          <a:cs typeface="Verdana"/>
                        </a:rPr>
                        <a:t> </a:t>
                      </a:r>
                      <a:r>
                        <a:rPr sz="1100">
                          <a:latin typeface="Verdana"/>
                          <a:cs typeface="Verdana"/>
                        </a:rPr>
                        <a:t>органами воинского  учета.</a:t>
                      </a:r>
                      <a:endParaRPr/>
                    </a:p>
                  </a:txBody>
                  <a:tcPr marL="0" marR="0" marT="165100" marB="0">
                    <a:lnL/>
                    <a:lnR/>
                    <a:lnT w="38100" cmpd="sng">
                      <a:solidFill>
                        <a:srgbClr val="F3F3F3"/>
                      </a:solidFill>
                    </a:lnT>
                    <a:lnB/>
                  </a:tcPr>
                </a:tc>
                <a:tc>
                  <a:txBody>
                    <a:bodyPr/>
                    <a:p>
                      <a:pPr>
                        <a:lnSpc>
                          <a:spcPct val="100000"/>
                        </a:lnSpc>
                      </a:pPr>
                      <a:endParaRPr sz="1000"/>
                    </a:p>
                  </a:txBody>
                  <a:tcPr marL="0" marR="0" marT="0" marB="0">
                    <a:lnL/>
                    <a:lnR/>
                    <a:lnT w="38100" cmpd="sng">
                      <a:solidFill>
                        <a:srgbClr val="F3F3F3"/>
                      </a:solidFill>
                    </a:lnT>
                    <a:lnB/>
                    <a:solidFill>
                      <a:srgbClr val="F3F3F3"/>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a:hlinkClick r:id="rId2" action="ppaction://hlinksldjump"/>
          </p:cNvPr>
          <p:cNvGrpSpPr/>
          <p:nvPr/>
        </p:nvGrpSpPr>
        <p:grpSpPr>
          <a:xfrm>
            <a:off x="719633" y="179832"/>
            <a:ext cx="6082030" cy="9255252"/>
            <a:chOff x="0" y="0"/>
            <a:chExt cx="6082030" cy="9255252"/>
          </a:xfrm>
        </p:grpSpPr>
        <p:sp>
          <p:nvSpPr>
            <p:cNvPr id="3" name="shape 3"/>
            <p:cNvSpPr/>
            <p:nvPr/>
          </p:nvSpPr>
          <p:spPr>
            <a:xfrm>
              <a:off x="5941822" y="8357311"/>
              <a:ext cx="140208" cy="896418"/>
            </a:xfrm>
            <a:prstGeom prst="rect">
              <a:avLst/>
            </a:prstGeom>
            <a:solidFill>
              <a:srgbClr val="F3F3F3"/>
            </a:solidFill>
          </p:spPr>
        </p:sp>
        <p:sp>
          <p:nvSpPr>
            <p:cNvPr id="4" name="shape 4"/>
            <p:cNvSpPr/>
            <p:nvPr/>
          </p:nvSpPr>
          <p:spPr>
            <a:xfrm>
              <a:off x="6045454" y="8128762"/>
              <a:ext cx="36576" cy="190500"/>
            </a:xfrm>
            <a:prstGeom prst="rect">
              <a:avLst/>
            </a:prstGeom>
            <a:solidFill>
              <a:srgbClr val="F3F3F3"/>
            </a:solidFill>
          </p:spPr>
        </p:sp>
        <p:sp>
          <p:nvSpPr>
            <p:cNvPr id="5" name="shape 5"/>
            <p:cNvSpPr/>
            <p:nvPr/>
          </p:nvSpPr>
          <p:spPr>
            <a:xfrm>
              <a:off x="5941822" y="38100"/>
              <a:ext cx="140208" cy="8090662"/>
            </a:xfrm>
            <a:prstGeom prst="rect">
              <a:avLst/>
            </a:prstGeom>
            <a:solidFill>
              <a:srgbClr val="F3F3F3"/>
            </a:solidFill>
          </p:spPr>
        </p:sp>
        <p:sp>
          <p:nvSpPr>
            <p:cNvPr id="6" name="shape 6"/>
            <p:cNvSpPr/>
            <p:nvPr/>
          </p:nvSpPr>
          <p:spPr>
            <a:xfrm>
              <a:off x="0" y="8319262"/>
              <a:ext cx="36576" cy="935991"/>
            </a:xfrm>
            <a:prstGeom prst="rect">
              <a:avLst/>
            </a:prstGeom>
            <a:solidFill>
              <a:srgbClr val="F3F3F3"/>
            </a:solidFill>
          </p:spPr>
        </p:sp>
        <p:sp>
          <p:nvSpPr>
            <p:cNvPr id="7" name="shape 7"/>
            <p:cNvSpPr/>
            <p:nvPr/>
          </p:nvSpPr>
          <p:spPr>
            <a:xfrm>
              <a:off x="0" y="8128762"/>
              <a:ext cx="36576" cy="190500"/>
            </a:xfrm>
            <a:prstGeom prst="rect">
              <a:avLst/>
            </a:prstGeom>
            <a:solidFill>
              <a:srgbClr val="F3F3F3"/>
            </a:solidFill>
          </p:spPr>
        </p:sp>
        <p:sp>
          <p:nvSpPr>
            <p:cNvPr id="8" name="shape 8"/>
            <p:cNvSpPr/>
            <p:nvPr/>
          </p:nvSpPr>
          <p:spPr>
            <a:xfrm>
              <a:off x="0" y="0"/>
              <a:ext cx="36576" cy="8128762"/>
            </a:xfrm>
            <a:prstGeom prst="rect">
              <a:avLst/>
            </a:prstGeom>
            <a:solidFill>
              <a:srgbClr val="F3F3F3"/>
            </a:solidFill>
          </p:spPr>
        </p:sp>
        <p:sp>
          <p:nvSpPr>
            <p:cNvPr id="9" name="shape 9"/>
            <p:cNvSpPr/>
            <p:nvPr/>
          </p:nvSpPr>
          <p:spPr>
            <a:xfrm>
              <a:off x="36576" y="0"/>
              <a:ext cx="108204" cy="8128762"/>
            </a:xfrm>
            <a:prstGeom prst="rect">
              <a:avLst/>
            </a:prstGeom>
            <a:solidFill>
              <a:srgbClr val="F3F3F3"/>
            </a:solidFill>
          </p:spPr>
        </p:sp>
        <p:sp>
          <p:nvSpPr>
            <p:cNvPr id="10" name="shape 10"/>
            <p:cNvSpPr/>
            <p:nvPr/>
          </p:nvSpPr>
          <p:spPr>
            <a:xfrm>
              <a:off x="144780" y="8319211"/>
              <a:ext cx="5900675" cy="52"/>
            </a:xfrm>
            <a:prstGeom prst="rect">
              <a:avLst/>
            </a:prstGeom>
            <a:solidFill>
              <a:srgbClr val="F3F3F3"/>
            </a:solidFill>
          </p:spPr>
        </p:sp>
        <p:sp>
          <p:nvSpPr>
            <p:cNvPr id="11" name="shape 11"/>
            <p:cNvSpPr/>
            <p:nvPr/>
          </p:nvSpPr>
          <p:spPr>
            <a:xfrm>
              <a:off x="36576" y="8128762"/>
              <a:ext cx="6008878" cy="190449"/>
            </a:xfrm>
            <a:prstGeom prst="rect">
              <a:avLst/>
            </a:prstGeom>
            <a:solidFill>
              <a:srgbClr val="F3F3F3"/>
            </a:solidFill>
          </p:spPr>
        </p:sp>
        <p:sp>
          <p:nvSpPr>
            <p:cNvPr id="12" name="shape 12"/>
            <p:cNvSpPr/>
            <p:nvPr/>
          </p:nvSpPr>
          <p:spPr>
            <a:xfrm>
              <a:off x="36576" y="8319211"/>
              <a:ext cx="108204" cy="936042"/>
            </a:xfrm>
            <a:prstGeom prst="rect">
              <a:avLst/>
            </a:prstGeom>
            <a:solidFill>
              <a:srgbClr val="F3F3F3"/>
            </a:solidFill>
          </p:spPr>
        </p:sp>
        <p:pic>
          <p:nvPicPr>
            <p:cNvPr id="13" name="shape 13">
              <a:hlinkClick r:id="rId2" action="ppaction://hlinksldjump"/>
            </p:cNvPr>
            <p:cNvPicPr>
              <a:picLocks noChangeAspect="1"/>
            </p:cNvPicPr>
            <p:nvPr/>
          </p:nvPicPr>
          <p:blipFill>
            <a:blip r:embed="rId3" cstate="print"/>
            <a:stretch>
              <a:fillRect/>
            </a:stretch>
          </p:blipFill>
          <p:spPr>
            <a:xfrm>
              <a:off x="288747" y="1391412"/>
              <a:ext cx="1454786" cy="301625"/>
            </a:xfrm>
            <a:prstGeom prst="rect"/>
          </p:spPr>
        </p:pic>
        <p:pic>
          <p:nvPicPr>
            <p:cNvPr id="14" name="shape 14">
              <a:hlinkClick r:id="rId2" action="ppaction://hlinksldjump"/>
            </p:cNvPr>
            <p:cNvPicPr>
              <a:picLocks noChangeAspect="1"/>
            </p:cNvPicPr>
            <p:nvPr/>
          </p:nvPicPr>
          <p:blipFill>
            <a:blip r:embed="rId4" cstate="print"/>
            <a:stretch>
              <a:fillRect/>
            </a:stretch>
          </p:blipFill>
          <p:spPr>
            <a:xfrm>
              <a:off x="288747" y="3155188"/>
              <a:ext cx="1454786" cy="301625"/>
            </a:xfrm>
            <a:prstGeom prst="rect"/>
          </p:spPr>
        </p:pic>
        <p:pic>
          <p:nvPicPr>
            <p:cNvPr id="15" name="shape 15">
              <a:hlinkClick r:id="rId2" action="ppaction://hlinksldjump"/>
            </p:cNvPr>
            <p:cNvPicPr>
              <a:picLocks noChangeAspect="1"/>
            </p:cNvPicPr>
            <p:nvPr/>
          </p:nvPicPr>
          <p:blipFill>
            <a:blip r:embed="rId5" cstate="print"/>
            <a:stretch>
              <a:fillRect/>
            </a:stretch>
          </p:blipFill>
          <p:spPr>
            <a:xfrm>
              <a:off x="288747" y="4918837"/>
              <a:ext cx="1454786" cy="301625"/>
            </a:xfrm>
            <a:prstGeom prst="rect"/>
          </p:spPr>
        </p:pic>
        <p:pic>
          <p:nvPicPr>
            <p:cNvPr id="16" name="shape 16">
              <a:hlinkClick r:id="rId2" action="ppaction://hlinksldjump"/>
            </p:cNvPr>
            <p:cNvPicPr>
              <a:picLocks noChangeAspect="1"/>
            </p:cNvPicPr>
            <p:nvPr/>
          </p:nvPicPr>
          <p:blipFill>
            <a:blip r:embed="rId6" cstate="print"/>
            <a:stretch>
              <a:fillRect/>
            </a:stretch>
          </p:blipFill>
          <p:spPr>
            <a:xfrm>
              <a:off x="288747" y="6487287"/>
              <a:ext cx="1454786" cy="301625"/>
            </a:xfrm>
            <a:prstGeom prst="rect"/>
          </p:spPr>
        </p:pic>
      </p:grpSp>
      <p:sp>
        <p:nvSpPr>
          <p:cNvPr id="17" name="shape 17"/>
          <p:cNvSpPr txBox="1"/>
          <p:nvPr/>
        </p:nvSpPr>
        <p:spPr>
          <a:xfrm>
            <a:off x="996315" y="273634"/>
            <a:ext cx="5281931" cy="1129742"/>
          </a:xfrm>
          <a:prstGeom prst="rect"/>
          <a:noFill/>
        </p:spPr>
        <p:txBody>
          <a:bodyPr vertOverflow="overflow" horzOverflow="overflow" numCol="1" wrap="square" lIns="0" tIns="0" rIns="0" bIns="0">
            <a:spAutoFit/>
          </a:bodyPr>
          <a:p>
            <a:pPr marL="12700" marR="12700">
              <a:lnSpc>
                <a:spcPct val="116548"/>
              </a:lnSpc>
            </a:pPr>
            <a:r>
              <a:rPr sz="1100" spc="-15">
                <a:latin typeface="Verdana"/>
                <a:cs typeface="Verdana"/>
              </a:rPr>
              <a:t>Граждане</a:t>
            </a:r>
            <a:r>
              <a:rPr sz="1100" spc="100">
                <a:latin typeface="Verdana"/>
                <a:cs typeface="Verdana"/>
              </a:rPr>
              <a:t> </a:t>
            </a:r>
            <a:r>
              <a:rPr sz="1100" spc="-15">
                <a:latin typeface="Verdana"/>
                <a:cs typeface="Verdana"/>
              </a:rPr>
              <a:t>будут</a:t>
            </a:r>
            <a:r>
              <a:rPr sz="1100" spc="85">
                <a:latin typeface="Verdana"/>
                <a:cs typeface="Verdana"/>
              </a:rPr>
              <a:t> </a:t>
            </a:r>
            <a:r>
              <a:rPr sz="1100" spc="-15">
                <a:latin typeface="Verdana"/>
                <a:cs typeface="Verdana"/>
              </a:rPr>
              <a:t>призываться</a:t>
            </a:r>
            <a:r>
              <a:rPr sz="1100" spc="90">
                <a:latin typeface="Verdana"/>
                <a:cs typeface="Verdana"/>
              </a:rPr>
              <a:t> </a:t>
            </a:r>
            <a:r>
              <a:rPr sz="1100" spc="-15">
                <a:latin typeface="Verdana"/>
                <a:cs typeface="Verdana"/>
              </a:rPr>
              <a:t>на</a:t>
            </a:r>
            <a:r>
              <a:rPr sz="1100" spc="90">
                <a:latin typeface="Verdana"/>
                <a:cs typeface="Verdana"/>
              </a:rPr>
              <a:t> </a:t>
            </a:r>
            <a:r>
              <a:rPr sz="1100" spc="-15">
                <a:latin typeface="Verdana"/>
                <a:cs typeface="Verdana"/>
              </a:rPr>
              <a:t>сборы</a:t>
            </a:r>
            <a:r>
              <a:rPr sz="1100" spc="90">
                <a:latin typeface="Verdana"/>
                <a:cs typeface="Verdana"/>
              </a:rPr>
              <a:t> </a:t>
            </a:r>
            <a:r>
              <a:rPr sz="1100" spc="-15">
                <a:latin typeface="Verdana"/>
                <a:cs typeface="Verdana"/>
              </a:rPr>
              <a:t>по</a:t>
            </a:r>
            <a:r>
              <a:rPr sz="1100" spc="85">
                <a:latin typeface="Verdana"/>
                <a:cs typeface="Verdana"/>
              </a:rPr>
              <a:t> </a:t>
            </a:r>
            <a:r>
              <a:rPr sz="1100" spc="-15">
                <a:latin typeface="Verdana"/>
                <a:cs typeface="Verdana"/>
              </a:rPr>
              <a:t>месту</a:t>
            </a:r>
            <a:r>
              <a:rPr sz="1100" spc="90">
                <a:latin typeface="Verdana"/>
                <a:cs typeface="Verdana"/>
              </a:rPr>
              <a:t> </a:t>
            </a:r>
            <a:r>
              <a:rPr sz="1100" spc="-15">
                <a:latin typeface="Verdana"/>
                <a:cs typeface="Verdana"/>
              </a:rPr>
              <a:t>жительства.</a:t>
            </a:r>
            <a:r>
              <a:rPr sz="1100" spc="90">
                <a:latin typeface="Verdana"/>
                <a:cs typeface="Verdana"/>
              </a:rPr>
              <a:t> </a:t>
            </a:r>
            <a:r>
              <a:rPr sz="1100" spc="-15">
                <a:latin typeface="Verdana"/>
                <a:cs typeface="Verdana"/>
              </a:rPr>
              <a:t>В</a:t>
            </a:r>
            <a:r>
              <a:rPr sz="1100" spc="80">
                <a:latin typeface="Verdana"/>
                <a:cs typeface="Verdana"/>
              </a:rPr>
              <a:t> </a:t>
            </a:r>
            <a:r>
              <a:rPr sz="1100" spc="-15">
                <a:latin typeface="Verdana"/>
                <a:cs typeface="Verdana"/>
              </a:rPr>
              <a:t>связи</a:t>
            </a:r>
            <a:r>
              <a:rPr sz="1100" spc="100">
                <a:latin typeface="Verdana"/>
                <a:cs typeface="Verdana"/>
              </a:rPr>
              <a:t> </a:t>
            </a:r>
            <a:r>
              <a:rPr sz="1100" spc="-15">
                <a:latin typeface="Verdana"/>
                <a:cs typeface="Verdana"/>
              </a:rPr>
              <a:t>с </a:t>
            </a:r>
            <a:r>
              <a:rPr sz="1100" spc="-25">
                <a:latin typeface="Verdana"/>
                <a:cs typeface="Verdana"/>
              </a:rPr>
              <a:t>этим</a:t>
            </a:r>
            <a:r>
              <a:rPr sz="1100" spc="85">
                <a:latin typeface="Verdana"/>
                <a:cs typeface="Verdana"/>
              </a:rPr>
              <a:t> </a:t>
            </a:r>
            <a:r>
              <a:rPr sz="1100" spc="-25">
                <a:latin typeface="Verdana"/>
                <a:cs typeface="Verdana"/>
              </a:rPr>
              <a:t>они</a:t>
            </a:r>
            <a:r>
              <a:rPr sz="1100" spc="90">
                <a:latin typeface="Verdana"/>
                <a:cs typeface="Verdana"/>
              </a:rPr>
              <a:t> </a:t>
            </a:r>
            <a:r>
              <a:rPr sz="1100" spc="-25">
                <a:latin typeface="Verdana"/>
                <a:cs typeface="Verdana"/>
              </a:rPr>
              <a:t>ежедневно</a:t>
            </a:r>
            <a:r>
              <a:rPr sz="1100" spc="90">
                <a:latin typeface="Verdana"/>
                <a:cs typeface="Verdana"/>
              </a:rPr>
              <a:t> </a:t>
            </a:r>
            <a:r>
              <a:rPr sz="1100" spc="-25">
                <a:latin typeface="Verdana"/>
                <a:cs typeface="Verdana"/>
              </a:rPr>
              <a:t>по</a:t>
            </a:r>
            <a:r>
              <a:rPr sz="1100" spc="90">
                <a:latin typeface="Verdana"/>
                <a:cs typeface="Verdana"/>
              </a:rPr>
              <a:t> </a:t>
            </a:r>
            <a:r>
              <a:rPr sz="1100" spc="-25">
                <a:latin typeface="Verdana"/>
                <a:cs typeface="Verdana"/>
              </a:rPr>
              <a:t>окончании</a:t>
            </a:r>
            <a:r>
              <a:rPr sz="1100" spc="90">
                <a:latin typeface="Verdana"/>
                <a:cs typeface="Verdana"/>
              </a:rPr>
              <a:t> </a:t>
            </a:r>
            <a:r>
              <a:rPr sz="1100" spc="-25">
                <a:latin typeface="Verdana"/>
                <a:cs typeface="Verdana"/>
              </a:rPr>
              <a:t>работы</a:t>
            </a:r>
            <a:r>
              <a:rPr sz="1100" spc="85">
                <a:latin typeface="Verdana"/>
                <a:cs typeface="Verdana"/>
              </a:rPr>
              <a:t> </a:t>
            </a:r>
            <a:r>
              <a:rPr sz="1100" spc="-25">
                <a:latin typeface="Verdana"/>
                <a:cs typeface="Verdana"/>
              </a:rPr>
              <a:t>будут</a:t>
            </a:r>
            <a:r>
              <a:rPr sz="1100" spc="85">
                <a:latin typeface="Verdana"/>
                <a:cs typeface="Verdana"/>
              </a:rPr>
              <a:t> </a:t>
            </a:r>
            <a:r>
              <a:rPr sz="1100" spc="-25">
                <a:latin typeface="Verdana"/>
                <a:cs typeface="Verdana"/>
              </a:rPr>
              <a:t>возвращаться</a:t>
            </a:r>
            <a:r>
              <a:rPr sz="1100" spc="80">
                <a:latin typeface="Verdana"/>
                <a:cs typeface="Verdana"/>
              </a:rPr>
              <a:t> </a:t>
            </a:r>
            <a:r>
              <a:rPr sz="1100" spc="-25">
                <a:latin typeface="Verdana"/>
                <a:cs typeface="Verdana"/>
              </a:rPr>
              <a:t>домой</a:t>
            </a:r>
            <a:r>
              <a:rPr sz="1100" spc="90">
                <a:latin typeface="Verdana"/>
                <a:cs typeface="Verdana"/>
              </a:rPr>
              <a:t> </a:t>
            </a:r>
            <a:r>
              <a:rPr sz="1100" spc="-25">
                <a:latin typeface="Verdana"/>
                <a:cs typeface="Verdana"/>
              </a:rPr>
              <a:t>и </a:t>
            </a:r>
            <a:r>
              <a:rPr sz="1100">
                <a:latin typeface="Verdana"/>
                <a:cs typeface="Verdana"/>
              </a:rPr>
              <a:t>ходить</a:t>
            </a:r>
            <a:r>
              <a:rPr sz="1100" spc="115">
                <a:latin typeface="Verdana"/>
                <a:cs typeface="Verdana"/>
              </a:rPr>
              <a:t> </a:t>
            </a:r>
            <a:r>
              <a:rPr sz="1100">
                <a:latin typeface="Verdana"/>
                <a:cs typeface="Verdana"/>
              </a:rPr>
              <a:t>на</a:t>
            </a:r>
            <a:r>
              <a:rPr sz="1100" spc="104">
                <a:latin typeface="Verdana"/>
                <a:cs typeface="Verdana"/>
              </a:rPr>
              <a:t> </a:t>
            </a:r>
            <a:r>
              <a:rPr sz="1100">
                <a:latin typeface="Verdana"/>
                <a:cs typeface="Verdana"/>
              </a:rPr>
              <a:t>службу</a:t>
            </a:r>
            <a:r>
              <a:rPr sz="1100" spc="104">
                <a:latin typeface="Verdana"/>
                <a:cs typeface="Verdana"/>
              </a:rPr>
              <a:t> </a:t>
            </a:r>
            <a:r>
              <a:rPr sz="1100">
                <a:latin typeface="Verdana"/>
                <a:cs typeface="Verdana"/>
              </a:rPr>
              <a:t>как</a:t>
            </a:r>
            <a:r>
              <a:rPr sz="1100" spc="104">
                <a:latin typeface="Verdana"/>
                <a:cs typeface="Verdana"/>
              </a:rPr>
              <a:t> </a:t>
            </a:r>
            <a:r>
              <a:rPr sz="1100">
                <a:latin typeface="Verdana"/>
                <a:cs typeface="Verdana"/>
              </a:rPr>
              <a:t>на</a:t>
            </a:r>
            <a:r>
              <a:rPr sz="1100" spc="104">
                <a:latin typeface="Verdana"/>
                <a:cs typeface="Verdana"/>
              </a:rPr>
              <a:t> </a:t>
            </a:r>
            <a:r>
              <a:rPr sz="1100">
                <a:latin typeface="Verdana"/>
                <a:cs typeface="Verdana"/>
              </a:rPr>
              <a:t>работу.</a:t>
            </a:r>
            <a:endParaRPr/>
          </a:p>
          <a:p>
            <a:pPr marL="12700" marR="1287780" algn="just">
              <a:lnSpc>
                <a:spcPct val="115868"/>
              </a:lnSpc>
              <a:spcBef>
                <a:spcPts val="1200"/>
              </a:spcBef>
            </a:pPr>
            <a:r>
              <a:rPr sz="1100" spc="-10">
                <a:latin typeface="Verdana"/>
                <a:cs typeface="Verdana"/>
              </a:rPr>
              <a:t>Перед началом сборов все лица пройдут медицинское </a:t>
            </a:r>
            <a:r>
              <a:rPr sz="1100">
                <a:latin typeface="Verdana"/>
                <a:cs typeface="Verdana"/>
              </a:rPr>
              <a:t>освидетельствование  и  контроль.</a:t>
            </a:r>
            <a:endParaRPr/>
          </a:p>
        </p:txBody>
      </p:sp>
      <p:sp>
        <p:nvSpPr>
          <p:cNvPr id="18" name="shape 18"/>
          <p:cNvSpPr txBox="1"/>
          <p:nvPr/>
        </p:nvSpPr>
        <p:spPr>
          <a:xfrm>
            <a:off x="977900" y="2053589"/>
            <a:ext cx="5551170" cy="6014263"/>
          </a:xfrm>
          <a:prstGeom prst="rect"/>
          <a:noFill/>
        </p:spPr>
        <p:txBody>
          <a:bodyPr vertOverflow="overflow" horzOverflow="overflow" numCol="1" wrap="square" lIns="0" tIns="0" rIns="0" bIns="0">
            <a:spAutoFit/>
          </a:bodyPr>
          <a:p>
            <a:pPr marL="31115"/>
            <a:r>
              <a:rPr sz="1100" b="1">
                <a:solidFill>
                  <a:srgbClr val="43B02A"/>
                </a:solidFill>
                <a:latin typeface="Verdana"/>
                <a:cs typeface="Verdana"/>
              </a:rPr>
              <a:t>Оплата</a:t>
            </a:r>
            <a:endParaRPr/>
          </a:p>
          <a:p>
            <a:pPr marL="31115" marR="183515">
              <a:lnSpc>
                <a:spcPct val="116006"/>
              </a:lnSpc>
              <a:spcBef>
                <a:spcPts val="1400"/>
              </a:spcBef>
            </a:pPr>
            <a:r>
              <a:rPr sz="1100">
                <a:latin typeface="Verdana"/>
                <a:cs typeface="Verdana"/>
              </a:rPr>
              <a:t>Сог</a:t>
            </a:r>
            <a:r>
              <a:rPr sz="1100">
                <a:latin typeface="Verdana"/>
                <a:cs typeface="Verdana"/>
              </a:rPr>
              <a:t>ласно</a:t>
            </a:r>
            <a:r>
              <a:rPr sz="1100" spc="100">
                <a:latin typeface="Verdana"/>
                <a:cs typeface="Verdana"/>
              </a:rPr>
              <a:t> </a:t>
            </a:r>
            <a:r>
              <a:rPr sz="1100">
                <a:latin typeface="Verdana"/>
                <a:cs typeface="Verdana"/>
              </a:rPr>
              <a:t>Закону,</a:t>
            </a:r>
            <a:r>
              <a:rPr sz="1100" spc="104">
                <a:latin typeface="Verdana"/>
                <a:cs typeface="Verdana"/>
              </a:rPr>
              <a:t> </a:t>
            </a:r>
            <a:r>
              <a:rPr sz="1100">
                <a:latin typeface="Verdana"/>
                <a:cs typeface="Verdana"/>
              </a:rPr>
              <a:t>за</a:t>
            </a:r>
            <a:r>
              <a:rPr sz="1100" spc="104">
                <a:latin typeface="Verdana"/>
                <a:cs typeface="Verdana"/>
              </a:rPr>
              <a:t> </a:t>
            </a:r>
            <a:r>
              <a:rPr sz="1100">
                <a:latin typeface="Verdana"/>
                <a:cs typeface="Verdana"/>
              </a:rPr>
              <a:t>военнообязанными</a:t>
            </a:r>
            <a:r>
              <a:rPr sz="1100" spc="115">
                <a:latin typeface="Verdana"/>
                <a:cs typeface="Verdana"/>
              </a:rPr>
              <a:t> </a:t>
            </a:r>
            <a:r>
              <a:rPr sz="1100">
                <a:latin typeface="Verdana"/>
                <a:cs typeface="Verdana"/>
              </a:rPr>
              <a:t>на</a:t>
            </a:r>
            <a:r>
              <a:rPr sz="1100" spc="104">
                <a:latin typeface="Verdana"/>
                <a:cs typeface="Verdana"/>
              </a:rPr>
              <a:t> </a:t>
            </a:r>
            <a:r>
              <a:rPr sz="1100">
                <a:latin typeface="Verdana"/>
                <a:cs typeface="Verdana"/>
              </a:rPr>
              <a:t>период</a:t>
            </a:r>
            <a:r>
              <a:rPr sz="1100" spc="95">
                <a:latin typeface="Verdana"/>
                <a:cs typeface="Verdana"/>
              </a:rPr>
              <a:t> </a:t>
            </a:r>
            <a:r>
              <a:rPr sz="1100">
                <a:latin typeface="Verdana"/>
                <a:cs typeface="Verdana"/>
              </a:rPr>
              <a:t>воинских</a:t>
            </a:r>
            <a:r>
              <a:rPr sz="1100" spc="104">
                <a:latin typeface="Verdana"/>
                <a:cs typeface="Verdana"/>
              </a:rPr>
              <a:t> </a:t>
            </a:r>
            <a:r>
              <a:rPr sz="1100">
                <a:latin typeface="Verdana"/>
                <a:cs typeface="Verdana"/>
              </a:rPr>
              <a:t>сборов </a:t>
            </a:r>
            <a:r>
              <a:rPr sz="1100" spc="-10">
                <a:latin typeface="Verdana"/>
                <a:cs typeface="Verdana"/>
              </a:rPr>
              <a:t>сохраняются</a:t>
            </a:r>
            <a:r>
              <a:rPr sz="1100" spc="95">
                <a:latin typeface="Verdana"/>
                <a:cs typeface="Verdana"/>
              </a:rPr>
              <a:t> </a:t>
            </a:r>
            <a:r>
              <a:rPr sz="1100" spc="-10">
                <a:latin typeface="Verdana"/>
                <a:cs typeface="Verdana"/>
              </a:rPr>
              <a:t>место</a:t>
            </a:r>
            <a:r>
              <a:rPr sz="1100" spc="104">
                <a:latin typeface="Verdana"/>
                <a:cs typeface="Verdana"/>
              </a:rPr>
              <a:t> </a:t>
            </a:r>
            <a:r>
              <a:rPr sz="1100" spc="-10">
                <a:latin typeface="Verdana"/>
                <a:cs typeface="Verdana"/>
              </a:rPr>
              <a:t>работы</a:t>
            </a:r>
            <a:r>
              <a:rPr sz="1100" spc="100">
                <a:latin typeface="Verdana"/>
                <a:cs typeface="Verdana"/>
              </a:rPr>
              <a:t> </a:t>
            </a:r>
            <a:r>
              <a:rPr sz="1100" spc="-10">
                <a:latin typeface="Verdana"/>
                <a:cs typeface="Verdana"/>
              </a:rPr>
              <a:t>и</a:t>
            </a:r>
            <a:r>
              <a:rPr sz="1100" spc="104">
                <a:latin typeface="Verdana"/>
                <a:cs typeface="Verdana"/>
              </a:rPr>
              <a:t> </a:t>
            </a:r>
            <a:r>
              <a:rPr sz="1100" spc="-10">
                <a:latin typeface="Verdana"/>
                <a:cs typeface="Verdana"/>
              </a:rPr>
              <a:t>занимаемая</a:t>
            </a:r>
            <a:r>
              <a:rPr sz="1100" spc="85">
                <a:latin typeface="Verdana"/>
                <a:cs typeface="Verdana"/>
              </a:rPr>
              <a:t> </a:t>
            </a:r>
            <a:r>
              <a:rPr sz="1100" spc="-10">
                <a:latin typeface="Verdana"/>
                <a:cs typeface="Verdana"/>
              </a:rPr>
              <a:t>должность,</a:t>
            </a:r>
            <a:r>
              <a:rPr sz="1100" spc="95">
                <a:latin typeface="Verdana"/>
                <a:cs typeface="Verdana"/>
              </a:rPr>
              <a:t> </a:t>
            </a:r>
            <a:r>
              <a:rPr sz="1100" spc="-10">
                <a:latin typeface="Verdana"/>
                <a:cs typeface="Verdana"/>
              </a:rPr>
              <a:t>им</a:t>
            </a:r>
            <a:r>
              <a:rPr sz="1100" spc="100">
                <a:latin typeface="Verdana"/>
                <a:cs typeface="Verdana"/>
              </a:rPr>
              <a:t> </a:t>
            </a:r>
            <a:r>
              <a:rPr sz="1100" spc="-10">
                <a:latin typeface="Verdana"/>
                <a:cs typeface="Verdana"/>
              </a:rPr>
              <a:t>выплачивается </a:t>
            </a:r>
            <a:r>
              <a:rPr sz="1100" spc="-20">
                <a:latin typeface="Verdana"/>
                <a:cs typeface="Verdana"/>
              </a:rPr>
              <a:t>средняя</a:t>
            </a:r>
            <a:r>
              <a:rPr sz="1100" spc="85">
                <a:latin typeface="Verdana"/>
                <a:cs typeface="Verdana"/>
              </a:rPr>
              <a:t> </a:t>
            </a:r>
            <a:r>
              <a:rPr sz="1100" spc="-20">
                <a:latin typeface="Verdana"/>
                <a:cs typeface="Verdana"/>
              </a:rPr>
              <a:t>заработная</a:t>
            </a:r>
            <a:r>
              <a:rPr sz="1100" spc="85">
                <a:latin typeface="Verdana"/>
                <a:cs typeface="Verdana"/>
              </a:rPr>
              <a:t> </a:t>
            </a:r>
            <a:r>
              <a:rPr sz="1100" spc="-20">
                <a:latin typeface="Verdana"/>
                <a:cs typeface="Verdana"/>
              </a:rPr>
              <a:t>плата,</a:t>
            </a:r>
            <a:r>
              <a:rPr sz="1100" spc="85">
                <a:latin typeface="Verdana"/>
                <a:cs typeface="Verdana"/>
              </a:rPr>
              <a:t> </a:t>
            </a:r>
            <a:r>
              <a:rPr sz="1100" spc="-20">
                <a:latin typeface="Verdana"/>
                <a:cs typeface="Verdana"/>
              </a:rPr>
              <a:t>а</a:t>
            </a:r>
            <a:r>
              <a:rPr sz="1100" spc="85">
                <a:latin typeface="Verdana"/>
                <a:cs typeface="Verdana"/>
              </a:rPr>
              <a:t> </a:t>
            </a:r>
            <a:r>
              <a:rPr sz="1100" spc="-20">
                <a:latin typeface="Verdana"/>
                <a:cs typeface="Verdana"/>
              </a:rPr>
              <a:t>неработающим</a:t>
            </a:r>
            <a:r>
              <a:rPr sz="1100" spc="100">
                <a:latin typeface="Verdana"/>
                <a:cs typeface="Verdana"/>
              </a:rPr>
              <a:t> </a:t>
            </a:r>
            <a:r>
              <a:rPr sz="1100" spc="-20">
                <a:latin typeface="Verdana"/>
                <a:cs typeface="Verdana"/>
              </a:rPr>
              <a:t>—</a:t>
            </a:r>
            <a:r>
              <a:rPr sz="1100" spc="90">
                <a:latin typeface="Verdana"/>
                <a:cs typeface="Verdana"/>
              </a:rPr>
              <a:t> </a:t>
            </a:r>
            <a:r>
              <a:rPr sz="1100" spc="-20">
                <a:latin typeface="Verdana"/>
                <a:cs typeface="Verdana"/>
              </a:rPr>
              <a:t>минимальная</a:t>
            </a:r>
            <a:r>
              <a:rPr sz="1100" spc="85">
                <a:latin typeface="Verdana"/>
                <a:cs typeface="Verdana"/>
              </a:rPr>
              <a:t> </a:t>
            </a:r>
            <a:r>
              <a:rPr sz="1100" spc="-20">
                <a:latin typeface="Verdana"/>
                <a:cs typeface="Verdana"/>
              </a:rPr>
              <a:t>заработная </a:t>
            </a:r>
            <a:r>
              <a:rPr sz="1100">
                <a:latin typeface="Verdana"/>
                <a:cs typeface="Verdana"/>
              </a:rPr>
              <a:t>плата.</a:t>
            </a:r>
            <a:r>
              <a:rPr sz="1100" spc="104">
                <a:latin typeface="Verdana"/>
                <a:cs typeface="Verdana"/>
              </a:rPr>
              <a:t> </a:t>
            </a:r>
            <a:r>
              <a:rPr sz="1100">
                <a:latin typeface="Verdana"/>
                <a:cs typeface="Verdana"/>
              </a:rPr>
              <a:t>Выплата</a:t>
            </a:r>
            <a:r>
              <a:rPr sz="1100" spc="104">
                <a:latin typeface="Verdana"/>
                <a:cs typeface="Verdana"/>
              </a:rPr>
              <a:t> </a:t>
            </a:r>
            <a:r>
              <a:rPr sz="1100">
                <a:latin typeface="Verdana"/>
                <a:cs typeface="Verdana"/>
              </a:rPr>
              <a:t>осуществляется</a:t>
            </a:r>
            <a:r>
              <a:rPr sz="1100" spc="104">
                <a:latin typeface="Verdana"/>
                <a:cs typeface="Verdana"/>
              </a:rPr>
              <a:t> </a:t>
            </a:r>
            <a:r>
              <a:rPr sz="1100">
                <a:latin typeface="Verdana"/>
                <a:cs typeface="Verdana"/>
              </a:rPr>
              <a:t>за</a:t>
            </a:r>
            <a:r>
              <a:rPr sz="1100" spc="104">
                <a:latin typeface="Verdana"/>
                <a:cs typeface="Verdana"/>
              </a:rPr>
              <a:t> </a:t>
            </a:r>
            <a:r>
              <a:rPr sz="1100">
                <a:latin typeface="Verdana"/>
                <a:cs typeface="Verdana"/>
              </a:rPr>
              <a:t>счет</a:t>
            </a:r>
            <a:r>
              <a:rPr sz="1100" spc="115">
                <a:latin typeface="Verdana"/>
                <a:cs typeface="Verdana"/>
              </a:rPr>
              <a:t> </a:t>
            </a:r>
            <a:r>
              <a:rPr sz="1100">
                <a:latin typeface="Verdana"/>
                <a:cs typeface="Verdana"/>
              </a:rPr>
              <a:t>государства.</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31115">
              <a:spcBef>
                <a:spcPts val="200"/>
              </a:spcBef>
            </a:pPr>
            <a:r>
              <a:rPr sz="1100" b="1">
                <a:solidFill>
                  <a:srgbClr val="43B02A"/>
                </a:solidFill>
                <a:latin typeface="Verdana"/>
                <a:cs typeface="Verdana"/>
              </a:rPr>
              <a:t>Сроки</a:t>
            </a:r>
            <a:endParaRPr/>
          </a:p>
          <a:p>
            <a:pPr marL="31115" marR="87630">
              <a:lnSpc>
                <a:spcPct val="116010"/>
              </a:lnSpc>
              <a:spcBef>
                <a:spcPts val="1500"/>
              </a:spcBef>
            </a:pPr>
            <a:r>
              <a:rPr sz="1100">
                <a:latin typeface="Verdana"/>
                <a:cs typeface="Verdana"/>
              </a:rPr>
              <a:t>Сог</a:t>
            </a:r>
            <a:r>
              <a:rPr sz="1100">
                <a:latin typeface="Verdana"/>
                <a:cs typeface="Verdana"/>
              </a:rPr>
              <a:t>ласно</a:t>
            </a:r>
            <a:r>
              <a:rPr sz="1100" spc="115">
                <a:latin typeface="Verdana"/>
                <a:cs typeface="Verdana"/>
              </a:rPr>
              <a:t> </a:t>
            </a:r>
            <a:r>
              <a:rPr sz="1100">
                <a:latin typeface="Verdana"/>
                <a:cs typeface="Verdana"/>
              </a:rPr>
              <a:t>законодательству,</a:t>
            </a:r>
            <a:r>
              <a:rPr sz="1100" spc="100">
                <a:latin typeface="Verdana"/>
                <a:cs typeface="Verdana"/>
              </a:rPr>
              <a:t> </a:t>
            </a:r>
            <a:r>
              <a:rPr sz="1100">
                <a:latin typeface="Verdana"/>
                <a:cs typeface="Verdana"/>
              </a:rPr>
              <a:t>специальные</a:t>
            </a:r>
            <a:r>
              <a:rPr sz="1100" spc="100">
                <a:latin typeface="Verdana"/>
                <a:cs typeface="Verdana"/>
              </a:rPr>
              <a:t> </a:t>
            </a:r>
            <a:r>
              <a:rPr sz="1100">
                <a:latin typeface="Verdana"/>
                <a:cs typeface="Verdana"/>
              </a:rPr>
              <a:t>сборы</a:t>
            </a:r>
            <a:r>
              <a:rPr sz="1100" spc="104">
                <a:latin typeface="Verdana"/>
                <a:cs typeface="Verdana"/>
              </a:rPr>
              <a:t> </a:t>
            </a:r>
            <a:r>
              <a:rPr sz="1100">
                <a:latin typeface="Verdana"/>
                <a:cs typeface="Verdana"/>
              </a:rPr>
              <a:t>проводятся </a:t>
            </a:r>
            <a:r>
              <a:rPr sz="1100" spc="-20">
                <a:latin typeface="Verdana"/>
                <a:cs typeface="Verdana"/>
              </a:rPr>
              <a:t>продолжительностью</a:t>
            </a:r>
            <a:r>
              <a:rPr sz="1100" spc="85">
                <a:latin typeface="Verdana"/>
                <a:cs typeface="Verdana"/>
              </a:rPr>
              <a:t> </a:t>
            </a:r>
            <a:r>
              <a:rPr sz="1100" b="1" spc="-20">
                <a:latin typeface="Verdana"/>
                <a:cs typeface="Verdana"/>
              </a:rPr>
              <a:t>до</a:t>
            </a:r>
            <a:r>
              <a:rPr sz="1100" b="1" spc="75">
                <a:latin typeface="Verdana"/>
                <a:cs typeface="Verdana"/>
              </a:rPr>
              <a:t> </a:t>
            </a:r>
            <a:r>
              <a:rPr sz="1100" b="1" spc="-20">
                <a:latin typeface="Verdana"/>
                <a:cs typeface="Verdana"/>
              </a:rPr>
              <a:t>трех</a:t>
            </a:r>
            <a:r>
              <a:rPr sz="1100" b="1" spc="80">
                <a:latin typeface="Verdana"/>
                <a:cs typeface="Verdana"/>
              </a:rPr>
              <a:t> </a:t>
            </a:r>
            <a:r>
              <a:rPr sz="1100" b="1" spc="-20">
                <a:latin typeface="Verdana"/>
                <a:cs typeface="Verdana"/>
              </a:rPr>
              <a:t>месяцев</a:t>
            </a:r>
            <a:r>
              <a:rPr sz="1100" spc="-20">
                <a:latin typeface="Verdana"/>
                <a:cs typeface="Verdana"/>
              </a:rPr>
              <a:t>,</a:t>
            </a:r>
            <a:r>
              <a:rPr sz="1100" spc="85">
                <a:latin typeface="Verdana"/>
                <a:cs typeface="Verdana"/>
              </a:rPr>
              <a:t> </a:t>
            </a:r>
            <a:r>
              <a:rPr sz="1100" spc="-20">
                <a:latin typeface="Verdana"/>
                <a:cs typeface="Verdana"/>
              </a:rPr>
              <a:t>однако</a:t>
            </a:r>
            <a:r>
              <a:rPr sz="1100" spc="95">
                <a:latin typeface="Verdana"/>
                <a:cs typeface="Verdana"/>
              </a:rPr>
              <a:t> </a:t>
            </a:r>
            <a:r>
              <a:rPr sz="1100" spc="-20">
                <a:latin typeface="Verdana"/>
                <a:cs typeface="Verdana"/>
              </a:rPr>
              <a:t>исходя</a:t>
            </a:r>
            <a:r>
              <a:rPr sz="1100" spc="85">
                <a:latin typeface="Verdana"/>
                <a:cs typeface="Verdana"/>
              </a:rPr>
              <a:t> </a:t>
            </a:r>
            <a:r>
              <a:rPr sz="1100" spc="-20">
                <a:latin typeface="Verdana"/>
                <a:cs typeface="Verdana"/>
              </a:rPr>
              <a:t>из</a:t>
            </a:r>
            <a:r>
              <a:rPr sz="1100" spc="90">
                <a:latin typeface="Verdana"/>
                <a:cs typeface="Verdana"/>
              </a:rPr>
              <a:t> </a:t>
            </a:r>
            <a:r>
              <a:rPr sz="1100" spc="-20">
                <a:latin typeface="Verdana"/>
                <a:cs typeface="Verdana"/>
              </a:rPr>
              <a:t>слов</a:t>
            </a:r>
            <a:r>
              <a:rPr sz="1100" spc="95">
                <a:latin typeface="Verdana"/>
                <a:cs typeface="Verdana"/>
              </a:rPr>
              <a:t> </a:t>
            </a:r>
            <a:r>
              <a:rPr sz="1100" spc="-20">
                <a:latin typeface="Verdana"/>
                <a:cs typeface="Verdana"/>
              </a:rPr>
              <a:t>Министра </a:t>
            </a:r>
            <a:r>
              <a:rPr sz="1100">
                <a:latin typeface="Verdana"/>
                <a:cs typeface="Verdana"/>
              </a:rPr>
              <a:t>сроки</a:t>
            </a:r>
            <a:r>
              <a:rPr sz="1100" spc="115">
                <a:latin typeface="Verdana"/>
                <a:cs typeface="Verdana"/>
              </a:rPr>
              <a:t> </a:t>
            </a:r>
            <a:r>
              <a:rPr sz="1100">
                <a:latin typeface="Verdana"/>
                <a:cs typeface="Verdana"/>
              </a:rPr>
              <a:t>будут</a:t>
            </a:r>
            <a:r>
              <a:rPr sz="1100" spc="115">
                <a:latin typeface="Verdana"/>
                <a:cs typeface="Verdana"/>
              </a:rPr>
              <a:t> </a:t>
            </a:r>
            <a:r>
              <a:rPr sz="1100">
                <a:latin typeface="Verdana"/>
                <a:cs typeface="Verdana"/>
              </a:rPr>
              <a:t>определяться</a:t>
            </a:r>
            <a:r>
              <a:rPr sz="1100" spc="104">
                <a:latin typeface="Verdana"/>
                <a:cs typeface="Verdana"/>
              </a:rPr>
              <a:t> </a:t>
            </a:r>
            <a:r>
              <a:rPr sz="1100">
                <a:latin typeface="Verdana"/>
                <a:cs typeface="Verdana"/>
              </a:rPr>
              <a:t>местными</a:t>
            </a:r>
            <a:r>
              <a:rPr sz="1100" spc="110">
                <a:latin typeface="Verdana"/>
                <a:cs typeface="Verdana"/>
              </a:rPr>
              <a:t> </a:t>
            </a:r>
            <a:r>
              <a:rPr sz="1100">
                <a:latin typeface="Verdana"/>
                <a:cs typeface="Verdana"/>
              </a:rPr>
              <a:t>исполнительными</a:t>
            </a:r>
            <a:r>
              <a:rPr sz="1100" spc="110">
                <a:latin typeface="Verdana"/>
                <a:cs typeface="Verdana"/>
              </a:rPr>
              <a:t> </a:t>
            </a:r>
            <a:r>
              <a:rPr sz="1100">
                <a:latin typeface="Verdana"/>
                <a:cs typeface="Verdana"/>
              </a:rPr>
              <a:t>органами,</a:t>
            </a:r>
            <a:r>
              <a:rPr sz="1100" spc="104">
                <a:latin typeface="Verdana"/>
                <a:cs typeface="Verdana"/>
              </a:rPr>
              <a:t> </a:t>
            </a:r>
            <a:r>
              <a:rPr sz="1100">
                <a:latin typeface="Verdana"/>
                <a:cs typeface="Verdana"/>
              </a:rPr>
              <a:t>но примерный</a:t>
            </a:r>
            <a:r>
              <a:rPr sz="1100" spc="110">
                <a:latin typeface="Verdana"/>
                <a:cs typeface="Verdana"/>
              </a:rPr>
              <a:t> </a:t>
            </a:r>
            <a:r>
              <a:rPr sz="1100">
                <a:latin typeface="Verdana"/>
                <a:cs typeface="Verdana"/>
              </a:rPr>
              <a:t>срок</a:t>
            </a:r>
            <a:r>
              <a:rPr sz="1100" spc="104">
                <a:latin typeface="Verdana"/>
                <a:cs typeface="Verdana"/>
              </a:rPr>
              <a:t> </a:t>
            </a:r>
            <a:r>
              <a:rPr sz="1100">
                <a:latin typeface="Verdana"/>
                <a:cs typeface="Verdana"/>
              </a:rPr>
              <a:t>сборов</a:t>
            </a:r>
            <a:r>
              <a:rPr sz="1100" spc="120">
                <a:latin typeface="Verdana"/>
                <a:cs typeface="Verdana"/>
              </a:rPr>
              <a:t> </a:t>
            </a:r>
            <a:r>
              <a:rPr sz="1100">
                <a:latin typeface="Verdana"/>
                <a:cs typeface="Verdana"/>
              </a:rPr>
              <a:t>—</a:t>
            </a:r>
            <a:r>
              <a:rPr sz="1100" spc="110">
                <a:latin typeface="Verdana"/>
                <a:cs typeface="Verdana"/>
              </a:rPr>
              <a:t> </a:t>
            </a:r>
            <a:r>
              <a:rPr sz="1100">
                <a:latin typeface="Verdana"/>
                <a:cs typeface="Verdana"/>
              </a:rPr>
              <a:t>не</a:t>
            </a:r>
            <a:r>
              <a:rPr sz="1100" spc="115">
                <a:latin typeface="Verdana"/>
                <a:cs typeface="Verdana"/>
              </a:rPr>
              <a:t> </a:t>
            </a:r>
            <a:r>
              <a:rPr sz="1100">
                <a:latin typeface="Verdana"/>
                <a:cs typeface="Verdana"/>
              </a:rPr>
              <a:t>более</a:t>
            </a:r>
            <a:r>
              <a:rPr sz="1100" spc="115">
                <a:latin typeface="Verdana"/>
                <a:cs typeface="Verdana"/>
              </a:rPr>
              <a:t> </a:t>
            </a:r>
            <a:r>
              <a:rPr sz="1100">
                <a:latin typeface="Verdana"/>
                <a:cs typeface="Verdana"/>
              </a:rPr>
              <a:t>2</a:t>
            </a:r>
            <a:r>
              <a:rPr sz="1100" spc="104">
                <a:latin typeface="Verdana"/>
                <a:cs typeface="Verdana"/>
              </a:rPr>
              <a:t> </a:t>
            </a:r>
            <a:r>
              <a:rPr sz="1100">
                <a:latin typeface="Verdana"/>
                <a:cs typeface="Verdana"/>
              </a:rPr>
              <a:t>недель.</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31115">
              <a:spcBef>
                <a:spcPts val="200"/>
              </a:spcBef>
            </a:pPr>
            <a:r>
              <a:rPr sz="1100" b="1">
                <a:solidFill>
                  <a:srgbClr val="43B02A"/>
                </a:solidFill>
                <a:latin typeface="Verdana"/>
                <a:cs typeface="Verdana"/>
              </a:rPr>
              <a:t>Ответственность  за  неявку</a:t>
            </a:r>
            <a:endParaRPr/>
          </a:p>
          <a:p>
            <a:pPr marL="31115" marR="191770">
              <a:lnSpc>
                <a:spcPct val="116548"/>
              </a:lnSpc>
              <a:spcBef>
                <a:spcPts val="1400"/>
              </a:spcBef>
            </a:pPr>
            <a:r>
              <a:rPr sz="1100" spc="-20">
                <a:latin typeface="Verdana"/>
                <a:cs typeface="Verdana"/>
              </a:rPr>
              <a:t>В</a:t>
            </a:r>
            <a:r>
              <a:rPr sz="1100" spc="90">
                <a:latin typeface="Verdana"/>
                <a:cs typeface="Verdana"/>
              </a:rPr>
              <a:t> </a:t>
            </a:r>
            <a:r>
              <a:rPr sz="1100" spc="-20">
                <a:latin typeface="Verdana"/>
                <a:cs typeface="Verdana"/>
              </a:rPr>
              <a:t>соответствии</a:t>
            </a:r>
            <a:r>
              <a:rPr sz="1100" spc="95">
                <a:latin typeface="Verdana"/>
                <a:cs typeface="Verdana"/>
              </a:rPr>
              <a:t> </a:t>
            </a:r>
            <a:r>
              <a:rPr sz="1100" spc="-20">
                <a:latin typeface="Verdana"/>
                <a:cs typeface="Verdana"/>
              </a:rPr>
              <a:t>с</a:t>
            </a:r>
            <a:r>
              <a:rPr sz="1100" spc="85">
                <a:latin typeface="Verdana"/>
                <a:cs typeface="Verdana"/>
              </a:rPr>
              <a:t> </a:t>
            </a:r>
            <a:r>
              <a:rPr sz="1100" spc="-20">
                <a:latin typeface="Verdana"/>
                <a:cs typeface="Verdana"/>
              </a:rPr>
              <a:t>законодательством,</a:t>
            </a:r>
            <a:r>
              <a:rPr sz="1100" spc="85">
                <a:latin typeface="Verdana"/>
                <a:cs typeface="Verdana"/>
              </a:rPr>
              <a:t> </a:t>
            </a:r>
            <a:r>
              <a:rPr sz="1100" spc="-20">
                <a:latin typeface="Verdana"/>
                <a:cs typeface="Verdana"/>
              </a:rPr>
              <a:t>в</a:t>
            </a:r>
            <a:r>
              <a:rPr sz="1100" spc="95">
                <a:latin typeface="Verdana"/>
                <a:cs typeface="Verdana"/>
              </a:rPr>
              <a:t> </a:t>
            </a:r>
            <a:r>
              <a:rPr sz="1100" spc="-20">
                <a:latin typeface="Verdana"/>
                <a:cs typeface="Verdana"/>
              </a:rPr>
              <a:t>случае</a:t>
            </a:r>
            <a:r>
              <a:rPr sz="1100" spc="95">
                <a:latin typeface="Verdana"/>
                <a:cs typeface="Verdana"/>
              </a:rPr>
              <a:t> </a:t>
            </a:r>
            <a:r>
              <a:rPr sz="1100" spc="-20">
                <a:latin typeface="Verdana"/>
                <a:cs typeface="Verdana"/>
              </a:rPr>
              <a:t>неявке</a:t>
            </a:r>
            <a:r>
              <a:rPr sz="1100" spc="95">
                <a:latin typeface="Verdana"/>
                <a:cs typeface="Verdana"/>
              </a:rPr>
              <a:t> </a:t>
            </a:r>
            <a:r>
              <a:rPr sz="1100" spc="-20">
                <a:latin typeface="Verdana"/>
                <a:cs typeface="Verdana"/>
              </a:rPr>
              <a:t>по</a:t>
            </a:r>
            <a:r>
              <a:rPr sz="1100" spc="95">
                <a:latin typeface="Verdana"/>
                <a:cs typeface="Verdana"/>
              </a:rPr>
              <a:t> </a:t>
            </a:r>
            <a:r>
              <a:rPr sz="1100" spc="-20">
                <a:latin typeface="Verdana"/>
                <a:cs typeface="Verdana"/>
              </a:rPr>
              <a:t>повестке,</a:t>
            </a:r>
            <a:r>
              <a:rPr sz="1100" spc="85">
                <a:latin typeface="Verdana"/>
                <a:cs typeface="Verdana"/>
              </a:rPr>
              <a:t> </a:t>
            </a:r>
            <a:r>
              <a:rPr sz="1100" spc="-20">
                <a:latin typeface="Verdana"/>
                <a:cs typeface="Verdana"/>
              </a:rPr>
              <a:t>лица </a:t>
            </a:r>
            <a:r>
              <a:rPr sz="1100" spc="-10">
                <a:latin typeface="Verdana"/>
                <a:cs typeface="Verdana"/>
              </a:rPr>
              <a:t>подлежат</a:t>
            </a:r>
            <a:r>
              <a:rPr sz="1100" spc="104">
                <a:latin typeface="Verdana"/>
                <a:cs typeface="Verdana"/>
              </a:rPr>
              <a:t> </a:t>
            </a:r>
            <a:r>
              <a:rPr sz="1100" spc="-10">
                <a:latin typeface="Verdana"/>
                <a:cs typeface="Verdana"/>
              </a:rPr>
              <a:t>административной</a:t>
            </a:r>
            <a:r>
              <a:rPr sz="1100" spc="104">
                <a:latin typeface="Verdana"/>
                <a:cs typeface="Verdana"/>
              </a:rPr>
              <a:t> </a:t>
            </a:r>
            <a:r>
              <a:rPr sz="1100" spc="-10">
                <a:latin typeface="Verdana"/>
                <a:cs typeface="Verdana"/>
              </a:rPr>
              <a:t>ответственности</a:t>
            </a:r>
            <a:r>
              <a:rPr sz="1100" spc="115">
                <a:latin typeface="Verdana"/>
                <a:cs typeface="Verdana"/>
              </a:rPr>
              <a:t> </a:t>
            </a:r>
            <a:r>
              <a:rPr sz="1100" spc="-10">
                <a:latin typeface="Verdana"/>
                <a:cs typeface="Verdana"/>
              </a:rPr>
              <a:t>в</a:t>
            </a:r>
            <a:r>
              <a:rPr sz="1100" spc="104">
                <a:latin typeface="Verdana"/>
                <a:cs typeface="Verdana"/>
              </a:rPr>
              <a:t> </a:t>
            </a:r>
            <a:r>
              <a:rPr sz="1100" spc="-10">
                <a:latin typeface="Verdana"/>
                <a:cs typeface="Verdana"/>
              </a:rPr>
              <a:t>размере</a:t>
            </a:r>
            <a:r>
              <a:rPr sz="1100" spc="100">
                <a:latin typeface="Verdana"/>
                <a:cs typeface="Verdana"/>
              </a:rPr>
              <a:t> </a:t>
            </a:r>
            <a:r>
              <a:rPr sz="1100" spc="-10">
                <a:latin typeface="Verdana"/>
                <a:cs typeface="Verdana"/>
              </a:rPr>
              <a:t>5</a:t>
            </a:r>
            <a:r>
              <a:rPr sz="1100" spc="95">
                <a:latin typeface="Verdana"/>
                <a:cs typeface="Verdana"/>
              </a:rPr>
              <a:t> </a:t>
            </a:r>
            <a:r>
              <a:rPr sz="1100" spc="-10">
                <a:latin typeface="Verdana"/>
                <a:cs typeface="Verdana"/>
              </a:rPr>
              <a:t>МРП</a:t>
            </a:r>
            <a:r>
              <a:rPr sz="1100" spc="100">
                <a:latin typeface="Verdana"/>
                <a:cs typeface="Verdana"/>
              </a:rPr>
              <a:t> </a:t>
            </a:r>
            <a:r>
              <a:rPr sz="1100" spc="-10">
                <a:latin typeface="Verdana"/>
                <a:cs typeface="Verdana"/>
              </a:rPr>
              <a:t>(13</a:t>
            </a:r>
            <a:r>
              <a:rPr sz="1100" spc="95">
                <a:latin typeface="Verdana"/>
                <a:cs typeface="Verdana"/>
              </a:rPr>
              <a:t> </a:t>
            </a:r>
            <a:r>
              <a:rPr sz="1100" spc="-10">
                <a:latin typeface="Verdana"/>
                <a:cs typeface="Verdana"/>
              </a:rPr>
              <a:t>255 </a:t>
            </a:r>
            <a:r>
              <a:rPr sz="1100">
                <a:latin typeface="Verdana"/>
                <a:cs typeface="Verdana"/>
              </a:rPr>
              <a:t>тенге).</a:t>
            </a:r>
            <a:endParaRPr/>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a:r>
              <a:rPr sz="1000">
                <a:latin typeface="Verdana"/>
                <a:cs typeface="Verdana"/>
              </a:rPr>
              <a:t/>
            </a:r>
            <a:endParaRPr sz="1000"/>
          </a:p>
          <a:p>
            <a:pPr marL="12700">
              <a:spcBef>
                <a:spcPts val="200"/>
              </a:spcBef>
            </a:pPr>
            <a:r>
              <a:rPr sz="1100" b="1">
                <a:solidFill>
                  <a:srgbClr val="62B5E5"/>
                </a:solidFill>
                <a:latin typeface="Verdana"/>
                <a:cs typeface="Verdana"/>
              </a:rPr>
              <a:t>Как  «Делойт»  может  помочь</a:t>
            </a:r>
            <a:endParaRPr/>
          </a:p>
          <a:p>
            <a:pPr marL="31115" marR="12700">
              <a:lnSpc>
                <a:spcPct val="115869"/>
              </a:lnSpc>
              <a:spcBef>
                <a:spcPts val="1300"/>
              </a:spcBef>
            </a:pPr>
            <a:r>
              <a:rPr sz="1100">
                <a:latin typeface="Verdana"/>
                <a:cs typeface="Verdana"/>
              </a:rPr>
              <a:t>Команда</a:t>
            </a:r>
            <a:r>
              <a:rPr sz="1100" spc="104">
                <a:latin typeface="Verdana"/>
                <a:cs typeface="Verdana"/>
              </a:rPr>
              <a:t> </a:t>
            </a:r>
            <a:r>
              <a:rPr sz="1100">
                <a:latin typeface="Verdana"/>
                <a:cs typeface="Verdana"/>
              </a:rPr>
              <a:t>«Делойт</a:t>
            </a:r>
            <a:r>
              <a:rPr sz="1100" spc="115">
                <a:latin typeface="Verdana"/>
                <a:cs typeface="Verdana"/>
              </a:rPr>
              <a:t> </a:t>
            </a:r>
            <a:r>
              <a:rPr sz="1100">
                <a:latin typeface="Verdana"/>
                <a:cs typeface="Verdana"/>
              </a:rPr>
              <a:t>Лигал»</a:t>
            </a:r>
            <a:r>
              <a:rPr sz="1100" spc="104">
                <a:latin typeface="Verdana"/>
                <a:cs typeface="Verdana"/>
              </a:rPr>
              <a:t> </a:t>
            </a:r>
            <a:r>
              <a:rPr sz="1100">
                <a:latin typeface="Verdana"/>
                <a:cs typeface="Verdana"/>
              </a:rPr>
              <a:t>будет</a:t>
            </a:r>
            <a:r>
              <a:rPr sz="1100" spc="110">
                <a:latin typeface="Verdana"/>
                <a:cs typeface="Verdana"/>
              </a:rPr>
              <a:t> </a:t>
            </a:r>
            <a:r>
              <a:rPr sz="1100">
                <a:latin typeface="Verdana"/>
                <a:cs typeface="Verdana"/>
              </a:rPr>
              <a:t>рада</a:t>
            </a:r>
            <a:r>
              <a:rPr sz="1100" spc="104">
                <a:latin typeface="Verdana"/>
                <a:cs typeface="Verdana"/>
              </a:rPr>
              <a:t> </a:t>
            </a:r>
            <a:r>
              <a:rPr sz="1100">
                <a:latin typeface="Verdana"/>
                <a:cs typeface="Verdana"/>
              </a:rPr>
              <a:t>предоставить</a:t>
            </a:r>
            <a:r>
              <a:rPr sz="1100" spc="115">
                <a:latin typeface="Verdana"/>
                <a:cs typeface="Verdana"/>
              </a:rPr>
              <a:t> </a:t>
            </a:r>
            <a:r>
              <a:rPr sz="1100">
                <a:latin typeface="Verdana"/>
                <a:cs typeface="Verdana"/>
              </a:rPr>
              <a:t>более</a:t>
            </a:r>
            <a:r>
              <a:rPr sz="1100" spc="115">
                <a:latin typeface="Verdana"/>
                <a:cs typeface="Verdana"/>
              </a:rPr>
              <a:t> </a:t>
            </a:r>
            <a:r>
              <a:rPr sz="1100">
                <a:latin typeface="Verdana"/>
                <a:cs typeface="Verdana"/>
              </a:rPr>
              <a:t>подробные </a:t>
            </a:r>
            <a:r>
              <a:rPr sz="1100" spc="-20">
                <a:latin typeface="Verdana"/>
                <a:cs typeface="Verdana"/>
              </a:rPr>
              <a:t>консультации</a:t>
            </a:r>
            <a:r>
              <a:rPr sz="1100" spc="80">
                <a:latin typeface="Verdana"/>
                <a:cs typeface="Verdana"/>
              </a:rPr>
              <a:t> </a:t>
            </a:r>
            <a:r>
              <a:rPr sz="1100" spc="-20">
                <a:latin typeface="Verdana"/>
                <a:cs typeface="Verdana"/>
              </a:rPr>
              <a:t>по</a:t>
            </a:r>
            <a:r>
              <a:rPr sz="1100" spc="95">
                <a:latin typeface="Verdana"/>
                <a:cs typeface="Verdana"/>
              </a:rPr>
              <a:t> </a:t>
            </a:r>
            <a:r>
              <a:rPr sz="1100" spc="-20">
                <a:latin typeface="Verdana"/>
                <a:cs typeface="Verdana"/>
              </a:rPr>
              <a:t>любым</a:t>
            </a:r>
            <a:r>
              <a:rPr sz="1100" spc="90">
                <a:latin typeface="Verdana"/>
                <a:cs typeface="Verdana"/>
              </a:rPr>
              <a:t> </a:t>
            </a:r>
            <a:r>
              <a:rPr sz="1100" spc="-20">
                <a:latin typeface="Verdana"/>
                <a:cs typeface="Verdana"/>
              </a:rPr>
              <a:t>вопросам,</a:t>
            </a:r>
            <a:r>
              <a:rPr sz="1100" spc="85">
                <a:latin typeface="Verdana"/>
                <a:cs typeface="Verdana"/>
              </a:rPr>
              <a:t> </a:t>
            </a:r>
            <a:r>
              <a:rPr sz="1100" spc="-20">
                <a:latin typeface="Verdana"/>
                <a:cs typeface="Verdana"/>
              </a:rPr>
              <a:t>возникших</a:t>
            </a:r>
            <a:r>
              <a:rPr sz="1100" spc="85">
                <a:latin typeface="Verdana"/>
                <a:cs typeface="Verdana"/>
              </a:rPr>
              <a:t> </a:t>
            </a:r>
            <a:r>
              <a:rPr sz="1100" spc="-20">
                <a:latin typeface="Verdana"/>
                <a:cs typeface="Verdana"/>
              </a:rPr>
              <a:t>у</a:t>
            </a:r>
            <a:r>
              <a:rPr sz="1100" spc="85">
                <a:latin typeface="Verdana"/>
                <a:cs typeface="Verdana"/>
              </a:rPr>
              <a:t> </a:t>
            </a:r>
            <a:r>
              <a:rPr sz="1100" spc="-20">
                <a:latin typeface="Verdana"/>
                <a:cs typeface="Verdana"/>
              </a:rPr>
              <a:t>Вас</a:t>
            </a:r>
            <a:r>
              <a:rPr sz="1100" spc="85">
                <a:latin typeface="Verdana"/>
                <a:cs typeface="Verdana"/>
              </a:rPr>
              <a:t> </a:t>
            </a:r>
            <a:r>
              <a:rPr sz="1100" spc="-20">
                <a:latin typeface="Verdana"/>
                <a:cs typeface="Verdana"/>
              </a:rPr>
              <a:t>после</a:t>
            </a:r>
            <a:r>
              <a:rPr sz="1100" spc="90">
                <a:latin typeface="Verdana"/>
                <a:cs typeface="Verdana"/>
              </a:rPr>
              <a:t> </a:t>
            </a:r>
            <a:r>
              <a:rPr sz="1100" spc="-20">
                <a:latin typeface="Verdana"/>
                <a:cs typeface="Verdana"/>
              </a:rPr>
              <a:t>ознакомления</a:t>
            </a:r>
            <a:r>
              <a:rPr sz="1100" spc="90">
                <a:latin typeface="Verdana"/>
                <a:cs typeface="Verdana"/>
              </a:rPr>
              <a:t> </a:t>
            </a:r>
            <a:r>
              <a:rPr sz="1100" spc="-20">
                <a:latin typeface="Verdana"/>
                <a:cs typeface="Verdana"/>
              </a:rPr>
              <a:t>с </a:t>
            </a:r>
            <a:r>
              <a:rPr sz="1100">
                <a:latin typeface="Verdana"/>
                <a:cs typeface="Verdana"/>
              </a:rPr>
              <a:t>данным  вестником.</a:t>
            </a:r>
            <a:endParaRPr/>
          </a:p>
        </p:txBody>
      </p:sp>
      <p:sp>
        <p:nvSpPr>
          <p:cNvPr id="19" name="shape 19"/>
          <p:cNvSpPr txBox="1"/>
          <p:nvPr/>
        </p:nvSpPr>
        <p:spPr>
          <a:xfrm>
            <a:off x="977900" y="8761984"/>
            <a:ext cx="5551170" cy="523342"/>
          </a:xfrm>
          <a:prstGeom prst="rect"/>
          <a:noFill/>
        </p:spPr>
        <p:txBody>
          <a:bodyPr vertOverflow="overflow" horzOverflow="overflow" numCol="1" wrap="square" lIns="0" tIns="0" rIns="0" bIns="0">
            <a:spAutoFit/>
          </a:bodyPr>
          <a:p>
            <a:pPr marL="31115" marR="411480" algn="just">
              <a:lnSpc>
                <a:spcPct val="100865"/>
              </a:lnSpc>
            </a:pPr>
            <a:r>
              <a:rPr sz="1700" b="1" spc="-20">
                <a:solidFill>
                  <a:srgbClr val="43B02A"/>
                </a:solidFill>
                <a:latin typeface="Verdana"/>
                <a:cs typeface="Verdana"/>
              </a:rPr>
              <a:t>Говорит «Делойт». Слушайте с пользой! </a:t>
            </a:r>
            <a:r>
              <a:rPr sz="1700">
                <a:latin typeface="Verdana"/>
                <a:cs typeface="Verdana"/>
              </a:rPr>
              <a:t>Цикл  аудио-подкастов</a:t>
            </a:r>
            <a:endParaR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showMasterSp="0">
  <p:cSld>
    <p:spTree>
      <p:nvGrpSpPr>
        <p:cNvPr id="1" name=""/>
        <p:cNvGrpSpPr/>
        <p:nvPr/>
      </p:nvGrpSpPr>
      <p:grpSpPr>
        <a:xfrm>
          <a:off x="0" y="0"/>
          <a:ext cx="0" cy="0"/>
          <a:chOff x="0" y="0"/>
          <a:chExt cx="0" cy="0"/>
        </a:xfrm>
      </p:grpSpPr>
      <p:grpSp>
        <p:nvGrpSpPr>
          <p:cNvPr id="2" name="shape 2">
            <a:hlinkClick r:id="rId2"/>
          </p:cNvPr>
          <p:cNvGrpSpPr/>
          <p:nvPr/>
        </p:nvGrpSpPr>
        <p:grpSpPr>
          <a:xfrm>
            <a:off x="719633" y="179832"/>
            <a:ext cx="6082030" cy="6272149"/>
            <a:chOff x="0" y="0"/>
            <a:chExt cx="6082030" cy="6272149"/>
          </a:xfrm>
        </p:grpSpPr>
        <p:sp>
          <p:nvSpPr>
            <p:cNvPr id="3" name="shape 3"/>
            <p:cNvSpPr/>
            <p:nvPr/>
          </p:nvSpPr>
          <p:spPr>
            <a:xfrm>
              <a:off x="6045454" y="6112129"/>
              <a:ext cx="36576" cy="160020"/>
            </a:xfrm>
            <a:prstGeom prst="rect">
              <a:avLst/>
            </a:prstGeom>
            <a:solidFill>
              <a:srgbClr val="F3F3F3"/>
            </a:solidFill>
          </p:spPr>
        </p:sp>
        <p:sp>
          <p:nvSpPr>
            <p:cNvPr id="4" name="shape 4"/>
            <p:cNvSpPr/>
            <p:nvPr/>
          </p:nvSpPr>
          <p:spPr>
            <a:xfrm>
              <a:off x="5941822" y="2499614"/>
              <a:ext cx="140208" cy="3612515"/>
            </a:xfrm>
            <a:prstGeom prst="rect">
              <a:avLst/>
            </a:prstGeom>
            <a:solidFill>
              <a:srgbClr val="F3F3F3"/>
            </a:solidFill>
          </p:spPr>
        </p:sp>
        <p:sp>
          <p:nvSpPr>
            <p:cNvPr id="5" name="shape 5"/>
            <p:cNvSpPr/>
            <p:nvPr/>
          </p:nvSpPr>
          <p:spPr>
            <a:xfrm>
              <a:off x="6045454" y="2309114"/>
              <a:ext cx="36576" cy="190500"/>
            </a:xfrm>
            <a:prstGeom prst="rect">
              <a:avLst/>
            </a:prstGeom>
            <a:solidFill>
              <a:srgbClr val="F3F3F3"/>
            </a:solidFill>
          </p:spPr>
        </p:sp>
        <p:sp>
          <p:nvSpPr>
            <p:cNvPr id="6" name="shape 6"/>
            <p:cNvSpPr/>
            <p:nvPr/>
          </p:nvSpPr>
          <p:spPr>
            <a:xfrm>
              <a:off x="5941822" y="1658366"/>
              <a:ext cx="140208" cy="650748"/>
            </a:xfrm>
            <a:prstGeom prst="rect">
              <a:avLst/>
            </a:prstGeom>
            <a:solidFill>
              <a:srgbClr val="F3F3F3"/>
            </a:solidFill>
          </p:spPr>
        </p:sp>
        <p:sp>
          <p:nvSpPr>
            <p:cNvPr id="7" name="shape 7"/>
            <p:cNvSpPr/>
            <p:nvPr/>
          </p:nvSpPr>
          <p:spPr>
            <a:xfrm>
              <a:off x="6045454" y="1467866"/>
              <a:ext cx="36576" cy="190500"/>
            </a:xfrm>
            <a:prstGeom prst="rect">
              <a:avLst/>
            </a:prstGeom>
            <a:solidFill>
              <a:srgbClr val="F3F3F3"/>
            </a:solidFill>
          </p:spPr>
        </p:sp>
        <p:sp>
          <p:nvSpPr>
            <p:cNvPr id="8" name="shape 8"/>
            <p:cNvSpPr/>
            <p:nvPr/>
          </p:nvSpPr>
          <p:spPr>
            <a:xfrm>
              <a:off x="5941822" y="38100"/>
              <a:ext cx="140208" cy="1429767"/>
            </a:xfrm>
            <a:prstGeom prst="rect">
              <a:avLst/>
            </a:prstGeom>
            <a:solidFill>
              <a:srgbClr val="F3F3F3"/>
            </a:solidFill>
          </p:spPr>
        </p:sp>
        <p:sp>
          <p:nvSpPr>
            <p:cNvPr id="9" name="shape 9"/>
            <p:cNvSpPr/>
            <p:nvPr/>
          </p:nvSpPr>
          <p:spPr>
            <a:xfrm>
              <a:off x="144780" y="0"/>
              <a:ext cx="5937250" cy="38100"/>
            </a:xfrm>
            <a:prstGeom prst="rect">
              <a:avLst/>
            </a:prstGeom>
            <a:solidFill>
              <a:srgbClr val="F3F3F3"/>
            </a:solidFill>
          </p:spPr>
        </p:sp>
        <p:sp>
          <p:nvSpPr>
            <p:cNvPr id="10" name="shape 10"/>
            <p:cNvSpPr/>
            <p:nvPr/>
          </p:nvSpPr>
          <p:spPr>
            <a:xfrm>
              <a:off x="0" y="6112129"/>
              <a:ext cx="36576" cy="160020"/>
            </a:xfrm>
            <a:prstGeom prst="rect">
              <a:avLst/>
            </a:prstGeom>
            <a:solidFill>
              <a:srgbClr val="F3F3F3"/>
            </a:solidFill>
          </p:spPr>
        </p:sp>
        <p:sp>
          <p:nvSpPr>
            <p:cNvPr id="11" name="shape 11"/>
            <p:cNvSpPr/>
            <p:nvPr/>
          </p:nvSpPr>
          <p:spPr>
            <a:xfrm>
              <a:off x="0" y="2499614"/>
              <a:ext cx="36576" cy="3612516"/>
            </a:xfrm>
            <a:prstGeom prst="rect">
              <a:avLst/>
            </a:prstGeom>
            <a:solidFill>
              <a:srgbClr val="F3F3F3"/>
            </a:solidFill>
          </p:spPr>
        </p:sp>
        <p:sp>
          <p:nvSpPr>
            <p:cNvPr id="12" name="shape 12"/>
            <p:cNvSpPr/>
            <p:nvPr/>
          </p:nvSpPr>
          <p:spPr>
            <a:xfrm>
              <a:off x="0" y="2309114"/>
              <a:ext cx="36576" cy="190500"/>
            </a:xfrm>
            <a:prstGeom prst="rect">
              <a:avLst/>
            </a:prstGeom>
            <a:solidFill>
              <a:srgbClr val="F3F3F3"/>
            </a:solidFill>
          </p:spPr>
        </p:sp>
        <p:sp>
          <p:nvSpPr>
            <p:cNvPr id="13" name="shape 13"/>
            <p:cNvSpPr/>
            <p:nvPr/>
          </p:nvSpPr>
          <p:spPr>
            <a:xfrm>
              <a:off x="0" y="1658366"/>
              <a:ext cx="36576" cy="650748"/>
            </a:xfrm>
            <a:prstGeom prst="rect">
              <a:avLst/>
            </a:prstGeom>
            <a:solidFill>
              <a:srgbClr val="F3F3F3"/>
            </a:solidFill>
          </p:spPr>
        </p:sp>
        <p:sp>
          <p:nvSpPr>
            <p:cNvPr id="14" name="shape 14"/>
            <p:cNvSpPr/>
            <p:nvPr/>
          </p:nvSpPr>
          <p:spPr>
            <a:xfrm>
              <a:off x="0" y="1467866"/>
              <a:ext cx="36576" cy="190500"/>
            </a:xfrm>
            <a:prstGeom prst="rect">
              <a:avLst/>
            </a:prstGeom>
            <a:solidFill>
              <a:srgbClr val="F3F3F3"/>
            </a:solidFill>
          </p:spPr>
        </p:sp>
        <p:sp>
          <p:nvSpPr>
            <p:cNvPr id="15" name="shape 15"/>
            <p:cNvSpPr/>
            <p:nvPr/>
          </p:nvSpPr>
          <p:spPr>
            <a:xfrm>
              <a:off x="0" y="0"/>
              <a:ext cx="36576" cy="1467867"/>
            </a:xfrm>
            <a:prstGeom prst="rect">
              <a:avLst/>
            </a:prstGeom>
            <a:solidFill>
              <a:srgbClr val="F3F3F3"/>
            </a:solidFill>
          </p:spPr>
        </p:sp>
        <p:sp>
          <p:nvSpPr>
            <p:cNvPr id="16" name="shape 16"/>
            <p:cNvSpPr/>
            <p:nvPr/>
          </p:nvSpPr>
          <p:spPr>
            <a:xfrm>
              <a:off x="36576" y="0"/>
              <a:ext cx="108204" cy="1467867"/>
            </a:xfrm>
            <a:prstGeom prst="rect">
              <a:avLst/>
            </a:prstGeom>
            <a:solidFill>
              <a:srgbClr val="F3F3F3"/>
            </a:solidFill>
          </p:spPr>
        </p:sp>
        <p:sp>
          <p:nvSpPr>
            <p:cNvPr id="17" name="shape 17"/>
            <p:cNvSpPr/>
            <p:nvPr/>
          </p:nvSpPr>
          <p:spPr>
            <a:xfrm>
              <a:off x="144780" y="0"/>
              <a:ext cx="5797042" cy="38100"/>
            </a:xfrm>
            <a:prstGeom prst="rect">
              <a:avLst/>
            </a:prstGeom>
            <a:solidFill>
              <a:srgbClr val="43B02A"/>
            </a:solidFill>
          </p:spPr>
        </p:sp>
        <p:sp>
          <p:nvSpPr>
            <p:cNvPr id="18" name="shape 18"/>
            <p:cNvSpPr/>
            <p:nvPr/>
          </p:nvSpPr>
          <p:spPr>
            <a:xfrm>
              <a:off x="36576" y="1467866"/>
              <a:ext cx="6008878" cy="190500"/>
            </a:xfrm>
            <a:prstGeom prst="rect">
              <a:avLst/>
            </a:prstGeom>
            <a:solidFill>
              <a:srgbClr val="F3F3F3"/>
            </a:solidFill>
          </p:spPr>
        </p:sp>
        <p:sp>
          <p:nvSpPr>
            <p:cNvPr id="19" name="shape 19"/>
            <p:cNvSpPr/>
            <p:nvPr/>
          </p:nvSpPr>
          <p:spPr>
            <a:xfrm>
              <a:off x="36576" y="1658366"/>
              <a:ext cx="108204" cy="650748"/>
            </a:xfrm>
            <a:prstGeom prst="rect">
              <a:avLst/>
            </a:prstGeom>
            <a:solidFill>
              <a:srgbClr val="F3F3F3"/>
            </a:solidFill>
          </p:spPr>
        </p:sp>
        <p:sp>
          <p:nvSpPr>
            <p:cNvPr id="20" name="shape 20"/>
            <p:cNvSpPr/>
            <p:nvPr/>
          </p:nvSpPr>
          <p:spPr>
            <a:xfrm>
              <a:off x="36576" y="2309114"/>
              <a:ext cx="6008878" cy="190500"/>
            </a:xfrm>
            <a:prstGeom prst="rect">
              <a:avLst/>
            </a:prstGeom>
            <a:solidFill>
              <a:srgbClr val="F3F3F3"/>
            </a:solidFill>
          </p:spPr>
        </p:sp>
        <p:sp>
          <p:nvSpPr>
            <p:cNvPr id="21" name="shape 21"/>
            <p:cNvSpPr/>
            <p:nvPr/>
          </p:nvSpPr>
          <p:spPr>
            <a:xfrm>
              <a:off x="36576" y="2499614"/>
              <a:ext cx="108204" cy="3612515"/>
            </a:xfrm>
            <a:prstGeom prst="rect">
              <a:avLst/>
            </a:prstGeom>
            <a:solidFill>
              <a:srgbClr val="F3F3F3"/>
            </a:solidFill>
          </p:spPr>
        </p:sp>
        <p:sp>
          <p:nvSpPr>
            <p:cNvPr id="22" name="shape 22"/>
            <p:cNvSpPr txBox="1"/>
            <p:nvPr/>
          </p:nvSpPr>
          <p:spPr>
            <a:xfrm>
              <a:off x="276682" y="2646808"/>
              <a:ext cx="5466715" cy="2771343"/>
            </a:xfrm>
            <a:prstGeom prst="rect"/>
            <a:noFill/>
          </p:spPr>
          <p:txBody>
            <a:bodyPr vertOverflow="overflow" horzOverflow="overflow" numCol="1" wrap="square" lIns="0" tIns="0" rIns="0" bIns="0">
              <a:spAutoFit/>
            </a:bodyPr>
            <a:p>
              <a:pPr marL="12700"/>
              <a:r>
                <a:rPr sz="1100">
                  <a:solidFill>
                    <a:srgbClr val="62B5E5"/>
                  </a:solidFill>
                  <a:latin typeface="Verdana"/>
                  <a:cs typeface="Verdana"/>
                  <a:hlinkClick r:id="rId3">
                    <a:extLst>
                      <a:ext uri="{A12FA001-AC4F-418D-AE19-62706E023703}">
                        <ahyp:hlinkClr xmlns:ahyp="http://schemas.microsoft.com/office/drawing/2018/hyperlinkcolor" val="tx"/>
                      </a:ext>
                    </a:extLst>
                  </a:hlinkClick>
                </a:rPr>
                <a:t>deloitte.</a:t>
              </a:r>
              <a:r>
                <a:rPr sz="1100" spc="-5">
                  <a:solidFill>
                    <a:srgbClr val="62B5E5"/>
                  </a:solidFill>
                  <a:latin typeface="Verdana"/>
                  <a:cs typeface="Verdana"/>
                  <a:hlinkClick r:id="rId3">
                    <a:extLst>
                      <a:ext uri="{A12FA001-AC4F-418D-AE19-62706E023703}">
                        <ahyp:hlinkClr xmlns:ahyp="http://schemas.microsoft.com/office/drawing/2018/hyperlinkcolor" val="tx"/>
                      </a:ext>
                    </a:extLst>
                  </a:hlinkClick>
                </a:rPr>
                <a:t>kz</a:t>
              </a:r>
              <a:endParaRPr/>
            </a:p>
            <a:p>
              <a:pPr marL="12700" marR="257810">
                <a:lnSpc>
                  <a:spcPct val="101179"/>
                </a:lnSpc>
                <a:spcBef>
                  <a:spcPts val="900"/>
                </a:spcBef>
              </a:pPr>
              <a:r>
                <a:rPr sz="700">
                  <a:solidFill>
                    <a:srgbClr val="919191"/>
                  </a:solidFill>
                  <a:latin typeface="Verdana"/>
                  <a:cs typeface="Verdana"/>
                </a:rPr>
                <a:t>Наименование</a:t>
              </a:r>
              <a:r>
                <a:rPr sz="700" spc="80">
                  <a:solidFill>
                    <a:srgbClr val="919191"/>
                  </a:solidFill>
                  <a:latin typeface="Verdana"/>
                  <a:cs typeface="Verdana"/>
                </a:rPr>
                <a:t> </a:t>
              </a:r>
              <a:r>
                <a:rPr sz="700">
                  <a:solidFill>
                    <a:srgbClr val="919191"/>
                  </a:solidFill>
                  <a:latin typeface="Verdana"/>
                  <a:cs typeface="Verdana"/>
                </a:rPr>
                <a:t>«Делойт»</a:t>
              </a:r>
              <a:r>
                <a:rPr sz="700" spc="70">
                  <a:solidFill>
                    <a:srgbClr val="919191"/>
                  </a:solidFill>
                  <a:latin typeface="Verdana"/>
                  <a:cs typeface="Verdana"/>
                </a:rPr>
                <a:t> </a:t>
              </a:r>
              <a:r>
                <a:rPr sz="700">
                  <a:solidFill>
                    <a:srgbClr val="919191"/>
                  </a:solidFill>
                  <a:latin typeface="Verdana"/>
                  <a:cs typeface="Verdana"/>
                </a:rPr>
                <a:t>относится</a:t>
              </a:r>
              <a:r>
                <a:rPr sz="700" spc="65">
                  <a:solidFill>
                    <a:srgbClr val="919191"/>
                  </a:solidFill>
                  <a:latin typeface="Verdana"/>
                  <a:cs typeface="Verdana"/>
                </a:rPr>
                <a:t> </a:t>
              </a:r>
              <a:r>
                <a:rPr sz="700">
                  <a:solidFill>
                    <a:srgbClr val="919191"/>
                  </a:solidFill>
                  <a:latin typeface="Verdana"/>
                  <a:cs typeface="Verdana"/>
                </a:rPr>
                <a:t>к</a:t>
              </a:r>
              <a:r>
                <a:rPr sz="700" spc="70">
                  <a:solidFill>
                    <a:srgbClr val="919191"/>
                  </a:solidFill>
                  <a:latin typeface="Verdana"/>
                  <a:cs typeface="Verdana"/>
                </a:rPr>
                <a:t> </a:t>
              </a:r>
              <a:r>
                <a:rPr sz="700">
                  <a:solidFill>
                    <a:srgbClr val="919191"/>
                  </a:solidFill>
                  <a:latin typeface="Verdana"/>
                  <a:cs typeface="Verdana"/>
                </a:rPr>
                <a:t>одному</a:t>
              </a:r>
              <a:r>
                <a:rPr sz="700" spc="70">
                  <a:solidFill>
                    <a:srgbClr val="919191"/>
                  </a:solidFill>
                  <a:latin typeface="Verdana"/>
                  <a:cs typeface="Verdana"/>
                </a:rPr>
                <a:t> </a:t>
              </a:r>
              <a:r>
                <a:rPr sz="700">
                  <a:solidFill>
                    <a:srgbClr val="919191"/>
                  </a:solidFill>
                  <a:latin typeface="Verdana"/>
                  <a:cs typeface="Verdana"/>
                </a:rPr>
                <a:t>либо</a:t>
              </a:r>
              <a:r>
                <a:rPr sz="700" spc="75">
                  <a:solidFill>
                    <a:srgbClr val="919191"/>
                  </a:solidFill>
                  <a:latin typeface="Verdana"/>
                  <a:cs typeface="Verdana"/>
                </a:rPr>
                <a:t> </a:t>
              </a:r>
              <a:r>
                <a:rPr sz="700">
                  <a:solidFill>
                    <a:srgbClr val="919191"/>
                  </a:solidFill>
                  <a:latin typeface="Verdana"/>
                  <a:cs typeface="Verdana"/>
                </a:rPr>
                <a:t>любому</a:t>
              </a:r>
              <a:r>
                <a:rPr sz="700" spc="70">
                  <a:solidFill>
                    <a:srgbClr val="919191"/>
                  </a:solidFill>
                  <a:latin typeface="Verdana"/>
                  <a:cs typeface="Verdana"/>
                </a:rPr>
                <a:t> </a:t>
              </a:r>
              <a:r>
                <a:rPr sz="700">
                  <a:solidFill>
                    <a:srgbClr val="919191"/>
                  </a:solidFill>
                  <a:latin typeface="Verdana"/>
                  <a:cs typeface="Verdana"/>
                </a:rPr>
                <a:t>количеству</a:t>
              </a:r>
              <a:r>
                <a:rPr sz="700" spc="60">
                  <a:solidFill>
                    <a:srgbClr val="919191"/>
                  </a:solidFill>
                  <a:latin typeface="Verdana"/>
                  <a:cs typeface="Verdana"/>
                </a:rPr>
                <a:t> </a:t>
              </a:r>
              <a:r>
                <a:rPr sz="700">
                  <a:solidFill>
                    <a:srgbClr val="919191"/>
                  </a:solidFill>
                  <a:latin typeface="Verdana"/>
                  <a:cs typeface="Verdana"/>
                </a:rPr>
                <a:t>юридических</a:t>
              </a:r>
              <a:r>
                <a:rPr sz="700" spc="60">
                  <a:solidFill>
                    <a:srgbClr val="919191"/>
                  </a:solidFill>
                  <a:latin typeface="Verdana"/>
                  <a:cs typeface="Verdana"/>
                </a:rPr>
                <a:t> </a:t>
              </a:r>
              <a:r>
                <a:rPr sz="700">
                  <a:solidFill>
                    <a:srgbClr val="919191"/>
                  </a:solidFill>
                  <a:latin typeface="Verdana"/>
                  <a:cs typeface="Verdana"/>
                </a:rPr>
                <a:t>лиц,</a:t>
              </a:r>
              <a:r>
                <a:rPr sz="700" spc="65">
                  <a:solidFill>
                    <a:srgbClr val="919191"/>
                  </a:solidFill>
                  <a:latin typeface="Verdana"/>
                  <a:cs typeface="Verdana"/>
                </a:rPr>
                <a:t> </a:t>
              </a:r>
              <a:r>
                <a:rPr sz="700">
                  <a:solidFill>
                    <a:srgbClr val="919191"/>
                  </a:solidFill>
                  <a:latin typeface="Verdana"/>
                  <a:cs typeface="Verdana"/>
                </a:rPr>
                <a:t>в</a:t>
              </a:r>
              <a:r>
                <a:rPr sz="700" spc="70">
                  <a:solidFill>
                    <a:srgbClr val="919191"/>
                  </a:solidFill>
                  <a:latin typeface="Verdana"/>
                  <a:cs typeface="Verdana"/>
                </a:rPr>
                <a:t> </a:t>
              </a:r>
              <a:r>
                <a:rPr sz="700">
                  <a:solidFill>
                    <a:srgbClr val="919191"/>
                  </a:solidFill>
                  <a:latin typeface="Verdana"/>
                  <a:cs typeface="Verdana"/>
                </a:rPr>
                <a:t>том</a:t>
              </a:r>
              <a:r>
                <a:rPr sz="700" spc="104">
                  <a:solidFill>
                    <a:srgbClr val="919191"/>
                  </a:solidFill>
                  <a:latin typeface="Verdana"/>
                  <a:cs typeface="Verdana"/>
                </a:rPr>
                <a:t> </a:t>
              </a:r>
              <a:r>
                <a:rPr sz="700">
                  <a:solidFill>
                    <a:srgbClr val="919191"/>
                  </a:solidFill>
                  <a:latin typeface="Verdana"/>
                  <a:cs typeface="Verdana"/>
                </a:rPr>
                <a:t>числе </a:t>
              </a:r>
              <a:r>
                <a:rPr sz="700" spc="-5">
                  <a:solidFill>
                    <a:srgbClr val="919191"/>
                  </a:solidFill>
                  <a:latin typeface="Verdana"/>
                  <a:cs typeface="Verdana"/>
                </a:rPr>
                <a:t>аффилированных,</a:t>
              </a:r>
              <a:r>
                <a:rPr sz="700" spc="70">
                  <a:solidFill>
                    <a:srgbClr val="919191"/>
                  </a:solidFill>
                  <a:latin typeface="Verdana"/>
                  <a:cs typeface="Verdana"/>
                </a:rPr>
                <a:t> </a:t>
              </a:r>
              <a:r>
                <a:rPr sz="700" spc="-5">
                  <a:solidFill>
                    <a:srgbClr val="919191"/>
                  </a:solidFill>
                  <a:latin typeface="Verdana"/>
                  <a:cs typeface="Verdana"/>
                </a:rPr>
                <a:t>совместно</a:t>
              </a:r>
              <a:r>
                <a:rPr sz="700" spc="55">
                  <a:solidFill>
                    <a:srgbClr val="919191"/>
                  </a:solidFill>
                  <a:latin typeface="Verdana"/>
                  <a:cs typeface="Verdana"/>
                </a:rPr>
                <a:t> </a:t>
              </a:r>
              <a:r>
                <a:rPr sz="700" spc="-5">
                  <a:solidFill>
                    <a:srgbClr val="919191"/>
                  </a:solidFill>
                  <a:latin typeface="Verdana"/>
                  <a:cs typeface="Verdana"/>
                </a:rPr>
                <a:t>входящих</a:t>
              </a:r>
              <a:r>
                <a:rPr sz="700" spc="55">
                  <a:solidFill>
                    <a:srgbClr val="919191"/>
                  </a:solidFill>
                  <a:latin typeface="Verdana"/>
                  <a:cs typeface="Verdana"/>
                </a:rPr>
                <a:t> </a:t>
              </a:r>
              <a:r>
                <a:rPr sz="700" spc="-5">
                  <a:solidFill>
                    <a:srgbClr val="919191"/>
                  </a:solidFill>
                  <a:latin typeface="Verdana"/>
                  <a:cs typeface="Verdana"/>
                </a:rPr>
                <a:t>в</a:t>
              </a:r>
              <a:r>
                <a:rPr sz="700" spc="80">
                  <a:solidFill>
                    <a:srgbClr val="919191"/>
                  </a:solidFill>
                  <a:latin typeface="Verdana"/>
                  <a:cs typeface="Verdana"/>
                </a:rPr>
                <a:t> </a:t>
              </a:r>
              <a:r>
                <a:rPr sz="700" spc="-5">
                  <a:solidFill>
                    <a:srgbClr val="919191"/>
                  </a:solidFill>
                  <a:latin typeface="Verdana"/>
                  <a:cs typeface="Verdana"/>
                </a:rPr>
                <a:t>«Делойт</a:t>
              </a:r>
              <a:r>
                <a:rPr sz="700" spc="75">
                  <a:solidFill>
                    <a:srgbClr val="919191"/>
                  </a:solidFill>
                  <a:latin typeface="Verdana"/>
                  <a:cs typeface="Verdana"/>
                </a:rPr>
                <a:t> </a:t>
              </a:r>
              <a:r>
                <a:rPr sz="700" spc="-5">
                  <a:solidFill>
                    <a:srgbClr val="919191"/>
                  </a:solidFill>
                  <a:latin typeface="Verdana"/>
                  <a:cs typeface="Verdana"/>
                </a:rPr>
                <a:t>Туш</a:t>
              </a:r>
              <a:r>
                <a:rPr sz="700" spc="75">
                  <a:solidFill>
                    <a:srgbClr val="919191"/>
                  </a:solidFill>
                  <a:latin typeface="Verdana"/>
                  <a:cs typeface="Verdana"/>
                </a:rPr>
                <a:t> </a:t>
              </a:r>
              <a:r>
                <a:rPr sz="700" spc="-5">
                  <a:solidFill>
                    <a:srgbClr val="919191"/>
                  </a:solidFill>
                  <a:latin typeface="Verdana"/>
                  <a:cs typeface="Verdana"/>
                </a:rPr>
                <a:t>Томацу</a:t>
              </a:r>
              <a:r>
                <a:rPr sz="700" spc="65">
                  <a:solidFill>
                    <a:srgbClr val="919191"/>
                  </a:solidFill>
                  <a:latin typeface="Verdana"/>
                  <a:cs typeface="Verdana"/>
                </a:rPr>
                <a:t> </a:t>
              </a:r>
              <a:r>
                <a:rPr sz="700" spc="-5">
                  <a:solidFill>
                    <a:srgbClr val="919191"/>
                  </a:solidFill>
                  <a:latin typeface="Verdana"/>
                  <a:cs typeface="Verdana"/>
                </a:rPr>
                <a:t>Лимитед»</a:t>
              </a:r>
              <a:r>
                <a:rPr sz="700" spc="65">
                  <a:solidFill>
                    <a:srgbClr val="919191"/>
                  </a:solidFill>
                  <a:latin typeface="Verdana"/>
                  <a:cs typeface="Verdana"/>
                </a:rPr>
                <a:t> </a:t>
              </a:r>
              <a:r>
                <a:rPr sz="700" spc="-5">
                  <a:solidFill>
                    <a:srgbClr val="919191"/>
                  </a:solidFill>
                  <a:latin typeface="Verdana"/>
                  <a:cs typeface="Verdana"/>
                </a:rPr>
                <a:t>(далее</a:t>
              </a:r>
              <a:r>
                <a:rPr sz="700" spc="95">
                  <a:solidFill>
                    <a:srgbClr val="919191"/>
                  </a:solidFill>
                  <a:latin typeface="Verdana"/>
                  <a:cs typeface="Verdana"/>
                </a:rPr>
                <a:t> </a:t>
              </a:r>
              <a:r>
                <a:rPr sz="700" spc="-5">
                  <a:solidFill>
                    <a:srgbClr val="919191"/>
                  </a:solidFill>
                  <a:latin typeface="Verdana"/>
                  <a:cs typeface="Verdana"/>
                </a:rPr>
                <a:t>—</a:t>
              </a:r>
              <a:r>
                <a:rPr sz="700" spc="75">
                  <a:solidFill>
                    <a:srgbClr val="919191"/>
                  </a:solidFill>
                  <a:latin typeface="Verdana"/>
                  <a:cs typeface="Verdana"/>
                </a:rPr>
                <a:t> </a:t>
              </a:r>
              <a:r>
                <a:rPr sz="700" spc="-5">
                  <a:solidFill>
                    <a:srgbClr val="919191"/>
                  </a:solidFill>
                  <a:latin typeface="Verdana"/>
                  <a:cs typeface="Verdana"/>
                </a:rPr>
                <a:t>«ДТТЛ»).</a:t>
              </a:r>
              <a:r>
                <a:rPr sz="700" spc="70">
                  <a:solidFill>
                    <a:srgbClr val="919191"/>
                  </a:solidFill>
                  <a:latin typeface="Verdana"/>
                  <a:cs typeface="Verdana"/>
                </a:rPr>
                <a:t> </a:t>
              </a:r>
              <a:r>
                <a:rPr sz="700" spc="-5">
                  <a:solidFill>
                    <a:srgbClr val="919191"/>
                  </a:solidFill>
                  <a:latin typeface="Verdana"/>
                  <a:cs typeface="Verdana"/>
                </a:rPr>
                <a:t>Каждое</a:t>
              </a:r>
              <a:r>
                <a:rPr sz="700" spc="65">
                  <a:solidFill>
                    <a:srgbClr val="919191"/>
                  </a:solidFill>
                  <a:latin typeface="Verdana"/>
                  <a:cs typeface="Verdana"/>
                </a:rPr>
                <a:t> </a:t>
              </a:r>
              <a:r>
                <a:rPr sz="700" spc="-5">
                  <a:solidFill>
                    <a:srgbClr val="919191"/>
                  </a:solidFill>
                  <a:latin typeface="Verdana"/>
                  <a:cs typeface="Verdana"/>
                </a:rPr>
                <a:t>из</a:t>
              </a:r>
              <a:r>
                <a:rPr sz="700" spc="55">
                  <a:solidFill>
                    <a:srgbClr val="919191"/>
                  </a:solidFill>
                  <a:latin typeface="Verdana"/>
                  <a:cs typeface="Verdana"/>
                </a:rPr>
                <a:t> </a:t>
              </a:r>
              <a:r>
                <a:rPr sz="700" spc="-5">
                  <a:solidFill>
                    <a:srgbClr val="919191"/>
                  </a:solidFill>
                  <a:latin typeface="Verdana"/>
                  <a:cs typeface="Verdana"/>
                </a:rPr>
                <a:t>этих </a:t>
              </a:r>
              <a:r>
                <a:rPr sz="700">
                  <a:solidFill>
                    <a:srgbClr val="919191"/>
                  </a:solidFill>
                  <a:latin typeface="Verdana"/>
                  <a:cs typeface="Verdana"/>
                </a:rPr>
                <a:t>юридических</a:t>
              </a:r>
              <a:r>
                <a:rPr sz="700" spc="70">
                  <a:solidFill>
                    <a:srgbClr val="919191"/>
                  </a:solidFill>
                  <a:latin typeface="Verdana"/>
                  <a:cs typeface="Verdana"/>
                </a:rPr>
                <a:t> </a:t>
              </a:r>
              <a:r>
                <a:rPr sz="700">
                  <a:solidFill>
                    <a:srgbClr val="919191"/>
                  </a:solidFill>
                  <a:latin typeface="Verdana"/>
                  <a:cs typeface="Verdana"/>
                </a:rPr>
                <a:t>лиц</a:t>
              </a:r>
              <a:r>
                <a:rPr sz="700" spc="60">
                  <a:solidFill>
                    <a:srgbClr val="919191"/>
                  </a:solidFill>
                  <a:latin typeface="Verdana"/>
                  <a:cs typeface="Verdana"/>
                </a:rPr>
                <a:t> </a:t>
              </a:r>
              <a:r>
                <a:rPr sz="700">
                  <a:solidFill>
                    <a:srgbClr val="919191"/>
                  </a:solidFill>
                  <a:latin typeface="Verdana"/>
                  <a:cs typeface="Verdana"/>
                </a:rPr>
                <a:t>является</a:t>
              </a:r>
              <a:r>
                <a:rPr sz="700" spc="65">
                  <a:solidFill>
                    <a:srgbClr val="919191"/>
                  </a:solidFill>
                  <a:latin typeface="Verdana"/>
                  <a:cs typeface="Verdana"/>
                </a:rPr>
                <a:t> </a:t>
              </a:r>
              <a:r>
                <a:rPr sz="700">
                  <a:solidFill>
                    <a:srgbClr val="919191"/>
                  </a:solidFill>
                  <a:latin typeface="Verdana"/>
                  <a:cs typeface="Verdana"/>
                </a:rPr>
                <a:t>самостоятельным</a:t>
              </a:r>
              <a:r>
                <a:rPr sz="700" spc="70">
                  <a:solidFill>
                    <a:srgbClr val="919191"/>
                  </a:solidFill>
                  <a:latin typeface="Verdana"/>
                  <a:cs typeface="Verdana"/>
                </a:rPr>
                <a:t> </a:t>
              </a:r>
              <a:r>
                <a:rPr sz="700">
                  <a:solidFill>
                    <a:srgbClr val="919191"/>
                  </a:solidFill>
                  <a:latin typeface="Verdana"/>
                  <a:cs typeface="Verdana"/>
                </a:rPr>
                <a:t>и</a:t>
              </a:r>
              <a:r>
                <a:rPr sz="700" spc="65">
                  <a:solidFill>
                    <a:srgbClr val="919191"/>
                  </a:solidFill>
                  <a:latin typeface="Verdana"/>
                  <a:cs typeface="Verdana"/>
                </a:rPr>
                <a:t> </a:t>
              </a:r>
              <a:r>
                <a:rPr sz="700">
                  <a:solidFill>
                    <a:srgbClr val="919191"/>
                  </a:solidFill>
                  <a:latin typeface="Verdana"/>
                  <a:cs typeface="Verdana"/>
                </a:rPr>
                <a:t>независимым.</a:t>
              </a:r>
              <a:r>
                <a:rPr sz="700" spc="75">
                  <a:solidFill>
                    <a:srgbClr val="919191"/>
                  </a:solidFill>
                  <a:latin typeface="Verdana"/>
                  <a:cs typeface="Verdana"/>
                </a:rPr>
                <a:t> </a:t>
              </a:r>
              <a:r>
                <a:rPr sz="700">
                  <a:solidFill>
                    <a:srgbClr val="919191"/>
                  </a:solidFill>
                  <a:latin typeface="Verdana"/>
                  <a:cs typeface="Verdana"/>
                </a:rPr>
                <a:t>Компания</a:t>
              </a:r>
              <a:r>
                <a:rPr sz="700" spc="80">
                  <a:solidFill>
                    <a:srgbClr val="919191"/>
                  </a:solidFill>
                  <a:latin typeface="Verdana"/>
                  <a:cs typeface="Verdana"/>
                </a:rPr>
                <a:t> </a:t>
              </a:r>
              <a:r>
                <a:rPr sz="700">
                  <a:solidFill>
                    <a:srgbClr val="919191"/>
                  </a:solidFill>
                  <a:latin typeface="Verdana"/>
                  <a:cs typeface="Verdana"/>
                </a:rPr>
                <a:t>«ДТТЛ»</a:t>
              </a:r>
              <a:r>
                <a:rPr sz="700" spc="70">
                  <a:solidFill>
                    <a:srgbClr val="919191"/>
                  </a:solidFill>
                  <a:latin typeface="Verdana"/>
                  <a:cs typeface="Verdana"/>
                </a:rPr>
                <a:t> </a:t>
              </a:r>
              <a:r>
                <a:rPr sz="700">
                  <a:solidFill>
                    <a:srgbClr val="919191"/>
                  </a:solidFill>
                  <a:latin typeface="Verdana"/>
                  <a:cs typeface="Verdana"/>
                </a:rPr>
                <a:t>(также</a:t>
              </a:r>
              <a:r>
                <a:rPr sz="700" spc="70">
                  <a:solidFill>
                    <a:srgbClr val="919191"/>
                  </a:solidFill>
                  <a:latin typeface="Verdana"/>
                  <a:cs typeface="Verdana"/>
                </a:rPr>
                <a:t> </a:t>
              </a:r>
              <a:r>
                <a:rPr sz="700">
                  <a:solidFill>
                    <a:srgbClr val="919191"/>
                  </a:solidFill>
                  <a:latin typeface="Verdana"/>
                  <a:cs typeface="Verdana"/>
                </a:rPr>
                <a:t>именуемая</a:t>
              </a:r>
              <a:r>
                <a:rPr sz="700" spc="80">
                  <a:solidFill>
                    <a:srgbClr val="919191"/>
                  </a:solidFill>
                  <a:latin typeface="Verdana"/>
                  <a:cs typeface="Verdana"/>
                </a:rPr>
                <a:t> </a:t>
              </a:r>
              <a:r>
                <a:rPr sz="700">
                  <a:solidFill>
                    <a:srgbClr val="919191"/>
                  </a:solidFill>
                  <a:latin typeface="Verdana"/>
                  <a:cs typeface="Verdana"/>
                </a:rPr>
                <a:t>как </a:t>
              </a:r>
              <a:r>
                <a:rPr sz="700" spc="-15">
                  <a:solidFill>
                    <a:srgbClr val="919191"/>
                  </a:solidFill>
                  <a:latin typeface="Verdana"/>
                  <a:cs typeface="Verdana"/>
                </a:rPr>
                <a:t>«международная</a:t>
              </a:r>
              <a:r>
                <a:rPr sz="700" spc="55">
                  <a:solidFill>
                    <a:srgbClr val="919191"/>
                  </a:solidFill>
                  <a:latin typeface="Verdana"/>
                  <a:cs typeface="Verdana"/>
                </a:rPr>
                <a:t> </a:t>
              </a:r>
              <a:r>
                <a:rPr sz="700" spc="-15">
                  <a:solidFill>
                    <a:srgbClr val="919191"/>
                  </a:solidFill>
                  <a:latin typeface="Verdana"/>
                  <a:cs typeface="Verdana"/>
                </a:rPr>
                <a:t>сеть</a:t>
              </a:r>
              <a:r>
                <a:rPr sz="700" spc="60">
                  <a:solidFill>
                    <a:srgbClr val="919191"/>
                  </a:solidFill>
                  <a:latin typeface="Verdana"/>
                  <a:cs typeface="Verdana"/>
                </a:rPr>
                <a:t> </a:t>
              </a:r>
              <a:r>
                <a:rPr sz="700" spc="-15">
                  <a:solidFill>
                    <a:srgbClr val="919191"/>
                  </a:solidFill>
                  <a:latin typeface="Verdana"/>
                  <a:cs typeface="Verdana"/>
                </a:rPr>
                <a:t>«Делойт»)</a:t>
              </a:r>
              <a:r>
                <a:rPr sz="700" spc="60">
                  <a:solidFill>
                    <a:srgbClr val="919191"/>
                  </a:solidFill>
                  <a:latin typeface="Verdana"/>
                  <a:cs typeface="Verdana"/>
                </a:rPr>
                <a:t> </a:t>
              </a:r>
              <a:r>
                <a:rPr sz="700" spc="-15">
                  <a:solidFill>
                    <a:srgbClr val="919191"/>
                  </a:solidFill>
                  <a:latin typeface="Verdana"/>
                  <a:cs typeface="Verdana"/>
                </a:rPr>
                <a:t>не</a:t>
              </a:r>
              <a:r>
                <a:rPr sz="700" spc="55">
                  <a:solidFill>
                    <a:srgbClr val="919191"/>
                  </a:solidFill>
                  <a:latin typeface="Verdana"/>
                  <a:cs typeface="Verdana"/>
                </a:rPr>
                <a:t> </a:t>
              </a:r>
              <a:r>
                <a:rPr sz="700" spc="-15">
                  <a:solidFill>
                    <a:srgbClr val="919191"/>
                  </a:solidFill>
                  <a:latin typeface="Verdana"/>
                  <a:cs typeface="Verdana"/>
                </a:rPr>
                <a:t>предоставляет</a:t>
              </a:r>
              <a:r>
                <a:rPr sz="700" spc="65">
                  <a:solidFill>
                    <a:srgbClr val="919191"/>
                  </a:solidFill>
                  <a:latin typeface="Verdana"/>
                  <a:cs typeface="Verdana"/>
                </a:rPr>
                <a:t> </a:t>
              </a:r>
              <a:r>
                <a:rPr sz="700" spc="-15">
                  <a:solidFill>
                    <a:srgbClr val="919191"/>
                  </a:solidFill>
                  <a:latin typeface="Verdana"/>
                  <a:cs typeface="Verdana"/>
                </a:rPr>
                <a:t>услуги</a:t>
              </a:r>
              <a:r>
                <a:rPr sz="700" spc="60">
                  <a:solidFill>
                    <a:srgbClr val="919191"/>
                  </a:solidFill>
                  <a:latin typeface="Verdana"/>
                  <a:cs typeface="Verdana"/>
                </a:rPr>
                <a:t> </a:t>
              </a:r>
              <a:r>
                <a:rPr sz="700" spc="-15">
                  <a:solidFill>
                    <a:srgbClr val="919191"/>
                  </a:solidFill>
                  <a:latin typeface="Verdana"/>
                  <a:cs typeface="Verdana"/>
                </a:rPr>
                <a:t>клиентам</a:t>
              </a:r>
              <a:r>
                <a:rPr sz="700" spc="45">
                  <a:solidFill>
                    <a:srgbClr val="919191"/>
                  </a:solidFill>
                  <a:latin typeface="Verdana"/>
                  <a:cs typeface="Verdana"/>
                </a:rPr>
                <a:t> </a:t>
              </a:r>
              <a:r>
                <a:rPr sz="700" spc="-15">
                  <a:solidFill>
                    <a:srgbClr val="919191"/>
                  </a:solidFill>
                  <a:latin typeface="Verdana"/>
                  <a:cs typeface="Verdana"/>
                </a:rPr>
                <a:t>напрямую.</a:t>
              </a:r>
              <a:r>
                <a:rPr sz="700" spc="60">
                  <a:solidFill>
                    <a:srgbClr val="919191"/>
                  </a:solidFill>
                  <a:latin typeface="Verdana"/>
                  <a:cs typeface="Verdana"/>
                </a:rPr>
                <a:t> </a:t>
              </a:r>
              <a:r>
                <a:rPr sz="700" spc="-15">
                  <a:solidFill>
                    <a:srgbClr val="919191"/>
                  </a:solidFill>
                  <a:latin typeface="Verdana"/>
                  <a:cs typeface="Verdana"/>
                </a:rPr>
                <a:t>Более</a:t>
              </a:r>
              <a:r>
                <a:rPr sz="700" spc="55">
                  <a:solidFill>
                    <a:srgbClr val="919191"/>
                  </a:solidFill>
                  <a:latin typeface="Verdana"/>
                  <a:cs typeface="Verdana"/>
                </a:rPr>
                <a:t> </a:t>
              </a:r>
              <a:r>
                <a:rPr sz="700" spc="-15">
                  <a:solidFill>
                    <a:srgbClr val="919191"/>
                  </a:solidFill>
                  <a:latin typeface="Verdana"/>
                  <a:cs typeface="Verdana"/>
                </a:rPr>
                <a:t>подробную</a:t>
              </a:r>
              <a:r>
                <a:rPr sz="700" spc="75">
                  <a:solidFill>
                    <a:srgbClr val="919191"/>
                  </a:solidFill>
                  <a:latin typeface="Verdana"/>
                  <a:cs typeface="Verdana"/>
                </a:rPr>
                <a:t> </a:t>
              </a:r>
              <a:r>
                <a:rPr sz="700" spc="-15">
                  <a:solidFill>
                    <a:srgbClr val="919191"/>
                  </a:solidFill>
                  <a:latin typeface="Verdana"/>
                  <a:cs typeface="Verdana"/>
                </a:rPr>
                <a:t>информацию </a:t>
              </a:r>
              <a:r>
                <a:rPr sz="700">
                  <a:solidFill>
                    <a:srgbClr val="919191"/>
                  </a:solidFill>
                  <a:latin typeface="Verdana"/>
                  <a:cs typeface="Verdana"/>
                </a:rPr>
                <a:t>можно</a:t>
              </a:r>
              <a:r>
                <a:rPr sz="700" spc="75">
                  <a:solidFill>
                    <a:srgbClr val="919191"/>
                  </a:solidFill>
                  <a:latin typeface="Verdana"/>
                  <a:cs typeface="Verdana"/>
                </a:rPr>
                <a:t> </a:t>
              </a:r>
              <a:r>
                <a:rPr sz="700">
                  <a:solidFill>
                    <a:srgbClr val="919191"/>
                  </a:solidFill>
                  <a:latin typeface="Verdana"/>
                  <a:cs typeface="Verdana"/>
                </a:rPr>
                <a:t>получить</a:t>
              </a:r>
              <a:r>
                <a:rPr sz="700" spc="75">
                  <a:solidFill>
                    <a:srgbClr val="919191"/>
                  </a:solidFill>
                  <a:latin typeface="Verdana"/>
                  <a:cs typeface="Verdana"/>
                </a:rPr>
                <a:t> </a:t>
              </a:r>
              <a:r>
                <a:rPr sz="700">
                  <a:solidFill>
                    <a:srgbClr val="919191"/>
                  </a:solidFill>
                  <a:latin typeface="Verdana"/>
                  <a:cs typeface="Verdana"/>
                </a:rPr>
                <a:t>на</a:t>
              </a:r>
              <a:r>
                <a:rPr sz="700" spc="65">
                  <a:solidFill>
                    <a:srgbClr val="919191"/>
                  </a:solidFill>
                  <a:latin typeface="Verdana"/>
                  <a:cs typeface="Verdana"/>
                </a:rPr>
                <a:t> </a:t>
              </a:r>
              <a:r>
                <a:rPr sz="700">
                  <a:solidFill>
                    <a:srgbClr val="919191"/>
                  </a:solidFill>
                  <a:latin typeface="Verdana"/>
                  <a:cs typeface="Verdana"/>
                </a:rPr>
                <a:t>сайте</a:t>
              </a:r>
              <a:r>
                <a:rPr sz="700" spc="80">
                  <a:solidFill>
                    <a:srgbClr val="919191"/>
                  </a:solidFill>
                  <a:latin typeface="Verdana"/>
                  <a:cs typeface="Verdana"/>
                </a:rPr>
                <a:t> </a:t>
              </a:r>
              <a:r>
                <a:rPr sz="700">
                  <a:solidFill>
                    <a:srgbClr val="919191"/>
                  </a:solidFill>
                  <a:latin typeface="Verdana"/>
                  <a:cs typeface="Verdana"/>
                  <a:hlinkClick r:id="rId4">
                    <a:extLst>
                      <a:ext uri="{A12FA001-AC4F-418D-AE19-62706E023703}">
                        <ahyp:hlinkClr xmlns:ahyp="http://schemas.microsoft.com/office/drawing/2018/hyperlinkcolor" val="tx"/>
                      </a:ext>
                    </a:extLst>
                  </a:hlinkClick>
                </a:rPr>
                <a:t>www.deloitte.com/about</a:t>
              </a:r>
              <a:r>
                <a:rPr sz="700">
                  <a:solidFill>
                    <a:srgbClr val="919191"/>
                  </a:solidFill>
                  <a:latin typeface="Verdana"/>
                  <a:cs typeface="Verdana"/>
                </a:rPr>
                <a:t>.</a:t>
              </a:r>
              <a:endParaRPr/>
            </a:p>
            <a:p>
              <a:pPr marL="12700" marR="43815">
                <a:lnSpc>
                  <a:spcPct val="101774"/>
                </a:lnSpc>
                <a:spcBef>
                  <a:spcPts val="600"/>
                </a:spcBef>
              </a:pPr>
              <a:r>
                <a:rPr sz="700" spc="-5">
                  <a:solidFill>
                    <a:srgbClr val="919191"/>
                  </a:solidFill>
                  <a:latin typeface="Verdana"/>
                  <a:cs typeface="Verdana"/>
                </a:rPr>
                <a:t>«Делойт»</a:t>
              </a:r>
              <a:r>
                <a:rPr sz="700" spc="70">
                  <a:solidFill>
                    <a:srgbClr val="919191"/>
                  </a:solidFill>
                  <a:latin typeface="Verdana"/>
                  <a:cs typeface="Verdana"/>
                </a:rPr>
                <a:t> </a:t>
              </a:r>
              <a:r>
                <a:rPr sz="700" spc="-5">
                  <a:solidFill>
                    <a:srgbClr val="919191"/>
                  </a:solidFill>
                  <a:latin typeface="Verdana"/>
                  <a:cs typeface="Verdana"/>
                </a:rPr>
                <a:t>является</a:t>
              </a:r>
              <a:r>
                <a:rPr sz="700" spc="60">
                  <a:solidFill>
                    <a:srgbClr val="919191"/>
                  </a:solidFill>
                  <a:latin typeface="Verdana"/>
                  <a:cs typeface="Verdana"/>
                </a:rPr>
                <a:t> </a:t>
              </a:r>
              <a:r>
                <a:rPr sz="700" spc="-5">
                  <a:solidFill>
                    <a:srgbClr val="919191"/>
                  </a:solidFill>
                  <a:latin typeface="Verdana"/>
                  <a:cs typeface="Verdana"/>
                </a:rPr>
                <a:t>ведущей</a:t>
              </a:r>
              <a:r>
                <a:rPr sz="700" spc="70">
                  <a:solidFill>
                    <a:srgbClr val="919191"/>
                  </a:solidFill>
                  <a:latin typeface="Verdana"/>
                  <a:cs typeface="Verdana"/>
                </a:rPr>
                <a:t> </a:t>
              </a:r>
              <a:r>
                <a:rPr sz="700" spc="-5">
                  <a:solidFill>
                    <a:srgbClr val="919191"/>
                  </a:solidFill>
                  <a:latin typeface="Verdana"/>
                  <a:cs typeface="Verdana"/>
                </a:rPr>
                <a:t>международной</a:t>
              </a:r>
              <a:r>
                <a:rPr sz="700" spc="70">
                  <a:solidFill>
                    <a:srgbClr val="919191"/>
                  </a:solidFill>
                  <a:latin typeface="Verdana"/>
                  <a:cs typeface="Verdana"/>
                </a:rPr>
                <a:t> </a:t>
              </a:r>
              <a:r>
                <a:rPr sz="700" spc="-5">
                  <a:solidFill>
                    <a:srgbClr val="919191"/>
                  </a:solidFill>
                  <a:latin typeface="Verdana"/>
                  <a:cs typeface="Verdana"/>
                </a:rPr>
                <a:t>сетью</a:t>
              </a:r>
              <a:r>
                <a:rPr sz="700" spc="75">
                  <a:solidFill>
                    <a:srgbClr val="919191"/>
                  </a:solidFill>
                  <a:latin typeface="Verdana"/>
                  <a:cs typeface="Verdana"/>
                </a:rPr>
                <a:t> </a:t>
              </a:r>
              <a:r>
                <a:rPr sz="700" spc="-5">
                  <a:solidFill>
                    <a:srgbClr val="919191"/>
                  </a:solidFill>
                  <a:latin typeface="Verdana"/>
                  <a:cs typeface="Verdana"/>
                </a:rPr>
                <a:t>компаний</a:t>
              </a:r>
              <a:r>
                <a:rPr sz="700" spc="60">
                  <a:solidFill>
                    <a:srgbClr val="919191"/>
                  </a:solidFill>
                  <a:latin typeface="Verdana"/>
                  <a:cs typeface="Verdana"/>
                </a:rPr>
                <a:t> </a:t>
              </a:r>
              <a:r>
                <a:rPr sz="700" spc="-5">
                  <a:solidFill>
                    <a:srgbClr val="919191"/>
                  </a:solidFill>
                  <a:latin typeface="Verdana"/>
                  <a:cs typeface="Verdana"/>
                </a:rPr>
                <a:t>по</a:t>
              </a:r>
              <a:r>
                <a:rPr sz="700" spc="70">
                  <a:solidFill>
                    <a:srgbClr val="919191"/>
                  </a:solidFill>
                  <a:latin typeface="Verdana"/>
                  <a:cs typeface="Verdana"/>
                </a:rPr>
                <a:t> </a:t>
              </a:r>
              <a:r>
                <a:rPr sz="700" spc="-5">
                  <a:solidFill>
                    <a:srgbClr val="919191"/>
                  </a:solidFill>
                  <a:latin typeface="Verdana"/>
                  <a:cs typeface="Verdana"/>
                </a:rPr>
                <a:t>оказанию</a:t>
              </a:r>
              <a:r>
                <a:rPr sz="700" spc="75">
                  <a:solidFill>
                    <a:srgbClr val="919191"/>
                  </a:solidFill>
                  <a:latin typeface="Verdana"/>
                  <a:cs typeface="Verdana"/>
                </a:rPr>
                <a:t> </a:t>
              </a:r>
              <a:r>
                <a:rPr sz="700" spc="-5">
                  <a:solidFill>
                    <a:srgbClr val="919191"/>
                  </a:solidFill>
                  <a:latin typeface="Verdana"/>
                  <a:cs typeface="Verdana"/>
                </a:rPr>
                <a:t>услуг</a:t>
              </a:r>
              <a:r>
                <a:rPr sz="700" spc="70">
                  <a:solidFill>
                    <a:srgbClr val="919191"/>
                  </a:solidFill>
                  <a:latin typeface="Verdana"/>
                  <a:cs typeface="Verdana"/>
                </a:rPr>
                <a:t> </a:t>
              </a:r>
              <a:r>
                <a:rPr sz="700" spc="-5">
                  <a:solidFill>
                    <a:srgbClr val="919191"/>
                  </a:solidFill>
                  <a:latin typeface="Verdana"/>
                  <a:cs typeface="Verdana"/>
                </a:rPr>
                <a:t>в</a:t>
              </a:r>
              <a:r>
                <a:rPr sz="700" spc="65">
                  <a:solidFill>
                    <a:srgbClr val="919191"/>
                  </a:solidFill>
                  <a:latin typeface="Verdana"/>
                  <a:cs typeface="Verdana"/>
                </a:rPr>
                <a:t> </a:t>
              </a:r>
              <a:r>
                <a:rPr sz="700" spc="-5">
                  <a:solidFill>
                    <a:srgbClr val="919191"/>
                  </a:solidFill>
                  <a:latin typeface="Verdana"/>
                  <a:cs typeface="Verdana"/>
                </a:rPr>
                <a:t>области</a:t>
              </a:r>
              <a:r>
                <a:rPr sz="700" spc="60">
                  <a:solidFill>
                    <a:srgbClr val="919191"/>
                  </a:solidFill>
                  <a:latin typeface="Verdana"/>
                  <a:cs typeface="Verdana"/>
                </a:rPr>
                <a:t> </a:t>
              </a:r>
              <a:r>
                <a:rPr sz="700" spc="-5">
                  <a:solidFill>
                    <a:srgbClr val="919191"/>
                  </a:solidFill>
                  <a:latin typeface="Verdana"/>
                  <a:cs typeface="Verdana"/>
                </a:rPr>
                <a:t>аудита,</a:t>
              </a:r>
              <a:r>
                <a:rPr sz="700" spc="70">
                  <a:solidFill>
                    <a:srgbClr val="919191"/>
                  </a:solidFill>
                  <a:latin typeface="Verdana"/>
                  <a:cs typeface="Verdana"/>
                </a:rPr>
                <a:t> </a:t>
              </a:r>
              <a:r>
                <a:rPr sz="700" spc="-5">
                  <a:solidFill>
                    <a:srgbClr val="919191"/>
                  </a:solidFill>
                  <a:latin typeface="Verdana"/>
                  <a:cs typeface="Verdana"/>
                </a:rPr>
                <a:t>консалтинга, </a:t>
              </a:r>
              <a:r>
                <a:rPr sz="700" spc="-10">
                  <a:solidFill>
                    <a:srgbClr val="919191"/>
                  </a:solidFill>
                  <a:latin typeface="Verdana"/>
                  <a:cs typeface="Verdana"/>
                </a:rPr>
                <a:t>финансового</a:t>
              </a:r>
              <a:r>
                <a:rPr sz="700" spc="65">
                  <a:solidFill>
                    <a:srgbClr val="919191"/>
                  </a:solidFill>
                  <a:latin typeface="Verdana"/>
                  <a:cs typeface="Verdana"/>
                </a:rPr>
                <a:t> </a:t>
              </a:r>
              <a:r>
                <a:rPr sz="700" spc="-10">
                  <a:solidFill>
                    <a:srgbClr val="919191"/>
                  </a:solidFill>
                  <a:latin typeface="Verdana"/>
                  <a:cs typeface="Verdana"/>
                </a:rPr>
                <a:t>консультирования,</a:t>
              </a:r>
              <a:r>
                <a:rPr sz="700" spc="65">
                  <a:solidFill>
                    <a:srgbClr val="919191"/>
                  </a:solidFill>
                  <a:latin typeface="Verdana"/>
                  <a:cs typeface="Verdana"/>
                </a:rPr>
                <a:t> </a:t>
              </a:r>
              <a:r>
                <a:rPr sz="700" spc="-10">
                  <a:solidFill>
                    <a:srgbClr val="919191"/>
                  </a:solidFill>
                  <a:latin typeface="Verdana"/>
                  <a:cs typeface="Verdana"/>
                </a:rPr>
                <a:t>управления</a:t>
              </a:r>
              <a:r>
                <a:rPr sz="700" spc="70">
                  <a:solidFill>
                    <a:srgbClr val="919191"/>
                  </a:solidFill>
                  <a:latin typeface="Verdana"/>
                  <a:cs typeface="Verdana"/>
                </a:rPr>
                <a:t> </a:t>
              </a:r>
              <a:r>
                <a:rPr sz="700" spc="-10">
                  <a:solidFill>
                    <a:srgbClr val="919191"/>
                  </a:solidFill>
                  <a:latin typeface="Verdana"/>
                  <a:cs typeface="Verdana"/>
                </a:rPr>
                <a:t>рисками</a:t>
              </a:r>
              <a:r>
                <a:rPr sz="700" spc="65">
                  <a:solidFill>
                    <a:srgbClr val="919191"/>
                  </a:solidFill>
                  <a:latin typeface="Verdana"/>
                  <a:cs typeface="Verdana"/>
                </a:rPr>
                <a:t> </a:t>
              </a:r>
              <a:r>
                <a:rPr sz="700" spc="-10">
                  <a:solidFill>
                    <a:srgbClr val="919191"/>
                  </a:solidFill>
                  <a:latin typeface="Verdana"/>
                  <a:cs typeface="Verdana"/>
                </a:rPr>
                <a:t>и</a:t>
              </a:r>
              <a:r>
                <a:rPr sz="700" spc="65">
                  <a:solidFill>
                    <a:srgbClr val="919191"/>
                  </a:solidFill>
                  <a:latin typeface="Verdana"/>
                  <a:cs typeface="Verdana"/>
                </a:rPr>
                <a:t> </a:t>
              </a:r>
              <a:r>
                <a:rPr sz="700" spc="-10">
                  <a:solidFill>
                    <a:srgbClr val="919191"/>
                  </a:solidFill>
                  <a:latin typeface="Verdana"/>
                  <a:cs typeface="Verdana"/>
                </a:rPr>
                <a:t>налогообложения,</a:t>
              </a:r>
              <a:r>
                <a:rPr sz="700" spc="55">
                  <a:solidFill>
                    <a:srgbClr val="919191"/>
                  </a:solidFill>
                  <a:latin typeface="Verdana"/>
                  <a:cs typeface="Verdana"/>
                </a:rPr>
                <a:t> </a:t>
              </a:r>
              <a:r>
                <a:rPr sz="700" spc="-10">
                  <a:solidFill>
                    <a:srgbClr val="919191"/>
                  </a:solidFill>
                  <a:latin typeface="Verdana"/>
                  <a:cs typeface="Verdana"/>
                </a:rPr>
                <a:t>а</a:t>
              </a:r>
              <a:r>
                <a:rPr sz="700" spc="70">
                  <a:solidFill>
                    <a:srgbClr val="919191"/>
                  </a:solidFill>
                  <a:latin typeface="Verdana"/>
                  <a:cs typeface="Verdana"/>
                </a:rPr>
                <a:t> </a:t>
              </a:r>
              <a:r>
                <a:rPr sz="700" spc="-10">
                  <a:solidFill>
                    <a:srgbClr val="919191"/>
                  </a:solidFill>
                  <a:latin typeface="Verdana"/>
                  <a:cs typeface="Verdana"/>
                </a:rPr>
                <a:t>также</a:t>
              </a:r>
              <a:r>
                <a:rPr sz="700" spc="60">
                  <a:solidFill>
                    <a:srgbClr val="919191"/>
                  </a:solidFill>
                  <a:latin typeface="Verdana"/>
                  <a:cs typeface="Verdana"/>
                </a:rPr>
                <a:t> </a:t>
              </a:r>
              <a:r>
                <a:rPr sz="700" spc="-10">
                  <a:solidFill>
                    <a:srgbClr val="919191"/>
                  </a:solidFill>
                  <a:latin typeface="Verdana"/>
                  <a:cs typeface="Verdana"/>
                </a:rPr>
                <a:t>сопутствующих</a:t>
              </a:r>
              <a:r>
                <a:rPr sz="700" spc="60">
                  <a:solidFill>
                    <a:srgbClr val="919191"/>
                  </a:solidFill>
                  <a:latin typeface="Verdana"/>
                  <a:cs typeface="Verdana"/>
                </a:rPr>
                <a:t> </a:t>
              </a:r>
              <a:r>
                <a:rPr sz="700" spc="-10">
                  <a:solidFill>
                    <a:srgbClr val="919191"/>
                  </a:solidFill>
                  <a:latin typeface="Verdana"/>
                  <a:cs typeface="Verdana"/>
                </a:rPr>
                <a:t>услуг.</a:t>
              </a:r>
              <a:r>
                <a:rPr sz="700" spc="65">
                  <a:solidFill>
                    <a:srgbClr val="919191"/>
                  </a:solidFill>
                  <a:latin typeface="Verdana"/>
                  <a:cs typeface="Verdana"/>
                </a:rPr>
                <a:t> </a:t>
              </a:r>
              <a:r>
                <a:rPr sz="700" spc="-10">
                  <a:solidFill>
                    <a:srgbClr val="919191"/>
                  </a:solidFill>
                  <a:latin typeface="Verdana"/>
                  <a:cs typeface="Verdana"/>
                </a:rPr>
                <a:t>«Делойт» </a:t>
              </a:r>
              <a:r>
                <a:rPr sz="700" spc="-15">
                  <a:solidFill>
                    <a:srgbClr val="919191"/>
                  </a:solidFill>
                  <a:latin typeface="Verdana"/>
                  <a:cs typeface="Verdana"/>
                </a:rPr>
                <a:t>ведет</a:t>
              </a:r>
              <a:r>
                <a:rPr sz="700" spc="50">
                  <a:solidFill>
                    <a:srgbClr val="919191"/>
                  </a:solidFill>
                  <a:latin typeface="Verdana"/>
                  <a:cs typeface="Verdana"/>
                </a:rPr>
                <a:t> </a:t>
              </a:r>
              <a:r>
                <a:rPr sz="700" spc="-15">
                  <a:solidFill>
                    <a:srgbClr val="919191"/>
                  </a:solidFill>
                  <a:latin typeface="Verdana"/>
                  <a:cs typeface="Verdana"/>
                </a:rPr>
                <a:t>свою</a:t>
              </a:r>
              <a:r>
                <a:rPr sz="700" spc="55">
                  <a:solidFill>
                    <a:srgbClr val="919191"/>
                  </a:solidFill>
                  <a:latin typeface="Verdana"/>
                  <a:cs typeface="Verdana"/>
                </a:rPr>
                <a:t> </a:t>
              </a:r>
              <a:r>
                <a:rPr sz="700" spc="-15">
                  <a:solidFill>
                    <a:srgbClr val="919191"/>
                  </a:solidFill>
                  <a:latin typeface="Verdana"/>
                  <a:cs typeface="Verdana"/>
                </a:rPr>
                <a:t>деятельность</a:t>
              </a:r>
              <a:r>
                <a:rPr sz="700" spc="50">
                  <a:solidFill>
                    <a:srgbClr val="919191"/>
                  </a:solidFill>
                  <a:latin typeface="Verdana"/>
                  <a:cs typeface="Verdana"/>
                </a:rPr>
                <a:t> </a:t>
              </a:r>
              <a:r>
                <a:rPr sz="700" spc="-15">
                  <a:solidFill>
                    <a:srgbClr val="919191"/>
                  </a:solidFill>
                  <a:latin typeface="Verdana"/>
                  <a:cs typeface="Verdana"/>
                </a:rPr>
                <a:t>в</a:t>
              </a:r>
              <a:r>
                <a:rPr sz="700" spc="70">
                  <a:solidFill>
                    <a:srgbClr val="919191"/>
                  </a:solidFill>
                  <a:latin typeface="Verdana"/>
                  <a:cs typeface="Verdana"/>
                </a:rPr>
                <a:t> </a:t>
              </a:r>
              <a:r>
                <a:rPr sz="700" spc="-15">
                  <a:solidFill>
                    <a:srgbClr val="919191"/>
                  </a:solidFill>
                  <a:latin typeface="Verdana"/>
                  <a:cs typeface="Verdana"/>
                </a:rPr>
                <a:t>150</a:t>
              </a:r>
              <a:r>
                <a:rPr sz="700" spc="50">
                  <a:solidFill>
                    <a:srgbClr val="919191"/>
                  </a:solidFill>
                  <a:latin typeface="Verdana"/>
                  <a:cs typeface="Verdana"/>
                </a:rPr>
                <a:t> </a:t>
              </a:r>
              <a:r>
                <a:rPr sz="700" spc="-15">
                  <a:solidFill>
                    <a:srgbClr val="919191"/>
                  </a:solidFill>
                  <a:latin typeface="Verdana"/>
                  <a:cs typeface="Verdana"/>
                </a:rPr>
                <a:t>странах,</a:t>
              </a:r>
              <a:r>
                <a:rPr sz="700" spc="60">
                  <a:solidFill>
                    <a:srgbClr val="919191"/>
                  </a:solidFill>
                  <a:latin typeface="Verdana"/>
                  <a:cs typeface="Verdana"/>
                </a:rPr>
                <a:t> </a:t>
              </a:r>
              <a:r>
                <a:rPr sz="700" spc="-15">
                  <a:solidFill>
                    <a:srgbClr val="919191"/>
                  </a:solidFill>
                  <a:latin typeface="Verdana"/>
                  <a:cs typeface="Verdana"/>
                </a:rPr>
                <a:t>в</a:t>
              </a:r>
              <a:r>
                <a:rPr sz="700" spc="55">
                  <a:solidFill>
                    <a:srgbClr val="919191"/>
                  </a:solidFill>
                  <a:latin typeface="Verdana"/>
                  <a:cs typeface="Verdana"/>
                </a:rPr>
                <a:t> </a:t>
              </a:r>
              <a:r>
                <a:rPr sz="700" spc="-15">
                  <a:solidFill>
                    <a:srgbClr val="919191"/>
                  </a:solidFill>
                  <a:latin typeface="Verdana"/>
                  <a:cs typeface="Verdana"/>
                </a:rPr>
                <a:t>число</a:t>
              </a:r>
              <a:r>
                <a:rPr sz="700" spc="60">
                  <a:solidFill>
                    <a:srgbClr val="919191"/>
                  </a:solidFill>
                  <a:latin typeface="Verdana"/>
                  <a:cs typeface="Verdana"/>
                </a:rPr>
                <a:t> </a:t>
              </a:r>
              <a:r>
                <a:rPr sz="700" spc="-15">
                  <a:solidFill>
                    <a:srgbClr val="919191"/>
                  </a:solidFill>
                  <a:latin typeface="Verdana"/>
                  <a:cs typeface="Verdana"/>
                </a:rPr>
                <a:t>клиентов</a:t>
              </a:r>
              <a:r>
                <a:rPr sz="700" spc="65">
                  <a:solidFill>
                    <a:srgbClr val="919191"/>
                  </a:solidFill>
                  <a:latin typeface="Verdana"/>
                  <a:cs typeface="Verdana"/>
                </a:rPr>
                <a:t> </a:t>
              </a:r>
              <a:r>
                <a:rPr sz="700" spc="-15">
                  <a:solidFill>
                    <a:srgbClr val="919191"/>
                  </a:solidFill>
                  <a:latin typeface="Verdana"/>
                  <a:cs typeface="Verdana"/>
                </a:rPr>
                <a:t>которой</a:t>
              </a:r>
              <a:r>
                <a:rPr sz="700" spc="50">
                  <a:solidFill>
                    <a:srgbClr val="919191"/>
                  </a:solidFill>
                  <a:latin typeface="Verdana"/>
                  <a:cs typeface="Verdana"/>
                </a:rPr>
                <a:t> </a:t>
              </a:r>
              <a:r>
                <a:rPr sz="700" spc="-15">
                  <a:solidFill>
                    <a:srgbClr val="919191"/>
                  </a:solidFill>
                  <a:latin typeface="Verdana"/>
                  <a:cs typeface="Verdana"/>
                </a:rPr>
                <a:t>входят</a:t>
              </a:r>
              <a:r>
                <a:rPr sz="700" spc="65">
                  <a:solidFill>
                    <a:srgbClr val="919191"/>
                  </a:solidFill>
                  <a:latin typeface="Verdana"/>
                  <a:cs typeface="Verdana"/>
                </a:rPr>
                <a:t> </a:t>
              </a:r>
              <a:r>
                <a:rPr sz="700" spc="-15">
                  <a:solidFill>
                    <a:srgbClr val="919191"/>
                  </a:solidFill>
                  <a:latin typeface="Verdana"/>
                  <a:cs typeface="Verdana"/>
                </a:rPr>
                <a:t>около</a:t>
              </a:r>
              <a:r>
                <a:rPr sz="700" spc="60">
                  <a:solidFill>
                    <a:srgbClr val="919191"/>
                  </a:solidFill>
                  <a:latin typeface="Verdana"/>
                  <a:cs typeface="Verdana"/>
                </a:rPr>
                <a:t> </a:t>
              </a:r>
              <a:r>
                <a:rPr sz="700" spc="-15">
                  <a:solidFill>
                    <a:srgbClr val="919191"/>
                  </a:solidFill>
                  <a:latin typeface="Verdana"/>
                  <a:cs typeface="Verdana"/>
                </a:rPr>
                <a:t>400</a:t>
              </a:r>
              <a:r>
                <a:rPr sz="700" spc="65">
                  <a:solidFill>
                    <a:srgbClr val="919191"/>
                  </a:solidFill>
                  <a:latin typeface="Verdana"/>
                  <a:cs typeface="Verdana"/>
                </a:rPr>
                <a:t> </a:t>
              </a:r>
              <a:r>
                <a:rPr sz="700" spc="-15">
                  <a:solidFill>
                    <a:srgbClr val="919191"/>
                  </a:solidFill>
                  <a:latin typeface="Verdana"/>
                  <a:cs typeface="Verdana"/>
                </a:rPr>
                <a:t>из</a:t>
              </a:r>
              <a:r>
                <a:rPr sz="700" spc="55">
                  <a:solidFill>
                    <a:srgbClr val="919191"/>
                  </a:solidFill>
                  <a:latin typeface="Verdana"/>
                  <a:cs typeface="Verdana"/>
                </a:rPr>
                <a:t> </a:t>
              </a:r>
              <a:r>
                <a:rPr sz="700" spc="-15">
                  <a:solidFill>
                    <a:srgbClr val="919191"/>
                  </a:solidFill>
                  <a:latin typeface="Verdana"/>
                  <a:cs typeface="Verdana"/>
                </a:rPr>
                <a:t>500</a:t>
              </a:r>
              <a:r>
                <a:rPr sz="700" spc="65">
                  <a:solidFill>
                    <a:srgbClr val="919191"/>
                  </a:solidFill>
                  <a:latin typeface="Verdana"/>
                  <a:cs typeface="Verdana"/>
                </a:rPr>
                <a:t> </a:t>
              </a:r>
              <a:r>
                <a:rPr sz="700" spc="-15">
                  <a:solidFill>
                    <a:srgbClr val="919191"/>
                  </a:solidFill>
                  <a:latin typeface="Verdana"/>
                  <a:cs typeface="Verdana"/>
                </a:rPr>
                <a:t>крупнейших</a:t>
              </a:r>
              <a:r>
                <a:rPr sz="700" spc="55">
                  <a:solidFill>
                    <a:srgbClr val="919191"/>
                  </a:solidFill>
                  <a:latin typeface="Verdana"/>
                  <a:cs typeface="Verdana"/>
                </a:rPr>
                <a:t> </a:t>
              </a:r>
              <a:r>
                <a:rPr sz="700" spc="-15">
                  <a:solidFill>
                    <a:srgbClr val="919191"/>
                  </a:solidFill>
                  <a:latin typeface="Verdana"/>
                  <a:cs typeface="Verdana"/>
                </a:rPr>
                <a:t>компаний </a:t>
              </a:r>
              <a:r>
                <a:rPr sz="700">
                  <a:solidFill>
                    <a:srgbClr val="919191"/>
                  </a:solidFill>
                  <a:latin typeface="Verdana"/>
                  <a:cs typeface="Verdana"/>
                </a:rPr>
                <a:t>мира</a:t>
              </a:r>
              <a:r>
                <a:rPr sz="700" spc="80">
                  <a:solidFill>
                    <a:srgbClr val="919191"/>
                  </a:solidFill>
                  <a:latin typeface="Verdana"/>
                  <a:cs typeface="Verdana"/>
                </a:rPr>
                <a:t> </a:t>
              </a:r>
              <a:r>
                <a:rPr sz="700">
                  <a:solidFill>
                    <a:srgbClr val="919191"/>
                  </a:solidFill>
                  <a:latin typeface="Verdana"/>
                  <a:cs typeface="Verdana"/>
                </a:rPr>
                <a:t>по</a:t>
              </a:r>
              <a:r>
                <a:rPr sz="700" spc="75">
                  <a:solidFill>
                    <a:srgbClr val="919191"/>
                  </a:solidFill>
                  <a:latin typeface="Verdana"/>
                  <a:cs typeface="Verdana"/>
                </a:rPr>
                <a:t> </a:t>
              </a:r>
              <a:r>
                <a:rPr sz="700">
                  <a:solidFill>
                    <a:srgbClr val="919191"/>
                  </a:solidFill>
                  <a:latin typeface="Verdana"/>
                  <a:cs typeface="Verdana"/>
                </a:rPr>
                <a:t>версии</a:t>
              </a:r>
              <a:r>
                <a:rPr sz="700" spc="75">
                  <a:solidFill>
                    <a:srgbClr val="919191"/>
                  </a:solidFill>
                  <a:latin typeface="Verdana"/>
                  <a:cs typeface="Verdana"/>
                </a:rPr>
                <a:t> </a:t>
              </a:r>
              <a:r>
                <a:rPr sz="700">
                  <a:solidFill>
                    <a:srgbClr val="919191"/>
                  </a:solidFill>
                  <a:latin typeface="Verdana"/>
                  <a:cs typeface="Verdana"/>
                </a:rPr>
                <a:t>журнала</a:t>
              </a:r>
              <a:r>
                <a:rPr sz="700" spc="80">
                  <a:solidFill>
                    <a:srgbClr val="919191"/>
                  </a:solidFill>
                  <a:latin typeface="Verdana"/>
                  <a:cs typeface="Verdana"/>
                </a:rPr>
                <a:t> </a:t>
              </a:r>
              <a:r>
                <a:rPr sz="700">
                  <a:solidFill>
                    <a:srgbClr val="919191"/>
                  </a:solidFill>
                  <a:latin typeface="Verdana"/>
                  <a:cs typeface="Verdana"/>
                </a:rPr>
                <a:t>Fortune.</a:t>
              </a:r>
              <a:r>
                <a:rPr sz="700" spc="75">
                  <a:solidFill>
                    <a:srgbClr val="919191"/>
                  </a:solidFill>
                  <a:latin typeface="Verdana"/>
                  <a:cs typeface="Verdana"/>
                </a:rPr>
                <a:t> </a:t>
              </a:r>
              <a:r>
                <a:rPr sz="700">
                  <a:solidFill>
                    <a:srgbClr val="919191"/>
                  </a:solidFill>
                  <a:latin typeface="Verdana"/>
                  <a:cs typeface="Verdana"/>
                </a:rPr>
                <a:t>Около</a:t>
              </a:r>
              <a:r>
                <a:rPr sz="700" spc="75">
                  <a:solidFill>
                    <a:srgbClr val="919191"/>
                  </a:solidFill>
                  <a:latin typeface="Verdana"/>
                  <a:cs typeface="Verdana"/>
                </a:rPr>
                <a:t> </a:t>
              </a:r>
              <a:r>
                <a:rPr sz="700">
                  <a:solidFill>
                    <a:srgbClr val="919191"/>
                  </a:solidFill>
                  <a:latin typeface="Verdana"/>
                  <a:cs typeface="Verdana"/>
                </a:rPr>
                <a:t>312</a:t>
              </a:r>
              <a:r>
                <a:rPr sz="700" spc="65">
                  <a:solidFill>
                    <a:srgbClr val="919191"/>
                  </a:solidFill>
                  <a:latin typeface="Verdana"/>
                  <a:cs typeface="Verdana"/>
                </a:rPr>
                <a:t> </a:t>
              </a:r>
              <a:r>
                <a:rPr sz="700">
                  <a:solidFill>
                    <a:srgbClr val="919191"/>
                  </a:solidFill>
                  <a:latin typeface="Verdana"/>
                  <a:cs typeface="Verdana"/>
                </a:rPr>
                <a:t>тысяч</a:t>
              </a:r>
              <a:r>
                <a:rPr sz="700" spc="75">
                  <a:solidFill>
                    <a:srgbClr val="919191"/>
                  </a:solidFill>
                  <a:latin typeface="Verdana"/>
                  <a:cs typeface="Verdana"/>
                </a:rPr>
                <a:t> </a:t>
              </a:r>
              <a:r>
                <a:rPr sz="700">
                  <a:solidFill>
                    <a:srgbClr val="919191"/>
                  </a:solidFill>
                  <a:latin typeface="Verdana"/>
                  <a:cs typeface="Verdana"/>
                </a:rPr>
                <a:t>специалистов</a:t>
              </a:r>
              <a:r>
                <a:rPr sz="700" spc="80">
                  <a:solidFill>
                    <a:srgbClr val="919191"/>
                  </a:solidFill>
                  <a:latin typeface="Verdana"/>
                  <a:cs typeface="Verdana"/>
                </a:rPr>
                <a:t> </a:t>
              </a:r>
              <a:r>
                <a:rPr sz="700">
                  <a:solidFill>
                    <a:srgbClr val="919191"/>
                  </a:solidFill>
                  <a:latin typeface="Verdana"/>
                  <a:cs typeface="Verdana"/>
                </a:rPr>
                <a:t>«Делойта»</a:t>
              </a:r>
              <a:r>
                <a:rPr sz="700" spc="70">
                  <a:solidFill>
                    <a:srgbClr val="919191"/>
                  </a:solidFill>
                  <a:latin typeface="Verdana"/>
                  <a:cs typeface="Verdana"/>
                </a:rPr>
                <a:t> </a:t>
              </a:r>
              <a:r>
                <a:rPr sz="700">
                  <a:solidFill>
                    <a:srgbClr val="919191"/>
                  </a:solidFill>
                  <a:latin typeface="Verdana"/>
                  <a:cs typeface="Verdana"/>
                </a:rPr>
                <a:t>по</a:t>
              </a:r>
              <a:r>
                <a:rPr sz="700" spc="75">
                  <a:solidFill>
                    <a:srgbClr val="919191"/>
                  </a:solidFill>
                  <a:latin typeface="Verdana"/>
                  <a:cs typeface="Verdana"/>
                </a:rPr>
                <a:t> </a:t>
              </a:r>
              <a:r>
                <a:rPr sz="700">
                  <a:solidFill>
                    <a:srgbClr val="919191"/>
                  </a:solidFill>
                  <a:latin typeface="Verdana"/>
                  <a:cs typeface="Verdana"/>
                </a:rPr>
                <a:t>всему</a:t>
              </a:r>
              <a:r>
                <a:rPr sz="700" spc="70">
                  <a:solidFill>
                    <a:srgbClr val="919191"/>
                  </a:solidFill>
                  <a:latin typeface="Verdana"/>
                  <a:cs typeface="Verdana"/>
                </a:rPr>
                <a:t> </a:t>
              </a:r>
              <a:r>
                <a:rPr sz="700">
                  <a:solidFill>
                    <a:srgbClr val="919191"/>
                  </a:solidFill>
                  <a:latin typeface="Verdana"/>
                  <a:cs typeface="Verdana"/>
                </a:rPr>
                <a:t>миру</a:t>
              </a:r>
              <a:r>
                <a:rPr sz="700" spc="70">
                  <a:solidFill>
                    <a:srgbClr val="919191"/>
                  </a:solidFill>
                  <a:latin typeface="Verdana"/>
                  <a:cs typeface="Verdana"/>
                </a:rPr>
                <a:t> </a:t>
              </a:r>
              <a:r>
                <a:rPr sz="700">
                  <a:solidFill>
                    <a:srgbClr val="919191"/>
                  </a:solidFill>
                  <a:latin typeface="Verdana"/>
                  <a:cs typeface="Verdana"/>
                </a:rPr>
                <a:t>привержены</a:t>
              </a:r>
              <a:r>
                <a:rPr sz="700" spc="75">
                  <a:solidFill>
                    <a:srgbClr val="919191"/>
                  </a:solidFill>
                  <a:latin typeface="Verdana"/>
                  <a:cs typeface="Verdana"/>
                </a:rPr>
                <a:t> </a:t>
              </a:r>
              <a:r>
                <a:rPr sz="700">
                  <a:solidFill>
                    <a:srgbClr val="919191"/>
                  </a:solidFill>
                  <a:latin typeface="Verdana"/>
                  <a:cs typeface="Verdana"/>
                </a:rPr>
                <a:t>идеям </a:t>
              </a:r>
              <a:r>
                <a:rPr sz="700" spc="-10">
                  <a:solidFill>
                    <a:srgbClr val="919191"/>
                  </a:solidFill>
                  <a:latin typeface="Verdana"/>
                  <a:cs typeface="Verdana"/>
                </a:rPr>
                <a:t>достижения</a:t>
              </a:r>
              <a:r>
                <a:rPr sz="700" spc="70">
                  <a:solidFill>
                    <a:srgbClr val="919191"/>
                  </a:solidFill>
                  <a:latin typeface="Verdana"/>
                  <a:cs typeface="Verdana"/>
                </a:rPr>
                <a:t> </a:t>
              </a:r>
              <a:r>
                <a:rPr sz="700" spc="-10">
                  <a:solidFill>
                    <a:srgbClr val="919191"/>
                  </a:solidFill>
                  <a:latin typeface="Verdana"/>
                  <a:cs typeface="Verdana"/>
                </a:rPr>
                <a:t>результатов,</a:t>
              </a:r>
              <a:r>
                <a:rPr sz="700" spc="65">
                  <a:solidFill>
                    <a:srgbClr val="919191"/>
                  </a:solidFill>
                  <a:latin typeface="Verdana"/>
                  <a:cs typeface="Verdana"/>
                </a:rPr>
                <a:t> </a:t>
              </a:r>
              <a:r>
                <a:rPr sz="700" spc="-10">
                  <a:solidFill>
                    <a:srgbClr val="919191"/>
                  </a:solidFill>
                  <a:latin typeface="Verdana"/>
                  <a:cs typeface="Verdana"/>
                </a:rPr>
                <a:t>которыми</a:t>
              </a:r>
              <a:r>
                <a:rPr sz="700" spc="65">
                  <a:solidFill>
                    <a:srgbClr val="919191"/>
                  </a:solidFill>
                  <a:latin typeface="Verdana"/>
                  <a:cs typeface="Verdana"/>
                </a:rPr>
                <a:t> </a:t>
              </a:r>
              <a:r>
                <a:rPr sz="700" spc="-10">
                  <a:solidFill>
                    <a:srgbClr val="919191"/>
                  </a:solidFill>
                  <a:latin typeface="Verdana"/>
                  <a:cs typeface="Verdana"/>
                </a:rPr>
                <a:t>мы</a:t>
              </a:r>
              <a:r>
                <a:rPr sz="700" spc="75">
                  <a:solidFill>
                    <a:srgbClr val="919191"/>
                  </a:solidFill>
                  <a:latin typeface="Verdana"/>
                  <a:cs typeface="Verdana"/>
                </a:rPr>
                <a:t> </a:t>
              </a:r>
              <a:r>
                <a:rPr sz="700" spc="-10">
                  <a:solidFill>
                    <a:srgbClr val="919191"/>
                  </a:solidFill>
                  <a:latin typeface="Verdana"/>
                  <a:cs typeface="Verdana"/>
                </a:rPr>
                <a:t>можем</a:t>
              </a:r>
              <a:r>
                <a:rPr sz="700" spc="60">
                  <a:solidFill>
                    <a:srgbClr val="919191"/>
                  </a:solidFill>
                  <a:latin typeface="Verdana"/>
                  <a:cs typeface="Verdana"/>
                </a:rPr>
                <a:t> </a:t>
              </a:r>
              <a:r>
                <a:rPr sz="700" spc="-10">
                  <a:solidFill>
                    <a:srgbClr val="919191"/>
                  </a:solidFill>
                  <a:latin typeface="Verdana"/>
                  <a:cs typeface="Verdana"/>
                </a:rPr>
                <a:t>гордиться.</a:t>
              </a:r>
              <a:r>
                <a:rPr sz="700" spc="55">
                  <a:solidFill>
                    <a:srgbClr val="919191"/>
                  </a:solidFill>
                  <a:latin typeface="Verdana"/>
                  <a:cs typeface="Verdana"/>
                </a:rPr>
                <a:t> </a:t>
              </a:r>
              <a:r>
                <a:rPr sz="700" spc="-10">
                  <a:solidFill>
                    <a:srgbClr val="919191"/>
                  </a:solidFill>
                  <a:latin typeface="Verdana"/>
                  <a:cs typeface="Verdana"/>
                </a:rPr>
                <a:t>Более</a:t>
              </a:r>
              <a:r>
                <a:rPr sz="700" spc="60">
                  <a:solidFill>
                    <a:srgbClr val="919191"/>
                  </a:solidFill>
                  <a:latin typeface="Verdana"/>
                  <a:cs typeface="Verdana"/>
                </a:rPr>
                <a:t> </a:t>
              </a:r>
              <a:r>
                <a:rPr sz="700" spc="-10">
                  <a:solidFill>
                    <a:srgbClr val="919191"/>
                  </a:solidFill>
                  <a:latin typeface="Verdana"/>
                  <a:cs typeface="Verdana"/>
                </a:rPr>
                <a:t>подробную</a:t>
              </a:r>
              <a:r>
                <a:rPr sz="700" spc="70">
                  <a:solidFill>
                    <a:srgbClr val="919191"/>
                  </a:solidFill>
                  <a:latin typeface="Verdana"/>
                  <a:cs typeface="Verdana"/>
                </a:rPr>
                <a:t> </a:t>
              </a:r>
              <a:r>
                <a:rPr sz="700" spc="-10">
                  <a:solidFill>
                    <a:srgbClr val="919191"/>
                  </a:solidFill>
                  <a:latin typeface="Verdana"/>
                  <a:cs typeface="Verdana"/>
                </a:rPr>
                <a:t>информацию</a:t>
              </a:r>
              <a:r>
                <a:rPr sz="700" spc="70">
                  <a:solidFill>
                    <a:srgbClr val="919191"/>
                  </a:solidFill>
                  <a:latin typeface="Verdana"/>
                  <a:cs typeface="Verdana"/>
                </a:rPr>
                <a:t> </a:t>
              </a:r>
              <a:r>
                <a:rPr sz="700" spc="-10">
                  <a:solidFill>
                    <a:srgbClr val="919191"/>
                  </a:solidFill>
                  <a:latin typeface="Verdana"/>
                  <a:cs typeface="Verdana"/>
                </a:rPr>
                <a:t>можно</a:t>
              </a:r>
              <a:r>
                <a:rPr sz="700" spc="65">
                  <a:solidFill>
                    <a:srgbClr val="919191"/>
                  </a:solidFill>
                  <a:latin typeface="Verdana"/>
                  <a:cs typeface="Verdana"/>
                </a:rPr>
                <a:t> </a:t>
              </a:r>
              <a:r>
                <a:rPr sz="700" spc="-10">
                  <a:solidFill>
                    <a:srgbClr val="919191"/>
                  </a:solidFill>
                  <a:latin typeface="Verdana"/>
                  <a:cs typeface="Verdana"/>
                </a:rPr>
                <a:t>получить</a:t>
              </a:r>
              <a:r>
                <a:rPr sz="700" spc="65">
                  <a:solidFill>
                    <a:srgbClr val="919191"/>
                  </a:solidFill>
                  <a:latin typeface="Verdana"/>
                  <a:cs typeface="Verdana"/>
                </a:rPr>
                <a:t> </a:t>
              </a:r>
              <a:r>
                <a:rPr sz="700" spc="-10">
                  <a:solidFill>
                    <a:srgbClr val="919191"/>
                  </a:solidFill>
                  <a:latin typeface="Verdana"/>
                  <a:cs typeface="Verdana"/>
                </a:rPr>
                <a:t>на</a:t>
              </a:r>
              <a:r>
                <a:rPr sz="700" spc="55">
                  <a:solidFill>
                    <a:srgbClr val="919191"/>
                  </a:solidFill>
                  <a:latin typeface="Verdana"/>
                  <a:cs typeface="Verdana"/>
                </a:rPr>
                <a:t> </a:t>
              </a:r>
              <a:r>
                <a:rPr sz="700" spc="-10">
                  <a:solidFill>
                    <a:srgbClr val="919191"/>
                  </a:solidFill>
                  <a:latin typeface="Verdana"/>
                  <a:cs typeface="Verdana"/>
                </a:rPr>
                <a:t>сайте </a:t>
              </a:r>
              <a:r>
                <a:rPr sz="700">
                  <a:solidFill>
                    <a:srgbClr val="919191"/>
                  </a:solidFill>
                  <a:latin typeface="Verdana"/>
                  <a:cs typeface="Verdana"/>
                  <a:hlinkClick r:id="rId5">
                    <a:extLst>
                      <a:ext uri="{A12FA001-AC4F-418D-AE19-62706E023703}">
                        <ahyp:hlinkClr xmlns:ahyp="http://schemas.microsoft.com/office/drawing/2018/hyperlinkcolor" val="tx"/>
                      </a:ext>
                    </a:extLst>
                  </a:hlinkClick>
                </a:rPr>
                <a:t>www.deloitte.com</a:t>
              </a:r>
              <a:r>
                <a:rPr sz="700">
                  <a:solidFill>
                    <a:srgbClr val="919191"/>
                  </a:solidFill>
                  <a:latin typeface="Verdana"/>
                  <a:cs typeface="Verdana"/>
                </a:rPr>
                <a:t>.</a:t>
              </a:r>
              <a:endParaRPr/>
            </a:p>
            <a:p>
              <a:pPr marL="12700" marR="12700">
                <a:lnSpc>
                  <a:spcPct val="100662"/>
                </a:lnSpc>
                <a:spcBef>
                  <a:spcPts val="600"/>
                </a:spcBef>
              </a:pPr>
              <a:r>
                <a:rPr sz="700" spc="-10">
                  <a:solidFill>
                    <a:srgbClr val="919191"/>
                  </a:solidFill>
                  <a:latin typeface="Verdana"/>
                  <a:cs typeface="Verdana"/>
                </a:rPr>
                <a:t>Настоящее</a:t>
              </a:r>
              <a:r>
                <a:rPr sz="700" spc="60">
                  <a:solidFill>
                    <a:srgbClr val="919191"/>
                  </a:solidFill>
                  <a:latin typeface="Verdana"/>
                  <a:cs typeface="Verdana"/>
                </a:rPr>
                <a:t> </a:t>
              </a:r>
              <a:r>
                <a:rPr sz="700" spc="-10">
                  <a:solidFill>
                    <a:srgbClr val="919191"/>
                  </a:solidFill>
                  <a:latin typeface="Verdana"/>
                  <a:cs typeface="Verdana"/>
                </a:rPr>
                <a:t>сообщение</a:t>
              </a:r>
              <a:r>
                <a:rPr sz="700" spc="60">
                  <a:solidFill>
                    <a:srgbClr val="919191"/>
                  </a:solidFill>
                  <a:latin typeface="Verdana"/>
                  <a:cs typeface="Verdana"/>
                </a:rPr>
                <a:t> </a:t>
              </a:r>
              <a:r>
                <a:rPr sz="700" spc="-10">
                  <a:solidFill>
                    <a:srgbClr val="919191"/>
                  </a:solidFill>
                  <a:latin typeface="Verdana"/>
                  <a:cs typeface="Verdana"/>
                </a:rPr>
                <a:t>содержит</a:t>
              </a:r>
              <a:r>
                <a:rPr sz="700" spc="80">
                  <a:solidFill>
                    <a:srgbClr val="919191"/>
                  </a:solidFill>
                  <a:latin typeface="Verdana"/>
                  <a:cs typeface="Verdana"/>
                </a:rPr>
                <a:t> </a:t>
              </a:r>
              <a:r>
                <a:rPr sz="700" spc="-10">
                  <a:solidFill>
                    <a:srgbClr val="919191"/>
                  </a:solidFill>
                  <a:latin typeface="Verdana"/>
                  <a:cs typeface="Verdana"/>
                </a:rPr>
                <a:t>исключительно</a:t>
              </a:r>
              <a:r>
                <a:rPr sz="700" spc="50">
                  <a:solidFill>
                    <a:srgbClr val="919191"/>
                  </a:solidFill>
                  <a:latin typeface="Verdana"/>
                  <a:cs typeface="Verdana"/>
                </a:rPr>
                <a:t> </a:t>
              </a:r>
              <a:r>
                <a:rPr sz="700" spc="-10">
                  <a:solidFill>
                    <a:srgbClr val="919191"/>
                  </a:solidFill>
                  <a:latin typeface="Verdana"/>
                  <a:cs typeface="Verdana"/>
                </a:rPr>
                <a:t>информацию</a:t>
              </a:r>
              <a:r>
                <a:rPr sz="700" spc="70">
                  <a:solidFill>
                    <a:srgbClr val="919191"/>
                  </a:solidFill>
                  <a:latin typeface="Verdana"/>
                  <a:cs typeface="Verdana"/>
                </a:rPr>
                <a:t> </a:t>
              </a:r>
              <a:r>
                <a:rPr sz="700" spc="-10">
                  <a:solidFill>
                    <a:srgbClr val="919191"/>
                  </a:solidFill>
                  <a:latin typeface="Verdana"/>
                  <a:cs typeface="Verdana"/>
                </a:rPr>
                <a:t>общего</a:t>
              </a:r>
              <a:r>
                <a:rPr sz="700" spc="65">
                  <a:solidFill>
                    <a:srgbClr val="919191"/>
                  </a:solidFill>
                  <a:latin typeface="Verdana"/>
                  <a:cs typeface="Verdana"/>
                </a:rPr>
                <a:t> </a:t>
              </a:r>
              <a:r>
                <a:rPr sz="700" spc="-10">
                  <a:solidFill>
                    <a:srgbClr val="919191"/>
                  </a:solidFill>
                  <a:latin typeface="Verdana"/>
                  <a:cs typeface="Verdana"/>
                </a:rPr>
                <a:t>характера.</a:t>
              </a:r>
              <a:r>
                <a:rPr sz="700" spc="55">
                  <a:solidFill>
                    <a:srgbClr val="919191"/>
                  </a:solidFill>
                  <a:latin typeface="Verdana"/>
                  <a:cs typeface="Verdana"/>
                </a:rPr>
                <a:t> </a:t>
              </a:r>
              <a:r>
                <a:rPr sz="700" spc="-10">
                  <a:solidFill>
                    <a:srgbClr val="919191"/>
                  </a:solidFill>
                  <a:latin typeface="Verdana"/>
                  <a:cs typeface="Verdana"/>
                </a:rPr>
                <a:t>Ни</a:t>
              </a:r>
              <a:r>
                <a:rPr sz="700" spc="65">
                  <a:solidFill>
                    <a:srgbClr val="919191"/>
                  </a:solidFill>
                  <a:latin typeface="Verdana"/>
                  <a:cs typeface="Verdana"/>
                </a:rPr>
                <a:t> </a:t>
              </a:r>
              <a:r>
                <a:rPr sz="700" spc="-10">
                  <a:solidFill>
                    <a:srgbClr val="919191"/>
                  </a:solidFill>
                  <a:latin typeface="Verdana"/>
                  <a:cs typeface="Verdana"/>
                </a:rPr>
                <a:t>компания</a:t>
              </a:r>
              <a:r>
                <a:rPr sz="700" spc="70">
                  <a:solidFill>
                    <a:srgbClr val="919191"/>
                  </a:solidFill>
                  <a:latin typeface="Verdana"/>
                  <a:cs typeface="Verdana"/>
                </a:rPr>
                <a:t> </a:t>
              </a:r>
              <a:r>
                <a:rPr sz="700" spc="-10">
                  <a:solidFill>
                    <a:srgbClr val="919191"/>
                  </a:solidFill>
                  <a:latin typeface="Verdana"/>
                  <a:cs typeface="Verdana"/>
                </a:rPr>
                <a:t>«Делойт</a:t>
              </a:r>
              <a:r>
                <a:rPr sz="700" spc="55">
                  <a:solidFill>
                    <a:srgbClr val="919191"/>
                  </a:solidFill>
                  <a:latin typeface="Verdana"/>
                  <a:cs typeface="Verdana"/>
                </a:rPr>
                <a:t> </a:t>
              </a:r>
              <a:r>
                <a:rPr sz="700" spc="-10">
                  <a:solidFill>
                    <a:srgbClr val="919191"/>
                  </a:solidFill>
                  <a:latin typeface="Verdana"/>
                  <a:cs typeface="Verdana"/>
                </a:rPr>
                <a:t>Туш</a:t>
              </a:r>
              <a:r>
                <a:rPr sz="700" spc="55">
                  <a:solidFill>
                    <a:srgbClr val="919191"/>
                  </a:solidFill>
                  <a:latin typeface="Verdana"/>
                  <a:cs typeface="Verdana"/>
                </a:rPr>
                <a:t> </a:t>
              </a:r>
              <a:r>
                <a:rPr sz="700" spc="-10">
                  <a:solidFill>
                    <a:srgbClr val="919191"/>
                  </a:solidFill>
                  <a:latin typeface="Verdana"/>
                  <a:cs typeface="Verdana"/>
                </a:rPr>
                <a:t>Томацу </a:t>
              </a:r>
              <a:r>
                <a:rPr sz="700">
                  <a:solidFill>
                    <a:srgbClr val="919191"/>
                  </a:solidFill>
                  <a:latin typeface="Verdana"/>
                  <a:cs typeface="Verdana"/>
                </a:rPr>
                <a:t>Лимитед»,</a:t>
              </a:r>
              <a:r>
                <a:rPr sz="700" spc="75">
                  <a:solidFill>
                    <a:srgbClr val="919191"/>
                  </a:solidFill>
                  <a:latin typeface="Verdana"/>
                  <a:cs typeface="Verdana"/>
                </a:rPr>
                <a:t> </a:t>
              </a:r>
              <a:r>
                <a:rPr sz="700">
                  <a:solidFill>
                    <a:srgbClr val="919191"/>
                  </a:solidFill>
                  <a:latin typeface="Verdana"/>
                  <a:cs typeface="Verdana"/>
                </a:rPr>
                <a:t>ни</a:t>
              </a:r>
              <a:r>
                <a:rPr sz="700" spc="65">
                  <a:solidFill>
                    <a:srgbClr val="919191"/>
                  </a:solidFill>
                  <a:latin typeface="Verdana"/>
                  <a:cs typeface="Verdana"/>
                </a:rPr>
                <a:t> </a:t>
              </a:r>
              <a:r>
                <a:rPr sz="700">
                  <a:solidFill>
                    <a:srgbClr val="919191"/>
                  </a:solidFill>
                  <a:latin typeface="Verdana"/>
                  <a:cs typeface="Verdana"/>
                </a:rPr>
                <a:t>входящие</a:t>
              </a:r>
              <a:r>
                <a:rPr sz="700" spc="80">
                  <a:solidFill>
                    <a:srgbClr val="919191"/>
                  </a:solidFill>
                  <a:latin typeface="Verdana"/>
                  <a:cs typeface="Verdana"/>
                </a:rPr>
                <a:t> </a:t>
              </a:r>
              <a:r>
                <a:rPr sz="700">
                  <a:solidFill>
                    <a:srgbClr val="919191"/>
                  </a:solidFill>
                  <a:latin typeface="Verdana"/>
                  <a:cs typeface="Verdana"/>
                </a:rPr>
                <a:t>в</a:t>
              </a:r>
              <a:r>
                <a:rPr sz="700" spc="70">
                  <a:solidFill>
                    <a:srgbClr val="919191"/>
                  </a:solidFill>
                  <a:latin typeface="Verdana"/>
                  <a:cs typeface="Verdana"/>
                </a:rPr>
                <a:t> </a:t>
              </a:r>
              <a:r>
                <a:rPr sz="700">
                  <a:solidFill>
                    <a:srgbClr val="919191"/>
                  </a:solidFill>
                  <a:latin typeface="Verdana"/>
                  <a:cs typeface="Verdana"/>
                </a:rPr>
                <a:t>нее</a:t>
              </a:r>
              <a:r>
                <a:rPr sz="700" spc="70">
                  <a:solidFill>
                    <a:srgbClr val="919191"/>
                  </a:solidFill>
                  <a:latin typeface="Verdana"/>
                  <a:cs typeface="Verdana"/>
                </a:rPr>
                <a:t> </a:t>
              </a:r>
              <a:r>
                <a:rPr sz="700">
                  <a:solidFill>
                    <a:srgbClr val="919191"/>
                  </a:solidFill>
                  <a:latin typeface="Verdana"/>
                  <a:cs typeface="Verdana"/>
                </a:rPr>
                <a:t>юридические</a:t>
              </a:r>
              <a:r>
                <a:rPr sz="700" spc="80">
                  <a:solidFill>
                    <a:srgbClr val="919191"/>
                  </a:solidFill>
                  <a:latin typeface="Verdana"/>
                  <a:cs typeface="Verdana"/>
                </a:rPr>
                <a:t> </a:t>
              </a:r>
              <a:r>
                <a:rPr sz="700">
                  <a:solidFill>
                    <a:srgbClr val="919191"/>
                  </a:solidFill>
                  <a:latin typeface="Verdana"/>
                  <a:cs typeface="Verdana"/>
                </a:rPr>
                <a:t>лица,</a:t>
              </a:r>
              <a:r>
                <a:rPr sz="700" spc="65">
                  <a:solidFill>
                    <a:srgbClr val="919191"/>
                  </a:solidFill>
                  <a:latin typeface="Verdana"/>
                  <a:cs typeface="Verdana"/>
                </a:rPr>
                <a:t> </a:t>
              </a:r>
              <a:r>
                <a:rPr sz="700">
                  <a:solidFill>
                    <a:srgbClr val="919191"/>
                  </a:solidFill>
                  <a:latin typeface="Verdana"/>
                  <a:cs typeface="Verdana"/>
                </a:rPr>
                <a:t>ни</a:t>
              </a:r>
              <a:r>
                <a:rPr sz="700" spc="75">
                  <a:solidFill>
                    <a:srgbClr val="919191"/>
                  </a:solidFill>
                  <a:latin typeface="Verdana"/>
                  <a:cs typeface="Verdana"/>
                </a:rPr>
                <a:t> </a:t>
              </a:r>
              <a:r>
                <a:rPr sz="700">
                  <a:solidFill>
                    <a:srgbClr val="919191"/>
                  </a:solidFill>
                  <a:latin typeface="Verdana"/>
                  <a:cs typeface="Verdana"/>
                </a:rPr>
                <a:t>их</a:t>
              </a:r>
              <a:r>
                <a:rPr sz="700" spc="70">
                  <a:solidFill>
                    <a:srgbClr val="919191"/>
                  </a:solidFill>
                  <a:latin typeface="Verdana"/>
                  <a:cs typeface="Verdana"/>
                </a:rPr>
                <a:t> </a:t>
              </a:r>
              <a:r>
                <a:rPr sz="700">
                  <a:solidFill>
                    <a:srgbClr val="919191"/>
                  </a:solidFill>
                  <a:latin typeface="Verdana"/>
                  <a:cs typeface="Verdana"/>
                </a:rPr>
                <a:t>аффилированные</a:t>
              </a:r>
              <a:r>
                <a:rPr sz="700" spc="70">
                  <a:solidFill>
                    <a:srgbClr val="919191"/>
                  </a:solidFill>
                  <a:latin typeface="Verdana"/>
                  <a:cs typeface="Verdana"/>
                </a:rPr>
                <a:t> </a:t>
              </a:r>
              <a:r>
                <a:rPr sz="700">
                  <a:solidFill>
                    <a:srgbClr val="919191"/>
                  </a:solidFill>
                  <a:latin typeface="Verdana"/>
                  <a:cs typeface="Verdana"/>
                </a:rPr>
                <a:t>лица</a:t>
              </a:r>
              <a:r>
                <a:rPr sz="700" spc="80">
                  <a:solidFill>
                    <a:srgbClr val="919191"/>
                  </a:solidFill>
                  <a:latin typeface="Verdana"/>
                  <a:cs typeface="Verdana"/>
                </a:rPr>
                <a:t> </a:t>
              </a:r>
              <a:r>
                <a:rPr sz="700">
                  <a:solidFill>
                    <a:srgbClr val="919191"/>
                  </a:solidFill>
                  <a:latin typeface="Verdana"/>
                  <a:cs typeface="Verdana"/>
                </a:rPr>
                <a:t>не</a:t>
              </a:r>
              <a:r>
                <a:rPr sz="700" spc="70">
                  <a:solidFill>
                    <a:srgbClr val="919191"/>
                  </a:solidFill>
                  <a:latin typeface="Verdana"/>
                  <a:cs typeface="Verdana"/>
                </a:rPr>
                <a:t> </a:t>
              </a:r>
              <a:r>
                <a:rPr sz="700">
                  <a:solidFill>
                    <a:srgbClr val="919191"/>
                  </a:solidFill>
                  <a:latin typeface="Verdana"/>
                  <a:cs typeface="Verdana"/>
                </a:rPr>
                <a:t>предоставляют</a:t>
              </a:r>
              <a:r>
                <a:rPr sz="700" spc="90">
                  <a:solidFill>
                    <a:srgbClr val="919191"/>
                  </a:solidFill>
                  <a:latin typeface="Verdana"/>
                  <a:cs typeface="Verdana"/>
                </a:rPr>
                <a:t> </a:t>
              </a:r>
              <a:r>
                <a:rPr sz="700">
                  <a:solidFill>
                    <a:srgbClr val="919191"/>
                  </a:solidFill>
                  <a:latin typeface="Verdana"/>
                  <a:cs typeface="Verdana"/>
                </a:rPr>
                <a:t>посредством </a:t>
              </a:r>
              <a:r>
                <a:rPr sz="700" spc="-10">
                  <a:solidFill>
                    <a:srgbClr val="919191"/>
                  </a:solidFill>
                  <a:latin typeface="Verdana"/>
                  <a:cs typeface="Verdana"/>
                </a:rPr>
                <a:t>данного</a:t>
              </a:r>
              <a:r>
                <a:rPr sz="700" spc="65">
                  <a:solidFill>
                    <a:srgbClr val="919191"/>
                  </a:solidFill>
                  <a:latin typeface="Verdana"/>
                  <a:cs typeface="Verdana"/>
                </a:rPr>
                <a:t> </a:t>
              </a:r>
              <a:r>
                <a:rPr sz="700" spc="-10">
                  <a:solidFill>
                    <a:srgbClr val="919191"/>
                  </a:solidFill>
                  <a:latin typeface="Verdana"/>
                  <a:cs typeface="Verdana"/>
                </a:rPr>
                <a:t>сообщения</a:t>
              </a:r>
              <a:r>
                <a:rPr sz="700" spc="70">
                  <a:solidFill>
                    <a:srgbClr val="919191"/>
                  </a:solidFill>
                  <a:latin typeface="Verdana"/>
                  <a:cs typeface="Verdana"/>
                </a:rPr>
                <a:t> </a:t>
              </a:r>
              <a:r>
                <a:rPr sz="700" spc="-10">
                  <a:solidFill>
                    <a:srgbClr val="919191"/>
                  </a:solidFill>
                  <a:latin typeface="Verdana"/>
                  <a:cs typeface="Verdana"/>
                </a:rPr>
                <a:t>каких-либо</a:t>
              </a:r>
              <a:r>
                <a:rPr sz="700" spc="65">
                  <a:solidFill>
                    <a:srgbClr val="919191"/>
                  </a:solidFill>
                  <a:latin typeface="Verdana"/>
                  <a:cs typeface="Verdana"/>
                </a:rPr>
                <a:t> </a:t>
              </a:r>
              <a:r>
                <a:rPr sz="700" spc="-10">
                  <a:solidFill>
                    <a:srgbClr val="919191"/>
                  </a:solidFill>
                  <a:latin typeface="Verdana"/>
                  <a:cs typeface="Verdana"/>
                </a:rPr>
                <a:t>консультаций</a:t>
              </a:r>
              <a:r>
                <a:rPr sz="700" spc="65">
                  <a:solidFill>
                    <a:srgbClr val="919191"/>
                  </a:solidFill>
                  <a:latin typeface="Verdana"/>
                  <a:cs typeface="Verdana"/>
                </a:rPr>
                <a:t> </a:t>
              </a:r>
              <a:r>
                <a:rPr sz="700" spc="-10">
                  <a:solidFill>
                    <a:srgbClr val="919191"/>
                  </a:solidFill>
                  <a:latin typeface="Verdana"/>
                  <a:cs typeface="Verdana"/>
                </a:rPr>
                <a:t>или</a:t>
              </a:r>
              <a:r>
                <a:rPr sz="700" spc="65">
                  <a:solidFill>
                    <a:srgbClr val="919191"/>
                  </a:solidFill>
                  <a:latin typeface="Verdana"/>
                  <a:cs typeface="Verdana"/>
                </a:rPr>
                <a:t> </a:t>
              </a:r>
              <a:r>
                <a:rPr sz="700" spc="-10">
                  <a:solidFill>
                    <a:srgbClr val="919191"/>
                  </a:solidFill>
                  <a:latin typeface="Verdana"/>
                  <a:cs typeface="Verdana"/>
                </a:rPr>
                <a:t>услуг</a:t>
              </a:r>
              <a:r>
                <a:rPr sz="700" spc="65">
                  <a:solidFill>
                    <a:srgbClr val="919191"/>
                  </a:solidFill>
                  <a:latin typeface="Verdana"/>
                  <a:cs typeface="Verdana"/>
                </a:rPr>
                <a:t> </a:t>
              </a:r>
              <a:r>
                <a:rPr sz="700" spc="-10">
                  <a:solidFill>
                    <a:srgbClr val="919191"/>
                  </a:solidFill>
                  <a:latin typeface="Verdana"/>
                  <a:cs typeface="Verdana"/>
                </a:rPr>
                <a:t>профессионального</a:t>
              </a:r>
              <a:r>
                <a:rPr sz="700" spc="65">
                  <a:solidFill>
                    <a:srgbClr val="919191"/>
                  </a:solidFill>
                  <a:latin typeface="Verdana"/>
                  <a:cs typeface="Verdana"/>
                </a:rPr>
                <a:t> </a:t>
              </a:r>
              <a:r>
                <a:rPr sz="700" spc="-10">
                  <a:solidFill>
                    <a:srgbClr val="919191"/>
                  </a:solidFill>
                  <a:latin typeface="Verdana"/>
                  <a:cs typeface="Verdana"/>
                </a:rPr>
                <a:t>характера.</a:t>
              </a:r>
              <a:r>
                <a:rPr sz="700" spc="55">
                  <a:solidFill>
                    <a:srgbClr val="919191"/>
                  </a:solidFill>
                  <a:latin typeface="Verdana"/>
                  <a:cs typeface="Verdana"/>
                </a:rPr>
                <a:t> </a:t>
              </a:r>
              <a:r>
                <a:rPr sz="700" spc="-10">
                  <a:solidFill>
                    <a:srgbClr val="919191"/>
                  </a:solidFill>
                  <a:latin typeface="Verdana"/>
                  <a:cs typeface="Verdana"/>
                </a:rPr>
                <a:t>Прежде</a:t>
              </a:r>
              <a:r>
                <a:rPr sz="700" spc="70">
                  <a:solidFill>
                    <a:srgbClr val="919191"/>
                  </a:solidFill>
                  <a:latin typeface="Verdana"/>
                  <a:cs typeface="Verdana"/>
                </a:rPr>
                <a:t> </a:t>
              </a:r>
              <a:r>
                <a:rPr sz="700" spc="-10">
                  <a:solidFill>
                    <a:srgbClr val="919191"/>
                  </a:solidFill>
                  <a:latin typeface="Verdana"/>
                  <a:cs typeface="Verdana"/>
                </a:rPr>
                <a:t>чем</a:t>
              </a:r>
              <a:r>
                <a:rPr sz="700" spc="50">
                  <a:solidFill>
                    <a:srgbClr val="919191"/>
                  </a:solidFill>
                  <a:latin typeface="Verdana"/>
                  <a:cs typeface="Verdana"/>
                </a:rPr>
                <a:t> </a:t>
              </a:r>
              <a:r>
                <a:rPr sz="700" spc="-10">
                  <a:solidFill>
                    <a:srgbClr val="919191"/>
                  </a:solidFill>
                  <a:latin typeface="Verdana"/>
                  <a:cs typeface="Verdana"/>
                </a:rPr>
                <a:t>принять</a:t>
              </a:r>
              <a:r>
                <a:rPr sz="700" spc="65">
                  <a:solidFill>
                    <a:srgbClr val="919191"/>
                  </a:solidFill>
                  <a:latin typeface="Verdana"/>
                  <a:cs typeface="Verdana"/>
                </a:rPr>
                <a:t> </a:t>
              </a:r>
              <a:r>
                <a:rPr sz="700" spc="-10">
                  <a:solidFill>
                    <a:srgbClr val="919191"/>
                  </a:solidFill>
                  <a:latin typeface="Verdana"/>
                  <a:cs typeface="Verdana"/>
                </a:rPr>
                <a:t>какое-либо</a:t>
              </a:r>
              <a:r>
                <a:rPr sz="700" spc="65">
                  <a:solidFill>
                    <a:srgbClr val="919191"/>
                  </a:solidFill>
                  <a:latin typeface="Verdana"/>
                  <a:cs typeface="Verdana"/>
                </a:rPr>
                <a:t> </a:t>
              </a:r>
              <a:r>
                <a:rPr sz="700" spc="-10">
                  <a:solidFill>
                    <a:srgbClr val="919191"/>
                  </a:solidFill>
                  <a:latin typeface="Verdana"/>
                  <a:cs typeface="Verdana"/>
                </a:rPr>
                <a:t>решение</a:t>
              </a:r>
              <a:r>
                <a:rPr sz="700" spc="60">
                  <a:solidFill>
                    <a:srgbClr val="919191"/>
                  </a:solidFill>
                  <a:latin typeface="Verdana"/>
                  <a:cs typeface="Verdana"/>
                </a:rPr>
                <a:t> </a:t>
              </a:r>
              <a:r>
                <a:rPr sz="700" spc="-10">
                  <a:solidFill>
                    <a:srgbClr val="919191"/>
                  </a:solidFill>
                  <a:latin typeface="Verdana"/>
                  <a:cs typeface="Verdana"/>
                </a:rPr>
                <a:t>или</a:t>
              </a:r>
              <a:r>
                <a:rPr sz="700" spc="65">
                  <a:solidFill>
                    <a:srgbClr val="919191"/>
                  </a:solidFill>
                  <a:latin typeface="Verdana"/>
                  <a:cs typeface="Verdana"/>
                </a:rPr>
                <a:t> </a:t>
              </a:r>
              <a:r>
                <a:rPr sz="700" spc="-10">
                  <a:solidFill>
                    <a:srgbClr val="919191"/>
                  </a:solidFill>
                  <a:latin typeface="Verdana"/>
                  <a:cs typeface="Verdana"/>
                </a:rPr>
                <a:t>предпринять</a:t>
              </a:r>
              <a:r>
                <a:rPr sz="700" spc="75">
                  <a:solidFill>
                    <a:srgbClr val="919191"/>
                  </a:solidFill>
                  <a:latin typeface="Verdana"/>
                  <a:cs typeface="Verdana"/>
                </a:rPr>
                <a:t> </a:t>
              </a:r>
              <a:r>
                <a:rPr sz="700" spc="-10">
                  <a:solidFill>
                    <a:srgbClr val="919191"/>
                  </a:solidFill>
                  <a:latin typeface="Verdana"/>
                  <a:cs typeface="Verdana"/>
                </a:rPr>
                <a:t>какие-либо</a:t>
              </a:r>
              <a:r>
                <a:rPr sz="700" spc="65">
                  <a:solidFill>
                    <a:srgbClr val="919191"/>
                  </a:solidFill>
                  <a:latin typeface="Verdana"/>
                  <a:cs typeface="Verdana"/>
                </a:rPr>
                <a:t> </a:t>
              </a:r>
              <a:r>
                <a:rPr sz="700" spc="-10">
                  <a:solidFill>
                    <a:srgbClr val="919191"/>
                  </a:solidFill>
                  <a:latin typeface="Verdana"/>
                  <a:cs typeface="Verdana"/>
                </a:rPr>
                <a:t>действия,</a:t>
              </a:r>
              <a:r>
                <a:rPr sz="700" spc="65">
                  <a:solidFill>
                    <a:srgbClr val="919191"/>
                  </a:solidFill>
                  <a:latin typeface="Verdana"/>
                  <a:cs typeface="Verdana"/>
                </a:rPr>
                <a:t> </a:t>
              </a:r>
              <a:r>
                <a:rPr sz="700" spc="-10">
                  <a:solidFill>
                    <a:srgbClr val="919191"/>
                  </a:solidFill>
                  <a:latin typeface="Verdana"/>
                  <a:cs typeface="Verdana"/>
                </a:rPr>
                <a:t>которые</a:t>
              </a:r>
              <a:r>
                <a:rPr sz="700" spc="70">
                  <a:solidFill>
                    <a:srgbClr val="919191"/>
                  </a:solidFill>
                  <a:latin typeface="Verdana"/>
                  <a:cs typeface="Verdana"/>
                </a:rPr>
                <a:t> </a:t>
              </a:r>
              <a:r>
                <a:rPr sz="700" spc="-10">
                  <a:solidFill>
                    <a:srgbClr val="919191"/>
                  </a:solidFill>
                  <a:latin typeface="Verdana"/>
                  <a:cs typeface="Verdana"/>
                </a:rPr>
                <a:t>могут</a:t>
              </a:r>
              <a:r>
                <a:rPr sz="700" spc="70">
                  <a:solidFill>
                    <a:srgbClr val="919191"/>
                  </a:solidFill>
                  <a:latin typeface="Verdana"/>
                  <a:cs typeface="Verdana"/>
                </a:rPr>
                <a:t> </a:t>
              </a:r>
              <a:r>
                <a:rPr sz="700" spc="-10">
                  <a:solidFill>
                    <a:srgbClr val="919191"/>
                  </a:solidFill>
                  <a:latin typeface="Verdana"/>
                  <a:cs typeface="Verdana"/>
                </a:rPr>
                <a:t>отразиться</a:t>
              </a:r>
              <a:r>
                <a:rPr sz="700" spc="70">
                  <a:solidFill>
                    <a:srgbClr val="919191"/>
                  </a:solidFill>
                  <a:latin typeface="Verdana"/>
                  <a:cs typeface="Verdana"/>
                </a:rPr>
                <a:t> </a:t>
              </a:r>
              <a:r>
                <a:rPr sz="700" spc="-10">
                  <a:solidFill>
                    <a:srgbClr val="919191"/>
                  </a:solidFill>
                  <a:latin typeface="Verdana"/>
                  <a:cs typeface="Verdana"/>
                </a:rPr>
                <a:t>на</a:t>
              </a:r>
              <a:r>
                <a:rPr sz="700" spc="55">
                  <a:solidFill>
                    <a:srgbClr val="919191"/>
                  </a:solidFill>
                  <a:latin typeface="Verdana"/>
                  <a:cs typeface="Verdana"/>
                </a:rPr>
                <a:t> </a:t>
              </a:r>
              <a:r>
                <a:rPr sz="700" spc="-10">
                  <a:solidFill>
                    <a:srgbClr val="919191"/>
                  </a:solidFill>
                  <a:latin typeface="Verdana"/>
                  <a:cs typeface="Verdana"/>
                </a:rPr>
                <a:t>вашем</a:t>
              </a:r>
              <a:r>
                <a:rPr sz="700" spc="60">
                  <a:solidFill>
                    <a:srgbClr val="919191"/>
                  </a:solidFill>
                  <a:latin typeface="Verdana"/>
                  <a:cs typeface="Verdana"/>
                </a:rPr>
                <a:t> </a:t>
              </a:r>
              <a:r>
                <a:rPr sz="700" spc="-10">
                  <a:solidFill>
                    <a:srgbClr val="919191"/>
                  </a:solidFill>
                  <a:latin typeface="Verdana"/>
                  <a:cs typeface="Verdana"/>
                </a:rPr>
                <a:t>финансовом</a:t>
              </a:r>
              <a:r>
                <a:rPr sz="700" spc="60">
                  <a:solidFill>
                    <a:srgbClr val="919191"/>
                  </a:solidFill>
                  <a:latin typeface="Verdana"/>
                  <a:cs typeface="Verdana"/>
                </a:rPr>
                <a:t> </a:t>
              </a:r>
              <a:r>
                <a:rPr sz="700" spc="-10">
                  <a:solidFill>
                    <a:srgbClr val="919191"/>
                  </a:solidFill>
                  <a:latin typeface="Verdana"/>
                  <a:cs typeface="Verdana"/>
                </a:rPr>
                <a:t>положении </a:t>
              </a:r>
              <a:r>
                <a:rPr sz="700">
                  <a:solidFill>
                    <a:srgbClr val="919191"/>
                  </a:solidFill>
                  <a:latin typeface="Verdana"/>
                  <a:cs typeface="Verdana"/>
                </a:rPr>
                <a:t>или</a:t>
              </a:r>
              <a:r>
                <a:rPr sz="700" spc="75">
                  <a:solidFill>
                    <a:srgbClr val="919191"/>
                  </a:solidFill>
                  <a:latin typeface="Verdana"/>
                  <a:cs typeface="Verdana"/>
                </a:rPr>
                <a:t> </a:t>
              </a:r>
              <a:r>
                <a:rPr sz="700">
                  <a:solidFill>
                    <a:srgbClr val="919191"/>
                  </a:solidFill>
                  <a:latin typeface="Verdana"/>
                  <a:cs typeface="Verdana"/>
                </a:rPr>
                <a:t>состоянии</a:t>
              </a:r>
              <a:r>
                <a:rPr sz="700" spc="75">
                  <a:solidFill>
                    <a:srgbClr val="919191"/>
                  </a:solidFill>
                  <a:latin typeface="Verdana"/>
                  <a:cs typeface="Verdana"/>
                </a:rPr>
                <a:t> </a:t>
              </a:r>
              <a:r>
                <a:rPr sz="700">
                  <a:solidFill>
                    <a:srgbClr val="919191"/>
                  </a:solidFill>
                  <a:latin typeface="Verdana"/>
                  <a:cs typeface="Verdana"/>
                </a:rPr>
                <a:t>дел,</a:t>
              </a:r>
              <a:r>
                <a:rPr sz="700" spc="75">
                  <a:solidFill>
                    <a:srgbClr val="919191"/>
                  </a:solidFill>
                  <a:latin typeface="Verdana"/>
                  <a:cs typeface="Verdana"/>
                </a:rPr>
                <a:t> </a:t>
              </a:r>
              <a:r>
                <a:rPr sz="700">
                  <a:solidFill>
                    <a:srgbClr val="919191"/>
                  </a:solidFill>
                  <a:latin typeface="Verdana"/>
                  <a:cs typeface="Verdana"/>
                </a:rPr>
                <a:t>проконсультируйтесь</a:t>
              </a:r>
              <a:r>
                <a:rPr sz="700" spc="65">
                  <a:solidFill>
                    <a:srgbClr val="919191"/>
                  </a:solidFill>
                  <a:latin typeface="Verdana"/>
                  <a:cs typeface="Verdana"/>
                </a:rPr>
                <a:t> </a:t>
              </a:r>
              <a:r>
                <a:rPr sz="700">
                  <a:solidFill>
                    <a:srgbClr val="919191"/>
                  </a:solidFill>
                  <a:latin typeface="Verdana"/>
                  <a:cs typeface="Verdana"/>
                </a:rPr>
                <a:t>с</a:t>
              </a:r>
              <a:r>
                <a:rPr sz="700" spc="75">
                  <a:solidFill>
                    <a:srgbClr val="919191"/>
                  </a:solidFill>
                  <a:latin typeface="Verdana"/>
                  <a:cs typeface="Verdana"/>
                </a:rPr>
                <a:t> </a:t>
              </a:r>
              <a:r>
                <a:rPr sz="700">
                  <a:solidFill>
                    <a:srgbClr val="919191"/>
                  </a:solidFill>
                  <a:latin typeface="Verdana"/>
                  <a:cs typeface="Verdana"/>
                </a:rPr>
                <a:t>квалифицированным</a:t>
              </a:r>
              <a:r>
                <a:rPr sz="700" spc="70">
                  <a:solidFill>
                    <a:srgbClr val="919191"/>
                  </a:solidFill>
                  <a:latin typeface="Verdana"/>
                  <a:cs typeface="Verdana"/>
                </a:rPr>
                <a:t> </a:t>
              </a:r>
              <a:r>
                <a:rPr sz="700">
                  <a:solidFill>
                    <a:srgbClr val="919191"/>
                  </a:solidFill>
                  <a:latin typeface="Verdana"/>
                  <a:cs typeface="Verdana"/>
                </a:rPr>
                <a:t>специалистом.</a:t>
              </a:r>
              <a:r>
                <a:rPr sz="700" spc="65">
                  <a:solidFill>
                    <a:srgbClr val="919191"/>
                  </a:solidFill>
                  <a:latin typeface="Verdana"/>
                  <a:cs typeface="Verdana"/>
                </a:rPr>
                <a:t> </a:t>
              </a:r>
              <a:r>
                <a:rPr sz="700">
                  <a:solidFill>
                    <a:srgbClr val="919191"/>
                  </a:solidFill>
                  <a:latin typeface="Verdana"/>
                  <a:cs typeface="Verdana"/>
                </a:rPr>
                <a:t>Ни</a:t>
              </a:r>
              <a:r>
                <a:rPr sz="700" spc="75">
                  <a:solidFill>
                    <a:srgbClr val="919191"/>
                  </a:solidFill>
                  <a:latin typeface="Verdana"/>
                  <a:cs typeface="Verdana"/>
                </a:rPr>
                <a:t> </a:t>
              </a:r>
              <a:r>
                <a:rPr sz="700">
                  <a:solidFill>
                    <a:srgbClr val="919191"/>
                  </a:solidFill>
                  <a:latin typeface="Verdana"/>
                  <a:cs typeface="Verdana"/>
                </a:rPr>
                <a:t>одно</a:t>
              </a:r>
              <a:r>
                <a:rPr sz="700" spc="75">
                  <a:solidFill>
                    <a:srgbClr val="919191"/>
                  </a:solidFill>
                  <a:latin typeface="Verdana"/>
                  <a:cs typeface="Verdana"/>
                </a:rPr>
                <a:t> </a:t>
              </a:r>
              <a:r>
                <a:rPr sz="700">
                  <a:solidFill>
                    <a:srgbClr val="919191"/>
                  </a:solidFill>
                  <a:latin typeface="Verdana"/>
                  <a:cs typeface="Verdana"/>
                </a:rPr>
                <a:t>из</a:t>
              </a:r>
              <a:r>
                <a:rPr sz="700" spc="60">
                  <a:solidFill>
                    <a:srgbClr val="919191"/>
                  </a:solidFill>
                  <a:latin typeface="Verdana"/>
                  <a:cs typeface="Verdana"/>
                </a:rPr>
                <a:t> </a:t>
              </a:r>
              <a:r>
                <a:rPr sz="700">
                  <a:solidFill>
                    <a:srgbClr val="919191"/>
                  </a:solidFill>
                  <a:latin typeface="Verdana"/>
                  <a:cs typeface="Verdana"/>
                </a:rPr>
                <a:t>юридических</a:t>
              </a:r>
              <a:r>
                <a:rPr sz="700" spc="60">
                  <a:solidFill>
                    <a:srgbClr val="919191"/>
                  </a:solidFill>
                  <a:latin typeface="Verdana"/>
                  <a:cs typeface="Verdana"/>
                </a:rPr>
                <a:t> </a:t>
              </a:r>
              <a:r>
                <a:rPr sz="700">
                  <a:solidFill>
                    <a:srgbClr val="919191"/>
                  </a:solidFill>
                  <a:latin typeface="Verdana"/>
                  <a:cs typeface="Verdana"/>
                </a:rPr>
                <a:t>лиц, </a:t>
              </a:r>
              <a:r>
                <a:rPr sz="700" spc="-5">
                  <a:solidFill>
                    <a:srgbClr val="919191"/>
                  </a:solidFill>
                  <a:latin typeface="Verdana"/>
                  <a:cs typeface="Verdana"/>
                </a:rPr>
                <a:t>входящих</a:t>
              </a:r>
              <a:r>
                <a:rPr sz="700" spc="55">
                  <a:solidFill>
                    <a:srgbClr val="919191"/>
                  </a:solidFill>
                  <a:latin typeface="Verdana"/>
                  <a:cs typeface="Verdana"/>
                </a:rPr>
                <a:t> </a:t>
              </a:r>
              <a:r>
                <a:rPr sz="700" spc="-5">
                  <a:solidFill>
                    <a:srgbClr val="919191"/>
                  </a:solidFill>
                  <a:latin typeface="Verdana"/>
                  <a:cs typeface="Verdana"/>
                </a:rPr>
                <a:t>в</a:t>
              </a:r>
              <a:r>
                <a:rPr sz="700" spc="75">
                  <a:solidFill>
                    <a:srgbClr val="919191"/>
                  </a:solidFill>
                  <a:latin typeface="Verdana"/>
                  <a:cs typeface="Verdana"/>
                </a:rPr>
                <a:t> </a:t>
              </a:r>
              <a:r>
                <a:rPr sz="700" spc="-5">
                  <a:solidFill>
                    <a:srgbClr val="919191"/>
                  </a:solidFill>
                  <a:latin typeface="Verdana"/>
                  <a:cs typeface="Verdana"/>
                </a:rPr>
                <a:t>международную</a:t>
              </a:r>
              <a:r>
                <a:rPr sz="700" spc="65">
                  <a:solidFill>
                    <a:srgbClr val="919191"/>
                  </a:solidFill>
                  <a:latin typeface="Verdana"/>
                  <a:cs typeface="Verdana"/>
                </a:rPr>
                <a:t> </a:t>
              </a:r>
              <a:r>
                <a:rPr sz="700" spc="-5">
                  <a:solidFill>
                    <a:srgbClr val="919191"/>
                  </a:solidFill>
                  <a:latin typeface="Verdana"/>
                  <a:cs typeface="Verdana"/>
                </a:rPr>
                <a:t>сеть</a:t>
              </a:r>
              <a:r>
                <a:rPr sz="700" spc="70">
                  <a:solidFill>
                    <a:srgbClr val="919191"/>
                  </a:solidFill>
                  <a:latin typeface="Verdana"/>
                  <a:cs typeface="Verdana"/>
                </a:rPr>
                <a:t> </a:t>
              </a:r>
              <a:r>
                <a:rPr sz="700" spc="-5">
                  <a:solidFill>
                    <a:srgbClr val="919191"/>
                  </a:solidFill>
                  <a:latin typeface="Verdana"/>
                  <a:cs typeface="Verdana"/>
                </a:rPr>
                <a:t>«Делойт»,</a:t>
              </a:r>
              <a:r>
                <a:rPr sz="700" spc="70">
                  <a:solidFill>
                    <a:srgbClr val="919191"/>
                  </a:solidFill>
                  <a:latin typeface="Verdana"/>
                  <a:cs typeface="Verdana"/>
                </a:rPr>
                <a:t> </a:t>
              </a:r>
              <a:r>
                <a:rPr sz="700" spc="-5">
                  <a:solidFill>
                    <a:srgbClr val="919191"/>
                  </a:solidFill>
                  <a:latin typeface="Verdana"/>
                  <a:cs typeface="Verdana"/>
                </a:rPr>
                <a:t>не</a:t>
              </a:r>
              <a:r>
                <a:rPr sz="700" spc="65">
                  <a:solidFill>
                    <a:srgbClr val="919191"/>
                  </a:solidFill>
                  <a:latin typeface="Verdana"/>
                  <a:cs typeface="Verdana"/>
                </a:rPr>
                <a:t> </a:t>
              </a:r>
              <a:r>
                <a:rPr sz="700" spc="-5">
                  <a:solidFill>
                    <a:srgbClr val="919191"/>
                  </a:solidFill>
                  <a:latin typeface="Verdana"/>
                  <a:cs typeface="Verdana"/>
                </a:rPr>
                <a:t>несет</a:t>
              </a:r>
              <a:r>
                <a:rPr sz="700" spc="75">
                  <a:solidFill>
                    <a:srgbClr val="919191"/>
                  </a:solidFill>
                  <a:latin typeface="Verdana"/>
                  <a:cs typeface="Verdana"/>
                </a:rPr>
                <a:t> </a:t>
              </a:r>
              <a:r>
                <a:rPr sz="700" spc="-5">
                  <a:solidFill>
                    <a:srgbClr val="919191"/>
                  </a:solidFill>
                  <a:latin typeface="Verdana"/>
                  <a:cs typeface="Verdana"/>
                </a:rPr>
                <a:t>ответственности</a:t>
              </a:r>
              <a:r>
                <a:rPr sz="700" spc="70">
                  <a:solidFill>
                    <a:srgbClr val="919191"/>
                  </a:solidFill>
                  <a:latin typeface="Verdana"/>
                  <a:cs typeface="Verdana"/>
                </a:rPr>
                <a:t> </a:t>
              </a:r>
              <a:r>
                <a:rPr sz="700" spc="-5">
                  <a:solidFill>
                    <a:srgbClr val="919191"/>
                  </a:solidFill>
                  <a:latin typeface="Verdana"/>
                  <a:cs typeface="Verdana"/>
                </a:rPr>
                <a:t>за</a:t>
              </a:r>
              <a:r>
                <a:rPr sz="700" spc="75">
                  <a:solidFill>
                    <a:srgbClr val="919191"/>
                  </a:solidFill>
                  <a:latin typeface="Verdana"/>
                  <a:cs typeface="Verdana"/>
                </a:rPr>
                <a:t> </a:t>
              </a:r>
              <a:r>
                <a:rPr sz="700" spc="-5">
                  <a:solidFill>
                    <a:srgbClr val="919191"/>
                  </a:solidFill>
                  <a:latin typeface="Verdana"/>
                  <a:cs typeface="Verdana"/>
                </a:rPr>
                <a:t>какие-либо</a:t>
              </a:r>
              <a:r>
                <a:rPr sz="700" spc="70">
                  <a:solidFill>
                    <a:srgbClr val="919191"/>
                  </a:solidFill>
                  <a:latin typeface="Verdana"/>
                  <a:cs typeface="Verdana"/>
                </a:rPr>
                <a:t> </a:t>
              </a:r>
              <a:r>
                <a:rPr sz="700" spc="-5">
                  <a:solidFill>
                    <a:srgbClr val="919191"/>
                  </a:solidFill>
                  <a:latin typeface="Verdana"/>
                  <a:cs typeface="Verdana"/>
                </a:rPr>
                <a:t>убытки,</a:t>
              </a:r>
              <a:r>
                <a:rPr sz="700" spc="70">
                  <a:solidFill>
                    <a:srgbClr val="919191"/>
                  </a:solidFill>
                  <a:latin typeface="Verdana"/>
                  <a:cs typeface="Verdana"/>
                </a:rPr>
                <a:t> </a:t>
              </a:r>
              <a:r>
                <a:rPr sz="700" spc="-5">
                  <a:solidFill>
                    <a:srgbClr val="919191"/>
                  </a:solidFill>
                  <a:latin typeface="Verdana"/>
                  <a:cs typeface="Verdana"/>
                </a:rPr>
                <a:t>понесенные</a:t>
              </a:r>
              <a:r>
                <a:rPr sz="700" spc="65">
                  <a:solidFill>
                    <a:srgbClr val="919191"/>
                  </a:solidFill>
                  <a:latin typeface="Verdana"/>
                  <a:cs typeface="Verdana"/>
                </a:rPr>
                <a:t> </a:t>
              </a:r>
              <a:r>
                <a:rPr sz="700" spc="-5">
                  <a:solidFill>
                    <a:srgbClr val="919191"/>
                  </a:solidFill>
                  <a:latin typeface="Verdana"/>
                  <a:cs typeface="Verdana"/>
                </a:rPr>
                <a:t>любым </a:t>
              </a:r>
              <a:r>
                <a:rPr sz="700">
                  <a:solidFill>
                    <a:srgbClr val="919191"/>
                  </a:solidFill>
                  <a:latin typeface="Verdana"/>
                  <a:cs typeface="Verdana"/>
                </a:rPr>
                <a:t>лицом,  использующим  настоящую  публикацию.</a:t>
              </a:r>
              <a:endParaRPr/>
            </a:p>
            <a:p>
              <a:pPr/>
              <a:r>
                <a:rPr sz="1000">
                  <a:latin typeface="Verdana"/>
                  <a:cs typeface="Verdana"/>
                </a:rPr>
                <a:t/>
              </a:r>
              <a:endParaRPr sz="1000"/>
            </a:p>
            <a:p>
              <a:pPr marL="12700">
                <a:spcBef>
                  <a:spcPts val="200"/>
                </a:spcBef>
              </a:pPr>
              <a:r>
                <a:rPr sz="700">
                  <a:solidFill>
                    <a:srgbClr val="919191"/>
                  </a:solidFill>
                  <a:latin typeface="Verdana"/>
                  <a:cs typeface="Verdana"/>
                </a:rPr>
                <a:t>пр-т  Аль-Фараби,  д.  36</a:t>
              </a:r>
              <a:endParaRPr/>
            </a:p>
            <a:p>
              <a:pPr marL="12700"/>
              <a:r>
                <a:rPr sz="700">
                  <a:solidFill>
                    <a:srgbClr val="919191"/>
                  </a:solidFill>
                  <a:latin typeface="Verdana"/>
                  <a:cs typeface="Verdana"/>
                </a:rPr>
                <a:t>Алматы,  050059,  Республика  Казахстан</a:t>
              </a:r>
              <a:endParaRPr/>
            </a:p>
          </p:txBody>
        </p:sp>
        <p:sp>
          <p:nvSpPr>
            <p:cNvPr id="23" name="shape 23"/>
            <p:cNvSpPr txBox="1"/>
            <p:nvPr/>
          </p:nvSpPr>
          <p:spPr>
            <a:xfrm>
              <a:off x="276682" y="5532501"/>
              <a:ext cx="5400675" cy="436474"/>
            </a:xfrm>
            <a:prstGeom prst="rect"/>
            <a:noFill/>
          </p:spPr>
          <p:txBody>
            <a:bodyPr vertOverflow="overflow" horzOverflow="overflow" numCol="1" wrap="square" lIns="0" tIns="0" rIns="0" bIns="0">
              <a:spAutoFit/>
            </a:bodyPr>
            <a:p>
              <a:pPr marL="12700" algn="just"/>
              <a:r>
                <a:rPr sz="700">
                  <a:solidFill>
                    <a:srgbClr val="919191"/>
                  </a:solidFill>
                  <a:latin typeface="Verdana"/>
                  <a:cs typeface="Verdana"/>
                </a:rPr>
                <a:t>©</a:t>
              </a:r>
              <a:r>
                <a:rPr sz="700" spc="65">
                  <a:solidFill>
                    <a:srgbClr val="919191"/>
                  </a:solidFill>
                  <a:latin typeface="Verdana"/>
                  <a:cs typeface="Verdana"/>
                </a:rPr>
                <a:t> </a:t>
              </a:r>
              <a:r>
                <a:rPr sz="700">
                  <a:solidFill>
                    <a:srgbClr val="919191"/>
                  </a:solidFill>
                  <a:latin typeface="Verdana"/>
                  <a:cs typeface="Verdana"/>
                </a:rPr>
                <a:t>2020 ТОО</a:t>
              </a:r>
              <a:r>
                <a:rPr sz="700" spc="80">
                  <a:solidFill>
                    <a:srgbClr val="919191"/>
                  </a:solidFill>
                  <a:latin typeface="Verdana"/>
                  <a:cs typeface="Verdana"/>
                </a:rPr>
                <a:t> </a:t>
              </a:r>
              <a:r>
                <a:rPr sz="700">
                  <a:solidFill>
                    <a:srgbClr val="919191"/>
                  </a:solidFill>
                  <a:latin typeface="Verdana"/>
                  <a:cs typeface="Verdana"/>
                </a:rPr>
                <a:t>«Делойт»</a:t>
              </a:r>
              <a:r>
                <a:rPr sz="700" spc="80">
                  <a:solidFill>
                    <a:srgbClr val="919191"/>
                  </a:solidFill>
                  <a:latin typeface="Verdana"/>
                  <a:cs typeface="Verdana"/>
                </a:rPr>
                <a:t> </a:t>
              </a:r>
              <a:r>
                <a:rPr sz="700" spc="10">
                  <a:solidFill>
                    <a:srgbClr val="919191"/>
                  </a:solidFill>
                  <a:latin typeface="Verdana"/>
                  <a:cs typeface="Verdana"/>
                </a:rPr>
                <a:t>и</a:t>
              </a:r>
              <a:r>
                <a:rPr sz="700" spc="55">
                  <a:solidFill>
                    <a:srgbClr val="919191"/>
                  </a:solidFill>
                  <a:latin typeface="Verdana"/>
                  <a:cs typeface="Verdana"/>
                </a:rPr>
                <a:t> </a:t>
              </a:r>
              <a:r>
                <a:rPr sz="700">
                  <a:solidFill>
                    <a:srgbClr val="919191"/>
                  </a:solidFill>
                  <a:latin typeface="Verdana"/>
                  <a:cs typeface="Verdana"/>
                </a:rPr>
                <a:t>ТОО</a:t>
              </a:r>
              <a:r>
                <a:rPr sz="700" spc="80">
                  <a:solidFill>
                    <a:srgbClr val="919191"/>
                  </a:solidFill>
                  <a:latin typeface="Verdana"/>
                  <a:cs typeface="Verdana"/>
                </a:rPr>
                <a:t> </a:t>
              </a:r>
              <a:r>
                <a:rPr sz="700">
                  <a:solidFill>
                    <a:srgbClr val="919191"/>
                  </a:solidFill>
                  <a:latin typeface="Verdana"/>
                  <a:cs typeface="Verdana"/>
                </a:rPr>
                <a:t>«Делойт</a:t>
              </a:r>
              <a:r>
                <a:rPr sz="700" spc="65">
                  <a:solidFill>
                    <a:srgbClr val="919191"/>
                  </a:solidFill>
                  <a:latin typeface="Verdana"/>
                  <a:cs typeface="Verdana"/>
                </a:rPr>
                <a:t> </a:t>
              </a:r>
              <a:r>
                <a:rPr sz="700">
                  <a:solidFill>
                    <a:srgbClr val="919191"/>
                  </a:solidFill>
                  <a:latin typeface="Verdana"/>
                  <a:cs typeface="Verdana"/>
                </a:rPr>
                <a:t>ТСФ».</a:t>
              </a:r>
              <a:r>
                <a:rPr sz="700" spc="75">
                  <a:solidFill>
                    <a:srgbClr val="919191"/>
                  </a:solidFill>
                  <a:latin typeface="Verdana"/>
                  <a:cs typeface="Verdana"/>
                </a:rPr>
                <a:t> </a:t>
              </a:r>
              <a:r>
                <a:rPr sz="700">
                  <a:solidFill>
                    <a:srgbClr val="919191"/>
                  </a:solidFill>
                  <a:latin typeface="Verdana"/>
                  <a:cs typeface="Verdana"/>
                </a:rPr>
                <a:t>Все</a:t>
              </a:r>
              <a:r>
                <a:rPr sz="700" spc="80">
                  <a:solidFill>
                    <a:srgbClr val="919191"/>
                  </a:solidFill>
                  <a:latin typeface="Verdana"/>
                  <a:cs typeface="Verdana"/>
                </a:rPr>
                <a:t> </a:t>
              </a:r>
              <a:r>
                <a:rPr sz="700">
                  <a:solidFill>
                    <a:srgbClr val="919191"/>
                  </a:solidFill>
                  <a:latin typeface="Verdana"/>
                  <a:cs typeface="Verdana"/>
                </a:rPr>
                <a:t>права</a:t>
              </a:r>
              <a:r>
                <a:rPr sz="700" spc="80">
                  <a:solidFill>
                    <a:srgbClr val="919191"/>
                  </a:solidFill>
                  <a:latin typeface="Verdana"/>
                  <a:cs typeface="Verdana"/>
                </a:rPr>
                <a:t> </a:t>
              </a:r>
              <a:r>
                <a:rPr sz="700">
                  <a:solidFill>
                    <a:srgbClr val="919191"/>
                  </a:solidFill>
                  <a:latin typeface="Verdana"/>
                  <a:cs typeface="Verdana"/>
                </a:rPr>
                <a:t>защищены.</a:t>
              </a:r>
              <a:endParaRPr/>
            </a:p>
            <a:p>
              <a:pPr marL="12700" marR="12700" algn="just">
                <a:lnSpc>
                  <a:spcPct val="100752"/>
                </a:lnSpc>
                <a:spcBef>
                  <a:spcPts val="900"/>
                </a:spcBef>
              </a:pPr>
              <a:r>
                <a:rPr sz="700" spc="-5">
                  <a:latin typeface="Verdana"/>
                  <a:cs typeface="Verdana"/>
                </a:rPr>
                <a:t>Чтобы больше не получать рассылки на данную тему, пожалуйста, направьте ответ на имя отправителя рассылки, </a:t>
              </a:r>
              <a:r>
                <a:rPr sz="700">
                  <a:latin typeface="Verdana"/>
                  <a:cs typeface="Verdana"/>
                </a:rPr>
                <a:t>указав</a:t>
              </a:r>
              <a:r>
                <a:rPr sz="700" spc="70">
                  <a:latin typeface="Verdana"/>
                  <a:cs typeface="Verdana"/>
                </a:rPr>
                <a:t> </a:t>
              </a:r>
              <a:r>
                <a:rPr sz="700">
                  <a:latin typeface="Verdana"/>
                  <a:cs typeface="Verdana"/>
                </a:rPr>
                <a:t>в</a:t>
              </a:r>
              <a:r>
                <a:rPr sz="700" spc="70">
                  <a:latin typeface="Verdana"/>
                  <a:cs typeface="Verdana"/>
                </a:rPr>
                <a:t> </a:t>
              </a:r>
              <a:r>
                <a:rPr sz="700">
                  <a:latin typeface="Verdana"/>
                  <a:cs typeface="Verdana"/>
                </a:rPr>
                <a:t>строке</a:t>
              </a:r>
              <a:r>
                <a:rPr sz="700" spc="70">
                  <a:latin typeface="Verdana"/>
                  <a:cs typeface="Verdana"/>
                </a:rPr>
                <a:t> </a:t>
              </a:r>
              <a:r>
                <a:rPr sz="700">
                  <a:latin typeface="Verdana"/>
                  <a:cs typeface="Verdana"/>
                </a:rPr>
                <a:t>темы</a:t>
              </a:r>
              <a:r>
                <a:rPr sz="700" spc="75">
                  <a:latin typeface="Verdana"/>
                  <a:cs typeface="Verdana"/>
                </a:rPr>
                <a:t> </a:t>
              </a:r>
              <a:r>
                <a:rPr sz="700">
                  <a:latin typeface="Verdana"/>
                  <a:cs typeface="Verdana"/>
                </a:rPr>
                <a:t>сообщения</a:t>
              </a:r>
              <a:r>
                <a:rPr sz="700" spc="80">
                  <a:latin typeface="Verdana"/>
                  <a:cs typeface="Verdana"/>
                </a:rPr>
                <a:t> </a:t>
              </a:r>
              <a:r>
                <a:rPr sz="700">
                  <a:latin typeface="Verdana"/>
                  <a:cs typeface="Verdana"/>
                </a:rPr>
                <a:t>«Отписаться».</a:t>
              </a:r>
              <a:endParaRPr/>
            </a:p>
          </p:txBody>
        </p:sp>
        <p:sp>
          <p:nvSpPr>
            <p:cNvPr id="24" name="shape 24"/>
            <p:cNvSpPr/>
            <p:nvPr/>
          </p:nvSpPr>
          <p:spPr>
            <a:xfrm>
              <a:off x="36576" y="6112129"/>
              <a:ext cx="6008878" cy="160021"/>
            </a:xfrm>
            <a:prstGeom prst="rect">
              <a:avLst/>
            </a:prstGeom>
            <a:solidFill>
              <a:srgbClr val="F3F3F3"/>
            </a:solidFill>
          </p:spPr>
        </p:sp>
        <p:pic>
          <p:nvPicPr>
            <p:cNvPr id="25" name="shape 25"/>
            <p:cNvPicPr>
              <a:picLocks noChangeAspect="1"/>
            </p:cNvPicPr>
            <p:nvPr/>
          </p:nvPicPr>
          <p:blipFill>
            <a:blip r:embed="rId6" cstate="print"/>
            <a:stretch>
              <a:fillRect/>
            </a:stretch>
          </p:blipFill>
          <p:spPr>
            <a:xfrm>
              <a:off x="310281" y="224607"/>
              <a:ext cx="1056753" cy="1056753"/>
            </a:xfrm>
            <a:prstGeom prst="rect"/>
          </p:spPr>
        </p:pic>
        <p:pic>
          <p:nvPicPr>
            <p:cNvPr id="26" name="shape 26">
              <a:hlinkClick r:id="rId2"/>
            </p:cNvPr>
            <p:cNvPicPr>
              <a:picLocks noChangeAspect="1"/>
            </p:cNvPicPr>
            <p:nvPr/>
          </p:nvPicPr>
          <p:blipFill>
            <a:blip r:embed="rId7" cstate="print"/>
            <a:stretch>
              <a:fillRect/>
            </a:stretch>
          </p:blipFill>
          <p:spPr>
            <a:xfrm>
              <a:off x="1615262" y="606298"/>
              <a:ext cx="2165350" cy="293370"/>
            </a:xfrm>
            <a:prstGeom prst="rect"/>
          </p:spPr>
        </p:pic>
        <p:pic>
          <p:nvPicPr>
            <p:cNvPr id="27" name="shape 27">
              <a:hlinkClick r:id="rId9"/>
            </p:cNvPr>
            <p:cNvPicPr>
              <a:picLocks noChangeAspect="1"/>
            </p:cNvPicPr>
            <p:nvPr/>
          </p:nvPicPr>
          <p:blipFill>
            <a:blip r:embed="rId8" cstate="print"/>
            <a:stretch>
              <a:fillRect/>
            </a:stretch>
          </p:blipFill>
          <p:spPr>
            <a:xfrm>
              <a:off x="2389708" y="1801368"/>
              <a:ext cx="285751" cy="285750"/>
            </a:xfrm>
            <a:prstGeom prst="rect"/>
          </p:spPr>
        </p:pic>
        <p:pic>
          <p:nvPicPr>
            <p:cNvPr id="28" name="shape 28">
              <a:hlinkClick r:id="rId11"/>
            </p:cNvPr>
            <p:cNvPicPr>
              <a:picLocks noChangeAspect="1"/>
            </p:cNvPicPr>
            <p:nvPr/>
          </p:nvPicPr>
          <p:blipFill>
            <a:blip r:embed="rId10" cstate="print"/>
            <a:stretch>
              <a:fillRect/>
            </a:stretch>
          </p:blipFill>
          <p:spPr>
            <a:xfrm>
              <a:off x="2869768" y="1801368"/>
              <a:ext cx="287655" cy="287655"/>
            </a:xfrm>
            <a:prstGeom prst="rect"/>
          </p:spPr>
        </p:pic>
        <p:pic>
          <p:nvPicPr>
            <p:cNvPr id="29" name="shape 29">
              <a:hlinkClick r:id="rId13"/>
            </p:cNvPr>
            <p:cNvPicPr>
              <a:picLocks noChangeAspect="1"/>
            </p:cNvPicPr>
            <p:nvPr/>
          </p:nvPicPr>
          <p:blipFill>
            <a:blip r:embed="rId12" cstate="print"/>
            <a:stretch>
              <a:fillRect/>
            </a:stretch>
          </p:blipFill>
          <p:spPr>
            <a:xfrm>
              <a:off x="3349828" y="1801368"/>
              <a:ext cx="285750" cy="285750"/>
            </a:xfrm>
            <a:prstGeom prst="rect"/>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Company>Avanquest</Company>
  <Application>Avanquest Pdf2Office Converter v.0.90.2025101501.0</Application>
  <PresentationFormat>On-screen Show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file0026</dc:title>
  <dc:subject/>
  <dc:creator>Deloitte</dc:creator>
  <cp:keywords/>
  <dc:description/>
  <cp:lastModifiedBy>Deloitte</cp:lastModifiedBy>
  <cp:revision>1</cp:revision>
  <cp:category>pdf2pptx</cp:category>
  <cp:contentStatus>Created with Avanquest.Pdf 0.90.2025101501.0</cp:contentStatus>
  <dcterms:created xsi:type="dcterms:W3CDTF">2020-04-06T17:38:27+0000</dcterms:created>
  <dcterms:modified xsi:type="dcterms:W3CDTF">2020-04-06T17:38:27+0000</dcterms:modified>
</cp:coreProperties>
</file>