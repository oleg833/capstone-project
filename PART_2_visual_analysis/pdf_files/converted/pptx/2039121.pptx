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&#65279;<?xml version='1.0' encoding='UTF-8' standalone='yes'?><Relationships xmlns='http://schemas.openxmlformats.org/package/2006/relationships'><Relationship Id='rId3' Type='http://schemas.openxmlformats.org/officeDocument/2006/relationships/extended-properties' Target='docProps/app.xml'/><Relationship Id='rId2' Type='http://schemas.openxmlformats.org/package/2006/relationships/metadata/core-properties' Target='docProps/core.xml'/><Relationship Id='rId1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&#65279;<?xml version="1.0"?><Relationships xmlns='http://schemas.openxmlformats.org/package/2006/relationships'><Relationship Id='rId1' Type='http://schemas.openxmlformats.org/officeDocument/2006/relationships/slideMaster' Target='slideMasters/slideMaster1.xml'/><Relationship Id='rId2' Type='http://schemas.openxmlformats.org/officeDocument/2006/relationships/theme' Target='theme/theme1.xml'/><Relationship Id='rId3' Type='http://schemas.openxmlformats.org/officeDocument/2006/relationships/viewProps' Target='viewProps.xml'/><Relationship Id='rId4' Type='http://schemas.openxmlformats.org/officeDocument/2006/relationships/presProps' Target='presProps.xml'/><Relationship Id='rId5' Type='http://schemas.openxmlformats.org/officeDocument/2006/relationships/tableStyles' Target='tableStyles.xml'/><Relationship Id='rId6' Type='http://schemas.openxmlformats.org/officeDocument/2006/relationships/slide' Target='slides/slide1.xml'/><Relationship Id='rId7' Type='http://schemas.openxmlformats.org/officeDocument/2006/relationships/slide' Target='slides/slide2.xml'/><Relationship Id='rId8' Type='http://schemas.openxmlformats.org/officeDocument/2006/relationships/slide' Target='slides/slide3.xml'/><Relationship Id='rId9' Type='http://schemas.openxmlformats.org/officeDocument/2006/relationships/slide' Target='slides/slide4.xml'/><Relationship Id='rId10' Type='http://schemas.openxmlformats.org/officeDocument/2006/relationships/slide' Target='slides/slide5.xml'/><Relationship Id='rId11' Type='http://schemas.openxmlformats.org/officeDocument/2006/relationships/slide' Target='slides/slide6.xml'/><Relationship Id='rId12' Type='http://schemas.openxmlformats.org/officeDocument/2006/relationships/slide' Target='slides/slide7.xml'/><Relationship Id='rId13' Type='http://schemas.openxmlformats.org/officeDocument/2006/relationships/slide' Target='slides/slide8.xml'/></Relationships>
</file>

<file path=ppt/slideLayouts/_rels/slideLayout1.xml.rels>&#65279;<?xml version='1.0' encoding='UTF-8'?><Relationships xmlns='http://schemas.openxmlformats.org/package/2006/relationships'><Relationship Id='rId1' Type='http://schemas.openxmlformats.org/officeDocument/2006/relationships/slideMaster' Target='../slideMasters/slideMaster1.xml'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'1.0' encoding='UTF-8' standalone='yes'?><Relationships xmlns='http://schemas.openxmlformats.org/package/2006/relationships'><Relationship Id='rId2' Type='http://schemas.openxmlformats.org/officeDocument/2006/relationships/theme' Target='../theme/theme1.xml'/><Relationship Id='rId1' Type='http://schemas.openxmlformats.org/officeDocument/2006/relationships/slideLayout' Target='../slideLayouts/slideLayout1.xml'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?><Relationships xmlns='http://schemas.openxmlformats.org/package/2006/relationships'><Relationship Id='rId3' Type='http://schemas.openxmlformats.org/officeDocument/2006/relationships/image' Target='../media/7b3543be31666c62.png'/><Relationship Id='rId2' Type='http://schemas.openxmlformats.org/officeDocument/2006/relationships/image' Target='../media/2f48358563ceb99b.png'/><Relationship Id='rId1' Type='http://schemas.openxmlformats.org/officeDocument/2006/relationships/slideLayout' Target='../slideLayouts/slideLayout1.xml'/></Relationships>
</file>

<file path=ppt/slides/_rels/slide2.xml.rels>&#65279;<?xml version="1.0"?><Relationships xmlns='http://schemas.openxmlformats.org/package/2006/relationships'><Relationship Id='rId1' Type='http://schemas.openxmlformats.org/officeDocument/2006/relationships/slideLayout' Target='../slideLayouts/slideLayout1.xml'/></Relationships>
</file>

<file path=ppt/slides/_rels/slide3.xml.rels>&#65279;<?xml version="1.0"?><Relationships xmlns='http://schemas.openxmlformats.org/package/2006/relationships'><Relationship Id='rId1' Type='http://schemas.openxmlformats.org/officeDocument/2006/relationships/slideLayout' Target='../slideLayouts/slideLayout1.xml'/><Relationship Id='rId2' Type='http://schemas.openxmlformats.org/officeDocument/2006/relationships/image' Target='../media/908201b9638214dd.png'/><Relationship Id='rId3' Type='http://schemas.openxmlformats.org/officeDocument/2006/relationships/image' Target='../media/660ff56360918385.png'/></Relationships>
</file>

<file path=ppt/slides/_rels/slide4.xml.rels>&#65279;<?xml version="1.0"?><Relationships xmlns='http://schemas.openxmlformats.org/package/2006/relationships'><Relationship Id='rId1' Type='http://schemas.openxmlformats.org/officeDocument/2006/relationships/slideLayout' Target='../slideLayouts/slideLayout1.xml'/><Relationship Id='rId4' Type='http://schemas.openxmlformats.org/officeDocument/2006/relationships/image' Target='../media/9be7f86c38fb2ed1.png'/><Relationship Id='rId2' Type='http://schemas.openxmlformats.org/officeDocument/2006/relationships/image' Target='../media/a40d22c6eba83c81.png'/><Relationship Id='rId3' Type='http://schemas.openxmlformats.org/officeDocument/2006/relationships/image' Target='../media/054b6a3ac68872a0.png'/></Relationships>
</file>

<file path=ppt/slides/_rels/slide5.xml.rels>&#65279;<?xml version="1.0"?><Relationships xmlns='http://schemas.openxmlformats.org/package/2006/relationships'><Relationship Id='rId1' Type='http://schemas.openxmlformats.org/officeDocument/2006/relationships/slideLayout' Target='../slideLayouts/slideLayout1.xml'/><Relationship Id='rId3' Type='http://schemas.openxmlformats.org/officeDocument/2006/relationships/image' Target='../media/1aee8b5bc57e0e1b.png'/><Relationship Id='rId2' Type='http://schemas.openxmlformats.org/officeDocument/2006/relationships/image' Target='../media/62cce902a09e78c8.png'/></Relationships>
</file>

<file path=ppt/slides/_rels/slide6.xml.rels>&#65279;<?xml version="1.0"?><Relationships xmlns='http://schemas.openxmlformats.org/package/2006/relationships'><Relationship Id='rId1' Type='http://schemas.openxmlformats.org/officeDocument/2006/relationships/slideLayout' Target='../slideLayouts/slideLayout1.xml'/><Relationship Id='rId2' Type='http://schemas.openxmlformats.org/officeDocument/2006/relationships/image' Target='../media/fc4011b36aadaccd.png'/><Relationship Id='rId3' Type='http://schemas.openxmlformats.org/officeDocument/2006/relationships/image' Target='../media/70b0cbe3e87d299f.png'/></Relationships>
</file>

<file path=ppt/slides/_rels/slide7.xml.rels>&#65279;<?xml version="1.0"?><Relationships xmlns='http://schemas.openxmlformats.org/package/2006/relationships'><Relationship Id='rId1' Type='http://schemas.openxmlformats.org/officeDocument/2006/relationships/slideLayout' Target='../slideLayouts/slideLayout1.xml'/><Relationship Id='rId2' Type='http://schemas.openxmlformats.org/officeDocument/2006/relationships/image' Target='../media/b4104499ac5dde76.png'/></Relationships>
</file>

<file path=ppt/slides/_rels/slide8.xml.rels>&#65279;<?xml version="1.0"?><Relationships xmlns='http://schemas.openxmlformats.org/package/2006/relationships'><Relationship Id='rId1' Type='http://schemas.openxmlformats.org/officeDocument/2006/relationships/slideLayout' Target='../slideLayouts/slideLayout1.xml'/><Relationship Id='rId2' Type='http://schemas.openxmlformats.org/officeDocument/2006/relationships/hyperlink' Target='https://www.badgermeter.com' TargetMode='External'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hape 2"/>
          <p:cNvGrpSpPr/>
          <p:nvPr/>
        </p:nvGrpSpPr>
        <p:grpSpPr>
          <a:xfrm>
            <a:off x="4114800" y="1708404"/>
            <a:ext cx="3200400" cy="2798064"/>
            <a:chOff x="0" y="0"/>
            <a:chExt cx="3200400" cy="2798064"/>
          </a:xfrm>
        </p:grpSpPr>
        <p:pic>
          <p:nvPicPr>
            <p:cNvPr id="3" name="shape 3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975" y="586791"/>
              <a:ext cx="2871788" cy="1803963"/>
            </a:xfrm>
            <a:prstGeom prst="rect"/>
          </p:spPr>
        </p:pic>
        <p:sp>
          <p:nvSpPr>
            <p:cNvPr id="4" name="shape 4"/>
            <p:cNvSpPr/>
            <p:nvPr/>
          </p:nvSpPr>
          <p:spPr>
            <a:xfrm>
              <a:off x="0" y="0"/>
              <a:ext cx="3200400" cy="2798064"/>
            </a:xfrm>
            <a:custGeom>
              <a:pathLst>
                <a:path w="3200400" h="2798064">
                  <a:moveTo>
                    <a:pt x="158750" y="6350"/>
                  </a:moveTo>
                  <a:cubicBezTo>
                    <a:pt x="158750" y="6350"/>
                    <a:pt x="6350" y="6350"/>
                    <a:pt x="6350" y="158750"/>
                  </a:cubicBezTo>
                  <a:lnTo>
                    <a:pt x="6350" y="2639314"/>
                  </a:lnTo>
                  <a:cubicBezTo>
                    <a:pt x="6350" y="2639314"/>
                    <a:pt x="6350" y="2791714"/>
                    <a:pt x="158750" y="2791714"/>
                  </a:cubicBezTo>
                  <a:lnTo>
                    <a:pt x="3041650" y="2791714"/>
                  </a:lnTo>
                  <a:cubicBezTo>
                    <a:pt x="3041650" y="2791714"/>
                    <a:pt x="3194050" y="2791714"/>
                    <a:pt x="3194050" y="2639314"/>
                  </a:cubicBezTo>
                  <a:lnTo>
                    <a:pt x="3194050" y="158750"/>
                  </a:lnTo>
                  <a:cubicBezTo>
                    <a:pt x="3194050" y="158750"/>
                    <a:pt x="3194050" y="6350"/>
                    <a:pt x="3041650" y="6350"/>
                  </a:cubicBezTo>
                  <a:lnTo>
                    <a:pt x="158750" y="6350"/>
                  </a:lnTo>
                  <a:close/>
                </a:path>
              </a:pathLst>
            </a:custGeom>
            <a:ln w="12700" cap="flat">
              <a:solidFill>
                <a:srgbClr val="ED1B2D"/>
              </a:solidFill>
              <a:prstDash val="solid"/>
              <a:miter lim="4"/>
            </a:ln>
          </p:spPr>
        </p:sp>
      </p:grpSp>
      <p:grpSp>
        <p:nvGrpSpPr>
          <p:cNvPr id="5" name="shape 5"/>
          <p:cNvGrpSpPr/>
          <p:nvPr/>
        </p:nvGrpSpPr>
        <p:grpSpPr>
          <a:xfrm>
            <a:off x="685800" y="685800"/>
            <a:ext cx="2154116" cy="685800"/>
            <a:chOff x="0" y="0"/>
            <a:chExt cx="2154116" cy="685800"/>
          </a:xfrm>
        </p:grpSpPr>
        <p:sp>
          <p:nvSpPr>
            <p:cNvPr id="6" name="shape 6"/>
            <p:cNvSpPr/>
            <p:nvPr/>
          </p:nvSpPr>
          <p:spPr>
            <a:xfrm>
              <a:off x="2141416" y="0"/>
              <a:ext cx="12700" cy="685800"/>
            </a:xfrm>
            <a:custGeom>
              <a:pathLst>
                <a:path w="12700" h="685800">
                  <a:moveTo>
                    <a:pt x="6350" y="0"/>
                  </a:moveTo>
                  <a:lnTo>
                    <a:pt x="6350" y="685800"/>
                  </a:lnTo>
                </a:path>
              </a:pathLst>
            </a:custGeom>
            <a:ln w="12700" cap="flat">
              <a:solidFill>
                <a:srgbClr val="7F8080"/>
              </a:solidFill>
              <a:prstDash val="solid"/>
              <a:miter lim="4"/>
            </a:ln>
          </p:spPr>
        </p:sp>
        <p:sp>
          <p:nvSpPr>
            <p:cNvPr id="7" name="shape 7"/>
            <p:cNvSpPr/>
            <p:nvPr/>
          </p:nvSpPr>
          <p:spPr>
            <a:xfrm>
              <a:off x="12648" y="291359"/>
              <a:ext cx="288430" cy="34943"/>
            </a:xfrm>
            <a:custGeom>
              <a:pathLst>
                <a:path w="288429" h="34942">
                  <a:moveTo>
                    <a:pt x="274072" y="34942"/>
                  </a:moveTo>
                  <a:lnTo>
                    <a:pt x="14369" y="34942"/>
                  </a:lnTo>
                  <a:lnTo>
                    <a:pt x="0" y="17475"/>
                  </a:lnTo>
                  <a:lnTo>
                    <a:pt x="14376" y="0"/>
                  </a:lnTo>
                  <a:lnTo>
                    <a:pt x="274066" y="0"/>
                  </a:lnTo>
                  <a:lnTo>
                    <a:pt x="288429" y="17475"/>
                  </a:lnTo>
                  <a:close/>
                </a:path>
              </a:pathLst>
            </a:custGeom>
            <a:solidFill>
              <a:srgbClr val="D1D3D4"/>
            </a:solidFill>
          </p:spPr>
        </p:sp>
        <p:pic>
          <p:nvPicPr>
            <p:cNvPr id="8" name="shape 8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312762" cy="312762"/>
            </a:xfrm>
            <a:prstGeom prst="rect"/>
          </p:spPr>
        </p:pic>
        <p:sp>
          <p:nvSpPr>
            <p:cNvPr id="9" name="shape 9"/>
            <p:cNvSpPr/>
            <p:nvPr/>
          </p:nvSpPr>
          <p:spPr>
            <a:xfrm>
              <a:off x="193802" y="19209"/>
              <a:ext cx="104407" cy="103632"/>
            </a:xfrm>
            <a:custGeom>
              <a:pathLst>
                <a:path w="104406" h="103632">
                  <a:moveTo>
                    <a:pt x="16306" y="0"/>
                  </a:moveTo>
                  <a:lnTo>
                    <a:pt x="15252" y="0"/>
                  </a:lnTo>
                  <a:lnTo>
                    <a:pt x="15125" y="126"/>
                  </a:lnTo>
                  <a:lnTo>
                    <a:pt x="10223" y="5854"/>
                  </a:lnTo>
                  <a:lnTo>
                    <a:pt x="5702" y="13385"/>
                  </a:lnTo>
                  <a:lnTo>
                    <a:pt x="3314" y="18414"/>
                  </a:lnTo>
                  <a:lnTo>
                    <a:pt x="1739" y="24333"/>
                  </a:lnTo>
                  <a:lnTo>
                    <a:pt x="355" y="30987"/>
                  </a:lnTo>
                  <a:lnTo>
                    <a:pt x="0" y="38290"/>
                  </a:lnTo>
                  <a:lnTo>
                    <a:pt x="469" y="46088"/>
                  </a:lnTo>
                  <a:lnTo>
                    <a:pt x="1968" y="54190"/>
                  </a:lnTo>
                  <a:lnTo>
                    <a:pt x="8940" y="70738"/>
                  </a:lnTo>
                  <a:lnTo>
                    <a:pt x="11518" y="74879"/>
                  </a:lnTo>
                  <a:lnTo>
                    <a:pt x="13931" y="78054"/>
                  </a:lnTo>
                  <a:lnTo>
                    <a:pt x="16306" y="81000"/>
                  </a:lnTo>
                  <a:lnTo>
                    <a:pt x="17513" y="82473"/>
                  </a:lnTo>
                  <a:lnTo>
                    <a:pt x="18110" y="83197"/>
                  </a:lnTo>
                  <a:lnTo>
                    <a:pt x="18415" y="83565"/>
                  </a:lnTo>
                  <a:lnTo>
                    <a:pt x="18554" y="83756"/>
                  </a:lnTo>
                  <a:lnTo>
                    <a:pt x="18618" y="83832"/>
                  </a:lnTo>
                  <a:lnTo>
                    <a:pt x="19443" y="84721"/>
                  </a:lnTo>
                  <a:lnTo>
                    <a:pt x="34048" y="95376"/>
                  </a:lnTo>
                  <a:lnTo>
                    <a:pt x="50190" y="101853"/>
                  </a:lnTo>
                  <a:lnTo>
                    <a:pt x="58305" y="103263"/>
                  </a:lnTo>
                  <a:lnTo>
                    <a:pt x="66103" y="103631"/>
                  </a:lnTo>
                  <a:lnTo>
                    <a:pt x="73406" y="103200"/>
                  </a:lnTo>
                  <a:lnTo>
                    <a:pt x="80048" y="101714"/>
                  </a:lnTo>
                  <a:lnTo>
                    <a:pt x="85966" y="100075"/>
                  </a:lnTo>
                  <a:lnTo>
                    <a:pt x="91173" y="97574"/>
                  </a:lnTo>
                  <a:lnTo>
                    <a:pt x="95478" y="95326"/>
                  </a:lnTo>
                  <a:lnTo>
                    <a:pt x="98513" y="92951"/>
                  </a:lnTo>
                  <a:lnTo>
                    <a:pt x="104025" y="88036"/>
                  </a:lnTo>
                  <a:lnTo>
                    <a:pt x="104241" y="87820"/>
                  </a:lnTo>
                  <a:lnTo>
                    <a:pt x="104406" y="87045"/>
                  </a:lnTo>
                  <a:lnTo>
                    <a:pt x="103466" y="86639"/>
                  </a:lnTo>
                  <a:lnTo>
                    <a:pt x="96964" y="89077"/>
                  </a:lnTo>
                  <a:lnTo>
                    <a:pt x="89408" y="91147"/>
                  </a:lnTo>
                  <a:lnTo>
                    <a:pt x="84734" y="92125"/>
                  </a:lnTo>
                  <a:lnTo>
                    <a:pt x="79413" y="92494"/>
                  </a:lnTo>
                  <a:lnTo>
                    <a:pt x="67449" y="92176"/>
                  </a:lnTo>
                  <a:lnTo>
                    <a:pt x="61023" y="91008"/>
                  </a:lnTo>
                  <a:lnTo>
                    <a:pt x="54444" y="89230"/>
                  </a:lnTo>
                  <a:lnTo>
                    <a:pt x="41630" y="83019"/>
                  </a:lnTo>
                  <a:lnTo>
                    <a:pt x="30010" y="74040"/>
                  </a:lnTo>
                  <a:lnTo>
                    <a:pt x="20853" y="62471"/>
                  </a:lnTo>
                  <a:lnTo>
                    <a:pt x="14503" y="49783"/>
                  </a:lnTo>
                  <a:lnTo>
                    <a:pt x="12661" y="43230"/>
                  </a:lnTo>
                  <a:lnTo>
                    <a:pt x="11391" y="36817"/>
                  </a:lnTo>
                  <a:lnTo>
                    <a:pt x="10947" y="24853"/>
                  </a:lnTo>
                  <a:lnTo>
                    <a:pt x="11252" y="19532"/>
                  </a:lnTo>
                  <a:lnTo>
                    <a:pt x="12179" y="14808"/>
                  </a:lnTo>
                  <a:lnTo>
                    <a:pt x="14160" y="7226"/>
                  </a:lnTo>
                  <a:lnTo>
                    <a:pt x="16484" y="7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shape 10"/>
            <p:cNvSpPr/>
            <p:nvPr/>
          </p:nvSpPr>
          <p:spPr>
            <a:xfrm>
              <a:off x="30489" y="103240"/>
              <a:ext cx="185433" cy="184087"/>
            </a:xfrm>
            <a:custGeom>
              <a:pathLst>
                <a:path w="185432" h="184086">
                  <a:moveTo>
                    <a:pt x="16103" y="0"/>
                  </a:moveTo>
                  <a:lnTo>
                    <a:pt x="15087" y="279"/>
                  </a:lnTo>
                  <a:lnTo>
                    <a:pt x="15036" y="368"/>
                  </a:lnTo>
                  <a:lnTo>
                    <a:pt x="13360" y="3352"/>
                  </a:lnTo>
                  <a:lnTo>
                    <a:pt x="8915" y="12064"/>
                  </a:lnTo>
                  <a:lnTo>
                    <a:pt x="3670" y="26504"/>
                  </a:lnTo>
                  <a:lnTo>
                    <a:pt x="1447" y="35788"/>
                  </a:lnTo>
                  <a:lnTo>
                    <a:pt x="0" y="46316"/>
                  </a:lnTo>
                  <a:lnTo>
                    <a:pt x="165" y="70472"/>
                  </a:lnTo>
                  <a:lnTo>
                    <a:pt x="5943" y="97129"/>
                  </a:lnTo>
                  <a:lnTo>
                    <a:pt x="18440" y="123799"/>
                  </a:lnTo>
                  <a:lnTo>
                    <a:pt x="37045" y="147358"/>
                  </a:lnTo>
                  <a:lnTo>
                    <a:pt x="38112" y="148374"/>
                  </a:lnTo>
                  <a:lnTo>
                    <a:pt x="38823" y="149009"/>
                  </a:lnTo>
                  <a:lnTo>
                    <a:pt x="40258" y="150291"/>
                  </a:lnTo>
                  <a:lnTo>
                    <a:pt x="43116" y="152844"/>
                  </a:lnTo>
                  <a:lnTo>
                    <a:pt x="49047" y="157695"/>
                  </a:lnTo>
                  <a:lnTo>
                    <a:pt x="61518" y="166395"/>
                  </a:lnTo>
                  <a:lnTo>
                    <a:pt x="88328" y="178600"/>
                  </a:lnTo>
                  <a:lnTo>
                    <a:pt x="115061" y="184086"/>
                  </a:lnTo>
                  <a:lnTo>
                    <a:pt x="139217" y="183959"/>
                  </a:lnTo>
                  <a:lnTo>
                    <a:pt x="149732" y="182384"/>
                  </a:lnTo>
                  <a:lnTo>
                    <a:pt x="159003" y="180047"/>
                  </a:lnTo>
                  <a:lnTo>
                    <a:pt x="173443" y="174612"/>
                  </a:lnTo>
                  <a:lnTo>
                    <a:pt x="182029" y="170078"/>
                  </a:lnTo>
                  <a:lnTo>
                    <a:pt x="184975" y="168363"/>
                  </a:lnTo>
                  <a:lnTo>
                    <a:pt x="185102" y="168287"/>
                  </a:lnTo>
                  <a:lnTo>
                    <a:pt x="185432" y="167411"/>
                  </a:lnTo>
                  <a:lnTo>
                    <a:pt x="184492" y="166928"/>
                  </a:lnTo>
                  <a:lnTo>
                    <a:pt x="181317" y="167982"/>
                  </a:lnTo>
                  <a:lnTo>
                    <a:pt x="172313" y="170662"/>
                  </a:lnTo>
                  <a:lnTo>
                    <a:pt x="158051" y="173583"/>
                  </a:lnTo>
                  <a:lnTo>
                    <a:pt x="149123" y="174548"/>
                  </a:lnTo>
                  <a:lnTo>
                    <a:pt x="139204" y="174879"/>
                  </a:lnTo>
                  <a:lnTo>
                    <a:pt x="116979" y="172847"/>
                  </a:lnTo>
                  <a:lnTo>
                    <a:pt x="93014" y="166217"/>
                  </a:lnTo>
                  <a:lnTo>
                    <a:pt x="69316" y="154216"/>
                  </a:lnTo>
                  <a:lnTo>
                    <a:pt x="48005" y="137058"/>
                  </a:lnTo>
                  <a:lnTo>
                    <a:pt x="30518" y="115887"/>
                  </a:lnTo>
                  <a:lnTo>
                    <a:pt x="18237" y="92329"/>
                  </a:lnTo>
                  <a:lnTo>
                    <a:pt x="11341" y="68427"/>
                  </a:lnTo>
                  <a:lnTo>
                    <a:pt x="9042" y="46228"/>
                  </a:lnTo>
                  <a:lnTo>
                    <a:pt x="9270" y="36309"/>
                  </a:lnTo>
                  <a:lnTo>
                    <a:pt x="10121" y="27381"/>
                  </a:lnTo>
                  <a:lnTo>
                    <a:pt x="12877" y="13068"/>
                  </a:lnTo>
                  <a:lnTo>
                    <a:pt x="15455" y="4051"/>
                  </a:lnTo>
                  <a:lnTo>
                    <a:pt x="16446" y="87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shape 11"/>
            <p:cNvSpPr/>
            <p:nvPr/>
          </p:nvSpPr>
          <p:spPr>
            <a:xfrm>
              <a:off x="142895" y="49291"/>
              <a:ext cx="125794" cy="124905"/>
            </a:xfrm>
            <a:custGeom>
              <a:pathLst>
                <a:path w="125793" h="124904">
                  <a:moveTo>
                    <a:pt x="15024" y="0"/>
                  </a:moveTo>
                  <a:lnTo>
                    <a:pt x="13970" y="126"/>
                  </a:lnTo>
                  <a:lnTo>
                    <a:pt x="13881" y="215"/>
                  </a:lnTo>
                  <a:lnTo>
                    <a:pt x="8712" y="7556"/>
                  </a:lnTo>
                  <a:lnTo>
                    <a:pt x="4165" y="17005"/>
                  </a:lnTo>
                  <a:lnTo>
                    <a:pt x="1955" y="23228"/>
                  </a:lnTo>
                  <a:lnTo>
                    <a:pt x="673" y="30416"/>
                  </a:lnTo>
                  <a:lnTo>
                    <a:pt x="0" y="47066"/>
                  </a:lnTo>
                  <a:lnTo>
                    <a:pt x="1308" y="56146"/>
                  </a:lnTo>
                  <a:lnTo>
                    <a:pt x="3708" y="65493"/>
                  </a:lnTo>
                  <a:lnTo>
                    <a:pt x="7302" y="74853"/>
                  </a:lnTo>
                  <a:lnTo>
                    <a:pt x="12611" y="84302"/>
                  </a:lnTo>
                  <a:lnTo>
                    <a:pt x="15633" y="88976"/>
                  </a:lnTo>
                  <a:lnTo>
                    <a:pt x="18567" y="92608"/>
                  </a:lnTo>
                  <a:lnTo>
                    <a:pt x="21501" y="96138"/>
                  </a:lnTo>
                  <a:lnTo>
                    <a:pt x="22974" y="97904"/>
                  </a:lnTo>
                  <a:lnTo>
                    <a:pt x="23710" y="98793"/>
                  </a:lnTo>
                  <a:lnTo>
                    <a:pt x="24091" y="99237"/>
                  </a:lnTo>
                  <a:lnTo>
                    <a:pt x="24269" y="99453"/>
                  </a:lnTo>
                  <a:lnTo>
                    <a:pt x="25133" y="100393"/>
                  </a:lnTo>
                  <a:lnTo>
                    <a:pt x="33261" y="107099"/>
                  </a:lnTo>
                  <a:lnTo>
                    <a:pt x="37388" y="110337"/>
                  </a:lnTo>
                  <a:lnTo>
                    <a:pt x="41846" y="113042"/>
                  </a:lnTo>
                  <a:lnTo>
                    <a:pt x="50876" y="117944"/>
                  </a:lnTo>
                  <a:lnTo>
                    <a:pt x="60274" y="121411"/>
                  </a:lnTo>
                  <a:lnTo>
                    <a:pt x="69634" y="123723"/>
                  </a:lnTo>
                  <a:lnTo>
                    <a:pt x="78752" y="124904"/>
                  </a:lnTo>
                  <a:lnTo>
                    <a:pt x="95389" y="124015"/>
                  </a:lnTo>
                  <a:lnTo>
                    <a:pt x="102577" y="122669"/>
                  </a:lnTo>
                  <a:lnTo>
                    <a:pt x="108966" y="120319"/>
                  </a:lnTo>
                  <a:lnTo>
                    <a:pt x="118275" y="115658"/>
                  </a:lnTo>
                  <a:lnTo>
                    <a:pt x="125361" y="110439"/>
                  </a:lnTo>
                  <a:lnTo>
                    <a:pt x="125564" y="110286"/>
                  </a:lnTo>
                  <a:lnTo>
                    <a:pt x="125793" y="109473"/>
                  </a:lnTo>
                  <a:lnTo>
                    <a:pt x="124866" y="109016"/>
                  </a:lnTo>
                  <a:lnTo>
                    <a:pt x="116890" y="111798"/>
                  </a:lnTo>
                  <a:lnTo>
                    <a:pt x="107607" y="113918"/>
                  </a:lnTo>
                  <a:lnTo>
                    <a:pt x="101828" y="114833"/>
                  </a:lnTo>
                  <a:lnTo>
                    <a:pt x="95313" y="114947"/>
                  </a:lnTo>
                  <a:lnTo>
                    <a:pt x="80759" y="113690"/>
                  </a:lnTo>
                  <a:lnTo>
                    <a:pt x="73012" y="111734"/>
                  </a:lnTo>
                  <a:lnTo>
                    <a:pt x="65112" y="109080"/>
                  </a:lnTo>
                  <a:lnTo>
                    <a:pt x="57251" y="105524"/>
                  </a:lnTo>
                  <a:lnTo>
                    <a:pt x="49733" y="100914"/>
                  </a:lnTo>
                  <a:lnTo>
                    <a:pt x="35687" y="89700"/>
                  </a:lnTo>
                  <a:lnTo>
                    <a:pt x="29667" y="82918"/>
                  </a:lnTo>
                  <a:lnTo>
                    <a:pt x="26695" y="79476"/>
                  </a:lnTo>
                  <a:lnTo>
                    <a:pt x="24269" y="75742"/>
                  </a:lnTo>
                  <a:lnTo>
                    <a:pt x="19596" y="68338"/>
                  </a:lnTo>
                  <a:lnTo>
                    <a:pt x="15951" y="60515"/>
                  </a:lnTo>
                  <a:lnTo>
                    <a:pt x="13208" y="52641"/>
                  </a:lnTo>
                  <a:lnTo>
                    <a:pt x="11163" y="44945"/>
                  </a:lnTo>
                  <a:lnTo>
                    <a:pt x="9715" y="30378"/>
                  </a:lnTo>
                  <a:lnTo>
                    <a:pt x="9766" y="23863"/>
                  </a:lnTo>
                  <a:lnTo>
                    <a:pt x="10604" y="18059"/>
                  </a:lnTo>
                  <a:lnTo>
                    <a:pt x="12623" y="8737"/>
                  </a:lnTo>
                  <a:lnTo>
                    <a:pt x="15265" y="8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shape 12"/>
            <p:cNvSpPr/>
            <p:nvPr/>
          </p:nvSpPr>
          <p:spPr>
            <a:xfrm>
              <a:off x="89024" y="74308"/>
              <a:ext cx="155271" cy="154191"/>
            </a:xfrm>
            <a:custGeom>
              <a:pathLst>
                <a:path w="155270" h="154190">
                  <a:moveTo>
                    <a:pt x="15913" y="0"/>
                  </a:moveTo>
                  <a:lnTo>
                    <a:pt x="14871" y="177"/>
                  </a:lnTo>
                  <a:lnTo>
                    <a:pt x="14820" y="253"/>
                  </a:lnTo>
                  <a:lnTo>
                    <a:pt x="8966" y="9626"/>
                  </a:lnTo>
                  <a:lnTo>
                    <a:pt x="3924" y="21513"/>
                  </a:lnTo>
                  <a:lnTo>
                    <a:pt x="1524" y="29248"/>
                  </a:lnTo>
                  <a:lnTo>
                    <a:pt x="254" y="38125"/>
                  </a:lnTo>
                  <a:lnTo>
                    <a:pt x="0" y="58546"/>
                  </a:lnTo>
                  <a:lnTo>
                    <a:pt x="1854" y="69608"/>
                  </a:lnTo>
                  <a:lnTo>
                    <a:pt x="5003" y="80975"/>
                  </a:lnTo>
                  <a:lnTo>
                    <a:pt x="9537" y="92367"/>
                  </a:lnTo>
                  <a:lnTo>
                    <a:pt x="16078" y="103720"/>
                  </a:lnTo>
                  <a:lnTo>
                    <a:pt x="19723" y="109359"/>
                  </a:lnTo>
                  <a:lnTo>
                    <a:pt x="23418" y="113880"/>
                  </a:lnTo>
                  <a:lnTo>
                    <a:pt x="31521" y="123418"/>
                  </a:lnTo>
                  <a:lnTo>
                    <a:pt x="41427" y="131648"/>
                  </a:lnTo>
                  <a:lnTo>
                    <a:pt x="46431" y="135623"/>
                  </a:lnTo>
                  <a:lnTo>
                    <a:pt x="51879" y="138963"/>
                  </a:lnTo>
                  <a:lnTo>
                    <a:pt x="62839" y="145059"/>
                  </a:lnTo>
                  <a:lnTo>
                    <a:pt x="74282" y="149453"/>
                  </a:lnTo>
                  <a:lnTo>
                    <a:pt x="85674" y="152463"/>
                  </a:lnTo>
                  <a:lnTo>
                    <a:pt x="96774" y="154190"/>
                  </a:lnTo>
                  <a:lnTo>
                    <a:pt x="117195" y="153695"/>
                  </a:lnTo>
                  <a:lnTo>
                    <a:pt x="126060" y="152311"/>
                  </a:lnTo>
                  <a:lnTo>
                    <a:pt x="133959" y="149771"/>
                  </a:lnTo>
                  <a:lnTo>
                    <a:pt x="145694" y="144564"/>
                  </a:lnTo>
                  <a:lnTo>
                    <a:pt x="154825" y="138645"/>
                  </a:lnTo>
                  <a:lnTo>
                    <a:pt x="154978" y="138518"/>
                  </a:lnTo>
                  <a:lnTo>
                    <a:pt x="155270" y="137680"/>
                  </a:lnTo>
                  <a:lnTo>
                    <a:pt x="154317" y="137223"/>
                  </a:lnTo>
                  <a:lnTo>
                    <a:pt x="144335" y="140677"/>
                  </a:lnTo>
                  <a:lnTo>
                    <a:pt x="132626" y="143370"/>
                  </a:lnTo>
                  <a:lnTo>
                    <a:pt x="125349" y="144487"/>
                  </a:lnTo>
                  <a:lnTo>
                    <a:pt x="117144" y="144614"/>
                  </a:lnTo>
                  <a:lnTo>
                    <a:pt x="98818" y="142989"/>
                  </a:lnTo>
                  <a:lnTo>
                    <a:pt x="89077" y="140500"/>
                  </a:lnTo>
                  <a:lnTo>
                    <a:pt x="79146" y="137147"/>
                  </a:lnTo>
                  <a:lnTo>
                    <a:pt x="69253" y="132664"/>
                  </a:lnTo>
                  <a:lnTo>
                    <a:pt x="59778" y="126847"/>
                  </a:lnTo>
                  <a:lnTo>
                    <a:pt x="55041" y="123825"/>
                  </a:lnTo>
                  <a:lnTo>
                    <a:pt x="50698" y="120180"/>
                  </a:lnTo>
                  <a:lnTo>
                    <a:pt x="42087" y="112725"/>
                  </a:lnTo>
                  <a:lnTo>
                    <a:pt x="34505" y="104178"/>
                  </a:lnTo>
                  <a:lnTo>
                    <a:pt x="30784" y="99847"/>
                  </a:lnTo>
                  <a:lnTo>
                    <a:pt x="27711" y="95173"/>
                  </a:lnTo>
                  <a:lnTo>
                    <a:pt x="21818" y="85813"/>
                  </a:lnTo>
                  <a:lnTo>
                    <a:pt x="17208" y="75971"/>
                  </a:lnTo>
                  <a:lnTo>
                    <a:pt x="13741" y="66078"/>
                  </a:lnTo>
                  <a:lnTo>
                    <a:pt x="11137" y="56375"/>
                  </a:lnTo>
                  <a:lnTo>
                    <a:pt x="9296" y="38049"/>
                  </a:lnTo>
                  <a:lnTo>
                    <a:pt x="9321" y="29844"/>
                  </a:lnTo>
                  <a:lnTo>
                    <a:pt x="10350" y="22542"/>
                  </a:lnTo>
                  <a:lnTo>
                    <a:pt x="12903" y="10807"/>
                  </a:lnTo>
                  <a:lnTo>
                    <a:pt x="16205" y="8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shape 13"/>
            <p:cNvSpPr/>
            <p:nvPr/>
          </p:nvSpPr>
          <p:spPr>
            <a:xfrm>
              <a:off x="375562" y="270049"/>
              <a:ext cx="37224" cy="46279"/>
            </a:xfrm>
            <a:custGeom>
              <a:pathLst>
                <a:path w="37223" h="46278">
                  <a:moveTo>
                    <a:pt x="10337" y="0"/>
                  </a:moveTo>
                  <a:lnTo>
                    <a:pt x="10337" y="26212"/>
                  </a:lnTo>
                  <a:cubicBezTo>
                    <a:pt x="10337" y="34048"/>
                    <a:pt x="13309" y="38036"/>
                    <a:pt x="18580" y="38036"/>
                  </a:cubicBezTo>
                  <a:cubicBezTo>
                    <a:pt x="23990" y="38036"/>
                    <a:pt x="26949" y="34264"/>
                    <a:pt x="26949" y="26212"/>
                  </a:cubicBezTo>
                  <a:lnTo>
                    <a:pt x="26949" y="0"/>
                  </a:lnTo>
                  <a:lnTo>
                    <a:pt x="37223" y="0"/>
                  </a:lnTo>
                  <a:lnTo>
                    <a:pt x="37223" y="25539"/>
                  </a:lnTo>
                  <a:cubicBezTo>
                    <a:pt x="37223" y="39598"/>
                    <a:pt x="30137" y="46278"/>
                    <a:pt x="18237" y="46278"/>
                  </a:cubicBezTo>
                  <a:cubicBezTo>
                    <a:pt x="6756" y="46278"/>
                    <a:pt x="0" y="39941"/>
                    <a:pt x="0" y="2541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3656A"/>
            </a:solidFill>
          </p:spPr>
        </p:sp>
        <p:sp>
          <p:nvSpPr>
            <p:cNvPr id="14" name="shape 14"/>
            <p:cNvSpPr/>
            <p:nvPr/>
          </p:nvSpPr>
          <p:spPr>
            <a:xfrm>
              <a:off x="421348" y="267615"/>
              <a:ext cx="10262" cy="47968"/>
            </a:xfrm>
            <a:prstGeom prst="rect">
              <a:avLst/>
            </a:prstGeom>
            <a:solidFill>
              <a:srgbClr val="63656A"/>
            </a:solidFill>
          </p:spPr>
        </p:sp>
        <p:sp>
          <p:nvSpPr>
            <p:cNvPr id="15" name="shape 15"/>
            <p:cNvSpPr/>
            <p:nvPr/>
          </p:nvSpPr>
          <p:spPr>
            <a:xfrm>
              <a:off x="436949" y="273097"/>
              <a:ext cx="21819" cy="43168"/>
            </a:xfrm>
            <a:custGeom>
              <a:pathLst>
                <a:path w="21818" h="43167">
                  <a:moveTo>
                    <a:pt x="14452" y="0"/>
                  </a:moveTo>
                  <a:lnTo>
                    <a:pt x="14452" y="9448"/>
                  </a:lnTo>
                  <a:lnTo>
                    <a:pt x="21818" y="9448"/>
                  </a:lnTo>
                  <a:lnTo>
                    <a:pt x="21818" y="17018"/>
                  </a:lnTo>
                  <a:lnTo>
                    <a:pt x="14452" y="17018"/>
                  </a:lnTo>
                  <a:lnTo>
                    <a:pt x="14452" y="28981"/>
                  </a:lnTo>
                  <a:cubicBezTo>
                    <a:pt x="14452" y="32969"/>
                    <a:pt x="15405" y="34785"/>
                    <a:pt x="18503" y="34785"/>
                  </a:cubicBezTo>
                  <a:cubicBezTo>
                    <a:pt x="19786" y="34785"/>
                    <a:pt x="20802" y="34658"/>
                    <a:pt x="21551" y="34518"/>
                  </a:cubicBezTo>
                  <a:lnTo>
                    <a:pt x="21615" y="42278"/>
                  </a:lnTo>
                  <a:cubicBezTo>
                    <a:pt x="20256" y="42824"/>
                    <a:pt x="17830" y="43167"/>
                    <a:pt x="14922" y="43167"/>
                  </a:cubicBezTo>
                  <a:cubicBezTo>
                    <a:pt x="11607" y="43167"/>
                    <a:pt x="8839" y="42011"/>
                    <a:pt x="7226" y="40335"/>
                  </a:cubicBezTo>
                  <a:cubicBezTo>
                    <a:pt x="5334" y="38366"/>
                    <a:pt x="4394" y="35204"/>
                    <a:pt x="4394" y="30530"/>
                  </a:cubicBezTo>
                  <a:lnTo>
                    <a:pt x="4394" y="17018"/>
                  </a:lnTo>
                  <a:lnTo>
                    <a:pt x="0" y="17018"/>
                  </a:lnTo>
                  <a:lnTo>
                    <a:pt x="0" y="9448"/>
                  </a:lnTo>
                  <a:lnTo>
                    <a:pt x="4394" y="9448"/>
                  </a:lnTo>
                  <a:lnTo>
                    <a:pt x="4394" y="2298"/>
                  </a:lnTo>
                  <a:close/>
                </a:path>
              </a:pathLst>
            </a:custGeom>
            <a:solidFill>
              <a:srgbClr val="63656A"/>
            </a:solidFill>
          </p:spPr>
        </p:sp>
        <p:sp>
          <p:nvSpPr>
            <p:cNvPr id="16" name="shape 16"/>
            <p:cNvSpPr/>
            <p:nvPr/>
          </p:nvSpPr>
          <p:spPr>
            <a:xfrm>
              <a:off x="464419" y="281808"/>
              <a:ext cx="20549" cy="33783"/>
            </a:xfrm>
            <a:custGeom>
              <a:pathLst>
                <a:path w="20548" h="33782">
                  <a:moveTo>
                    <a:pt x="279" y="11620"/>
                  </a:moveTo>
                  <a:cubicBezTo>
                    <a:pt x="279" y="6756"/>
                    <a:pt x="139" y="3581"/>
                    <a:pt x="0" y="736"/>
                  </a:cubicBezTo>
                  <a:lnTo>
                    <a:pt x="8864" y="736"/>
                  </a:lnTo>
                  <a:lnTo>
                    <a:pt x="9194" y="6819"/>
                  </a:lnTo>
                  <a:lnTo>
                    <a:pt x="9461" y="6819"/>
                  </a:lnTo>
                  <a:cubicBezTo>
                    <a:pt x="11150" y="2019"/>
                    <a:pt x="15214" y="0"/>
                    <a:pt x="18389" y="0"/>
                  </a:cubicBezTo>
                  <a:cubicBezTo>
                    <a:pt x="19329" y="0"/>
                    <a:pt x="19799" y="0"/>
                    <a:pt x="20548" y="127"/>
                  </a:cubicBezTo>
                  <a:lnTo>
                    <a:pt x="20548" y="9791"/>
                  </a:lnTo>
                  <a:cubicBezTo>
                    <a:pt x="19799" y="9664"/>
                    <a:pt x="18923" y="9525"/>
                    <a:pt x="17780" y="9525"/>
                  </a:cubicBezTo>
                  <a:cubicBezTo>
                    <a:pt x="13995" y="9525"/>
                    <a:pt x="11430" y="11544"/>
                    <a:pt x="10744" y="14719"/>
                  </a:cubicBezTo>
                  <a:cubicBezTo>
                    <a:pt x="10604" y="15405"/>
                    <a:pt x="10541" y="16217"/>
                    <a:pt x="10541" y="17018"/>
                  </a:cubicBezTo>
                  <a:lnTo>
                    <a:pt x="10541" y="33782"/>
                  </a:lnTo>
                  <a:lnTo>
                    <a:pt x="279" y="33782"/>
                  </a:lnTo>
                  <a:close/>
                </a:path>
              </a:pathLst>
            </a:custGeom>
            <a:solidFill>
              <a:srgbClr val="63656A"/>
            </a:solidFill>
          </p:spPr>
        </p:sp>
        <p:sp>
          <p:nvSpPr>
            <p:cNvPr id="17" name="shape 17"/>
            <p:cNvSpPr/>
            <p:nvPr/>
          </p:nvSpPr>
          <p:spPr>
            <a:xfrm>
              <a:off x="487457" y="281806"/>
              <a:ext cx="30201" cy="34519"/>
            </a:xfrm>
            <a:custGeom>
              <a:pathLst>
                <a:path w="30200" h="34518">
                  <a:moveTo>
                    <a:pt x="15201" y="0"/>
                  </a:moveTo>
                  <a:lnTo>
                    <a:pt x="2362" y="2908"/>
                  </a:lnTo>
                  <a:lnTo>
                    <a:pt x="4254" y="9524"/>
                  </a:lnTo>
                  <a:lnTo>
                    <a:pt x="13373" y="7023"/>
                  </a:lnTo>
                  <a:lnTo>
                    <a:pt x="18283" y="8493"/>
                  </a:lnTo>
                  <a:lnTo>
                    <a:pt x="19392" y="11277"/>
                  </a:lnTo>
                  <a:lnTo>
                    <a:pt x="19392" y="11747"/>
                  </a:lnTo>
                  <a:lnTo>
                    <a:pt x="5310" y="14827"/>
                  </a:lnTo>
                  <a:lnTo>
                    <a:pt x="0" y="24383"/>
                  </a:lnTo>
                  <a:lnTo>
                    <a:pt x="2830" y="31432"/>
                  </a:lnTo>
                  <a:lnTo>
                    <a:pt x="10680" y="34518"/>
                  </a:lnTo>
                  <a:lnTo>
                    <a:pt x="20129" y="30467"/>
                  </a:lnTo>
                  <a:lnTo>
                    <a:pt x="20332" y="30467"/>
                  </a:lnTo>
                  <a:lnTo>
                    <a:pt x="20942" y="33782"/>
                  </a:lnTo>
                  <a:lnTo>
                    <a:pt x="30200" y="33782"/>
                  </a:lnTo>
                  <a:lnTo>
                    <a:pt x="29730" y="25742"/>
                  </a:lnTo>
                  <a:lnTo>
                    <a:pt x="29730" y="18173"/>
                  </a:lnTo>
                  <a:lnTo>
                    <a:pt x="19723" y="18173"/>
                  </a:lnTo>
                  <a:lnTo>
                    <a:pt x="19723" y="21742"/>
                  </a:lnTo>
                  <a:lnTo>
                    <a:pt x="19519" y="23507"/>
                  </a:lnTo>
                  <a:lnTo>
                    <a:pt x="14185" y="27292"/>
                  </a:lnTo>
                  <a:lnTo>
                    <a:pt x="10134" y="23367"/>
                  </a:lnTo>
                  <a:lnTo>
                    <a:pt x="12904" y="19256"/>
                  </a:lnTo>
                  <a:lnTo>
                    <a:pt x="19723" y="18173"/>
                  </a:lnTo>
                  <a:lnTo>
                    <a:pt x="29730" y="18173"/>
                  </a:lnTo>
                  <a:lnTo>
                    <a:pt x="29730" y="14262"/>
                  </a:lnTo>
                  <a:lnTo>
                    <a:pt x="26595" y="4211"/>
                  </a:lnTo>
                  <a:close/>
                </a:path>
              </a:pathLst>
            </a:custGeom>
            <a:solidFill>
              <a:srgbClr val="63656A"/>
            </a:solidFill>
          </p:spPr>
        </p:sp>
        <p:sp>
          <p:nvSpPr>
            <p:cNvPr id="18" name="shape 18"/>
            <p:cNvSpPr/>
            <p:nvPr/>
          </p:nvSpPr>
          <p:spPr>
            <a:xfrm>
              <a:off x="523381" y="281812"/>
              <a:ext cx="24994" cy="34456"/>
            </a:xfrm>
            <a:custGeom>
              <a:pathLst>
                <a:path w="24993" h="34455">
                  <a:moveTo>
                    <a:pt x="1828" y="24790"/>
                  </a:moveTo>
                  <a:cubicBezTo>
                    <a:pt x="3721" y="25946"/>
                    <a:pt x="7632" y="27292"/>
                    <a:pt x="10667" y="27292"/>
                  </a:cubicBezTo>
                  <a:cubicBezTo>
                    <a:pt x="13766" y="27292"/>
                    <a:pt x="15062" y="26200"/>
                    <a:pt x="15062" y="24511"/>
                  </a:cubicBezTo>
                  <a:cubicBezTo>
                    <a:pt x="15062" y="22834"/>
                    <a:pt x="14046" y="22021"/>
                    <a:pt x="10198" y="20739"/>
                  </a:cubicBezTo>
                  <a:cubicBezTo>
                    <a:pt x="3378" y="18440"/>
                    <a:pt x="736" y="14719"/>
                    <a:pt x="800" y="10795"/>
                  </a:cubicBezTo>
                  <a:cubicBezTo>
                    <a:pt x="800" y="4648"/>
                    <a:pt x="6083" y="0"/>
                    <a:pt x="14262" y="0"/>
                  </a:cubicBezTo>
                  <a:cubicBezTo>
                    <a:pt x="18097" y="0"/>
                    <a:pt x="21551" y="876"/>
                    <a:pt x="23583" y="1879"/>
                  </a:cubicBezTo>
                  <a:lnTo>
                    <a:pt x="21755" y="8978"/>
                  </a:lnTo>
                  <a:cubicBezTo>
                    <a:pt x="20269" y="8166"/>
                    <a:pt x="17437" y="7086"/>
                    <a:pt x="14592" y="7086"/>
                  </a:cubicBezTo>
                  <a:cubicBezTo>
                    <a:pt x="12090" y="7086"/>
                    <a:pt x="10667" y="8102"/>
                    <a:pt x="10667" y="9791"/>
                  </a:cubicBezTo>
                  <a:cubicBezTo>
                    <a:pt x="10667" y="11341"/>
                    <a:pt x="11950" y="12153"/>
                    <a:pt x="16001" y="13576"/>
                  </a:cubicBezTo>
                  <a:cubicBezTo>
                    <a:pt x="22288" y="15735"/>
                    <a:pt x="24930" y="18910"/>
                    <a:pt x="24993" y="23774"/>
                  </a:cubicBezTo>
                  <a:cubicBezTo>
                    <a:pt x="24993" y="29933"/>
                    <a:pt x="20129" y="34455"/>
                    <a:pt x="10667" y="34455"/>
                  </a:cubicBezTo>
                  <a:cubicBezTo>
                    <a:pt x="6349" y="34455"/>
                    <a:pt x="2489" y="33502"/>
                    <a:pt x="0" y="32156"/>
                  </a:cubicBezTo>
                  <a:close/>
                </a:path>
              </a:pathLst>
            </a:custGeom>
            <a:solidFill>
              <a:srgbClr val="63656A"/>
            </a:solidFill>
          </p:spPr>
        </p:sp>
        <p:sp>
          <p:nvSpPr>
            <p:cNvPr id="19" name="shape 19"/>
            <p:cNvSpPr/>
            <p:nvPr/>
          </p:nvSpPr>
          <p:spPr>
            <a:xfrm>
              <a:off x="552688" y="281807"/>
              <a:ext cx="34519" cy="34519"/>
            </a:xfrm>
            <a:custGeom>
              <a:pathLst>
                <a:path w="34518" h="34518">
                  <a:moveTo>
                    <a:pt x="17627" y="0"/>
                  </a:moveTo>
                  <a:lnTo>
                    <a:pt x="4841" y="4745"/>
                  </a:lnTo>
                  <a:lnTo>
                    <a:pt x="0" y="17500"/>
                  </a:lnTo>
                  <a:lnTo>
                    <a:pt x="4921" y="30014"/>
                  </a:lnTo>
                  <a:lnTo>
                    <a:pt x="17081" y="34518"/>
                  </a:lnTo>
                  <a:lnTo>
                    <a:pt x="29119" y="30237"/>
                  </a:lnTo>
                  <a:lnTo>
                    <a:pt x="34518" y="16878"/>
                  </a:lnTo>
                  <a:lnTo>
                    <a:pt x="30855" y="7289"/>
                  </a:lnTo>
                  <a:lnTo>
                    <a:pt x="17360" y="7289"/>
                  </a:lnTo>
                  <a:lnTo>
                    <a:pt x="22385" y="10409"/>
                  </a:lnTo>
                  <a:lnTo>
                    <a:pt x="23914" y="17233"/>
                  </a:lnTo>
                  <a:lnTo>
                    <a:pt x="22132" y="24417"/>
                  </a:lnTo>
                  <a:lnTo>
                    <a:pt x="17360" y="27152"/>
                  </a:lnTo>
                  <a:lnTo>
                    <a:pt x="12334" y="24322"/>
                  </a:lnTo>
                  <a:lnTo>
                    <a:pt x="10604" y="17233"/>
                  </a:lnTo>
                  <a:lnTo>
                    <a:pt x="12130" y="10437"/>
                  </a:lnTo>
                  <a:lnTo>
                    <a:pt x="17360" y="7289"/>
                  </a:lnTo>
                  <a:lnTo>
                    <a:pt x="30855" y="7289"/>
                  </a:lnTo>
                  <a:lnTo>
                    <a:pt x="29873" y="4719"/>
                  </a:lnTo>
                  <a:close/>
                </a:path>
              </a:pathLst>
            </a:custGeom>
            <a:solidFill>
              <a:srgbClr val="63656A"/>
            </a:solidFill>
          </p:spPr>
        </p:sp>
        <p:sp>
          <p:nvSpPr>
            <p:cNvPr id="20" name="shape 20"/>
            <p:cNvSpPr/>
            <p:nvPr/>
          </p:nvSpPr>
          <p:spPr>
            <a:xfrm>
              <a:off x="593272" y="281808"/>
              <a:ext cx="31611" cy="33783"/>
            </a:xfrm>
            <a:custGeom>
              <a:pathLst>
                <a:path w="31610" h="33782">
                  <a:moveTo>
                    <a:pt x="266" y="11277"/>
                  </a:moveTo>
                  <a:cubicBezTo>
                    <a:pt x="266" y="7162"/>
                    <a:pt x="139" y="3644"/>
                    <a:pt x="0" y="736"/>
                  </a:cubicBezTo>
                  <a:lnTo>
                    <a:pt x="8915" y="736"/>
                  </a:lnTo>
                  <a:lnTo>
                    <a:pt x="9385" y="5270"/>
                  </a:lnTo>
                  <a:lnTo>
                    <a:pt x="9588" y="5270"/>
                  </a:lnTo>
                  <a:cubicBezTo>
                    <a:pt x="10947" y="3175"/>
                    <a:pt x="14312" y="0"/>
                    <a:pt x="19786" y="0"/>
                  </a:cubicBezTo>
                  <a:cubicBezTo>
                    <a:pt x="26555" y="0"/>
                    <a:pt x="31610" y="4457"/>
                    <a:pt x="31610" y="14185"/>
                  </a:cubicBezTo>
                  <a:lnTo>
                    <a:pt x="31610" y="33782"/>
                  </a:lnTo>
                  <a:lnTo>
                    <a:pt x="21348" y="33782"/>
                  </a:lnTo>
                  <a:lnTo>
                    <a:pt x="21348" y="15481"/>
                  </a:lnTo>
                  <a:cubicBezTo>
                    <a:pt x="21348" y="11214"/>
                    <a:pt x="19862" y="8305"/>
                    <a:pt x="16141" y="8305"/>
                  </a:cubicBezTo>
                  <a:cubicBezTo>
                    <a:pt x="13309" y="8305"/>
                    <a:pt x="11607" y="10261"/>
                    <a:pt x="10947" y="12153"/>
                  </a:cubicBezTo>
                  <a:cubicBezTo>
                    <a:pt x="10668" y="12776"/>
                    <a:pt x="10541" y="13779"/>
                    <a:pt x="10541" y="14719"/>
                  </a:cubicBezTo>
                  <a:lnTo>
                    <a:pt x="10541" y="33782"/>
                  </a:lnTo>
                  <a:lnTo>
                    <a:pt x="266" y="33782"/>
                  </a:lnTo>
                  <a:close/>
                </a:path>
              </a:pathLst>
            </a:custGeom>
            <a:solidFill>
              <a:srgbClr val="63656A"/>
            </a:solidFill>
          </p:spPr>
        </p:sp>
        <p:sp>
          <p:nvSpPr>
            <p:cNvPr id="21" name="shape 21"/>
            <p:cNvSpPr/>
            <p:nvPr/>
          </p:nvSpPr>
          <p:spPr>
            <a:xfrm>
              <a:off x="632841" y="268160"/>
              <a:ext cx="10872" cy="47435"/>
            </a:xfrm>
            <a:custGeom>
              <a:pathLst>
                <a:path w="10871" h="47434">
                  <a:moveTo>
                    <a:pt x="10528" y="14389"/>
                  </a:moveTo>
                  <a:lnTo>
                    <a:pt x="266" y="14389"/>
                  </a:lnTo>
                  <a:lnTo>
                    <a:pt x="266" y="47434"/>
                  </a:lnTo>
                  <a:lnTo>
                    <a:pt x="10528" y="47434"/>
                  </a:lnTo>
                  <a:close/>
                </a:path>
                <a:path w="10871" h="47434">
                  <a:moveTo>
                    <a:pt x="5397" y="0"/>
                  </a:moveTo>
                  <a:lnTo>
                    <a:pt x="0" y="5207"/>
                  </a:lnTo>
                  <a:lnTo>
                    <a:pt x="5346" y="10338"/>
                  </a:lnTo>
                  <a:lnTo>
                    <a:pt x="10871" y="5207"/>
                  </a:lnTo>
                  <a:close/>
                </a:path>
              </a:pathLst>
            </a:custGeom>
            <a:solidFill>
              <a:srgbClr val="63656A"/>
            </a:solidFill>
          </p:spPr>
        </p:sp>
        <p:sp>
          <p:nvSpPr>
            <p:cNvPr id="22" name="shape 22"/>
            <p:cNvSpPr/>
            <p:nvPr/>
          </p:nvSpPr>
          <p:spPr>
            <a:xfrm>
              <a:off x="649721" y="281811"/>
              <a:ext cx="26759" cy="34456"/>
            </a:xfrm>
            <a:custGeom>
              <a:pathLst>
                <a:path w="26758" h="34455">
                  <a:moveTo>
                    <a:pt x="26682" y="32969"/>
                  </a:moveTo>
                  <a:cubicBezTo>
                    <a:pt x="24866" y="33782"/>
                    <a:pt x="21412" y="34455"/>
                    <a:pt x="17500" y="34455"/>
                  </a:cubicBezTo>
                  <a:cubicBezTo>
                    <a:pt x="6819" y="34455"/>
                    <a:pt x="0" y="27965"/>
                    <a:pt x="0" y="17564"/>
                  </a:cubicBezTo>
                  <a:cubicBezTo>
                    <a:pt x="0" y="7899"/>
                    <a:pt x="6616" y="0"/>
                    <a:pt x="18922" y="0"/>
                  </a:cubicBezTo>
                  <a:cubicBezTo>
                    <a:pt x="21628" y="0"/>
                    <a:pt x="24587" y="469"/>
                    <a:pt x="26758" y="1282"/>
                  </a:cubicBezTo>
                  <a:lnTo>
                    <a:pt x="25133" y="8915"/>
                  </a:lnTo>
                  <a:cubicBezTo>
                    <a:pt x="23914" y="8382"/>
                    <a:pt x="22085" y="7899"/>
                    <a:pt x="19392" y="7899"/>
                  </a:cubicBezTo>
                  <a:cubicBezTo>
                    <a:pt x="13982" y="7899"/>
                    <a:pt x="10477" y="11747"/>
                    <a:pt x="10540" y="17157"/>
                  </a:cubicBezTo>
                  <a:cubicBezTo>
                    <a:pt x="10540" y="23241"/>
                    <a:pt x="14592" y="26416"/>
                    <a:pt x="19596" y="26416"/>
                  </a:cubicBezTo>
                  <a:cubicBezTo>
                    <a:pt x="22021" y="26416"/>
                    <a:pt x="23914" y="26009"/>
                    <a:pt x="25463" y="25400"/>
                  </a:cubicBezTo>
                  <a:close/>
                </a:path>
              </a:pathLst>
            </a:custGeom>
            <a:solidFill>
              <a:srgbClr val="63656A"/>
            </a:solidFill>
          </p:spPr>
        </p:sp>
        <p:sp>
          <p:nvSpPr>
            <p:cNvPr id="23" name="shape 23"/>
            <p:cNvSpPr/>
            <p:nvPr/>
          </p:nvSpPr>
          <p:spPr>
            <a:xfrm>
              <a:off x="696050" y="297290"/>
              <a:ext cx="10338" cy="18301"/>
            </a:xfrm>
            <a:prstGeom prst="rect">
              <a:avLst/>
            </a:prstGeom>
            <a:solidFill>
              <a:srgbClr val="63656A"/>
            </a:solidFill>
          </p:spPr>
        </p:sp>
        <p:sp>
          <p:nvSpPr>
            <p:cNvPr id="24" name="shape 24"/>
            <p:cNvSpPr/>
            <p:nvPr/>
          </p:nvSpPr>
          <p:spPr>
            <a:xfrm>
              <a:off x="696050" y="288908"/>
              <a:ext cx="26683" cy="8382"/>
            </a:xfrm>
            <a:prstGeom prst="rect">
              <a:avLst/>
            </a:prstGeom>
            <a:solidFill>
              <a:srgbClr val="63656A"/>
            </a:solidFill>
          </p:spPr>
        </p:sp>
        <p:sp>
          <p:nvSpPr>
            <p:cNvPr id="25" name="shape 25"/>
            <p:cNvSpPr/>
            <p:nvPr/>
          </p:nvSpPr>
          <p:spPr>
            <a:xfrm>
              <a:off x="696050" y="278494"/>
              <a:ext cx="10338" cy="10414"/>
            </a:xfrm>
            <a:prstGeom prst="rect">
              <a:avLst/>
            </a:prstGeom>
            <a:solidFill>
              <a:srgbClr val="63656A"/>
            </a:solidFill>
          </p:spPr>
        </p:sp>
        <p:sp>
          <p:nvSpPr>
            <p:cNvPr id="26" name="shape 26"/>
            <p:cNvSpPr/>
            <p:nvPr/>
          </p:nvSpPr>
          <p:spPr>
            <a:xfrm>
              <a:off x="696050" y="270049"/>
              <a:ext cx="27826" cy="8446"/>
            </a:xfrm>
            <a:prstGeom prst="rect">
              <a:avLst/>
            </a:prstGeom>
            <a:solidFill>
              <a:srgbClr val="63656A"/>
            </a:solidFill>
          </p:spPr>
        </p:sp>
        <p:sp>
          <p:nvSpPr>
            <p:cNvPr id="27" name="shape 27"/>
            <p:cNvSpPr/>
            <p:nvPr/>
          </p:nvSpPr>
          <p:spPr>
            <a:xfrm>
              <a:off x="730275" y="267615"/>
              <a:ext cx="10275" cy="47968"/>
            </a:xfrm>
            <a:prstGeom prst="rect">
              <a:avLst/>
            </a:prstGeom>
            <a:solidFill>
              <a:srgbClr val="63656A"/>
            </a:solidFill>
          </p:spPr>
        </p:sp>
        <p:sp>
          <p:nvSpPr>
            <p:cNvPr id="28" name="shape 28"/>
            <p:cNvSpPr/>
            <p:nvPr/>
          </p:nvSpPr>
          <p:spPr>
            <a:xfrm>
              <a:off x="746958" y="281807"/>
              <a:ext cx="34532" cy="34519"/>
            </a:xfrm>
            <a:custGeom>
              <a:pathLst>
                <a:path w="34531" h="34518">
                  <a:moveTo>
                    <a:pt x="17640" y="0"/>
                  </a:moveTo>
                  <a:lnTo>
                    <a:pt x="4843" y="4745"/>
                  </a:lnTo>
                  <a:lnTo>
                    <a:pt x="0" y="17500"/>
                  </a:lnTo>
                  <a:lnTo>
                    <a:pt x="4922" y="30014"/>
                  </a:lnTo>
                  <a:lnTo>
                    <a:pt x="17094" y="34518"/>
                  </a:lnTo>
                  <a:lnTo>
                    <a:pt x="29132" y="30237"/>
                  </a:lnTo>
                  <a:lnTo>
                    <a:pt x="34531" y="16878"/>
                  </a:lnTo>
                  <a:lnTo>
                    <a:pt x="30864" y="7289"/>
                  </a:lnTo>
                  <a:lnTo>
                    <a:pt x="17373" y="7289"/>
                  </a:lnTo>
                  <a:lnTo>
                    <a:pt x="22391" y="10409"/>
                  </a:lnTo>
                  <a:lnTo>
                    <a:pt x="23914" y="17233"/>
                  </a:lnTo>
                  <a:lnTo>
                    <a:pt x="22134" y="24417"/>
                  </a:lnTo>
                  <a:lnTo>
                    <a:pt x="17373" y="27152"/>
                  </a:lnTo>
                  <a:lnTo>
                    <a:pt x="12341" y="24322"/>
                  </a:lnTo>
                  <a:lnTo>
                    <a:pt x="10604" y="17233"/>
                  </a:lnTo>
                  <a:lnTo>
                    <a:pt x="12136" y="10437"/>
                  </a:lnTo>
                  <a:lnTo>
                    <a:pt x="17373" y="7289"/>
                  </a:lnTo>
                  <a:lnTo>
                    <a:pt x="30864" y="7289"/>
                  </a:lnTo>
                  <a:lnTo>
                    <a:pt x="29881" y="4719"/>
                  </a:lnTo>
                  <a:close/>
                </a:path>
              </a:pathLst>
            </a:custGeom>
            <a:solidFill>
              <a:srgbClr val="63656A"/>
            </a:solidFill>
          </p:spPr>
        </p:sp>
        <p:sp>
          <p:nvSpPr>
            <p:cNvPr id="29" name="shape 29"/>
            <p:cNvSpPr/>
            <p:nvPr/>
          </p:nvSpPr>
          <p:spPr>
            <a:xfrm>
              <a:off x="783836" y="282546"/>
              <a:ext cx="49848" cy="33046"/>
            </a:xfrm>
            <a:custGeom>
              <a:pathLst>
                <a:path w="49847" h="33045">
                  <a:moveTo>
                    <a:pt x="10464" y="0"/>
                  </a:moveTo>
                  <a:lnTo>
                    <a:pt x="13093" y="13512"/>
                  </a:lnTo>
                  <a:cubicBezTo>
                    <a:pt x="13779" y="16967"/>
                    <a:pt x="14452" y="20599"/>
                    <a:pt x="14985" y="24396"/>
                  </a:cubicBezTo>
                  <a:lnTo>
                    <a:pt x="15125" y="24396"/>
                  </a:lnTo>
                  <a:cubicBezTo>
                    <a:pt x="15798" y="20599"/>
                    <a:pt x="16751" y="16827"/>
                    <a:pt x="17551" y="13576"/>
                  </a:cubicBezTo>
                  <a:lnTo>
                    <a:pt x="21069" y="0"/>
                  </a:lnTo>
                  <a:lnTo>
                    <a:pt x="29184" y="0"/>
                  </a:lnTo>
                  <a:lnTo>
                    <a:pt x="32486" y="13169"/>
                  </a:lnTo>
                  <a:cubicBezTo>
                    <a:pt x="33375" y="16903"/>
                    <a:pt x="34239" y="20599"/>
                    <a:pt x="34912" y="24396"/>
                  </a:cubicBezTo>
                  <a:lnTo>
                    <a:pt x="35051" y="24396"/>
                  </a:lnTo>
                  <a:cubicBezTo>
                    <a:pt x="35534" y="20599"/>
                    <a:pt x="36207" y="16903"/>
                    <a:pt x="36944" y="13106"/>
                  </a:cubicBezTo>
                  <a:lnTo>
                    <a:pt x="39789" y="0"/>
                  </a:lnTo>
                  <a:lnTo>
                    <a:pt x="49847" y="0"/>
                  </a:lnTo>
                  <a:lnTo>
                    <a:pt x="39725" y="33045"/>
                  </a:lnTo>
                  <a:lnTo>
                    <a:pt x="30060" y="33045"/>
                  </a:lnTo>
                  <a:lnTo>
                    <a:pt x="26949" y="21424"/>
                  </a:lnTo>
                  <a:cubicBezTo>
                    <a:pt x="26136" y="18186"/>
                    <a:pt x="25526" y="15201"/>
                    <a:pt x="24853" y="11150"/>
                  </a:cubicBezTo>
                  <a:lnTo>
                    <a:pt x="24714" y="11150"/>
                  </a:lnTo>
                  <a:cubicBezTo>
                    <a:pt x="24104" y="15265"/>
                    <a:pt x="23431" y="18313"/>
                    <a:pt x="22555" y="21424"/>
                  </a:cubicBezTo>
                  <a:lnTo>
                    <a:pt x="19240" y="33045"/>
                  </a:lnTo>
                  <a:lnTo>
                    <a:pt x="9588" y="330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3656A"/>
            </a:solidFill>
          </p:spPr>
        </p:sp>
        <p:sp>
          <p:nvSpPr>
            <p:cNvPr id="30" name="shape 30"/>
            <p:cNvSpPr/>
            <p:nvPr/>
          </p:nvSpPr>
          <p:spPr>
            <a:xfrm>
              <a:off x="851422" y="270048"/>
              <a:ext cx="50280" cy="45543"/>
            </a:xfrm>
            <a:custGeom>
              <a:pathLst>
                <a:path w="50279" h="45542">
                  <a:moveTo>
                    <a:pt x="39522" y="28105"/>
                  </a:moveTo>
                  <a:cubicBezTo>
                    <a:pt x="39331" y="22631"/>
                    <a:pt x="39128" y="16014"/>
                    <a:pt x="39128" y="9385"/>
                  </a:cubicBezTo>
                  <a:lnTo>
                    <a:pt x="38912" y="9385"/>
                  </a:lnTo>
                  <a:cubicBezTo>
                    <a:pt x="37490" y="15201"/>
                    <a:pt x="35610" y="21678"/>
                    <a:pt x="33845" y="27025"/>
                  </a:cubicBezTo>
                  <a:lnTo>
                    <a:pt x="28320" y="44792"/>
                  </a:lnTo>
                  <a:lnTo>
                    <a:pt x="20269" y="44792"/>
                  </a:lnTo>
                  <a:lnTo>
                    <a:pt x="15405" y="27165"/>
                  </a:lnTo>
                  <a:cubicBezTo>
                    <a:pt x="13919" y="21831"/>
                    <a:pt x="12369" y="15341"/>
                    <a:pt x="11290" y="9385"/>
                  </a:cubicBezTo>
                  <a:lnTo>
                    <a:pt x="11150" y="9385"/>
                  </a:lnTo>
                  <a:cubicBezTo>
                    <a:pt x="10883" y="15532"/>
                    <a:pt x="10680" y="22567"/>
                    <a:pt x="10337" y="28232"/>
                  </a:cubicBezTo>
                  <a:lnTo>
                    <a:pt x="9524" y="45542"/>
                  </a:lnTo>
                  <a:lnTo>
                    <a:pt x="0" y="45542"/>
                  </a:lnTo>
                  <a:lnTo>
                    <a:pt x="2908" y="0"/>
                  </a:lnTo>
                  <a:lnTo>
                    <a:pt x="16611" y="0"/>
                  </a:lnTo>
                  <a:lnTo>
                    <a:pt x="21081" y="15201"/>
                  </a:lnTo>
                  <a:cubicBezTo>
                    <a:pt x="22504" y="20472"/>
                    <a:pt x="23926" y="26149"/>
                    <a:pt x="24930" y="31483"/>
                  </a:cubicBezTo>
                  <a:lnTo>
                    <a:pt x="25133" y="31483"/>
                  </a:lnTo>
                  <a:cubicBezTo>
                    <a:pt x="26428" y="26212"/>
                    <a:pt x="27978" y="20205"/>
                    <a:pt x="29463" y="15138"/>
                  </a:cubicBezTo>
                  <a:lnTo>
                    <a:pt x="34328" y="0"/>
                  </a:lnTo>
                  <a:lnTo>
                    <a:pt x="47764" y="0"/>
                  </a:lnTo>
                  <a:lnTo>
                    <a:pt x="50279" y="45542"/>
                  </a:lnTo>
                  <a:lnTo>
                    <a:pt x="40195" y="45542"/>
                  </a:lnTo>
                  <a:close/>
                </a:path>
              </a:pathLst>
            </a:custGeom>
            <a:solidFill>
              <a:srgbClr val="63656A"/>
            </a:solidFill>
          </p:spPr>
        </p:sp>
        <p:sp>
          <p:nvSpPr>
            <p:cNvPr id="31" name="shape 31"/>
            <p:cNvSpPr/>
            <p:nvPr/>
          </p:nvSpPr>
          <p:spPr>
            <a:xfrm>
              <a:off x="907548" y="281804"/>
              <a:ext cx="31408" cy="34456"/>
            </a:xfrm>
            <a:custGeom>
              <a:pathLst>
                <a:path w="31407" h="34455">
                  <a:moveTo>
                    <a:pt x="16675" y="0"/>
                  </a:moveTo>
                  <a:lnTo>
                    <a:pt x="4032" y="5676"/>
                  </a:lnTo>
                  <a:lnTo>
                    <a:pt x="0" y="17640"/>
                  </a:lnTo>
                  <a:lnTo>
                    <a:pt x="4608" y="29919"/>
                  </a:lnTo>
                  <a:lnTo>
                    <a:pt x="17627" y="34455"/>
                  </a:lnTo>
                  <a:lnTo>
                    <a:pt x="29590" y="32435"/>
                  </a:lnTo>
                  <a:lnTo>
                    <a:pt x="28232" y="25476"/>
                  </a:lnTo>
                  <a:lnTo>
                    <a:pt x="19113" y="26822"/>
                  </a:lnTo>
                  <a:lnTo>
                    <a:pt x="12776" y="25279"/>
                  </a:lnTo>
                  <a:lnTo>
                    <a:pt x="9791" y="20535"/>
                  </a:lnTo>
                  <a:lnTo>
                    <a:pt x="31064" y="20535"/>
                  </a:lnTo>
                  <a:lnTo>
                    <a:pt x="31407" y="16484"/>
                  </a:lnTo>
                  <a:lnTo>
                    <a:pt x="28533" y="6819"/>
                  </a:lnTo>
                  <a:lnTo>
                    <a:pt x="16065" y="6819"/>
                  </a:lnTo>
                  <a:lnTo>
                    <a:pt x="20745" y="9228"/>
                  </a:lnTo>
                  <a:lnTo>
                    <a:pt x="21882" y="13512"/>
                  </a:lnTo>
                  <a:lnTo>
                    <a:pt x="9715" y="13512"/>
                  </a:lnTo>
                  <a:lnTo>
                    <a:pt x="11371" y="9128"/>
                  </a:lnTo>
                  <a:lnTo>
                    <a:pt x="16065" y="6819"/>
                  </a:lnTo>
                  <a:lnTo>
                    <a:pt x="28533" y="6819"/>
                  </a:lnTo>
                  <a:lnTo>
                    <a:pt x="28046" y="5180"/>
                  </a:lnTo>
                  <a:close/>
                </a:path>
              </a:pathLst>
            </a:custGeom>
            <a:solidFill>
              <a:srgbClr val="63656A"/>
            </a:solidFill>
          </p:spPr>
        </p:sp>
        <p:sp>
          <p:nvSpPr>
            <p:cNvPr id="32" name="shape 32"/>
            <p:cNvSpPr/>
            <p:nvPr/>
          </p:nvSpPr>
          <p:spPr>
            <a:xfrm>
              <a:off x="942117" y="273097"/>
              <a:ext cx="21819" cy="43168"/>
            </a:xfrm>
            <a:custGeom>
              <a:pathLst>
                <a:path w="21818" h="43167">
                  <a:moveTo>
                    <a:pt x="14452" y="0"/>
                  </a:moveTo>
                  <a:lnTo>
                    <a:pt x="14452" y="9448"/>
                  </a:lnTo>
                  <a:lnTo>
                    <a:pt x="21818" y="9448"/>
                  </a:lnTo>
                  <a:lnTo>
                    <a:pt x="21818" y="17018"/>
                  </a:lnTo>
                  <a:lnTo>
                    <a:pt x="14452" y="17018"/>
                  </a:lnTo>
                  <a:lnTo>
                    <a:pt x="14452" y="28981"/>
                  </a:lnTo>
                  <a:cubicBezTo>
                    <a:pt x="14452" y="32969"/>
                    <a:pt x="15405" y="34785"/>
                    <a:pt x="18503" y="34785"/>
                  </a:cubicBezTo>
                  <a:cubicBezTo>
                    <a:pt x="19786" y="34785"/>
                    <a:pt x="20802" y="34658"/>
                    <a:pt x="21551" y="34518"/>
                  </a:cubicBezTo>
                  <a:lnTo>
                    <a:pt x="21615" y="42278"/>
                  </a:lnTo>
                  <a:cubicBezTo>
                    <a:pt x="20269" y="42824"/>
                    <a:pt x="17830" y="43167"/>
                    <a:pt x="14935" y="43167"/>
                  </a:cubicBezTo>
                  <a:cubicBezTo>
                    <a:pt x="11620" y="43167"/>
                    <a:pt x="8851" y="42011"/>
                    <a:pt x="7239" y="40335"/>
                  </a:cubicBezTo>
                  <a:cubicBezTo>
                    <a:pt x="5334" y="38366"/>
                    <a:pt x="4394" y="35204"/>
                    <a:pt x="4394" y="30530"/>
                  </a:cubicBezTo>
                  <a:lnTo>
                    <a:pt x="4394" y="17018"/>
                  </a:lnTo>
                  <a:lnTo>
                    <a:pt x="0" y="17018"/>
                  </a:lnTo>
                  <a:lnTo>
                    <a:pt x="0" y="9448"/>
                  </a:lnTo>
                  <a:lnTo>
                    <a:pt x="4394" y="9448"/>
                  </a:lnTo>
                  <a:lnTo>
                    <a:pt x="4394" y="2298"/>
                  </a:lnTo>
                  <a:close/>
                </a:path>
              </a:pathLst>
            </a:custGeom>
            <a:solidFill>
              <a:srgbClr val="63656A"/>
            </a:solidFill>
          </p:spPr>
        </p:sp>
        <p:sp>
          <p:nvSpPr>
            <p:cNvPr id="33" name="shape 33"/>
            <p:cNvSpPr/>
            <p:nvPr/>
          </p:nvSpPr>
          <p:spPr>
            <a:xfrm>
              <a:off x="967647" y="281804"/>
              <a:ext cx="31408" cy="34456"/>
            </a:xfrm>
            <a:custGeom>
              <a:pathLst>
                <a:path w="31407" h="34455">
                  <a:moveTo>
                    <a:pt x="16675" y="0"/>
                  </a:moveTo>
                  <a:lnTo>
                    <a:pt x="4032" y="5676"/>
                  </a:lnTo>
                  <a:lnTo>
                    <a:pt x="0" y="17640"/>
                  </a:lnTo>
                  <a:lnTo>
                    <a:pt x="4608" y="29919"/>
                  </a:lnTo>
                  <a:lnTo>
                    <a:pt x="17627" y="34455"/>
                  </a:lnTo>
                  <a:lnTo>
                    <a:pt x="29578" y="32435"/>
                  </a:lnTo>
                  <a:lnTo>
                    <a:pt x="28232" y="25476"/>
                  </a:lnTo>
                  <a:lnTo>
                    <a:pt x="19113" y="26822"/>
                  </a:lnTo>
                  <a:lnTo>
                    <a:pt x="12776" y="25279"/>
                  </a:lnTo>
                  <a:lnTo>
                    <a:pt x="9791" y="20535"/>
                  </a:lnTo>
                  <a:lnTo>
                    <a:pt x="31064" y="20535"/>
                  </a:lnTo>
                  <a:lnTo>
                    <a:pt x="31407" y="16484"/>
                  </a:lnTo>
                  <a:lnTo>
                    <a:pt x="28533" y="6819"/>
                  </a:lnTo>
                  <a:lnTo>
                    <a:pt x="16065" y="6819"/>
                  </a:lnTo>
                  <a:lnTo>
                    <a:pt x="20745" y="9228"/>
                  </a:lnTo>
                  <a:lnTo>
                    <a:pt x="21882" y="13512"/>
                  </a:lnTo>
                  <a:lnTo>
                    <a:pt x="9715" y="13512"/>
                  </a:lnTo>
                  <a:lnTo>
                    <a:pt x="11371" y="9128"/>
                  </a:lnTo>
                  <a:lnTo>
                    <a:pt x="16065" y="6819"/>
                  </a:lnTo>
                  <a:lnTo>
                    <a:pt x="28533" y="6819"/>
                  </a:lnTo>
                  <a:lnTo>
                    <a:pt x="28046" y="5180"/>
                  </a:lnTo>
                  <a:close/>
                </a:path>
              </a:pathLst>
            </a:custGeom>
            <a:solidFill>
              <a:srgbClr val="63656A"/>
            </a:solidFill>
          </p:spPr>
        </p:sp>
        <p:sp>
          <p:nvSpPr>
            <p:cNvPr id="34" name="shape 34"/>
            <p:cNvSpPr/>
            <p:nvPr/>
          </p:nvSpPr>
          <p:spPr>
            <a:xfrm>
              <a:off x="1004914" y="281808"/>
              <a:ext cx="20549" cy="33783"/>
            </a:xfrm>
            <a:custGeom>
              <a:pathLst>
                <a:path w="20548" h="33782">
                  <a:moveTo>
                    <a:pt x="266" y="11620"/>
                  </a:moveTo>
                  <a:cubicBezTo>
                    <a:pt x="266" y="6756"/>
                    <a:pt x="139" y="3581"/>
                    <a:pt x="0" y="736"/>
                  </a:cubicBezTo>
                  <a:lnTo>
                    <a:pt x="8851" y="736"/>
                  </a:lnTo>
                  <a:lnTo>
                    <a:pt x="9182" y="6819"/>
                  </a:lnTo>
                  <a:lnTo>
                    <a:pt x="9461" y="6819"/>
                  </a:lnTo>
                  <a:cubicBezTo>
                    <a:pt x="11150" y="2019"/>
                    <a:pt x="15201" y="0"/>
                    <a:pt x="18376" y="0"/>
                  </a:cubicBezTo>
                  <a:cubicBezTo>
                    <a:pt x="19329" y="0"/>
                    <a:pt x="19786" y="0"/>
                    <a:pt x="20548" y="127"/>
                  </a:cubicBezTo>
                  <a:lnTo>
                    <a:pt x="20548" y="9791"/>
                  </a:lnTo>
                  <a:cubicBezTo>
                    <a:pt x="19786" y="9664"/>
                    <a:pt x="18922" y="9525"/>
                    <a:pt x="17767" y="9525"/>
                  </a:cubicBezTo>
                  <a:cubicBezTo>
                    <a:pt x="13982" y="9525"/>
                    <a:pt x="11417" y="11544"/>
                    <a:pt x="10744" y="14719"/>
                  </a:cubicBezTo>
                  <a:cubicBezTo>
                    <a:pt x="10617" y="15405"/>
                    <a:pt x="10540" y="16217"/>
                    <a:pt x="10540" y="17018"/>
                  </a:cubicBezTo>
                  <a:lnTo>
                    <a:pt x="10540" y="33782"/>
                  </a:lnTo>
                  <a:lnTo>
                    <a:pt x="266" y="33782"/>
                  </a:lnTo>
                  <a:close/>
                </a:path>
              </a:pathLst>
            </a:custGeom>
            <a:solidFill>
              <a:srgbClr val="63656A"/>
            </a:solidFill>
          </p:spPr>
        </p:sp>
        <p:sp>
          <p:nvSpPr>
            <p:cNvPr id="35" name="shape 35"/>
            <p:cNvSpPr/>
            <p:nvPr/>
          </p:nvSpPr>
          <p:spPr>
            <a:xfrm>
              <a:off x="1028953" y="281812"/>
              <a:ext cx="24994" cy="34456"/>
            </a:xfrm>
            <a:custGeom>
              <a:pathLst>
                <a:path w="24993" h="34455">
                  <a:moveTo>
                    <a:pt x="1828" y="24790"/>
                  </a:moveTo>
                  <a:cubicBezTo>
                    <a:pt x="3721" y="25946"/>
                    <a:pt x="7632" y="27292"/>
                    <a:pt x="10667" y="27292"/>
                  </a:cubicBezTo>
                  <a:cubicBezTo>
                    <a:pt x="13779" y="27292"/>
                    <a:pt x="15074" y="26200"/>
                    <a:pt x="15074" y="24511"/>
                  </a:cubicBezTo>
                  <a:cubicBezTo>
                    <a:pt x="15074" y="22834"/>
                    <a:pt x="14058" y="22021"/>
                    <a:pt x="10210" y="20739"/>
                  </a:cubicBezTo>
                  <a:cubicBezTo>
                    <a:pt x="3378" y="18440"/>
                    <a:pt x="749" y="14719"/>
                    <a:pt x="812" y="10795"/>
                  </a:cubicBezTo>
                  <a:cubicBezTo>
                    <a:pt x="812" y="4648"/>
                    <a:pt x="6083" y="0"/>
                    <a:pt x="14262" y="0"/>
                  </a:cubicBezTo>
                  <a:cubicBezTo>
                    <a:pt x="18110" y="0"/>
                    <a:pt x="21551" y="876"/>
                    <a:pt x="23583" y="1879"/>
                  </a:cubicBezTo>
                  <a:lnTo>
                    <a:pt x="21755" y="8978"/>
                  </a:lnTo>
                  <a:cubicBezTo>
                    <a:pt x="20269" y="8166"/>
                    <a:pt x="17437" y="7086"/>
                    <a:pt x="14604" y="7086"/>
                  </a:cubicBezTo>
                  <a:cubicBezTo>
                    <a:pt x="12090" y="7086"/>
                    <a:pt x="10667" y="8102"/>
                    <a:pt x="10667" y="9791"/>
                  </a:cubicBezTo>
                  <a:cubicBezTo>
                    <a:pt x="10667" y="11341"/>
                    <a:pt x="11963" y="12153"/>
                    <a:pt x="16014" y="13576"/>
                  </a:cubicBezTo>
                  <a:cubicBezTo>
                    <a:pt x="22288" y="15735"/>
                    <a:pt x="24942" y="18910"/>
                    <a:pt x="24993" y="23774"/>
                  </a:cubicBezTo>
                  <a:cubicBezTo>
                    <a:pt x="24993" y="29933"/>
                    <a:pt x="20129" y="34455"/>
                    <a:pt x="10667" y="34455"/>
                  </a:cubicBezTo>
                  <a:cubicBezTo>
                    <a:pt x="6349" y="34455"/>
                    <a:pt x="2489" y="33502"/>
                    <a:pt x="0" y="32156"/>
                  </a:cubicBezTo>
                  <a:close/>
                </a:path>
              </a:pathLst>
            </a:custGeom>
            <a:solidFill>
              <a:srgbClr val="63656A"/>
            </a:solidFill>
          </p:spPr>
        </p:sp>
        <p:sp>
          <p:nvSpPr>
            <p:cNvPr id="36" name="shape 36"/>
            <p:cNvSpPr/>
            <p:nvPr/>
          </p:nvSpPr>
          <p:spPr>
            <a:xfrm>
              <a:off x="375564" y="235064"/>
              <a:ext cx="1681836" cy="6478"/>
            </a:xfrm>
            <a:prstGeom prst="rect">
              <a:avLst/>
            </a:prstGeom>
            <a:solidFill>
              <a:srgbClr val="63656A"/>
            </a:solidFill>
          </p:spPr>
        </p:sp>
        <p:sp>
          <p:nvSpPr>
            <p:cNvPr id="37" name="shape 37"/>
            <p:cNvSpPr/>
            <p:nvPr/>
          </p:nvSpPr>
          <p:spPr>
            <a:xfrm>
              <a:off x="2008641" y="2540"/>
              <a:ext cx="48756" cy="48764"/>
            </a:xfrm>
            <a:custGeom>
              <a:pathLst>
                <a:path w="48755" h="48763">
                  <a:moveTo>
                    <a:pt x="22707" y="11628"/>
                  </a:moveTo>
                  <a:lnTo>
                    <a:pt x="13703" y="11628"/>
                  </a:lnTo>
                  <a:lnTo>
                    <a:pt x="13703" y="37867"/>
                  </a:lnTo>
                  <a:lnTo>
                    <a:pt x="17932" y="37867"/>
                  </a:lnTo>
                  <a:lnTo>
                    <a:pt x="17932" y="26716"/>
                  </a:lnTo>
                  <a:lnTo>
                    <a:pt x="20421" y="26716"/>
                  </a:lnTo>
                  <a:lnTo>
                    <a:pt x="23812" y="27630"/>
                  </a:lnTo>
                  <a:lnTo>
                    <a:pt x="28232" y="33726"/>
                  </a:lnTo>
                  <a:lnTo>
                    <a:pt x="30568" y="37867"/>
                  </a:lnTo>
                  <a:lnTo>
                    <a:pt x="35725" y="37867"/>
                  </a:lnTo>
                  <a:lnTo>
                    <a:pt x="32537" y="32736"/>
                  </a:lnTo>
                  <a:lnTo>
                    <a:pt x="28651" y="27516"/>
                  </a:lnTo>
                  <a:lnTo>
                    <a:pt x="26428" y="26132"/>
                  </a:lnTo>
                  <a:lnTo>
                    <a:pt x="31877" y="23744"/>
                  </a:lnTo>
                  <a:lnTo>
                    <a:pt x="32141" y="23097"/>
                  </a:lnTo>
                  <a:lnTo>
                    <a:pt x="33921" y="18740"/>
                  </a:lnTo>
                  <a:lnTo>
                    <a:pt x="32787" y="15197"/>
                  </a:lnTo>
                  <a:lnTo>
                    <a:pt x="22745" y="15197"/>
                  </a:lnTo>
                  <a:lnTo>
                    <a:pt x="27000" y="15642"/>
                  </a:lnTo>
                  <a:lnTo>
                    <a:pt x="28778" y="17013"/>
                  </a:lnTo>
                  <a:lnTo>
                    <a:pt x="29438" y="19096"/>
                  </a:lnTo>
                  <a:lnTo>
                    <a:pt x="28079" y="22004"/>
                  </a:lnTo>
                  <a:lnTo>
                    <a:pt x="23075" y="23097"/>
                  </a:lnTo>
                  <a:lnTo>
                    <a:pt x="17932" y="23097"/>
                  </a:lnTo>
                  <a:lnTo>
                    <a:pt x="17932" y="15197"/>
                  </a:lnTo>
                  <a:lnTo>
                    <a:pt x="22745" y="15197"/>
                  </a:lnTo>
                  <a:lnTo>
                    <a:pt x="32787" y="15197"/>
                  </a:lnTo>
                  <a:lnTo>
                    <a:pt x="32689" y="14892"/>
                  </a:lnTo>
                  <a:lnTo>
                    <a:pt x="29400" y="12365"/>
                  </a:lnTo>
                  <a:close/>
                </a:path>
                <a:path w="48755" h="48763">
                  <a:moveTo>
                    <a:pt x="24400" y="0"/>
                  </a:moveTo>
                  <a:lnTo>
                    <a:pt x="24367" y="0"/>
                  </a:lnTo>
                  <a:lnTo>
                    <a:pt x="12407" y="3145"/>
                  </a:lnTo>
                  <a:lnTo>
                    <a:pt x="3276" y="12175"/>
                  </a:lnTo>
                  <a:lnTo>
                    <a:pt x="0" y="24392"/>
                  </a:lnTo>
                  <a:lnTo>
                    <a:pt x="3225" y="36520"/>
                  </a:lnTo>
                  <a:lnTo>
                    <a:pt x="12255" y="45550"/>
                  </a:lnTo>
                  <a:lnTo>
                    <a:pt x="24383" y="48763"/>
                  </a:lnTo>
                  <a:lnTo>
                    <a:pt x="36525" y="45550"/>
                  </a:lnTo>
                  <a:lnTo>
                    <a:pt x="37349" y="44725"/>
                  </a:lnTo>
                  <a:lnTo>
                    <a:pt x="24383" y="44725"/>
                  </a:lnTo>
                  <a:lnTo>
                    <a:pt x="14274" y="42020"/>
                  </a:lnTo>
                  <a:lnTo>
                    <a:pt x="6730" y="34501"/>
                  </a:lnTo>
                  <a:lnTo>
                    <a:pt x="4038" y="24392"/>
                  </a:lnTo>
                  <a:lnTo>
                    <a:pt x="6781" y="14194"/>
                  </a:lnTo>
                  <a:lnTo>
                    <a:pt x="14389" y="6675"/>
                  </a:lnTo>
                  <a:lnTo>
                    <a:pt x="24383" y="4034"/>
                  </a:lnTo>
                  <a:lnTo>
                    <a:pt x="34366" y="6675"/>
                  </a:lnTo>
                  <a:lnTo>
                    <a:pt x="41986" y="14194"/>
                  </a:lnTo>
                  <a:lnTo>
                    <a:pt x="44716" y="24392"/>
                  </a:lnTo>
                  <a:lnTo>
                    <a:pt x="42024" y="34501"/>
                  </a:lnTo>
                  <a:lnTo>
                    <a:pt x="34505" y="42020"/>
                  </a:lnTo>
                  <a:lnTo>
                    <a:pt x="24383" y="44725"/>
                  </a:lnTo>
                  <a:lnTo>
                    <a:pt x="37349" y="44725"/>
                  </a:lnTo>
                  <a:lnTo>
                    <a:pt x="45542" y="36520"/>
                  </a:lnTo>
                  <a:lnTo>
                    <a:pt x="48755" y="24392"/>
                  </a:lnTo>
                  <a:lnTo>
                    <a:pt x="45491" y="12175"/>
                  </a:lnTo>
                  <a:lnTo>
                    <a:pt x="36385" y="3145"/>
                  </a:lnTo>
                  <a:close/>
                </a:path>
              </a:pathLst>
            </a:custGeom>
            <a:solidFill>
              <a:srgbClr val="EE3123"/>
            </a:solidFill>
          </p:spPr>
        </p:sp>
        <p:sp>
          <p:nvSpPr>
            <p:cNvPr id="38" name="shape 38"/>
            <p:cNvSpPr/>
            <p:nvPr/>
          </p:nvSpPr>
          <p:spPr>
            <a:xfrm>
              <a:off x="375567" y="2540"/>
              <a:ext cx="182944" cy="198804"/>
            </a:xfrm>
            <a:custGeom>
              <a:pathLst>
                <a:path w="182943" h="198803">
                  <a:moveTo>
                    <a:pt x="91277" y="0"/>
                  </a:moveTo>
                  <a:lnTo>
                    <a:pt x="0" y="0"/>
                  </a:lnTo>
                  <a:lnTo>
                    <a:pt x="0" y="198803"/>
                  </a:lnTo>
                  <a:lnTo>
                    <a:pt x="91262" y="198803"/>
                  </a:lnTo>
                  <a:lnTo>
                    <a:pt x="127876" y="193380"/>
                  </a:lnTo>
                  <a:lnTo>
                    <a:pt x="155549" y="177581"/>
                  </a:lnTo>
                  <a:lnTo>
                    <a:pt x="171917" y="153654"/>
                  </a:lnTo>
                  <a:lnTo>
                    <a:pt x="175679" y="148155"/>
                  </a:lnTo>
                  <a:lnTo>
                    <a:pt x="182943" y="98727"/>
                  </a:lnTo>
                  <a:lnTo>
                    <a:pt x="178066" y="60208"/>
                  </a:lnTo>
                  <a:lnTo>
                    <a:pt x="170565" y="45018"/>
                  </a:lnTo>
                  <a:lnTo>
                    <a:pt x="76746" y="45018"/>
                  </a:lnTo>
                  <a:lnTo>
                    <a:pt x="110934" y="56690"/>
                  </a:lnTo>
                  <a:lnTo>
                    <a:pt x="121246" y="99946"/>
                  </a:lnTo>
                  <a:lnTo>
                    <a:pt x="116624" y="134465"/>
                  </a:lnTo>
                  <a:lnTo>
                    <a:pt x="103873" y="149374"/>
                  </a:lnTo>
                  <a:lnTo>
                    <a:pt x="76479" y="153654"/>
                  </a:lnTo>
                  <a:lnTo>
                    <a:pt x="61429" y="153654"/>
                  </a:lnTo>
                  <a:lnTo>
                    <a:pt x="61429" y="45018"/>
                  </a:lnTo>
                  <a:lnTo>
                    <a:pt x="76746" y="45018"/>
                  </a:lnTo>
                  <a:lnTo>
                    <a:pt x="170565" y="45018"/>
                  </a:lnTo>
                  <a:lnTo>
                    <a:pt x="162331" y="28343"/>
                  </a:lnTo>
                  <a:lnTo>
                    <a:pt x="134873" y="7325"/>
                  </a:lnTo>
                  <a:close/>
                </a:path>
              </a:pathLst>
            </a:custGeom>
            <a:solidFill>
              <a:srgbClr val="EE3123"/>
            </a:solidFill>
          </p:spPr>
        </p:sp>
        <p:sp>
          <p:nvSpPr>
            <p:cNvPr id="39" name="shape 39"/>
            <p:cNvSpPr/>
            <p:nvPr/>
          </p:nvSpPr>
          <p:spPr>
            <a:xfrm>
              <a:off x="562922" y="57325"/>
              <a:ext cx="169939" cy="202477"/>
            </a:xfrm>
            <a:custGeom>
              <a:pathLst>
                <a:path w="169938" h="202476">
                  <a:moveTo>
                    <a:pt x="0" y="0"/>
                  </a:moveTo>
                  <a:lnTo>
                    <a:pt x="58242" y="0"/>
                  </a:lnTo>
                  <a:lnTo>
                    <a:pt x="87947" y="95872"/>
                  </a:lnTo>
                  <a:lnTo>
                    <a:pt x="115544" y="0"/>
                  </a:lnTo>
                  <a:lnTo>
                    <a:pt x="169938" y="0"/>
                  </a:lnTo>
                  <a:lnTo>
                    <a:pt x="112788" y="153885"/>
                  </a:lnTo>
                  <a:cubicBezTo>
                    <a:pt x="106286" y="171437"/>
                    <a:pt x="99644" y="183299"/>
                    <a:pt x="92862" y="189445"/>
                  </a:cubicBezTo>
                  <a:cubicBezTo>
                    <a:pt x="83273" y="198132"/>
                    <a:pt x="68681" y="202476"/>
                    <a:pt x="49072" y="202476"/>
                  </a:cubicBezTo>
                  <a:cubicBezTo>
                    <a:pt x="41122" y="202476"/>
                    <a:pt x="28829" y="201383"/>
                    <a:pt x="12204" y="199212"/>
                  </a:cubicBezTo>
                  <a:lnTo>
                    <a:pt x="7874" y="160705"/>
                  </a:lnTo>
                  <a:cubicBezTo>
                    <a:pt x="15824" y="163233"/>
                    <a:pt x="24663" y="164503"/>
                    <a:pt x="34417" y="164503"/>
                  </a:cubicBezTo>
                  <a:cubicBezTo>
                    <a:pt x="40932" y="164503"/>
                    <a:pt x="46189" y="163004"/>
                    <a:pt x="50215" y="160020"/>
                  </a:cubicBezTo>
                  <a:cubicBezTo>
                    <a:pt x="54229" y="157035"/>
                    <a:pt x="57632" y="151688"/>
                    <a:pt x="60439" y="143992"/>
                  </a:cubicBezTo>
                  <a:close/>
                </a:path>
              </a:pathLst>
            </a:custGeom>
            <a:solidFill>
              <a:srgbClr val="EE3123"/>
            </a:solidFill>
          </p:spPr>
        </p:sp>
        <p:sp>
          <p:nvSpPr>
            <p:cNvPr id="40" name="shape 40"/>
            <p:cNvSpPr/>
            <p:nvPr/>
          </p:nvSpPr>
          <p:spPr>
            <a:xfrm>
              <a:off x="740112" y="54074"/>
              <a:ext cx="152299" cy="147270"/>
            </a:xfrm>
            <a:custGeom>
              <a:pathLst>
                <a:path w="152298" h="147269">
                  <a:moveTo>
                    <a:pt x="0" y="3251"/>
                  </a:moveTo>
                  <a:lnTo>
                    <a:pt x="51396" y="3251"/>
                  </a:lnTo>
                  <a:lnTo>
                    <a:pt x="51396" y="26720"/>
                  </a:lnTo>
                  <a:cubicBezTo>
                    <a:pt x="59080" y="17132"/>
                    <a:pt x="66865" y="10287"/>
                    <a:pt x="74726" y="6159"/>
                  </a:cubicBezTo>
                  <a:cubicBezTo>
                    <a:pt x="82588" y="2057"/>
                    <a:pt x="92176" y="0"/>
                    <a:pt x="103479" y="0"/>
                  </a:cubicBezTo>
                  <a:cubicBezTo>
                    <a:pt x="118757" y="0"/>
                    <a:pt x="130708" y="4533"/>
                    <a:pt x="139344" y="13639"/>
                  </a:cubicBezTo>
                  <a:cubicBezTo>
                    <a:pt x="147980" y="22707"/>
                    <a:pt x="152298" y="36741"/>
                    <a:pt x="152298" y="55740"/>
                  </a:cubicBezTo>
                  <a:lnTo>
                    <a:pt x="152298" y="147269"/>
                  </a:lnTo>
                  <a:lnTo>
                    <a:pt x="96824" y="147269"/>
                  </a:lnTo>
                  <a:lnTo>
                    <a:pt x="96824" y="68072"/>
                  </a:lnTo>
                  <a:cubicBezTo>
                    <a:pt x="96824" y="59042"/>
                    <a:pt x="95148" y="52641"/>
                    <a:pt x="91808" y="48882"/>
                  </a:cubicBezTo>
                  <a:cubicBezTo>
                    <a:pt x="88468" y="45135"/>
                    <a:pt x="83769" y="43256"/>
                    <a:pt x="77711" y="43256"/>
                  </a:cubicBezTo>
                  <a:cubicBezTo>
                    <a:pt x="71018" y="43256"/>
                    <a:pt x="65595" y="45796"/>
                    <a:pt x="61429" y="50850"/>
                  </a:cubicBezTo>
                  <a:cubicBezTo>
                    <a:pt x="57264" y="55918"/>
                    <a:pt x="55194" y="64998"/>
                    <a:pt x="55194" y="78117"/>
                  </a:cubicBezTo>
                  <a:lnTo>
                    <a:pt x="55194" y="147269"/>
                  </a:lnTo>
                  <a:lnTo>
                    <a:pt x="0" y="147269"/>
                  </a:lnTo>
                  <a:close/>
                </a:path>
              </a:pathLst>
            </a:custGeom>
            <a:solidFill>
              <a:srgbClr val="EE3123"/>
            </a:solidFill>
          </p:spPr>
        </p:sp>
        <p:sp>
          <p:nvSpPr>
            <p:cNvPr id="41" name="shape 41"/>
            <p:cNvSpPr/>
            <p:nvPr/>
          </p:nvSpPr>
          <p:spPr>
            <a:xfrm>
              <a:off x="910254" y="54078"/>
              <a:ext cx="165850" cy="150521"/>
            </a:xfrm>
            <a:custGeom>
              <a:pathLst>
                <a:path w="165849" h="150520">
                  <a:moveTo>
                    <a:pt x="78790" y="0"/>
                  </a:moveTo>
                  <a:lnTo>
                    <a:pt x="50037" y="2298"/>
                  </a:lnTo>
                  <a:lnTo>
                    <a:pt x="29159" y="8801"/>
                  </a:lnTo>
                  <a:lnTo>
                    <a:pt x="12953" y="22567"/>
                  </a:lnTo>
                  <a:lnTo>
                    <a:pt x="4343" y="44335"/>
                  </a:lnTo>
                  <a:lnTo>
                    <a:pt x="57099" y="49898"/>
                  </a:lnTo>
                  <a:lnTo>
                    <a:pt x="65633" y="37147"/>
                  </a:lnTo>
                  <a:lnTo>
                    <a:pt x="85978" y="32804"/>
                  </a:lnTo>
                  <a:lnTo>
                    <a:pt x="100761" y="36880"/>
                  </a:lnTo>
                  <a:lnTo>
                    <a:pt x="104965" y="51104"/>
                  </a:lnTo>
                  <a:lnTo>
                    <a:pt x="85432" y="57696"/>
                  </a:lnTo>
                  <a:lnTo>
                    <a:pt x="70753" y="61137"/>
                  </a:lnTo>
                  <a:lnTo>
                    <a:pt x="45148" y="66446"/>
                  </a:lnTo>
                  <a:lnTo>
                    <a:pt x="23320" y="72951"/>
                  </a:lnTo>
                  <a:lnTo>
                    <a:pt x="9626" y="82181"/>
                  </a:lnTo>
                  <a:lnTo>
                    <a:pt x="0" y="109169"/>
                  </a:lnTo>
                  <a:lnTo>
                    <a:pt x="3336" y="125272"/>
                  </a:lnTo>
                  <a:lnTo>
                    <a:pt x="13360" y="138595"/>
                  </a:lnTo>
                  <a:lnTo>
                    <a:pt x="29819" y="147539"/>
                  </a:lnTo>
                  <a:lnTo>
                    <a:pt x="52489" y="150520"/>
                  </a:lnTo>
                  <a:lnTo>
                    <a:pt x="86525" y="144564"/>
                  </a:lnTo>
                  <a:lnTo>
                    <a:pt x="108076" y="129641"/>
                  </a:lnTo>
                  <a:lnTo>
                    <a:pt x="109982" y="138798"/>
                  </a:lnTo>
                  <a:lnTo>
                    <a:pt x="114058" y="147269"/>
                  </a:lnTo>
                  <a:lnTo>
                    <a:pt x="165849" y="147269"/>
                  </a:lnTo>
                  <a:lnTo>
                    <a:pt x="160223" y="132549"/>
                  </a:lnTo>
                  <a:lnTo>
                    <a:pt x="158940" y="116624"/>
                  </a:lnTo>
                  <a:lnTo>
                    <a:pt x="158940" y="78917"/>
                  </a:lnTo>
                  <a:lnTo>
                    <a:pt x="104965" y="78917"/>
                  </a:lnTo>
                  <a:lnTo>
                    <a:pt x="104965" y="87731"/>
                  </a:lnTo>
                  <a:lnTo>
                    <a:pt x="101638" y="104482"/>
                  </a:lnTo>
                  <a:lnTo>
                    <a:pt x="90385" y="115404"/>
                  </a:lnTo>
                  <a:lnTo>
                    <a:pt x="73228" y="119875"/>
                  </a:lnTo>
                  <a:lnTo>
                    <a:pt x="59867" y="115735"/>
                  </a:lnTo>
                  <a:lnTo>
                    <a:pt x="55321" y="105092"/>
                  </a:lnTo>
                  <a:lnTo>
                    <a:pt x="59931" y="94919"/>
                  </a:lnTo>
                  <a:lnTo>
                    <a:pt x="67503" y="90546"/>
                  </a:lnTo>
                  <a:lnTo>
                    <a:pt x="81229" y="86106"/>
                  </a:lnTo>
                  <a:lnTo>
                    <a:pt x="104965" y="78917"/>
                  </a:lnTo>
                  <a:lnTo>
                    <a:pt x="158940" y="78917"/>
                  </a:lnTo>
                  <a:lnTo>
                    <a:pt x="158940" y="53022"/>
                  </a:lnTo>
                  <a:lnTo>
                    <a:pt x="154863" y="31661"/>
                  </a:lnTo>
                  <a:lnTo>
                    <a:pt x="143751" y="14363"/>
                  </a:lnTo>
                  <a:lnTo>
                    <a:pt x="118668" y="2768"/>
                  </a:lnTo>
                  <a:close/>
                </a:path>
              </a:pathLst>
            </a:custGeom>
            <a:solidFill>
              <a:srgbClr val="EE3123"/>
            </a:solidFill>
          </p:spPr>
        </p:sp>
        <p:sp>
          <p:nvSpPr>
            <p:cNvPr id="42" name="shape 42"/>
            <p:cNvSpPr/>
            <p:nvPr/>
          </p:nvSpPr>
          <p:spPr>
            <a:xfrm>
              <a:off x="1084189" y="54083"/>
              <a:ext cx="153099" cy="150521"/>
            </a:xfrm>
            <a:custGeom>
              <a:pathLst>
                <a:path w="153098" h="150520">
                  <a:moveTo>
                    <a:pt x="76073" y="0"/>
                  </a:moveTo>
                  <a:lnTo>
                    <a:pt x="37147" y="5067"/>
                  </a:lnTo>
                  <a:lnTo>
                    <a:pt x="14363" y="20446"/>
                  </a:lnTo>
                  <a:lnTo>
                    <a:pt x="6096" y="44970"/>
                  </a:lnTo>
                  <a:lnTo>
                    <a:pt x="13766" y="68135"/>
                  </a:lnTo>
                  <a:lnTo>
                    <a:pt x="32600" y="82562"/>
                  </a:lnTo>
                  <a:lnTo>
                    <a:pt x="48186" y="87023"/>
                  </a:lnTo>
                  <a:lnTo>
                    <a:pt x="72555" y="91846"/>
                  </a:lnTo>
                  <a:lnTo>
                    <a:pt x="88107" y="94962"/>
                  </a:lnTo>
                  <a:lnTo>
                    <a:pt x="96278" y="97535"/>
                  </a:lnTo>
                  <a:lnTo>
                    <a:pt x="102514" y="106743"/>
                  </a:lnTo>
                  <a:lnTo>
                    <a:pt x="97777" y="115531"/>
                  </a:lnTo>
                  <a:lnTo>
                    <a:pt x="80543" y="120281"/>
                  </a:lnTo>
                  <a:lnTo>
                    <a:pt x="64274" y="116077"/>
                  </a:lnTo>
                  <a:lnTo>
                    <a:pt x="54787" y="102107"/>
                  </a:lnTo>
                  <a:lnTo>
                    <a:pt x="0" y="107264"/>
                  </a:lnTo>
                  <a:lnTo>
                    <a:pt x="7739" y="125633"/>
                  </a:lnTo>
                  <a:lnTo>
                    <a:pt x="21488" y="139268"/>
                  </a:lnTo>
                  <a:lnTo>
                    <a:pt x="43922" y="147704"/>
                  </a:lnTo>
                  <a:lnTo>
                    <a:pt x="77711" y="150520"/>
                  </a:lnTo>
                  <a:lnTo>
                    <a:pt x="102701" y="148777"/>
                  </a:lnTo>
                  <a:lnTo>
                    <a:pt x="121843" y="143548"/>
                  </a:lnTo>
                  <a:lnTo>
                    <a:pt x="145567" y="124777"/>
                  </a:lnTo>
                  <a:lnTo>
                    <a:pt x="153098" y="100533"/>
                  </a:lnTo>
                  <a:lnTo>
                    <a:pt x="145986" y="77901"/>
                  </a:lnTo>
                  <a:lnTo>
                    <a:pt x="125437" y="62052"/>
                  </a:lnTo>
                  <a:lnTo>
                    <a:pt x="108483" y="57107"/>
                  </a:lnTo>
                  <a:lnTo>
                    <a:pt x="84480" y="53390"/>
                  </a:lnTo>
                  <a:lnTo>
                    <a:pt x="69495" y="51085"/>
                  </a:lnTo>
                  <a:lnTo>
                    <a:pt x="60883" y="48513"/>
                  </a:lnTo>
                  <a:lnTo>
                    <a:pt x="55460" y="40512"/>
                  </a:lnTo>
                  <a:lnTo>
                    <a:pt x="59728" y="32461"/>
                  </a:lnTo>
                  <a:lnTo>
                    <a:pt x="73355" y="29146"/>
                  </a:lnTo>
                  <a:lnTo>
                    <a:pt x="89090" y="33489"/>
                  </a:lnTo>
                  <a:lnTo>
                    <a:pt x="95872" y="43662"/>
                  </a:lnTo>
                  <a:lnTo>
                    <a:pt x="148221" y="38506"/>
                  </a:lnTo>
                  <a:lnTo>
                    <a:pt x="134594" y="16128"/>
                  </a:lnTo>
                  <a:lnTo>
                    <a:pt x="114122" y="3924"/>
                  </a:lnTo>
                  <a:lnTo>
                    <a:pt x="98469" y="981"/>
                  </a:lnTo>
                  <a:close/>
                </a:path>
              </a:pathLst>
            </a:custGeom>
            <a:solidFill>
              <a:srgbClr val="EE3123"/>
            </a:solidFill>
          </p:spPr>
        </p:sp>
        <p:sp>
          <p:nvSpPr>
            <p:cNvPr id="43" name="shape 43"/>
            <p:cNvSpPr/>
            <p:nvPr/>
          </p:nvSpPr>
          <p:spPr>
            <a:xfrm>
              <a:off x="1248479" y="54079"/>
              <a:ext cx="165456" cy="150521"/>
            </a:xfrm>
            <a:custGeom>
              <a:pathLst>
                <a:path w="165455" h="150520">
                  <a:moveTo>
                    <a:pt x="82334" y="0"/>
                  </a:moveTo>
                  <a:lnTo>
                    <a:pt x="48391" y="5335"/>
                  </a:lnTo>
                  <a:lnTo>
                    <a:pt x="22250" y="21348"/>
                  </a:lnTo>
                  <a:lnTo>
                    <a:pt x="5567" y="45607"/>
                  </a:lnTo>
                  <a:lnTo>
                    <a:pt x="0" y="75666"/>
                  </a:lnTo>
                  <a:lnTo>
                    <a:pt x="6584" y="107665"/>
                  </a:lnTo>
                  <a:lnTo>
                    <a:pt x="26314" y="132892"/>
                  </a:lnTo>
                  <a:lnTo>
                    <a:pt x="51068" y="146111"/>
                  </a:lnTo>
                  <a:lnTo>
                    <a:pt x="82461" y="150520"/>
                  </a:lnTo>
                  <a:lnTo>
                    <a:pt x="117162" y="145214"/>
                  </a:lnTo>
                  <a:lnTo>
                    <a:pt x="143433" y="129298"/>
                  </a:lnTo>
                  <a:lnTo>
                    <a:pt x="159950" y="105076"/>
                  </a:lnTo>
                  <a:lnTo>
                    <a:pt x="165455" y="74853"/>
                  </a:lnTo>
                  <a:lnTo>
                    <a:pt x="161016" y="47629"/>
                  </a:lnTo>
                  <a:lnTo>
                    <a:pt x="155306" y="37960"/>
                  </a:lnTo>
                  <a:lnTo>
                    <a:pt x="83146" y="37960"/>
                  </a:lnTo>
                  <a:lnTo>
                    <a:pt x="102260" y="47116"/>
                  </a:lnTo>
                  <a:lnTo>
                    <a:pt x="109994" y="74980"/>
                  </a:lnTo>
                  <a:lnTo>
                    <a:pt x="102336" y="104139"/>
                  </a:lnTo>
                  <a:lnTo>
                    <a:pt x="82727" y="113233"/>
                  </a:lnTo>
                  <a:lnTo>
                    <a:pt x="63131" y="104000"/>
                  </a:lnTo>
                  <a:lnTo>
                    <a:pt x="55346" y="75526"/>
                  </a:lnTo>
                  <a:lnTo>
                    <a:pt x="63207" y="47243"/>
                  </a:lnTo>
                  <a:lnTo>
                    <a:pt x="83146" y="37960"/>
                  </a:lnTo>
                  <a:lnTo>
                    <a:pt x="155306" y="37960"/>
                  </a:lnTo>
                  <a:lnTo>
                    <a:pt x="147701" y="25082"/>
                  </a:lnTo>
                  <a:lnTo>
                    <a:pt x="120299" y="6269"/>
                  </a:lnTo>
                  <a:close/>
                </a:path>
              </a:pathLst>
            </a:custGeom>
            <a:solidFill>
              <a:srgbClr val="EE3123"/>
            </a:solidFill>
          </p:spPr>
        </p:sp>
        <p:sp>
          <p:nvSpPr>
            <p:cNvPr id="44" name="shape 44"/>
            <p:cNvSpPr/>
            <p:nvPr/>
          </p:nvSpPr>
          <p:spPr>
            <a:xfrm>
              <a:off x="1432192" y="54074"/>
              <a:ext cx="152286" cy="147270"/>
            </a:xfrm>
            <a:custGeom>
              <a:pathLst>
                <a:path w="152285" h="147269">
                  <a:moveTo>
                    <a:pt x="0" y="3251"/>
                  </a:moveTo>
                  <a:lnTo>
                    <a:pt x="51396" y="3251"/>
                  </a:lnTo>
                  <a:lnTo>
                    <a:pt x="51396" y="26720"/>
                  </a:lnTo>
                  <a:cubicBezTo>
                    <a:pt x="59080" y="17132"/>
                    <a:pt x="66852" y="10287"/>
                    <a:pt x="74714" y="6159"/>
                  </a:cubicBezTo>
                  <a:cubicBezTo>
                    <a:pt x="82588" y="2057"/>
                    <a:pt x="92163" y="0"/>
                    <a:pt x="103479" y="0"/>
                  </a:cubicBezTo>
                  <a:cubicBezTo>
                    <a:pt x="118745" y="0"/>
                    <a:pt x="130708" y="4533"/>
                    <a:pt x="139344" y="13639"/>
                  </a:cubicBezTo>
                  <a:cubicBezTo>
                    <a:pt x="147980" y="22707"/>
                    <a:pt x="152285" y="36741"/>
                    <a:pt x="152285" y="55740"/>
                  </a:cubicBezTo>
                  <a:lnTo>
                    <a:pt x="152285" y="147269"/>
                  </a:lnTo>
                  <a:lnTo>
                    <a:pt x="96824" y="147269"/>
                  </a:lnTo>
                  <a:lnTo>
                    <a:pt x="96824" y="68072"/>
                  </a:lnTo>
                  <a:cubicBezTo>
                    <a:pt x="96824" y="59042"/>
                    <a:pt x="95148" y="52641"/>
                    <a:pt x="91808" y="48882"/>
                  </a:cubicBezTo>
                  <a:cubicBezTo>
                    <a:pt x="88455" y="45135"/>
                    <a:pt x="83756" y="43256"/>
                    <a:pt x="77711" y="43256"/>
                  </a:cubicBezTo>
                  <a:cubicBezTo>
                    <a:pt x="71018" y="43256"/>
                    <a:pt x="65582" y="45796"/>
                    <a:pt x="61429" y="50850"/>
                  </a:cubicBezTo>
                  <a:cubicBezTo>
                    <a:pt x="57264" y="55918"/>
                    <a:pt x="55194" y="64998"/>
                    <a:pt x="55194" y="78117"/>
                  </a:cubicBezTo>
                  <a:lnTo>
                    <a:pt x="55194" y="147269"/>
                  </a:lnTo>
                  <a:lnTo>
                    <a:pt x="0" y="147269"/>
                  </a:lnTo>
                  <a:close/>
                </a:path>
              </a:pathLst>
            </a:custGeom>
            <a:solidFill>
              <a:srgbClr val="EE3123"/>
            </a:solidFill>
          </p:spPr>
        </p:sp>
        <p:sp>
          <p:nvSpPr>
            <p:cNvPr id="45" name="shape 45"/>
            <p:cNvSpPr/>
            <p:nvPr/>
          </p:nvSpPr>
          <p:spPr>
            <a:xfrm>
              <a:off x="1611135" y="57328"/>
              <a:ext cx="55195" cy="144019"/>
            </a:xfrm>
            <a:prstGeom prst="rect">
              <a:avLst/>
            </a:prstGeom>
            <a:solidFill>
              <a:srgbClr val="EE3123"/>
            </a:solidFill>
          </p:spPr>
        </p:sp>
        <p:sp>
          <p:nvSpPr>
            <p:cNvPr id="46" name="shape 46"/>
            <p:cNvSpPr/>
            <p:nvPr/>
          </p:nvSpPr>
          <p:spPr>
            <a:xfrm>
              <a:off x="1611135" y="2540"/>
              <a:ext cx="55195" cy="37567"/>
            </a:xfrm>
            <a:prstGeom prst="rect">
              <a:avLst/>
            </a:prstGeom>
            <a:solidFill>
              <a:srgbClr val="EE3123"/>
            </a:solidFill>
          </p:spPr>
        </p:sp>
        <p:sp>
          <p:nvSpPr>
            <p:cNvPr id="47" name="shape 47"/>
            <p:cNvSpPr/>
            <p:nvPr/>
          </p:nvSpPr>
          <p:spPr>
            <a:xfrm>
              <a:off x="1686621" y="54073"/>
              <a:ext cx="166535" cy="150534"/>
            </a:xfrm>
            <a:custGeom>
              <a:pathLst>
                <a:path w="166534" h="150533">
                  <a:moveTo>
                    <a:pt x="83934" y="0"/>
                  </a:moveTo>
                  <a:lnTo>
                    <a:pt x="42583" y="6642"/>
                  </a:lnTo>
                  <a:lnTo>
                    <a:pt x="22771" y="19443"/>
                  </a:lnTo>
                  <a:lnTo>
                    <a:pt x="7581" y="38887"/>
                  </a:lnTo>
                  <a:lnTo>
                    <a:pt x="0" y="75882"/>
                  </a:lnTo>
                  <a:lnTo>
                    <a:pt x="6222" y="110020"/>
                  </a:lnTo>
                  <a:lnTo>
                    <a:pt x="23456" y="132448"/>
                  </a:lnTo>
                  <a:lnTo>
                    <a:pt x="49695" y="146265"/>
                  </a:lnTo>
                  <a:lnTo>
                    <a:pt x="87871" y="150533"/>
                  </a:lnTo>
                  <a:lnTo>
                    <a:pt x="126987" y="143890"/>
                  </a:lnTo>
                  <a:lnTo>
                    <a:pt x="152298" y="125247"/>
                  </a:lnTo>
                  <a:lnTo>
                    <a:pt x="166535" y="96824"/>
                  </a:lnTo>
                  <a:lnTo>
                    <a:pt x="114045" y="90868"/>
                  </a:lnTo>
                  <a:lnTo>
                    <a:pt x="102996" y="107937"/>
                  </a:lnTo>
                  <a:lnTo>
                    <a:pt x="84759" y="113512"/>
                  </a:lnTo>
                  <a:lnTo>
                    <a:pt x="63322" y="104305"/>
                  </a:lnTo>
                  <a:lnTo>
                    <a:pt x="54914" y="77355"/>
                  </a:lnTo>
                  <a:lnTo>
                    <a:pt x="63398" y="47650"/>
                  </a:lnTo>
                  <a:lnTo>
                    <a:pt x="85559" y="37833"/>
                  </a:lnTo>
                  <a:lnTo>
                    <a:pt x="102857" y="42506"/>
                  </a:lnTo>
                  <a:lnTo>
                    <a:pt x="111734" y="56413"/>
                  </a:lnTo>
                  <a:lnTo>
                    <a:pt x="163677" y="49504"/>
                  </a:lnTo>
                  <a:lnTo>
                    <a:pt x="153458" y="28138"/>
                  </a:lnTo>
                  <a:lnTo>
                    <a:pt x="137706" y="12611"/>
                  </a:lnTo>
                  <a:lnTo>
                    <a:pt x="115011" y="3152"/>
                  </a:lnTo>
                  <a:close/>
                </a:path>
              </a:pathLst>
            </a:custGeom>
            <a:solidFill>
              <a:srgbClr val="EE3123"/>
            </a:solidFill>
          </p:spPr>
        </p:sp>
        <p:sp>
          <p:nvSpPr>
            <p:cNvPr id="48" name="shape 48"/>
            <p:cNvSpPr/>
            <p:nvPr/>
          </p:nvSpPr>
          <p:spPr>
            <a:xfrm>
              <a:off x="1860415" y="54083"/>
              <a:ext cx="153112" cy="150521"/>
            </a:xfrm>
            <a:custGeom>
              <a:pathLst>
                <a:path w="153111" h="150520">
                  <a:moveTo>
                    <a:pt x="76073" y="0"/>
                  </a:moveTo>
                  <a:lnTo>
                    <a:pt x="37160" y="5067"/>
                  </a:lnTo>
                  <a:lnTo>
                    <a:pt x="14376" y="20446"/>
                  </a:lnTo>
                  <a:lnTo>
                    <a:pt x="6096" y="44970"/>
                  </a:lnTo>
                  <a:lnTo>
                    <a:pt x="13766" y="68135"/>
                  </a:lnTo>
                  <a:lnTo>
                    <a:pt x="32613" y="82562"/>
                  </a:lnTo>
                  <a:lnTo>
                    <a:pt x="48188" y="87023"/>
                  </a:lnTo>
                  <a:lnTo>
                    <a:pt x="72555" y="91846"/>
                  </a:lnTo>
                  <a:lnTo>
                    <a:pt x="88117" y="94962"/>
                  </a:lnTo>
                  <a:lnTo>
                    <a:pt x="96278" y="97535"/>
                  </a:lnTo>
                  <a:lnTo>
                    <a:pt x="102514" y="106743"/>
                  </a:lnTo>
                  <a:lnTo>
                    <a:pt x="97777" y="115531"/>
                  </a:lnTo>
                  <a:lnTo>
                    <a:pt x="80556" y="120281"/>
                  </a:lnTo>
                  <a:lnTo>
                    <a:pt x="64287" y="116077"/>
                  </a:lnTo>
                  <a:lnTo>
                    <a:pt x="54787" y="102107"/>
                  </a:lnTo>
                  <a:lnTo>
                    <a:pt x="0" y="107264"/>
                  </a:lnTo>
                  <a:lnTo>
                    <a:pt x="7740" y="125633"/>
                  </a:lnTo>
                  <a:lnTo>
                    <a:pt x="21501" y="139268"/>
                  </a:lnTo>
                  <a:lnTo>
                    <a:pt x="43924" y="147704"/>
                  </a:lnTo>
                  <a:lnTo>
                    <a:pt x="77711" y="150520"/>
                  </a:lnTo>
                  <a:lnTo>
                    <a:pt x="102716" y="148777"/>
                  </a:lnTo>
                  <a:lnTo>
                    <a:pt x="121843" y="143548"/>
                  </a:lnTo>
                  <a:lnTo>
                    <a:pt x="145580" y="124777"/>
                  </a:lnTo>
                  <a:lnTo>
                    <a:pt x="153111" y="100533"/>
                  </a:lnTo>
                  <a:lnTo>
                    <a:pt x="145999" y="77901"/>
                  </a:lnTo>
                  <a:lnTo>
                    <a:pt x="125450" y="62052"/>
                  </a:lnTo>
                  <a:lnTo>
                    <a:pt x="108486" y="57107"/>
                  </a:lnTo>
                  <a:lnTo>
                    <a:pt x="84493" y="53390"/>
                  </a:lnTo>
                  <a:lnTo>
                    <a:pt x="69502" y="51085"/>
                  </a:lnTo>
                  <a:lnTo>
                    <a:pt x="60883" y="48513"/>
                  </a:lnTo>
                  <a:lnTo>
                    <a:pt x="55460" y="40512"/>
                  </a:lnTo>
                  <a:lnTo>
                    <a:pt x="59728" y="32461"/>
                  </a:lnTo>
                  <a:lnTo>
                    <a:pt x="73367" y="29146"/>
                  </a:lnTo>
                  <a:lnTo>
                    <a:pt x="89103" y="33489"/>
                  </a:lnTo>
                  <a:lnTo>
                    <a:pt x="95872" y="43662"/>
                  </a:lnTo>
                  <a:lnTo>
                    <a:pt x="148221" y="38506"/>
                  </a:lnTo>
                  <a:lnTo>
                    <a:pt x="134607" y="16128"/>
                  </a:lnTo>
                  <a:lnTo>
                    <a:pt x="114122" y="3924"/>
                  </a:lnTo>
                  <a:lnTo>
                    <a:pt x="98474" y="981"/>
                  </a:lnTo>
                  <a:close/>
                </a:path>
              </a:pathLst>
            </a:custGeom>
            <a:solidFill>
              <a:srgbClr val="EE3123"/>
            </a:solidFill>
          </p:spPr>
        </p:sp>
      </p:grpSp>
      <p:grpSp>
        <p:nvGrpSpPr>
          <p:cNvPr id="49" name="shape 49"/>
          <p:cNvGrpSpPr/>
          <p:nvPr/>
        </p:nvGrpSpPr>
        <p:grpSpPr>
          <a:xfrm>
            <a:off x="685800" y="8869685"/>
            <a:ext cx="1699753" cy="539187"/>
            <a:chOff x="0" y="0"/>
            <a:chExt cx="1699753" cy="539186"/>
          </a:xfrm>
        </p:grpSpPr>
        <p:sp>
          <p:nvSpPr>
            <p:cNvPr id="50" name="shape 50"/>
            <p:cNvSpPr/>
            <p:nvPr/>
          </p:nvSpPr>
          <p:spPr>
            <a:xfrm>
              <a:off x="618227" y="292452"/>
              <a:ext cx="101715" cy="123165"/>
            </a:xfrm>
            <a:custGeom>
              <a:pathLst>
                <a:path w="101714" h="123164">
                  <a:moveTo>
                    <a:pt x="59867" y="0"/>
                  </a:moveTo>
                  <a:lnTo>
                    <a:pt x="0" y="0"/>
                  </a:lnTo>
                  <a:lnTo>
                    <a:pt x="0" y="123164"/>
                  </a:lnTo>
                  <a:lnTo>
                    <a:pt x="52146" y="123164"/>
                  </a:lnTo>
                  <a:lnTo>
                    <a:pt x="67881" y="122386"/>
                  </a:lnTo>
                  <a:lnTo>
                    <a:pt x="78435" y="120161"/>
                  </a:lnTo>
                  <a:lnTo>
                    <a:pt x="91084" y="112014"/>
                  </a:lnTo>
                  <a:lnTo>
                    <a:pt x="98842" y="100606"/>
                  </a:lnTo>
                  <a:lnTo>
                    <a:pt x="101714" y="86626"/>
                  </a:lnTo>
                  <a:lnTo>
                    <a:pt x="97853" y="69259"/>
                  </a:lnTo>
                  <a:lnTo>
                    <a:pt x="97490" y="68961"/>
                  </a:lnTo>
                  <a:lnTo>
                    <a:pt x="57467" y="68961"/>
                  </a:lnTo>
                  <a:lnTo>
                    <a:pt x="70204" y="72364"/>
                  </a:lnTo>
                  <a:lnTo>
                    <a:pt x="75996" y="83883"/>
                  </a:lnTo>
                  <a:lnTo>
                    <a:pt x="70824" y="97583"/>
                  </a:lnTo>
                  <a:lnTo>
                    <a:pt x="56260" y="101892"/>
                  </a:lnTo>
                  <a:lnTo>
                    <a:pt x="24701" y="101892"/>
                  </a:lnTo>
                  <a:lnTo>
                    <a:pt x="24701" y="68961"/>
                  </a:lnTo>
                  <a:lnTo>
                    <a:pt x="57467" y="68961"/>
                  </a:lnTo>
                  <a:lnTo>
                    <a:pt x="97490" y="68961"/>
                  </a:lnTo>
                  <a:lnTo>
                    <a:pt x="82677" y="56769"/>
                  </a:lnTo>
                  <a:lnTo>
                    <a:pt x="92149" y="49826"/>
                  </a:lnTo>
                  <a:lnTo>
                    <a:pt x="97764" y="31559"/>
                  </a:lnTo>
                  <a:lnTo>
                    <a:pt x="93943" y="21272"/>
                  </a:lnTo>
                  <a:lnTo>
                    <a:pt x="54203" y="21272"/>
                  </a:lnTo>
                  <a:lnTo>
                    <a:pt x="68016" y="24080"/>
                  </a:lnTo>
                  <a:lnTo>
                    <a:pt x="73075" y="34480"/>
                  </a:lnTo>
                  <a:lnTo>
                    <a:pt x="67778" y="45005"/>
                  </a:lnTo>
                  <a:lnTo>
                    <a:pt x="54889" y="48196"/>
                  </a:lnTo>
                  <a:lnTo>
                    <a:pt x="24701" y="48196"/>
                  </a:lnTo>
                  <a:lnTo>
                    <a:pt x="24701" y="21272"/>
                  </a:lnTo>
                  <a:lnTo>
                    <a:pt x="54203" y="21272"/>
                  </a:lnTo>
                  <a:lnTo>
                    <a:pt x="93943" y="21272"/>
                  </a:lnTo>
                  <a:lnTo>
                    <a:pt x="90136" y="11022"/>
                  </a:lnTo>
                  <a:lnTo>
                    <a:pt x="78524" y="3147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id="51" name="shape 51"/>
            <p:cNvSpPr/>
            <p:nvPr/>
          </p:nvSpPr>
          <p:spPr>
            <a:xfrm>
              <a:off x="733976" y="321957"/>
              <a:ext cx="85421" cy="96063"/>
            </a:xfrm>
            <a:custGeom>
              <a:pathLst>
                <a:path w="85420" h="96062">
                  <a:moveTo>
                    <a:pt x="43738" y="0"/>
                  </a:moveTo>
                  <a:lnTo>
                    <a:pt x="17341" y="5463"/>
                  </a:lnTo>
                  <a:lnTo>
                    <a:pt x="7816" y="15119"/>
                  </a:lnTo>
                  <a:lnTo>
                    <a:pt x="2908" y="31902"/>
                  </a:lnTo>
                  <a:lnTo>
                    <a:pt x="26073" y="31902"/>
                  </a:lnTo>
                  <a:lnTo>
                    <a:pt x="29203" y="23567"/>
                  </a:lnTo>
                  <a:lnTo>
                    <a:pt x="40830" y="19214"/>
                  </a:lnTo>
                  <a:lnTo>
                    <a:pt x="51031" y="20734"/>
                  </a:lnTo>
                  <a:lnTo>
                    <a:pt x="56603" y="29844"/>
                  </a:lnTo>
                  <a:lnTo>
                    <a:pt x="53814" y="35183"/>
                  </a:lnTo>
                  <a:lnTo>
                    <a:pt x="48196" y="37045"/>
                  </a:lnTo>
                  <a:lnTo>
                    <a:pt x="26581" y="40309"/>
                  </a:lnTo>
                  <a:lnTo>
                    <a:pt x="7566" y="49031"/>
                  </a:lnTo>
                  <a:lnTo>
                    <a:pt x="0" y="69468"/>
                  </a:lnTo>
                  <a:lnTo>
                    <a:pt x="8745" y="89842"/>
                  </a:lnTo>
                  <a:lnTo>
                    <a:pt x="27787" y="96062"/>
                  </a:lnTo>
                  <a:lnTo>
                    <a:pt x="46591" y="91576"/>
                  </a:lnTo>
                  <a:lnTo>
                    <a:pt x="57289" y="82841"/>
                  </a:lnTo>
                  <a:lnTo>
                    <a:pt x="59524" y="93649"/>
                  </a:lnTo>
                  <a:lnTo>
                    <a:pt x="85420" y="93649"/>
                  </a:lnTo>
                  <a:lnTo>
                    <a:pt x="85420" y="90055"/>
                  </a:lnTo>
                  <a:lnTo>
                    <a:pt x="81664" y="86604"/>
                  </a:lnTo>
                  <a:lnTo>
                    <a:pt x="80098" y="75818"/>
                  </a:lnTo>
                  <a:lnTo>
                    <a:pt x="80098" y="49224"/>
                  </a:lnTo>
                  <a:lnTo>
                    <a:pt x="56603" y="49224"/>
                  </a:lnTo>
                  <a:lnTo>
                    <a:pt x="56603" y="60896"/>
                  </a:lnTo>
                  <a:lnTo>
                    <a:pt x="49869" y="74081"/>
                  </a:lnTo>
                  <a:lnTo>
                    <a:pt x="35153" y="78904"/>
                  </a:lnTo>
                  <a:lnTo>
                    <a:pt x="27844" y="76566"/>
                  </a:lnTo>
                  <a:lnTo>
                    <a:pt x="24003" y="67932"/>
                  </a:lnTo>
                  <a:lnTo>
                    <a:pt x="28808" y="57914"/>
                  </a:lnTo>
                  <a:lnTo>
                    <a:pt x="40309" y="54203"/>
                  </a:lnTo>
                  <a:lnTo>
                    <a:pt x="51285" y="51842"/>
                  </a:lnTo>
                  <a:lnTo>
                    <a:pt x="56603" y="49224"/>
                  </a:lnTo>
                  <a:lnTo>
                    <a:pt x="80098" y="49224"/>
                  </a:lnTo>
                  <a:lnTo>
                    <a:pt x="80098" y="26403"/>
                  </a:lnTo>
                  <a:lnTo>
                    <a:pt x="76226" y="12799"/>
                  </a:lnTo>
                  <a:lnTo>
                    <a:pt x="66743" y="4776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id="52" name="shape 52"/>
            <p:cNvSpPr/>
            <p:nvPr/>
          </p:nvSpPr>
          <p:spPr>
            <a:xfrm>
              <a:off x="830174" y="292444"/>
              <a:ext cx="88685" cy="125578"/>
            </a:xfrm>
            <a:custGeom>
              <a:pathLst>
                <a:path w="88684" h="125577">
                  <a:moveTo>
                    <a:pt x="88684" y="0"/>
                  </a:moveTo>
                  <a:lnTo>
                    <a:pt x="64668" y="0"/>
                  </a:lnTo>
                  <a:lnTo>
                    <a:pt x="64668" y="43751"/>
                  </a:lnTo>
                  <a:lnTo>
                    <a:pt x="64325" y="43751"/>
                  </a:lnTo>
                  <a:lnTo>
                    <a:pt x="55494" y="34446"/>
                  </a:lnTo>
                  <a:lnTo>
                    <a:pt x="37909" y="29514"/>
                  </a:lnTo>
                  <a:lnTo>
                    <a:pt x="23515" y="32418"/>
                  </a:lnTo>
                  <a:lnTo>
                    <a:pt x="11425" y="41174"/>
                  </a:lnTo>
                  <a:lnTo>
                    <a:pt x="3099" y="55848"/>
                  </a:lnTo>
                  <a:lnTo>
                    <a:pt x="0" y="76504"/>
                  </a:lnTo>
                  <a:lnTo>
                    <a:pt x="9047" y="110432"/>
                  </a:lnTo>
                  <a:lnTo>
                    <a:pt x="20986" y="121431"/>
                  </a:lnTo>
                  <a:lnTo>
                    <a:pt x="38430" y="125577"/>
                  </a:lnTo>
                  <a:lnTo>
                    <a:pt x="53174" y="122486"/>
                  </a:lnTo>
                  <a:lnTo>
                    <a:pt x="64833" y="111670"/>
                  </a:lnTo>
                  <a:lnTo>
                    <a:pt x="65176" y="111670"/>
                  </a:lnTo>
                  <a:lnTo>
                    <a:pt x="65176" y="123164"/>
                  </a:lnTo>
                  <a:lnTo>
                    <a:pt x="88684" y="123164"/>
                  </a:lnTo>
                  <a:lnTo>
                    <a:pt x="88684" y="50266"/>
                  </a:lnTo>
                  <a:lnTo>
                    <a:pt x="45110" y="50266"/>
                  </a:lnTo>
                  <a:lnTo>
                    <a:pt x="61580" y="59461"/>
                  </a:lnTo>
                  <a:lnTo>
                    <a:pt x="65697" y="79590"/>
                  </a:lnTo>
                  <a:lnTo>
                    <a:pt x="60785" y="97797"/>
                  </a:lnTo>
                  <a:lnTo>
                    <a:pt x="44424" y="105841"/>
                  </a:lnTo>
                  <a:lnTo>
                    <a:pt x="34833" y="103045"/>
                  </a:lnTo>
                  <a:lnTo>
                    <a:pt x="28776" y="96084"/>
                  </a:lnTo>
                  <a:lnTo>
                    <a:pt x="24701" y="78231"/>
                  </a:lnTo>
                  <a:lnTo>
                    <a:pt x="29181" y="58843"/>
                  </a:lnTo>
                  <a:lnTo>
                    <a:pt x="45110" y="50266"/>
                  </a:lnTo>
                  <a:lnTo>
                    <a:pt x="88684" y="50266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id="53" name="shape 53"/>
            <p:cNvSpPr/>
            <p:nvPr/>
          </p:nvSpPr>
          <p:spPr>
            <a:xfrm>
              <a:off x="935991" y="321956"/>
              <a:ext cx="87986" cy="130886"/>
            </a:xfrm>
            <a:custGeom>
              <a:pathLst>
                <a:path w="87985" h="130885">
                  <a:moveTo>
                    <a:pt x="37896" y="0"/>
                  </a:moveTo>
                  <a:lnTo>
                    <a:pt x="23510" y="2904"/>
                  </a:lnTo>
                  <a:lnTo>
                    <a:pt x="11423" y="11661"/>
                  </a:lnTo>
                  <a:lnTo>
                    <a:pt x="3099" y="26338"/>
                  </a:lnTo>
                  <a:lnTo>
                    <a:pt x="0" y="47002"/>
                  </a:lnTo>
                  <a:lnTo>
                    <a:pt x="3047" y="67831"/>
                  </a:lnTo>
                  <a:lnTo>
                    <a:pt x="11399" y="82549"/>
                  </a:lnTo>
                  <a:lnTo>
                    <a:pt x="23869" y="91286"/>
                  </a:lnTo>
                  <a:lnTo>
                    <a:pt x="39268" y="94170"/>
                  </a:lnTo>
                  <a:lnTo>
                    <a:pt x="55367" y="89945"/>
                  </a:lnTo>
                  <a:lnTo>
                    <a:pt x="63627" y="80454"/>
                  </a:lnTo>
                  <a:lnTo>
                    <a:pt x="63969" y="80784"/>
                  </a:lnTo>
                  <a:lnTo>
                    <a:pt x="63969" y="91769"/>
                  </a:lnTo>
                  <a:lnTo>
                    <a:pt x="59275" y="107768"/>
                  </a:lnTo>
                  <a:lnTo>
                    <a:pt x="44932" y="112699"/>
                  </a:lnTo>
                  <a:lnTo>
                    <a:pt x="31696" y="109803"/>
                  </a:lnTo>
                  <a:lnTo>
                    <a:pt x="28117" y="103441"/>
                  </a:lnTo>
                  <a:lnTo>
                    <a:pt x="2044" y="103441"/>
                  </a:lnTo>
                  <a:lnTo>
                    <a:pt x="6043" y="115905"/>
                  </a:lnTo>
                  <a:lnTo>
                    <a:pt x="15252" y="124431"/>
                  </a:lnTo>
                  <a:lnTo>
                    <a:pt x="41833" y="130886"/>
                  </a:lnTo>
                  <a:lnTo>
                    <a:pt x="68006" y="126537"/>
                  </a:lnTo>
                  <a:lnTo>
                    <a:pt x="81764" y="115788"/>
                  </a:lnTo>
                  <a:lnTo>
                    <a:pt x="87094" y="102082"/>
                  </a:lnTo>
                  <a:lnTo>
                    <a:pt x="87985" y="88861"/>
                  </a:lnTo>
                  <a:lnTo>
                    <a:pt x="87985" y="20751"/>
                  </a:lnTo>
                  <a:lnTo>
                    <a:pt x="43548" y="20751"/>
                  </a:lnTo>
                  <a:lnTo>
                    <a:pt x="58861" y="28598"/>
                  </a:lnTo>
                  <a:lnTo>
                    <a:pt x="64135" y="47523"/>
                  </a:lnTo>
                  <a:lnTo>
                    <a:pt x="60040" y="65415"/>
                  </a:lnTo>
                  <a:lnTo>
                    <a:pt x="43726" y="73926"/>
                  </a:lnTo>
                  <a:lnTo>
                    <a:pt x="28862" y="65609"/>
                  </a:lnTo>
                  <a:lnTo>
                    <a:pt x="24676" y="48539"/>
                  </a:lnTo>
                  <a:lnTo>
                    <a:pt x="30768" y="26668"/>
                  </a:lnTo>
                  <a:lnTo>
                    <a:pt x="43548" y="20751"/>
                  </a:lnTo>
                  <a:lnTo>
                    <a:pt x="87985" y="20751"/>
                  </a:lnTo>
                  <a:lnTo>
                    <a:pt x="87985" y="2400"/>
                  </a:lnTo>
                  <a:lnTo>
                    <a:pt x="64998" y="2400"/>
                  </a:lnTo>
                  <a:lnTo>
                    <a:pt x="64998" y="15950"/>
                  </a:lnTo>
                  <a:lnTo>
                    <a:pt x="64655" y="15950"/>
                  </a:lnTo>
                  <a:lnTo>
                    <a:pt x="56553" y="5722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id="54" name="shape 54"/>
            <p:cNvSpPr/>
            <p:nvPr/>
          </p:nvSpPr>
          <p:spPr>
            <a:xfrm>
              <a:off x="1039372" y="321954"/>
              <a:ext cx="86627" cy="96063"/>
            </a:xfrm>
            <a:custGeom>
              <a:pathLst>
                <a:path w="86626" h="96062">
                  <a:moveTo>
                    <a:pt x="43738" y="0"/>
                  </a:moveTo>
                  <a:lnTo>
                    <a:pt x="20043" y="5665"/>
                  </a:lnTo>
                  <a:lnTo>
                    <a:pt x="6881" y="18954"/>
                  </a:lnTo>
                  <a:lnTo>
                    <a:pt x="1213" y="34300"/>
                  </a:lnTo>
                  <a:lnTo>
                    <a:pt x="0" y="46138"/>
                  </a:lnTo>
                  <a:lnTo>
                    <a:pt x="3485" y="69787"/>
                  </a:lnTo>
                  <a:lnTo>
                    <a:pt x="13082" y="85188"/>
                  </a:lnTo>
                  <a:lnTo>
                    <a:pt x="27501" y="93544"/>
                  </a:lnTo>
                  <a:lnTo>
                    <a:pt x="45453" y="96062"/>
                  </a:lnTo>
                  <a:lnTo>
                    <a:pt x="69002" y="89717"/>
                  </a:lnTo>
                  <a:lnTo>
                    <a:pt x="85598" y="66903"/>
                  </a:lnTo>
                  <a:lnTo>
                    <a:pt x="60896" y="66903"/>
                  </a:lnTo>
                  <a:lnTo>
                    <a:pt x="54975" y="74318"/>
                  </a:lnTo>
                  <a:lnTo>
                    <a:pt x="45453" y="76847"/>
                  </a:lnTo>
                  <a:lnTo>
                    <a:pt x="34024" y="74329"/>
                  </a:lnTo>
                  <a:lnTo>
                    <a:pt x="27724" y="68273"/>
                  </a:lnTo>
                  <a:lnTo>
                    <a:pt x="24015" y="54546"/>
                  </a:lnTo>
                  <a:lnTo>
                    <a:pt x="86626" y="54546"/>
                  </a:lnTo>
                  <a:lnTo>
                    <a:pt x="86626" y="50266"/>
                  </a:lnTo>
                  <a:lnTo>
                    <a:pt x="82458" y="24822"/>
                  </a:lnTo>
                  <a:lnTo>
                    <a:pt x="78956" y="19722"/>
                  </a:lnTo>
                  <a:lnTo>
                    <a:pt x="43408" y="19722"/>
                  </a:lnTo>
                  <a:lnTo>
                    <a:pt x="55043" y="23801"/>
                  </a:lnTo>
                  <a:lnTo>
                    <a:pt x="61925" y="38937"/>
                  </a:lnTo>
                  <a:lnTo>
                    <a:pt x="24701" y="38937"/>
                  </a:lnTo>
                  <a:lnTo>
                    <a:pt x="30316" y="24829"/>
                  </a:lnTo>
                  <a:lnTo>
                    <a:pt x="43408" y="19722"/>
                  </a:lnTo>
                  <a:lnTo>
                    <a:pt x="78956" y="19722"/>
                  </a:lnTo>
                  <a:lnTo>
                    <a:pt x="71936" y="9497"/>
                  </a:lnTo>
                  <a:lnTo>
                    <a:pt x="58037" y="199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id="55" name="shape 55"/>
            <p:cNvSpPr/>
            <p:nvPr/>
          </p:nvSpPr>
          <p:spPr>
            <a:xfrm>
              <a:off x="1141754" y="321968"/>
              <a:ext cx="52998" cy="93650"/>
            </a:xfrm>
            <a:custGeom>
              <a:pathLst>
                <a:path w="52997" h="93649">
                  <a:moveTo>
                    <a:pt x="0" y="2387"/>
                  </a:moveTo>
                  <a:lnTo>
                    <a:pt x="22987" y="2387"/>
                  </a:lnTo>
                  <a:lnTo>
                    <a:pt x="22987" y="18173"/>
                  </a:lnTo>
                  <a:lnTo>
                    <a:pt x="23329" y="18173"/>
                  </a:lnTo>
                  <a:cubicBezTo>
                    <a:pt x="28295" y="8902"/>
                    <a:pt x="33794" y="0"/>
                    <a:pt x="48374" y="0"/>
                  </a:cubicBezTo>
                  <a:cubicBezTo>
                    <a:pt x="49923" y="0"/>
                    <a:pt x="51460" y="164"/>
                    <a:pt x="52997" y="330"/>
                  </a:cubicBezTo>
                  <a:lnTo>
                    <a:pt x="52997" y="24688"/>
                  </a:lnTo>
                  <a:cubicBezTo>
                    <a:pt x="50952" y="24345"/>
                    <a:pt x="48374" y="24345"/>
                    <a:pt x="46139" y="24345"/>
                  </a:cubicBezTo>
                  <a:cubicBezTo>
                    <a:pt x="27444" y="24345"/>
                    <a:pt x="24015" y="36017"/>
                    <a:pt x="24015" y="46126"/>
                  </a:cubicBezTo>
                  <a:lnTo>
                    <a:pt x="24015" y="93649"/>
                  </a:lnTo>
                  <a:lnTo>
                    <a:pt x="0" y="93649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id="56" name="shape 56"/>
            <p:cNvSpPr/>
            <p:nvPr/>
          </p:nvSpPr>
          <p:spPr>
            <a:xfrm>
              <a:off x="1256988" y="292447"/>
              <a:ext cx="119380" cy="123165"/>
            </a:xfrm>
            <a:custGeom>
              <a:pathLst>
                <a:path w="119379" h="123164">
                  <a:moveTo>
                    <a:pt x="119379" y="123164"/>
                  </a:moveTo>
                  <a:lnTo>
                    <a:pt x="95364" y="123164"/>
                  </a:lnTo>
                  <a:lnTo>
                    <a:pt x="95364" y="20243"/>
                  </a:lnTo>
                  <a:lnTo>
                    <a:pt x="95021" y="20243"/>
                  </a:lnTo>
                  <a:lnTo>
                    <a:pt x="72047" y="123164"/>
                  </a:lnTo>
                  <a:lnTo>
                    <a:pt x="46824" y="123164"/>
                  </a:lnTo>
                  <a:lnTo>
                    <a:pt x="24358" y="20243"/>
                  </a:lnTo>
                  <a:lnTo>
                    <a:pt x="24002" y="20243"/>
                  </a:lnTo>
                  <a:lnTo>
                    <a:pt x="24002" y="123164"/>
                  </a:lnTo>
                  <a:lnTo>
                    <a:pt x="0" y="123164"/>
                  </a:lnTo>
                  <a:lnTo>
                    <a:pt x="0" y="0"/>
                  </a:lnTo>
                  <a:lnTo>
                    <a:pt x="37566" y="0"/>
                  </a:lnTo>
                  <a:lnTo>
                    <a:pt x="59855" y="97104"/>
                  </a:lnTo>
                  <a:lnTo>
                    <a:pt x="60197" y="97104"/>
                  </a:lnTo>
                  <a:lnTo>
                    <a:pt x="82168" y="0"/>
                  </a:lnTo>
                  <a:lnTo>
                    <a:pt x="119379" y="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id="57" name="shape 57"/>
            <p:cNvSpPr/>
            <p:nvPr/>
          </p:nvSpPr>
          <p:spPr>
            <a:xfrm>
              <a:off x="1391933" y="321954"/>
              <a:ext cx="86627" cy="96063"/>
            </a:xfrm>
            <a:custGeom>
              <a:pathLst>
                <a:path w="86626" h="96062">
                  <a:moveTo>
                    <a:pt x="43738" y="0"/>
                  </a:moveTo>
                  <a:lnTo>
                    <a:pt x="20043" y="5665"/>
                  </a:lnTo>
                  <a:lnTo>
                    <a:pt x="6881" y="18954"/>
                  </a:lnTo>
                  <a:lnTo>
                    <a:pt x="1213" y="34300"/>
                  </a:lnTo>
                  <a:lnTo>
                    <a:pt x="0" y="46138"/>
                  </a:lnTo>
                  <a:lnTo>
                    <a:pt x="3485" y="69787"/>
                  </a:lnTo>
                  <a:lnTo>
                    <a:pt x="13082" y="85188"/>
                  </a:lnTo>
                  <a:lnTo>
                    <a:pt x="27501" y="93544"/>
                  </a:lnTo>
                  <a:lnTo>
                    <a:pt x="45453" y="96062"/>
                  </a:lnTo>
                  <a:lnTo>
                    <a:pt x="69002" y="89717"/>
                  </a:lnTo>
                  <a:lnTo>
                    <a:pt x="85598" y="66903"/>
                  </a:lnTo>
                  <a:lnTo>
                    <a:pt x="60896" y="66903"/>
                  </a:lnTo>
                  <a:lnTo>
                    <a:pt x="54975" y="74318"/>
                  </a:lnTo>
                  <a:lnTo>
                    <a:pt x="45453" y="76847"/>
                  </a:lnTo>
                  <a:lnTo>
                    <a:pt x="34029" y="74329"/>
                  </a:lnTo>
                  <a:lnTo>
                    <a:pt x="27728" y="68273"/>
                  </a:lnTo>
                  <a:lnTo>
                    <a:pt x="24015" y="54546"/>
                  </a:lnTo>
                  <a:lnTo>
                    <a:pt x="86626" y="54546"/>
                  </a:lnTo>
                  <a:lnTo>
                    <a:pt x="86626" y="50266"/>
                  </a:lnTo>
                  <a:lnTo>
                    <a:pt x="82458" y="24822"/>
                  </a:lnTo>
                  <a:lnTo>
                    <a:pt x="78956" y="19722"/>
                  </a:lnTo>
                  <a:lnTo>
                    <a:pt x="43408" y="19722"/>
                  </a:lnTo>
                  <a:lnTo>
                    <a:pt x="55038" y="23801"/>
                  </a:lnTo>
                  <a:lnTo>
                    <a:pt x="61925" y="38937"/>
                  </a:lnTo>
                  <a:lnTo>
                    <a:pt x="24701" y="38937"/>
                  </a:lnTo>
                  <a:lnTo>
                    <a:pt x="30321" y="24829"/>
                  </a:lnTo>
                  <a:lnTo>
                    <a:pt x="43408" y="19722"/>
                  </a:lnTo>
                  <a:lnTo>
                    <a:pt x="78956" y="19722"/>
                  </a:lnTo>
                  <a:lnTo>
                    <a:pt x="71936" y="9497"/>
                  </a:lnTo>
                  <a:lnTo>
                    <a:pt x="58037" y="199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id="58" name="shape 58"/>
            <p:cNvSpPr/>
            <p:nvPr/>
          </p:nvSpPr>
          <p:spPr>
            <a:xfrm>
              <a:off x="1485047" y="299654"/>
              <a:ext cx="51296" cy="116993"/>
            </a:xfrm>
            <a:custGeom>
              <a:pathLst>
                <a:path w="51295" h="116992">
                  <a:moveTo>
                    <a:pt x="36372" y="24701"/>
                  </a:moveTo>
                  <a:lnTo>
                    <a:pt x="51295" y="24701"/>
                  </a:lnTo>
                  <a:lnTo>
                    <a:pt x="51295" y="41859"/>
                  </a:lnTo>
                  <a:lnTo>
                    <a:pt x="36372" y="41859"/>
                  </a:lnTo>
                  <a:lnTo>
                    <a:pt x="36372" y="91427"/>
                  </a:lnTo>
                  <a:cubicBezTo>
                    <a:pt x="36372" y="96748"/>
                    <a:pt x="36550" y="98806"/>
                    <a:pt x="46329" y="98806"/>
                  </a:cubicBezTo>
                  <a:cubicBezTo>
                    <a:pt x="47866" y="98806"/>
                    <a:pt x="49580" y="98640"/>
                    <a:pt x="51295" y="98463"/>
                  </a:cubicBezTo>
                  <a:lnTo>
                    <a:pt x="51295" y="116649"/>
                  </a:lnTo>
                  <a:cubicBezTo>
                    <a:pt x="47523" y="116814"/>
                    <a:pt x="43751" y="116992"/>
                    <a:pt x="39979" y="116992"/>
                  </a:cubicBezTo>
                  <a:lnTo>
                    <a:pt x="36880" y="116992"/>
                  </a:lnTo>
                  <a:cubicBezTo>
                    <a:pt x="16128" y="116992"/>
                    <a:pt x="12357" y="109093"/>
                    <a:pt x="12357" y="97269"/>
                  </a:cubicBezTo>
                  <a:lnTo>
                    <a:pt x="12357" y="41859"/>
                  </a:lnTo>
                  <a:lnTo>
                    <a:pt x="0" y="41859"/>
                  </a:lnTo>
                  <a:lnTo>
                    <a:pt x="0" y="24701"/>
                  </a:lnTo>
                  <a:lnTo>
                    <a:pt x="12357" y="24701"/>
                  </a:lnTo>
                  <a:lnTo>
                    <a:pt x="12357" y="0"/>
                  </a:lnTo>
                  <a:lnTo>
                    <a:pt x="36372" y="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id="59" name="shape 59"/>
            <p:cNvSpPr/>
            <p:nvPr/>
          </p:nvSpPr>
          <p:spPr>
            <a:xfrm>
              <a:off x="1544381" y="321954"/>
              <a:ext cx="86627" cy="96063"/>
            </a:xfrm>
            <a:custGeom>
              <a:pathLst>
                <a:path w="86626" h="96062">
                  <a:moveTo>
                    <a:pt x="43738" y="0"/>
                  </a:moveTo>
                  <a:lnTo>
                    <a:pt x="20043" y="5665"/>
                  </a:lnTo>
                  <a:lnTo>
                    <a:pt x="6881" y="18954"/>
                  </a:lnTo>
                  <a:lnTo>
                    <a:pt x="1213" y="34300"/>
                  </a:lnTo>
                  <a:lnTo>
                    <a:pt x="0" y="46138"/>
                  </a:lnTo>
                  <a:lnTo>
                    <a:pt x="3485" y="69787"/>
                  </a:lnTo>
                  <a:lnTo>
                    <a:pt x="13082" y="85188"/>
                  </a:lnTo>
                  <a:lnTo>
                    <a:pt x="27501" y="93544"/>
                  </a:lnTo>
                  <a:lnTo>
                    <a:pt x="45453" y="96062"/>
                  </a:lnTo>
                  <a:lnTo>
                    <a:pt x="69002" y="89717"/>
                  </a:lnTo>
                  <a:lnTo>
                    <a:pt x="85598" y="66903"/>
                  </a:lnTo>
                  <a:lnTo>
                    <a:pt x="60896" y="66903"/>
                  </a:lnTo>
                  <a:lnTo>
                    <a:pt x="54975" y="74318"/>
                  </a:lnTo>
                  <a:lnTo>
                    <a:pt x="45453" y="76847"/>
                  </a:lnTo>
                  <a:lnTo>
                    <a:pt x="34029" y="74329"/>
                  </a:lnTo>
                  <a:lnTo>
                    <a:pt x="27728" y="68273"/>
                  </a:lnTo>
                  <a:lnTo>
                    <a:pt x="24015" y="54546"/>
                  </a:lnTo>
                  <a:lnTo>
                    <a:pt x="86626" y="54546"/>
                  </a:lnTo>
                  <a:lnTo>
                    <a:pt x="86626" y="50266"/>
                  </a:lnTo>
                  <a:lnTo>
                    <a:pt x="82458" y="24822"/>
                  </a:lnTo>
                  <a:lnTo>
                    <a:pt x="78956" y="19722"/>
                  </a:lnTo>
                  <a:lnTo>
                    <a:pt x="43408" y="19722"/>
                  </a:lnTo>
                  <a:lnTo>
                    <a:pt x="55038" y="23801"/>
                  </a:lnTo>
                  <a:lnTo>
                    <a:pt x="61925" y="38937"/>
                  </a:lnTo>
                  <a:lnTo>
                    <a:pt x="24701" y="38937"/>
                  </a:lnTo>
                  <a:lnTo>
                    <a:pt x="30321" y="24829"/>
                  </a:lnTo>
                  <a:lnTo>
                    <a:pt x="43408" y="19722"/>
                  </a:lnTo>
                  <a:lnTo>
                    <a:pt x="78956" y="19722"/>
                  </a:lnTo>
                  <a:lnTo>
                    <a:pt x="71936" y="9497"/>
                  </a:lnTo>
                  <a:lnTo>
                    <a:pt x="58037" y="199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id="60" name="shape 60"/>
            <p:cNvSpPr/>
            <p:nvPr/>
          </p:nvSpPr>
          <p:spPr>
            <a:xfrm>
              <a:off x="1646756" y="321968"/>
              <a:ext cx="52998" cy="93650"/>
            </a:xfrm>
            <a:custGeom>
              <a:pathLst>
                <a:path w="52997" h="93649">
                  <a:moveTo>
                    <a:pt x="0" y="2387"/>
                  </a:moveTo>
                  <a:lnTo>
                    <a:pt x="22987" y="2387"/>
                  </a:lnTo>
                  <a:lnTo>
                    <a:pt x="22987" y="18173"/>
                  </a:lnTo>
                  <a:lnTo>
                    <a:pt x="23329" y="18173"/>
                  </a:lnTo>
                  <a:cubicBezTo>
                    <a:pt x="28295" y="8902"/>
                    <a:pt x="33794" y="0"/>
                    <a:pt x="48374" y="0"/>
                  </a:cubicBezTo>
                  <a:cubicBezTo>
                    <a:pt x="49923" y="0"/>
                    <a:pt x="51460" y="164"/>
                    <a:pt x="52997" y="330"/>
                  </a:cubicBezTo>
                  <a:lnTo>
                    <a:pt x="52997" y="24688"/>
                  </a:lnTo>
                  <a:cubicBezTo>
                    <a:pt x="50952" y="24345"/>
                    <a:pt x="48374" y="24345"/>
                    <a:pt x="46139" y="24345"/>
                  </a:cubicBezTo>
                  <a:cubicBezTo>
                    <a:pt x="27444" y="24345"/>
                    <a:pt x="24015" y="36017"/>
                    <a:pt x="24015" y="46126"/>
                  </a:cubicBezTo>
                  <a:lnTo>
                    <a:pt x="24015" y="93649"/>
                  </a:lnTo>
                  <a:lnTo>
                    <a:pt x="0" y="93649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id="61" name="shape 61"/>
            <p:cNvSpPr/>
            <p:nvPr/>
          </p:nvSpPr>
          <p:spPr>
            <a:xfrm>
              <a:off x="0" y="0"/>
              <a:ext cx="522000" cy="539187"/>
            </a:xfrm>
            <a:custGeom>
              <a:pathLst>
                <a:path w="521999" h="539186">
                  <a:moveTo>
                    <a:pt x="435997" y="539186"/>
                  </a:moveTo>
                  <a:lnTo>
                    <a:pt x="258826" y="539186"/>
                  </a:lnTo>
                  <a:lnTo>
                    <a:pt x="234901" y="529649"/>
                  </a:lnTo>
                  <a:lnTo>
                    <a:pt x="213305" y="504025"/>
                  </a:lnTo>
                  <a:lnTo>
                    <a:pt x="205250" y="446351"/>
                  </a:lnTo>
                  <a:lnTo>
                    <a:pt x="196989" y="419614"/>
                  </a:lnTo>
                  <a:lnTo>
                    <a:pt x="175611" y="399859"/>
                  </a:lnTo>
                  <a:lnTo>
                    <a:pt x="88918" y="385682"/>
                  </a:lnTo>
                  <a:lnTo>
                    <a:pt x="0" y="393851"/>
                  </a:lnTo>
                  <a:lnTo>
                    <a:pt x="0" y="304583"/>
                  </a:lnTo>
                  <a:lnTo>
                    <a:pt x="120036" y="296646"/>
                  </a:lnTo>
                  <a:lnTo>
                    <a:pt x="162333" y="305089"/>
                  </a:lnTo>
                  <a:lnTo>
                    <a:pt x="193468" y="331381"/>
                  </a:lnTo>
                  <a:lnTo>
                    <a:pt x="205988" y="397854"/>
                  </a:lnTo>
                  <a:lnTo>
                    <a:pt x="217597" y="427648"/>
                  </a:lnTo>
                  <a:lnTo>
                    <a:pt x="246046" y="446468"/>
                  </a:lnTo>
                  <a:lnTo>
                    <a:pt x="330024" y="455128"/>
                  </a:lnTo>
                  <a:lnTo>
                    <a:pt x="369543" y="455088"/>
                  </a:lnTo>
                  <a:lnTo>
                    <a:pt x="395867" y="454405"/>
                  </a:lnTo>
                  <a:lnTo>
                    <a:pt x="428608" y="439521"/>
                  </a:lnTo>
                  <a:lnTo>
                    <a:pt x="430589" y="415721"/>
                  </a:lnTo>
                  <a:lnTo>
                    <a:pt x="405786" y="396849"/>
                  </a:lnTo>
                  <a:lnTo>
                    <a:pt x="324054" y="396357"/>
                  </a:lnTo>
                  <a:lnTo>
                    <a:pt x="246046" y="386930"/>
                  </a:lnTo>
                  <a:lnTo>
                    <a:pt x="219162" y="365392"/>
                  </a:lnTo>
                  <a:lnTo>
                    <a:pt x="210327" y="333616"/>
                  </a:lnTo>
                  <a:lnTo>
                    <a:pt x="206701" y="298487"/>
                  </a:lnTo>
                  <a:lnTo>
                    <a:pt x="195449" y="266890"/>
                  </a:lnTo>
                  <a:lnTo>
                    <a:pt x="141826" y="241234"/>
                  </a:lnTo>
                  <a:lnTo>
                    <a:pt x="90280" y="238125"/>
                  </a:lnTo>
                  <a:lnTo>
                    <a:pt x="41199" y="239515"/>
                  </a:lnTo>
                  <a:lnTo>
                    <a:pt x="0" y="245058"/>
                  </a:lnTo>
                  <a:lnTo>
                    <a:pt x="0" y="155778"/>
                  </a:lnTo>
                  <a:lnTo>
                    <a:pt x="90645" y="147088"/>
                  </a:lnTo>
                  <a:lnTo>
                    <a:pt x="177580" y="163715"/>
                  </a:lnTo>
                  <a:lnTo>
                    <a:pt x="199460" y="193226"/>
                  </a:lnTo>
                  <a:lnTo>
                    <a:pt x="204502" y="230922"/>
                  </a:lnTo>
                  <a:lnTo>
                    <a:pt x="211218" y="267501"/>
                  </a:lnTo>
                  <a:lnTo>
                    <a:pt x="238121" y="293661"/>
                  </a:lnTo>
                  <a:lnTo>
                    <a:pt x="285557" y="303640"/>
                  </a:lnTo>
                  <a:lnTo>
                    <a:pt x="340065" y="307120"/>
                  </a:lnTo>
                  <a:lnTo>
                    <a:pt x="386012" y="306853"/>
                  </a:lnTo>
                  <a:lnTo>
                    <a:pt x="407767" y="305587"/>
                  </a:lnTo>
                  <a:lnTo>
                    <a:pt x="432570" y="284759"/>
                  </a:lnTo>
                  <a:lnTo>
                    <a:pt x="427656" y="257429"/>
                  </a:lnTo>
                  <a:lnTo>
                    <a:pt x="413268" y="249026"/>
                  </a:lnTo>
                  <a:lnTo>
                    <a:pt x="383040" y="248043"/>
                  </a:lnTo>
                  <a:lnTo>
                    <a:pt x="280896" y="245254"/>
                  </a:lnTo>
                  <a:lnTo>
                    <a:pt x="241514" y="233896"/>
                  </a:lnTo>
                  <a:lnTo>
                    <a:pt x="216289" y="208356"/>
                  </a:lnTo>
                  <a:lnTo>
                    <a:pt x="207355" y="150561"/>
                  </a:lnTo>
                  <a:lnTo>
                    <a:pt x="198980" y="123527"/>
                  </a:lnTo>
                  <a:lnTo>
                    <a:pt x="177580" y="103187"/>
                  </a:lnTo>
                  <a:lnTo>
                    <a:pt x="104077" y="90346"/>
                  </a:lnTo>
                  <a:lnTo>
                    <a:pt x="38680" y="92278"/>
                  </a:lnTo>
                  <a:lnTo>
                    <a:pt x="11194" y="96264"/>
                  </a:lnTo>
                  <a:lnTo>
                    <a:pt x="0" y="98221"/>
                  </a:lnTo>
                  <a:lnTo>
                    <a:pt x="0" y="7936"/>
                  </a:lnTo>
                  <a:lnTo>
                    <a:pt x="76399" y="0"/>
                  </a:lnTo>
                  <a:lnTo>
                    <a:pt x="125499" y="1984"/>
                  </a:lnTo>
                  <a:lnTo>
                    <a:pt x="171636" y="12903"/>
                  </a:lnTo>
                  <a:lnTo>
                    <a:pt x="196831" y="39040"/>
                  </a:lnTo>
                  <a:lnTo>
                    <a:pt x="203515" y="74665"/>
                  </a:lnTo>
                  <a:lnTo>
                    <a:pt x="208896" y="111407"/>
                  </a:lnTo>
                  <a:lnTo>
                    <a:pt x="230183" y="140893"/>
                  </a:lnTo>
                  <a:lnTo>
                    <a:pt x="261551" y="152922"/>
                  </a:lnTo>
                  <a:lnTo>
                    <a:pt x="296642" y="156768"/>
                  </a:lnTo>
                  <a:lnTo>
                    <a:pt x="355060" y="158270"/>
                  </a:lnTo>
                  <a:lnTo>
                    <a:pt x="414219" y="158377"/>
                  </a:lnTo>
                  <a:lnTo>
                    <a:pt x="467424" y="170577"/>
                  </a:lnTo>
                  <a:lnTo>
                    <a:pt x="507983" y="208356"/>
                  </a:lnTo>
                  <a:lnTo>
                    <a:pt x="521999" y="260940"/>
                  </a:lnTo>
                  <a:lnTo>
                    <a:pt x="506992" y="313525"/>
                  </a:lnTo>
                  <a:lnTo>
                    <a:pt x="458377" y="350227"/>
                  </a:lnTo>
                  <a:lnTo>
                    <a:pt x="496818" y="373176"/>
                  </a:lnTo>
                  <a:lnTo>
                    <a:pt x="518905" y="411746"/>
                  </a:lnTo>
                  <a:lnTo>
                    <a:pt x="517659" y="471031"/>
                  </a:lnTo>
                  <a:lnTo>
                    <a:pt x="485161" y="519886"/>
                  </a:lnTo>
                  <a:close/>
                </a:path>
              </a:pathLst>
            </a:custGeom>
            <a:solidFill>
              <a:srgbClr val="E12726"/>
            </a:solidFill>
          </p:spPr>
        </p:sp>
        <p:sp>
          <p:nvSpPr>
            <p:cNvPr id="62" name="shape 62"/>
            <p:cNvSpPr/>
            <p:nvPr/>
          </p:nvSpPr>
          <p:spPr>
            <a:xfrm>
              <a:off x="6709" y="497365"/>
              <a:ext cx="45441" cy="41822"/>
            </a:xfrm>
            <a:custGeom>
              <a:pathLst>
                <a:path w="45440" h="41821">
                  <a:moveTo>
                    <a:pt x="22783" y="0"/>
                  </a:moveTo>
                  <a:lnTo>
                    <a:pt x="6762" y="6353"/>
                  </a:lnTo>
                  <a:lnTo>
                    <a:pt x="0" y="22364"/>
                  </a:lnTo>
                  <a:lnTo>
                    <a:pt x="6762" y="38475"/>
                  </a:lnTo>
                  <a:lnTo>
                    <a:pt x="15179" y="41821"/>
                  </a:lnTo>
                  <a:lnTo>
                    <a:pt x="30335" y="41821"/>
                  </a:lnTo>
                  <a:lnTo>
                    <a:pt x="32112" y="41109"/>
                  </a:lnTo>
                  <a:lnTo>
                    <a:pt x="38693" y="38475"/>
                  </a:lnTo>
                  <a:lnTo>
                    <a:pt x="41400" y="32012"/>
                  </a:lnTo>
                  <a:lnTo>
                    <a:pt x="31591" y="32012"/>
                  </a:lnTo>
                  <a:lnTo>
                    <a:pt x="26506" y="24155"/>
                  </a:lnTo>
                  <a:lnTo>
                    <a:pt x="22542" y="24155"/>
                  </a:lnTo>
                  <a:lnTo>
                    <a:pt x="28972" y="34717"/>
                  </a:lnTo>
                  <a:lnTo>
                    <a:pt x="22783" y="41109"/>
                  </a:lnTo>
                  <a:lnTo>
                    <a:pt x="17178" y="35356"/>
                  </a:lnTo>
                  <a:lnTo>
                    <a:pt x="18034" y="35356"/>
                  </a:lnTo>
                  <a:lnTo>
                    <a:pt x="18034" y="32206"/>
                  </a:lnTo>
                  <a:lnTo>
                    <a:pt x="18034" y="24155"/>
                  </a:lnTo>
                  <a:lnTo>
                    <a:pt x="22542" y="24155"/>
                  </a:lnTo>
                  <a:lnTo>
                    <a:pt x="26506" y="24155"/>
                  </a:lnTo>
                  <a:lnTo>
                    <a:pt x="26390" y="23977"/>
                  </a:lnTo>
                  <a:lnTo>
                    <a:pt x="29355" y="20828"/>
                  </a:lnTo>
                  <a:lnTo>
                    <a:pt x="33108" y="16840"/>
                  </a:lnTo>
                  <a:lnTo>
                    <a:pt x="28118" y="12827"/>
                  </a:lnTo>
                  <a:lnTo>
                    <a:pt x="23380" y="12827"/>
                  </a:lnTo>
                  <a:lnTo>
                    <a:pt x="29006" y="16612"/>
                  </a:lnTo>
                  <a:lnTo>
                    <a:pt x="22720" y="20828"/>
                  </a:lnTo>
                  <a:lnTo>
                    <a:pt x="18034" y="20828"/>
                  </a:lnTo>
                  <a:lnTo>
                    <a:pt x="18034" y="12827"/>
                  </a:lnTo>
                  <a:lnTo>
                    <a:pt x="23380" y="12827"/>
                  </a:lnTo>
                  <a:lnTo>
                    <a:pt x="28118" y="12827"/>
                  </a:lnTo>
                  <a:lnTo>
                    <a:pt x="27814" y="12582"/>
                  </a:lnTo>
                  <a:lnTo>
                    <a:pt x="14109" y="12582"/>
                  </a:lnTo>
                  <a:lnTo>
                    <a:pt x="14109" y="32206"/>
                  </a:lnTo>
                  <a:lnTo>
                    <a:pt x="4521" y="22364"/>
                  </a:lnTo>
                  <a:lnTo>
                    <a:pt x="14109" y="12582"/>
                  </a:lnTo>
                  <a:lnTo>
                    <a:pt x="27814" y="12582"/>
                  </a:lnTo>
                  <a:lnTo>
                    <a:pt x="23964" y="9487"/>
                  </a:lnTo>
                  <a:lnTo>
                    <a:pt x="17144" y="9487"/>
                  </a:lnTo>
                  <a:lnTo>
                    <a:pt x="22783" y="3733"/>
                  </a:lnTo>
                  <a:lnTo>
                    <a:pt x="40932" y="22364"/>
                  </a:lnTo>
                  <a:lnTo>
                    <a:pt x="31591" y="32012"/>
                  </a:lnTo>
                  <a:lnTo>
                    <a:pt x="41400" y="32012"/>
                  </a:lnTo>
                  <a:lnTo>
                    <a:pt x="45440" y="22364"/>
                  </a:lnTo>
                  <a:lnTo>
                    <a:pt x="38693" y="6353"/>
                  </a:lnTo>
                  <a:close/>
                </a:path>
              </a:pathLst>
            </a:custGeom>
            <a:solidFill>
              <a:srgbClr val="E12726"/>
            </a:solidFill>
          </p:spPr>
        </p:sp>
      </p:grpSp>
      <p:sp>
        <p:nvSpPr>
          <p:cNvPr id="63" name="shape 63"/>
          <p:cNvSpPr txBox="1"/>
          <p:nvPr/>
        </p:nvSpPr>
        <p:spPr>
          <a:xfrm>
            <a:off x="2903855" y="639445"/>
            <a:ext cx="4147820" cy="2743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800" b="1">
                <a:solidFill>
                  <a:srgbClr val="7F8080"/>
                </a:solidFill>
                <a:latin typeface="Arial"/>
                <a:cs typeface="Arial"/>
              </a:rPr>
              <a:t>U500w Ultrasonic Meter</a:t>
            </a:r>
            <a:endParaRPr/>
          </a:p>
        </p:txBody>
      </p:sp>
      <p:sp>
        <p:nvSpPr>
          <p:cNvPr id="64" name="shape 64"/>
          <p:cNvSpPr txBox="1"/>
          <p:nvPr/>
        </p:nvSpPr>
        <p:spPr>
          <a:xfrm>
            <a:off x="2903855" y="1035177"/>
            <a:ext cx="4147820" cy="354788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algn="just">
              <a:lnSpc>
                <a:spcPct val="97389"/>
              </a:lnSpc>
            </a:pPr>
            <a:r>
              <a:rPr sz="1200" b="1" spc="-45">
                <a:solidFill>
                  <a:srgbClr val="7F8080"/>
                </a:solidFill>
                <a:latin typeface="Arial"/>
                <a:cs typeface="Arial"/>
              </a:rPr>
              <a:t>Cold Water Stainless Steel Meter, 5/8, 5/8 x 3/4, 3/4 and 1 inch </a:t>
            </a:r>
            <a:r>
              <a:rPr sz="1200" b="1">
                <a:solidFill>
                  <a:srgbClr val="7F8080"/>
                </a:solidFill>
                <a:latin typeface="Arial"/>
                <a:cs typeface="Arial"/>
              </a:rPr>
              <a:t>NSF/ANSI Standard 61 Certified, Annex G</a:t>
            </a:r>
            <a:endParaRPr/>
          </a:p>
        </p:txBody>
      </p:sp>
      <p:sp>
        <p:nvSpPr>
          <p:cNvPr id="65" name="shape 65"/>
          <p:cNvSpPr txBox="1"/>
          <p:nvPr/>
        </p:nvSpPr>
        <p:spPr>
          <a:xfrm>
            <a:off x="673100" y="1659255"/>
            <a:ext cx="3218180" cy="6646723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3970"/>
            <a:r>
              <a:rPr sz="1100" b="1" spc="20">
                <a:solidFill>
                  <a:srgbClr val="231F20"/>
                </a:solidFill>
                <a:latin typeface="Arial"/>
                <a:cs typeface="Arial"/>
              </a:rPr>
              <a:t>DESCRIPTION</a:t>
            </a:r>
            <a:endParaRPr/>
          </a:p>
          <a:p>
            <a:pPr marL="12700" marR="12700">
              <a:lnSpc>
                <a:spcPct val="93033"/>
              </a:lnSpc>
              <a:spcBef>
                <a:spcPts val="700"/>
              </a:spcBef>
            </a:pP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The U500w Ultrasonic meter uses solid-state technology in a compact, totally encapsulated, weatherproof, and UV-resistant housing, suitable for building and property management submetering applications. Electronic metering provides </a:t>
            </a:r>
            <a:r>
              <a:rPr sz="900" spc="-25">
                <a:solidFill>
                  <a:srgbClr val="231F20"/>
                </a:solidFill>
                <a:latin typeface="Arial"/>
                <a:cs typeface="Arial"/>
              </a:rPr>
              <a:t>information—such as rate of flow and reverse flow indication—and </a:t>
            </a:r>
            <a:r>
              <a:rPr sz="900" spc="-20">
                <a:solidFill>
                  <a:srgbClr val="231F20"/>
                </a:solidFill>
                <a:latin typeface="Arial"/>
                <a:cs typeface="Arial"/>
              </a:rPr>
              <a:t>data not typically available through traditional, mechanical meters and registers. Electronic metering eliminates measurement errors </a:t>
            </a: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due to sand, suspended particles and pressure fluctuations.</a:t>
            </a:r>
            <a:endParaRPr/>
          </a:p>
          <a:p>
            <a:pPr marL="12700" marR="845820" algn="just">
              <a:lnSpc>
                <a:spcPct val="92261"/>
              </a:lnSpc>
              <a:spcBef>
                <a:spcPts val="600"/>
              </a:spcBef>
            </a:pPr>
            <a:r>
              <a:rPr sz="900" b="1" spc="-45">
                <a:solidFill>
                  <a:srgbClr val="231F20"/>
                </a:solidFill>
                <a:latin typeface="Arial"/>
                <a:cs typeface="Arial"/>
              </a:rPr>
              <a:t>Offered in four sizes and lay lengths, the U500w </a:t>
            </a:r>
            <a:r>
              <a:rPr sz="900" b="1" spc="-10">
                <a:solidFill>
                  <a:srgbClr val="231F20"/>
                </a:solidFill>
                <a:latin typeface="Arial"/>
                <a:cs typeface="Arial"/>
              </a:rPr>
              <a:t>meter features:</a:t>
            </a:r>
            <a:endParaRPr/>
          </a:p>
          <a:p>
            <a:pPr marL="184150" marR="165100" indent="-171450" algn="just">
              <a:lnSpc>
                <a:spcPct val="99833"/>
              </a:lnSpc>
              <a:spcBef>
                <a:spcPts val="600"/>
              </a:spcBef>
              <a:buClr>
                <a:srgbClr val="231F20"/>
              </a:buClr>
              <a:buSzPts val="900"/>
              <a:buFont typeface="Arial"/>
              <a:buChar char="•"/>
            </a:pPr>
            <a:r>
              <a:rPr sz="900" spc="-20">
                <a:solidFill>
                  <a:srgbClr val="231F20"/>
                </a:solidFill>
                <a:latin typeface="Arial"/>
                <a:cs typeface="Arial"/>
              </a:rPr>
              <a:t>Minimum extended low-flow rate lower than typical positive </a:t>
            </a: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displacement meters.</a:t>
            </a:r>
            <a:endParaRPr/>
          </a:p>
          <a:p>
            <a:pPr marL="184150" marR="264160" indent="-171450" algn="just">
              <a:lnSpc>
                <a:spcPct val="99833"/>
              </a:lnSpc>
              <a:spcBef>
                <a:spcPts val="600"/>
              </a:spcBef>
              <a:buClr>
                <a:srgbClr val="231F20"/>
              </a:buClr>
              <a:buSzPts val="900"/>
              <a:buFont typeface="Arial"/>
              <a:buChar char="•"/>
            </a:pPr>
            <a:r>
              <a:rPr sz="900" spc="-30">
                <a:solidFill>
                  <a:srgbClr val="231F20"/>
                </a:solidFill>
                <a:latin typeface="Arial"/>
                <a:cs typeface="Arial"/>
              </a:rPr>
              <a:t>Simplified one-piece electronic meter and register that are </a:t>
            </a:r>
            <a:r>
              <a:rPr sz="900" spc="-20">
                <a:solidFill>
                  <a:srgbClr val="231F20"/>
                </a:solidFill>
                <a:latin typeface="Arial"/>
                <a:cs typeface="Arial"/>
              </a:rPr>
              <a:t>integral to the meter body and virtually maintenance free.</a:t>
            </a:r>
            <a:endParaRPr/>
          </a:p>
          <a:p>
            <a:pPr marL="184150" indent="-171450" algn="just">
              <a:spcBef>
                <a:spcPts val="600"/>
              </a:spcBef>
              <a:buClr>
                <a:srgbClr val="231F20"/>
              </a:buClr>
              <a:buSzPts val="900"/>
              <a:buFont typeface="Arial"/>
              <a:buChar char="•"/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Sealed, non-removable, tamper-protected meter and register.</a:t>
            </a:r>
            <a:endParaRPr/>
          </a:p>
          <a:p>
            <a:pPr marL="184150" marR="54610" indent="-171450" algn="just">
              <a:lnSpc>
                <a:spcPct val="99833"/>
              </a:lnSpc>
              <a:spcBef>
                <a:spcPts val="600"/>
              </a:spcBef>
              <a:buClr>
                <a:srgbClr val="231F20"/>
              </a:buClr>
              <a:buSzPts val="900"/>
              <a:buFont typeface="Arial"/>
              <a:buChar char="•"/>
            </a:pPr>
            <a:r>
              <a:rPr sz="900" spc="-35">
                <a:solidFill>
                  <a:srgbClr val="231F20"/>
                </a:solidFill>
                <a:latin typeface="Arial"/>
                <a:cs typeface="Arial"/>
              </a:rPr>
              <a:t>Easy-to-read, 9-digit LCD display presents consumption, rate of </a:t>
            </a: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flow, reverse-flow indication, and alarms.</a:t>
            </a:r>
            <a:endParaRPr/>
          </a:p>
          <a:p>
            <a:pPr marL="184150" indent="-171450" algn="just">
              <a:spcBef>
                <a:spcPts val="600"/>
              </a:spcBef>
              <a:buClr>
                <a:srgbClr val="231F20"/>
              </a:buClr>
              <a:buSzPts val="900"/>
              <a:buFont typeface="Arial"/>
              <a:buChar char="•"/>
            </a:pP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Battery powered—eliminates wiring.</a:t>
            </a:r>
            <a:endParaRPr/>
          </a:p>
          <a:p>
            <a:pPr marL="184150" indent="-171450" algn="just">
              <a:spcBef>
                <a:spcPts val="600"/>
              </a:spcBef>
              <a:buClr>
                <a:srgbClr val="231F20"/>
              </a:buClr>
              <a:buSzPts val="900"/>
              <a:buFont typeface="Arial"/>
              <a:buChar char="•"/>
            </a:pP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Compatible with AquaCUE® Flow Measurement Manager.</a:t>
            </a:r>
            <a:endParaRPr/>
          </a:p>
          <a:p>
            <a:pPr marL="12700" marR="140970" algn="just">
              <a:lnSpc>
                <a:spcPct val="99833"/>
              </a:lnSpc>
              <a:spcBef>
                <a:spcPts val="1200"/>
              </a:spcBef>
            </a:pPr>
            <a:r>
              <a:rPr sz="900" spc="-25">
                <a:solidFill>
                  <a:srgbClr val="231F20"/>
                </a:solidFill>
                <a:latin typeface="Arial"/>
                <a:cs typeface="Arial"/>
              </a:rPr>
              <a:t>The U500w meter is available with an in-line connector for easy </a:t>
            </a:r>
            <a:r>
              <a:rPr sz="900" spc="10">
                <a:solidFill>
                  <a:srgbClr val="231F20"/>
                </a:solidFill>
                <a:latin typeface="Arial"/>
                <a:cs typeface="Arial"/>
              </a:rPr>
              <a:t>connection and installation to AquaCUE connectors.</a:t>
            </a:r>
            <a:endParaRPr/>
          </a:p>
          <a:p>
            <a:pPr marL="13970" algn="just">
              <a:spcBef>
                <a:spcPts val="1300"/>
              </a:spcBef>
            </a:pPr>
            <a:r>
              <a:rPr sz="1100" b="1" spc="20">
                <a:solidFill>
                  <a:srgbClr val="231F20"/>
                </a:solidFill>
                <a:latin typeface="Arial"/>
                <a:cs typeface="Arial"/>
              </a:rPr>
              <a:t>APPLICATIONS</a:t>
            </a:r>
            <a:endParaRPr/>
          </a:p>
          <a:p>
            <a:pPr marL="12700" marR="167640">
              <a:lnSpc>
                <a:spcPct val="93034"/>
              </a:lnSpc>
              <a:spcBef>
                <a:spcPts val="700"/>
              </a:spcBef>
            </a:pP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Use the U500w meter for measuring potable cold water in </a:t>
            </a:r>
            <a:r>
              <a:rPr sz="900" spc="-20">
                <a:solidFill>
                  <a:srgbClr val="231F20"/>
                </a:solidFill>
                <a:latin typeface="Arial"/>
                <a:cs typeface="Arial"/>
              </a:rPr>
              <a:t>building/property management and industrial applications. The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meter is also ideal for non-potable, reclaimed irrigation water </a:t>
            </a:r>
            <a:r>
              <a:rPr sz="900" spc="-25">
                <a:solidFill>
                  <a:srgbClr val="231F20"/>
                </a:solidFill>
                <a:latin typeface="Arial"/>
                <a:cs typeface="Arial"/>
              </a:rPr>
              <a:t>applications or less than optimum water conditions where small </a:t>
            </a: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particles exist.</a:t>
            </a:r>
            <a:endParaRPr/>
          </a:p>
          <a:p>
            <a:pPr marL="12700" marR="130175">
              <a:lnSpc>
                <a:spcPct val="93034"/>
              </a:lnSpc>
              <a:spcBef>
                <a:spcPts val="500"/>
              </a:spcBef>
            </a:pP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The U500w meter complies with applicable portions of </a:t>
            </a:r>
            <a:r>
              <a:rPr sz="900" spc="-55">
                <a:solidFill>
                  <a:srgbClr val="231F20"/>
                </a:solidFill>
                <a:latin typeface="Arial"/>
                <a:cs typeface="Arial"/>
              </a:rPr>
              <a:t>ANSI/AWWA Standard C700 and NSF/ANSI Standard 61, Annex G. </a:t>
            </a:r>
            <a:r>
              <a:rPr sz="900" spc="-30">
                <a:solidFill>
                  <a:srgbClr val="231F20"/>
                </a:solidFill>
                <a:latin typeface="Arial"/>
                <a:cs typeface="Arial"/>
              </a:rPr>
              <a:t>There is currently no AWWA standard that specifically addresses </a:t>
            </a: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ultrasonic meters for residential applications.</a:t>
            </a:r>
            <a:endParaRPr/>
          </a:p>
          <a:p>
            <a:pPr marL="13970">
              <a:spcBef>
                <a:spcPts val="1100"/>
              </a:spcBef>
            </a:pPr>
            <a:r>
              <a:rPr sz="1100" b="1" spc="20">
                <a:solidFill>
                  <a:srgbClr val="231F20"/>
                </a:solidFill>
                <a:latin typeface="Arial"/>
                <a:cs typeface="Arial"/>
              </a:rPr>
              <a:t>OPERATION &amp; PERFORMANCE</a:t>
            </a:r>
            <a:endParaRPr/>
          </a:p>
          <a:p>
            <a:pPr marL="12700" marR="78740" algn="just">
              <a:lnSpc>
                <a:spcPct val="93034"/>
              </a:lnSpc>
              <a:spcBef>
                <a:spcPts val="700"/>
              </a:spcBef>
            </a:pPr>
            <a:r>
              <a:rPr sz="900" spc="-30">
                <a:solidFill>
                  <a:srgbClr val="231F20"/>
                </a:solidFill>
                <a:latin typeface="Arial"/>
                <a:cs typeface="Arial"/>
              </a:rPr>
              <a:t>As water flows into the measuring tube, ultrasonic signals are sent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consecutively in forward and reverse directions of flow. Velocity</a:t>
            </a:r>
            <a:endParaRPr/>
          </a:p>
          <a:p>
            <a:pPr marL="12700" algn="just">
              <a:lnSpc>
                <a:spcPts val="1085"/>
              </a:lnSpc>
            </a:pP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is then determined by measuring the time difference between</a:t>
            </a:r>
            <a:endParaRPr/>
          </a:p>
          <a:p>
            <a:pPr marL="12700">
              <a:lnSpc>
                <a:spcPts val="927"/>
              </a:lnSpc>
            </a:pP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the measurement in the forward and reverse directions. Total</a:t>
            </a:r>
            <a:endParaRPr/>
          </a:p>
          <a:p>
            <a:pPr marL="12700" marR="13335">
              <a:lnSpc>
                <a:spcPct val="93033"/>
              </a:lnSpc>
            </a:pPr>
            <a:r>
              <a:rPr sz="900" spc="-20">
                <a:solidFill>
                  <a:srgbClr val="231F20"/>
                </a:solidFill>
                <a:latin typeface="Arial"/>
                <a:cs typeface="Arial"/>
              </a:rPr>
              <a:t>volume is calculated from the measured flow velocity using water </a:t>
            </a: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temperature and pipe diameter. The LCD display shows total </a:t>
            </a:r>
            <a:r>
              <a:rPr sz="900" spc="-25">
                <a:solidFill>
                  <a:srgbClr val="231F20"/>
                </a:solidFill>
                <a:latin typeface="Arial"/>
                <a:cs typeface="Arial"/>
              </a:rPr>
              <a:t>volume and alarm conditions and can toggle to display rate of flow.</a:t>
            </a:r>
            <a:endParaRPr/>
          </a:p>
        </p:txBody>
      </p:sp>
      <p:sp>
        <p:nvSpPr>
          <p:cNvPr id="66" name="shape 66"/>
          <p:cNvSpPr txBox="1"/>
          <p:nvPr/>
        </p:nvSpPr>
        <p:spPr>
          <a:xfrm>
            <a:off x="4102100" y="4569333"/>
            <a:ext cx="3150870" cy="4125722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73990">
              <a:lnSpc>
                <a:spcPct val="99833"/>
              </a:lnSpc>
            </a:pPr>
            <a:r>
              <a:rPr sz="900" spc="-25">
                <a:solidFill>
                  <a:srgbClr val="231F20"/>
                </a:solidFill>
                <a:latin typeface="Arial"/>
                <a:cs typeface="Arial"/>
              </a:rPr>
              <a:t>In the normal temperature range of 45…85° F (7…29° C), the </a:t>
            </a:r>
            <a:r>
              <a:rPr sz="900" spc="-30">
                <a:solidFill>
                  <a:srgbClr val="231F20"/>
                </a:solidFill>
                <a:latin typeface="Arial"/>
                <a:cs typeface="Arial"/>
              </a:rPr>
              <a:t>U500w “new meter“ consumption measurement is accurate to:</a:t>
            </a:r>
            <a:endParaRPr/>
          </a:p>
          <a:p>
            <a:pPr marL="184150" indent="-171450">
              <a:spcBef>
                <a:spcPts val="600"/>
              </a:spcBef>
              <a:buClr>
                <a:srgbClr val="231F20"/>
              </a:buClr>
              <a:buSzPts val="900"/>
              <a:buFont typeface="Arial"/>
              <a:buChar char="•"/>
            </a:pP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±1.5% over the normal flow range</a:t>
            </a:r>
            <a:endParaRPr/>
          </a:p>
          <a:p>
            <a:pPr marL="184150" indent="-171450">
              <a:spcBef>
                <a:spcPts val="600"/>
              </a:spcBef>
              <a:buClr>
                <a:srgbClr val="231F20"/>
              </a:buClr>
              <a:buSzPts val="900"/>
              <a:buFont typeface="Arial"/>
              <a:buChar char="•"/>
            </a:pP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±3.0% from the extended low flow range to the minimum</a:t>
            </a:r>
            <a:endParaRPr/>
          </a:p>
          <a:p>
            <a:pPr marL="184150"/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flow value</a:t>
            </a:r>
            <a:endParaRPr/>
          </a:p>
          <a:p>
            <a:pPr marL="13970">
              <a:spcBef>
                <a:spcPts val="1100"/>
              </a:spcBef>
            </a:pPr>
            <a:r>
              <a:rPr sz="1100" b="1" spc="20">
                <a:solidFill>
                  <a:srgbClr val="231F20"/>
                </a:solidFill>
                <a:latin typeface="Arial"/>
                <a:cs typeface="Arial"/>
              </a:rPr>
              <a:t>CONSTRUCTION</a:t>
            </a:r>
            <a:endParaRPr/>
          </a:p>
          <a:p>
            <a:pPr marL="12700" marR="109220">
              <a:lnSpc>
                <a:spcPct val="93034"/>
              </a:lnSpc>
              <a:spcBef>
                <a:spcPts val="700"/>
              </a:spcBef>
            </a:pP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The U500w meters feature a stainless steel, lead-free meter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housing, an engineered polymer and stainless steel metering </a:t>
            </a:r>
            <a:r>
              <a:rPr sz="900" spc="-30">
                <a:solidFill>
                  <a:srgbClr val="231F20"/>
                </a:solidFill>
                <a:latin typeface="Arial"/>
                <a:cs typeface="Arial"/>
              </a:rPr>
              <a:t>insert, a meter-control circuit board with associated wiring, LCD, and battery. Wetted elements are limited to the pressure vessel, </a:t>
            </a: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polymer/stainless steel metering insert and the transducers.</a:t>
            </a:r>
            <a:endParaRPr/>
          </a:p>
          <a:p>
            <a:pPr marL="12700">
              <a:lnSpc>
                <a:spcPts val="1035"/>
              </a:lnSpc>
            </a:pP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The electronic components are housed and fully potted within</a:t>
            </a:r>
            <a:endParaRPr/>
          </a:p>
          <a:p>
            <a:pPr marL="12700">
              <a:lnSpc>
                <a:spcPts val="936"/>
              </a:lnSpc>
            </a:pP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a molded, engineered polymer enclosure, which is permanently</a:t>
            </a:r>
            <a:endParaRPr/>
          </a:p>
          <a:p>
            <a:pPr marL="12700" marR="116205">
              <a:lnSpc>
                <a:spcPct val="93034"/>
              </a:lnSpc>
            </a:pPr>
            <a:r>
              <a:rPr sz="900" spc="-30">
                <a:solidFill>
                  <a:srgbClr val="231F20"/>
                </a:solidFill>
                <a:latin typeface="Arial"/>
                <a:cs typeface="Arial"/>
              </a:rPr>
              <a:t>attached to the meter housing. The transducers extend through </a:t>
            </a: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the stainless steel housing and are sealed by O-rings.</a:t>
            </a:r>
            <a:endParaRPr/>
          </a:p>
          <a:p>
            <a:pPr marL="12700" marR="12700">
              <a:lnSpc>
                <a:spcPct val="93033"/>
              </a:lnSpc>
              <a:spcBef>
                <a:spcPts val="600"/>
              </a:spcBef>
            </a:pPr>
            <a:r>
              <a:rPr sz="900" spc="-20">
                <a:solidFill>
                  <a:srgbClr val="231F20"/>
                </a:solidFill>
                <a:latin typeface="Arial"/>
                <a:cs typeface="Arial"/>
              </a:rPr>
              <a:t>The metering insert holds the stainless steel ultrasonic reflectors </a:t>
            </a:r>
            <a:r>
              <a:rPr sz="900" spc="-25">
                <a:solidFill>
                  <a:srgbClr val="231F20"/>
                </a:solidFill>
                <a:latin typeface="Arial"/>
                <a:cs typeface="Arial"/>
              </a:rPr>
              <a:t>in the center of the flow area, enabling turbulence-free water flow </a:t>
            </a:r>
            <a:r>
              <a:rPr sz="900" spc="-20">
                <a:solidFill>
                  <a:srgbClr val="231F20"/>
                </a:solidFill>
                <a:latin typeface="Arial"/>
                <a:cs typeface="Arial"/>
              </a:rPr>
              <a:t>through the tube and around the ultrasonic signal reflectors. The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metering insert’s patented design virtually eliminates chemical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buildup on the reflectors, ensuring long-term metering accuracy.</a:t>
            </a:r>
            <a:endParaRPr/>
          </a:p>
          <a:p>
            <a:pPr marL="13970">
              <a:spcBef>
                <a:spcPts val="1100"/>
              </a:spcBef>
            </a:pPr>
            <a:r>
              <a:rPr sz="1100" b="1" spc="20">
                <a:solidFill>
                  <a:srgbClr val="231F20"/>
                </a:solidFill>
                <a:latin typeface="Arial"/>
                <a:cs typeface="Arial"/>
              </a:rPr>
              <a:t>METER INSTALLATION</a:t>
            </a:r>
            <a:endParaRPr/>
          </a:p>
          <a:p>
            <a:pPr marL="12700" marR="69215">
              <a:lnSpc>
                <a:spcPct val="93033"/>
              </a:lnSpc>
              <a:spcBef>
                <a:spcPts val="700"/>
              </a:spcBef>
            </a:pPr>
            <a:r>
              <a:rPr sz="900" spc="-25">
                <a:solidFill>
                  <a:srgbClr val="231F20"/>
                </a:solidFill>
                <a:latin typeface="Arial"/>
                <a:cs typeface="Arial"/>
              </a:rPr>
              <a:t>The meter is completely submersible and can be installed using </a:t>
            </a:r>
            <a:r>
              <a:rPr sz="900" spc="-5">
                <a:solidFill>
                  <a:srgbClr val="231F20"/>
                </a:solidFill>
                <a:latin typeface="Arial"/>
                <a:cs typeface="Arial"/>
              </a:rPr>
              <a:t>horizontal or vertical piping, with flow in the up direction. The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meter will not measure flow when an “empty pipe“ condition is </a:t>
            </a:r>
            <a:r>
              <a:rPr sz="900" spc="-30">
                <a:solidFill>
                  <a:srgbClr val="231F20"/>
                </a:solidFill>
                <a:latin typeface="Arial"/>
                <a:cs typeface="Arial"/>
              </a:rPr>
              <a:t>experienced. An empty pipe is defined as a condition that occurs </a:t>
            </a: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when the pipe is partially full.</a:t>
            </a:r>
            <a:endParaRPr/>
          </a:p>
        </p:txBody>
      </p:sp>
      <p:sp>
        <p:nvSpPr>
          <p:cNvPr id="67" name="shape 67"/>
          <p:cNvSpPr txBox="1"/>
          <p:nvPr/>
        </p:nvSpPr>
        <p:spPr>
          <a:xfrm>
            <a:off x="673100" y="9297797"/>
            <a:ext cx="6654800" cy="3657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4021455" algn="l"/>
              </a:tabLst>
            </a:pPr>
            <a:r>
              <a:rPr sz="900" b="1">
                <a:solidFill>
                  <a:srgbClr val="231F20"/>
                </a:solidFill>
                <a:latin typeface="Arial"/>
                <a:cs typeface="Arial"/>
              </a:rPr>
              <a:t>ESM-DS-02202-EN-04 (November 2018)</a:t>
            </a:r>
            <a:r>
              <a:rPr sz="900" b="1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2400" b="1" spc="-80">
                <a:solidFill>
                  <a:srgbClr val="7F8080"/>
                </a:solidFill>
                <a:latin typeface="Arial"/>
                <a:cs typeface="Arial"/>
              </a:rPr>
              <a:t>Product Data Sheet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662940"/>
            <a:ext cx="6629400" cy="12700"/>
          </a:xfrm>
          <a:custGeom>
            <a:pathLst>
              <a:path w="6629400" h="12700">
                <a:moveTo>
                  <a:pt x="0" y="6350"/>
                </a:moveTo>
                <a:lnTo>
                  <a:pt x="6629400" y="6350"/>
                </a:lnTo>
              </a:path>
            </a:pathLst>
          </a:custGeom>
          <a:ln w="12700" cap="flat">
            <a:solidFill>
              <a:srgbClr val="231F20"/>
            </a:solidFill>
            <a:prstDash val="solid"/>
            <a:miter lim="4"/>
          </a:ln>
        </p:spPr>
      </p:sp>
      <p:sp>
        <p:nvSpPr>
          <p:cNvPr id="3" name="shape 3"/>
          <p:cNvSpPr/>
          <p:nvPr/>
        </p:nvSpPr>
        <p:spPr>
          <a:xfrm>
            <a:off x="457200" y="9372600"/>
            <a:ext cx="6629400" cy="12700"/>
          </a:xfrm>
          <a:custGeom>
            <a:pathLst>
              <a:path w="6629400" h="12700">
                <a:moveTo>
                  <a:pt x="0" y="6350"/>
                </a:moveTo>
                <a:lnTo>
                  <a:pt x="6629400" y="6350"/>
                </a:lnTo>
              </a:path>
            </a:pathLst>
          </a:custGeom>
          <a:ln w="12700" cap="flat">
            <a:solidFill>
              <a:srgbClr val="231F20"/>
            </a:solidFill>
            <a:prstDash val="solid"/>
            <a:miter lim="4"/>
          </a:ln>
        </p:spPr>
      </p:sp>
      <p:sp>
        <p:nvSpPr>
          <p:cNvPr id="4" name="shape 4"/>
          <p:cNvSpPr txBox="1"/>
          <p:nvPr/>
        </p:nvSpPr>
        <p:spPr>
          <a:xfrm>
            <a:off x="444500" y="428625"/>
            <a:ext cx="3923030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i="1" spc="-55">
                <a:solidFill>
                  <a:srgbClr val="231F20"/>
                </a:solidFill>
                <a:latin typeface="Arial"/>
                <a:cs typeface="Arial"/>
              </a:rPr>
              <a:t>U500w Ultrasonic Meter, Cold Water Stainless Steel Meter, 5/8, 5/8 x 3/4, 3/4 and 1 inch</a:t>
            </a:r>
            <a:endParaRPr/>
          </a:p>
        </p:txBody>
      </p:sp>
      <p:sp>
        <p:nvSpPr>
          <p:cNvPr id="5" name="shape 5"/>
          <p:cNvSpPr txBox="1"/>
          <p:nvPr/>
        </p:nvSpPr>
        <p:spPr>
          <a:xfrm>
            <a:off x="444500" y="879475"/>
            <a:ext cx="6654800" cy="16764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3970"/>
            <a:r>
              <a:rPr sz="1100" b="1" spc="20">
                <a:solidFill>
                  <a:srgbClr val="231F20"/>
                </a:solidFill>
                <a:latin typeface="Arial"/>
                <a:cs typeface="Arial"/>
              </a:rPr>
              <a:t>SPECIFICATIONS</a:t>
            </a:r>
            <a:endParaRPr/>
          </a:p>
        </p:txBody>
      </p:sp>
      <p:sp>
        <p:nvSpPr>
          <p:cNvPr id="6" name="shape 6"/>
          <p:cNvSpPr txBox="1"/>
          <p:nvPr/>
        </p:nvSpPr>
        <p:spPr>
          <a:xfrm>
            <a:off x="444500" y="6813550"/>
            <a:ext cx="6637020" cy="1676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3970"/>
            <a:r>
              <a:rPr sz="1100" b="1" spc="20">
                <a:solidFill>
                  <a:srgbClr val="231F20"/>
                </a:solidFill>
                <a:latin typeface="Arial"/>
                <a:cs typeface="Arial"/>
              </a:rPr>
              <a:t>MATERIALS</a:t>
            </a:r>
            <a:endParaRPr/>
          </a:p>
        </p:txBody>
      </p:sp>
      <p:sp>
        <p:nvSpPr>
          <p:cNvPr id="7" name="shape 7"/>
          <p:cNvSpPr txBox="1"/>
          <p:nvPr/>
        </p:nvSpPr>
        <p:spPr>
          <a:xfrm>
            <a:off x="444500" y="9486900"/>
            <a:ext cx="6655435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2835275" algn="l"/>
                <a:tab pos="5921375" algn="l"/>
              </a:tabLst>
            </a:pPr>
            <a:r>
              <a:rPr sz="900" i="1">
                <a:solidFill>
                  <a:srgbClr val="231F20"/>
                </a:solidFill>
                <a:latin typeface="Arial"/>
                <a:cs typeface="Arial"/>
              </a:rPr>
              <a:t>Page 2</a:t>
            </a:r>
            <a:r>
              <a:rPr sz="900" i="1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i="1">
                <a:solidFill>
                  <a:srgbClr val="231F20"/>
                </a:solidFill>
                <a:latin typeface="Arial"/>
                <a:cs typeface="Arial"/>
              </a:rPr>
              <a:t>ESM-DS-02202-EN-04</a:t>
            </a:r>
            <a:r>
              <a:rPr sz="900" i="1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i="1" spc="-50">
                <a:solidFill>
                  <a:srgbClr val="231F20"/>
                </a:solidFill>
                <a:latin typeface="Arial"/>
                <a:cs typeface="Arial"/>
              </a:rPr>
              <a:t>November 2018</a:t>
            </a:r>
            <a:endParaRPr/>
          </a:p>
        </p:txBody>
      </p:sp>
      <p:graphicFrame>
        <p:nvGraphicFramePr>
          <p:cNvPr id="8" name="shape 8"/>
          <p:cNvGraphicFramePr>
            <a:graphicFrameLocks noGrp="1"/>
          </p:cNvGraphicFramePr>
          <p:nvPr/>
        </p:nvGraphicFramePr>
        <p:xfrm>
          <a:off x="458788" y="1243013"/>
          <a:ext cx="6626225" cy="5435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12365"/>
                <a:gridCol w="1014730"/>
                <a:gridCol w="1028700"/>
                <a:gridCol w="1005840"/>
                <a:gridCol w="1163955"/>
              </a:tblGrid>
              <a:tr h="304800">
                <a:tc>
                  <a:txBody>
                    <a:bodyPr/>
                    <a:p>
                      <a:pPr marL="50165" marR="1070610"/>
                      <a:r>
                        <a:rPr sz="800" b="1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U500w Ultrasonic Meter Size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170180" marR="170815"/>
                      <a:r>
                        <a:rPr sz="800" b="1" spc="-2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5/8 in. (16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224790" marR="224790" indent="28575" algn="just">
                        <a:lnSpc>
                          <a:spcPct val="104050"/>
                        </a:lnSpc>
                      </a:pPr>
                      <a:r>
                        <a:rPr sz="800" b="1" spc="-2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5/8 x 3/4 in. </a:t>
                      </a:r>
                      <a:r>
                        <a:rPr sz="800" b="1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(16 x 19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166370" marR="165735"/>
                      <a:r>
                        <a:rPr sz="800" b="1" spc="-2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3/4 in. (19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290195" marR="290195"/>
                      <a:r>
                        <a:rPr sz="800" b="1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 in. (25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  <a:tr h="304800">
                <a:tc>
                  <a:txBody>
                    <a:bodyPr/>
                    <a:p>
                      <a:pPr marL="50165" marR="1591310"/>
                      <a:r>
                        <a:rPr sz="800" b="1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Operating Range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218440" marR="218440" indent="12700" algn="just">
                        <a:lnSpc>
                          <a:spcPct val="103993"/>
                        </a:lnSpc>
                      </a:pPr>
                      <a:r>
                        <a:rPr sz="800" spc="-4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0.1…25 gpm </a:t>
                      </a:r>
                      <a:r>
                        <a:rPr sz="800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(0.4…95 lpm)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225425" marR="225425" indent="12700" algn="just">
                        <a:lnSpc>
                          <a:spcPct val="103993"/>
                        </a:lnSpc>
                      </a:pPr>
                      <a:r>
                        <a:rPr sz="800" spc="-4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0.1…25 gpm </a:t>
                      </a:r>
                      <a:r>
                        <a:rPr sz="800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(0.4…95 lpm)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187960" marR="187960" algn="ctr">
                        <a:lnSpc>
                          <a:spcPct val="103993"/>
                        </a:lnSpc>
                      </a:pPr>
                      <a:r>
                        <a:rPr sz="8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0.1…32 gpm </a:t>
                      </a:r>
                      <a:r>
                        <a:rPr sz="800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(0.4…121 lpm)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267335" marR="266700" algn="ctr">
                        <a:lnSpc>
                          <a:spcPct val="103993"/>
                        </a:lnSpc>
                      </a:pPr>
                      <a:r>
                        <a:rPr sz="8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0.4…55 gpm </a:t>
                      </a:r>
                      <a:r>
                        <a:rPr sz="800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(1.5…208 lpm)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  <a:tr h="304800">
                <a:tc>
                  <a:txBody>
                    <a:bodyPr/>
                    <a:p>
                      <a:pPr marL="50165" marR="1250315"/>
                      <a:r>
                        <a:rPr sz="800" b="1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Extended Low-Flow Rate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307975" marR="308610"/>
                      <a:r>
                        <a:rPr sz="800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0.05 gpm</a:t>
                      </a:r>
                      <a:endParaRPr/>
                    </a:p>
                    <a:p>
                      <a:pPr marL="321310" marR="321945"/>
                      <a:r>
                        <a:rPr sz="800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(0.2 lpm)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314960" marR="314960"/>
                      <a:r>
                        <a:rPr sz="800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0.05 gpm</a:t>
                      </a:r>
                      <a:endParaRPr/>
                    </a:p>
                    <a:p>
                      <a:pPr marL="328295" marR="328295"/>
                      <a:r>
                        <a:rPr sz="800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(0.2 lpm)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303530" marR="303530"/>
                      <a:r>
                        <a:rPr sz="800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0.05 gpm</a:t>
                      </a:r>
                      <a:endParaRPr/>
                    </a:p>
                    <a:p>
                      <a:pPr marL="316865" marR="316865"/>
                      <a:r>
                        <a:rPr sz="800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(0.2 lpm)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382905" marR="382905"/>
                      <a:r>
                        <a:rPr sz="800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0.25 gpm</a:t>
                      </a:r>
                      <a:endParaRPr/>
                    </a:p>
                    <a:p>
                      <a:pPr marL="407035" marR="406400"/>
                      <a:r>
                        <a:rPr sz="800" spc="-2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(95 lpm)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  <a:tr h="304800">
                <a:tc>
                  <a:txBody>
                    <a:bodyPr/>
                    <a:p>
                      <a:pPr marL="50165" marR="882650"/>
                      <a:r>
                        <a:rPr sz="800" b="1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Maximum Continuous Operation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344805" marR="344805"/>
                      <a:r>
                        <a:rPr sz="800" spc="-2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25 gpm</a:t>
                      </a:r>
                      <a:endParaRPr/>
                    </a:p>
                    <a:p>
                      <a:pPr marL="332105" marR="332105"/>
                      <a:r>
                        <a:rPr sz="800" spc="-2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(95 lpm)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351790" marR="351790"/>
                      <a:r>
                        <a:rPr sz="800" spc="-2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25 gpm</a:t>
                      </a:r>
                      <a:endParaRPr/>
                    </a:p>
                    <a:p>
                      <a:pPr marL="339090" marR="339090"/>
                      <a:r>
                        <a:rPr sz="800" spc="-2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(95 lpm)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340360" marR="340360"/>
                      <a:r>
                        <a:rPr sz="800" spc="-2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32 gpm</a:t>
                      </a:r>
                      <a:endParaRPr/>
                    </a:p>
                    <a:p>
                      <a:pPr marL="301625" marR="301625"/>
                      <a:r>
                        <a:rPr sz="800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(121 lpm)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419735" marR="419100"/>
                      <a:r>
                        <a:rPr sz="800" spc="-2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55 gpm</a:t>
                      </a:r>
                      <a:endParaRPr/>
                    </a:p>
                    <a:p>
                      <a:pPr marL="381000" marR="380365"/>
                      <a:r>
                        <a:rPr sz="800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(208 lpm)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  <a:tr h="304800">
                <a:tc>
                  <a:txBody>
                    <a:bodyPr/>
                    <a:p>
                      <a:pPr marL="50165" marR="1754505"/>
                      <a:r>
                        <a:rPr sz="800" b="1" spc="-6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Pressure Loss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129540" marR="129540" indent="18415" algn="just">
                        <a:lnSpc>
                          <a:spcPct val="103993"/>
                        </a:lnSpc>
                      </a:pPr>
                      <a:r>
                        <a:rPr sz="800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4.3 psi at 15 gpm </a:t>
                      </a:r>
                      <a:r>
                        <a:rPr sz="800" spc="-4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(0.3 bar @ 57 lpm)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136525" marR="136525" indent="18415" algn="just">
                        <a:lnSpc>
                          <a:spcPct val="103993"/>
                        </a:lnSpc>
                      </a:pPr>
                      <a:r>
                        <a:rPr sz="800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2.3 psi at 15 gpm </a:t>
                      </a:r>
                      <a:r>
                        <a:rPr sz="800" spc="-4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(1.6 bar @ 57 lpm)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99060" marR="99060" algn="ctr">
                        <a:lnSpc>
                          <a:spcPct val="103993"/>
                        </a:lnSpc>
                      </a:pPr>
                      <a:r>
                        <a:rPr sz="800" spc="-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2.0 psi at 15 gpm </a:t>
                      </a:r>
                      <a:r>
                        <a:rPr sz="800" spc="-4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(0.14 bar @ 57 lpm)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178435" marR="177800" algn="ctr">
                        <a:lnSpc>
                          <a:spcPct val="103993"/>
                        </a:lnSpc>
                      </a:pPr>
                      <a:r>
                        <a:rPr sz="800" spc="-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1.8 psi at 25 gpm </a:t>
                      </a:r>
                      <a:r>
                        <a:rPr sz="800" spc="-4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(0.12 bar @ 95 lpm)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  <a:tr h="304800">
                <a:tc>
                  <a:txBody>
                    <a:bodyPr/>
                    <a:p>
                      <a:pPr marL="50165" marR="1017270"/>
                      <a:r>
                        <a:rPr sz="800" b="1" spc="-4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Reverse Flow - Maximum Rate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334010" marR="334645"/>
                      <a:r>
                        <a:rPr sz="800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4.0 gpm</a:t>
                      </a:r>
                      <a:endParaRPr/>
                    </a:p>
                    <a:p>
                      <a:pPr marL="332105" marR="332105"/>
                      <a:r>
                        <a:rPr sz="800" spc="-2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(15 lpm)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340995" marR="340995"/>
                      <a:r>
                        <a:rPr sz="800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4.0 gpm</a:t>
                      </a:r>
                      <a:endParaRPr/>
                    </a:p>
                    <a:p>
                      <a:pPr marL="339090" marR="339090"/>
                      <a:r>
                        <a:rPr sz="800" spc="-2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(15 lpm)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329565" marR="329565"/>
                      <a:r>
                        <a:rPr sz="800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4.0 gpm</a:t>
                      </a:r>
                      <a:endParaRPr/>
                    </a:p>
                    <a:p>
                      <a:pPr marL="327660" marR="327660"/>
                      <a:r>
                        <a:rPr sz="800" spc="-2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(15 lpm)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408940" marR="408940"/>
                      <a:r>
                        <a:rPr sz="800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9.0 gpm</a:t>
                      </a:r>
                      <a:endParaRPr/>
                    </a:p>
                    <a:p>
                      <a:pPr marL="407035" marR="406400"/>
                      <a:r>
                        <a:rPr sz="800" spc="-2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(34 lpm)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  <a:tr h="558800">
                <a:tc>
                  <a:txBody>
                    <a:bodyPr/>
                    <a:p>
                      <a:pPr marL="50165" marR="1297305"/>
                      <a:r>
                        <a:rPr sz="800" b="1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Operating Performance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 gridSpan="4">
                  <a:txBody>
                    <a:bodyPr/>
                    <a:p>
                      <a:pPr marL="50165" marR="82550" algn="just">
                        <a:lnSpc>
                          <a:spcPct val="103993"/>
                        </a:lnSpc>
                      </a:pPr>
                      <a:r>
                        <a:rPr sz="800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In the normal temperature range of 45…85° F (7…29° C), new meter consumption measurement </a:t>
                      </a:r>
                      <a:r>
                        <a:rPr sz="8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is accurate to:</a:t>
                      </a:r>
                      <a:endParaRPr/>
                    </a:p>
                    <a:p>
                      <a:pPr marL="177800" marR="82550" indent="-101600" algn="just">
                        <a:buClr>
                          <a:srgbClr val="231F20"/>
                        </a:buClr>
                        <a:buSzPts val="800"/>
                        <a:buFont typeface="Arial"/>
                        <a:buChar char="•"/>
                      </a:pPr>
                      <a:r>
                        <a:rPr sz="8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±1.5% over the normal flow range</a:t>
                      </a:r>
                      <a:endParaRPr/>
                    </a:p>
                    <a:p>
                      <a:pPr marL="177800" marR="82550" indent="-101600" algn="just">
                        <a:buClr>
                          <a:srgbClr val="231F20"/>
                        </a:buClr>
                        <a:buSzPts val="800"/>
                        <a:buFont typeface="Arial"/>
                        <a:buChar char="•"/>
                      </a:pPr>
                      <a:r>
                        <a:rPr sz="8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±3.0% from the extended low flow range to the minimum flow value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77800">
                <a:tc>
                  <a:txBody>
                    <a:bodyPr/>
                    <a:p>
                      <a:pPr marL="50165" marR="1409700"/>
                      <a:r>
                        <a:rPr sz="800" b="1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Storage Temperature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 gridSpan="4">
                  <a:txBody>
                    <a:bodyPr/>
                    <a:p>
                      <a:pPr marL="123190" marR="3048635" indent="-72390">
                        <a:tabLst>
                          <a:tab pos="123190" algn="l"/>
                        </a:tabLst>
                      </a:pPr>
                      <a:r>
                        <a:rPr sz="8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–</a:t>
                      </a:r>
                      <a:r>
                        <a:rPr sz="8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800" spc="-5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40…140° F (– 40…60° C)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 marL="50165" marR="1120140" algn="just">
                        <a:lnSpc>
                          <a:spcPct val="104050"/>
                        </a:lnSpc>
                      </a:pPr>
                      <a:r>
                        <a:rPr sz="800" b="1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Maximum Ambient Storage </a:t>
                      </a:r>
                      <a:r>
                        <a:rPr sz="800" b="1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(Storage for One Hour)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 gridSpan="4">
                  <a:txBody>
                    <a:bodyPr/>
                    <a:p>
                      <a:pPr marL="50165" marR="3604895"/>
                      <a:r>
                        <a:rPr sz="800" spc="-6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150° F (72° C)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77800">
                <a:tc>
                  <a:txBody>
                    <a:bodyPr/>
                    <a:p>
                      <a:pPr marL="50165" marR="746760"/>
                      <a:r>
                        <a:rPr sz="800" b="1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Measured-Fluid Temperature Range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 gridSpan="4">
                  <a:txBody>
                    <a:bodyPr/>
                    <a:p>
                      <a:pPr marL="50165" marR="3213100"/>
                      <a:r>
                        <a:rPr sz="800" spc="-5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34…140° F (1°…60° C)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77800">
                <a:tc>
                  <a:txBody>
                    <a:bodyPr/>
                    <a:p>
                      <a:pPr marL="50165" marR="1938020"/>
                      <a:r>
                        <a:rPr sz="800" b="1" spc="-1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Humidity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 gridSpan="4">
                  <a:txBody>
                    <a:bodyPr/>
                    <a:p>
                      <a:pPr marL="50165" marR="546735"/>
                      <a:r>
                        <a:rPr sz="800" spc="-2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0…100% condensing; meter is capable of operating in fully submerged environments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 marL="50165" marR="901700" algn="just">
                        <a:lnSpc>
                          <a:spcPct val="104050"/>
                        </a:lnSpc>
                      </a:pPr>
                      <a:r>
                        <a:rPr sz="800" b="1" spc="-4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Maximum Operating Pressure of </a:t>
                      </a:r>
                      <a:r>
                        <a:rPr sz="800" b="1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Meter Housing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 gridSpan="4">
                  <a:txBody>
                    <a:bodyPr/>
                    <a:p>
                      <a:pPr marL="50165" marR="3517900"/>
                      <a:r>
                        <a:rPr sz="800" spc="-4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175 psi (12 bar)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77800">
                <a:tc>
                  <a:txBody>
                    <a:bodyPr/>
                    <a:p>
                      <a:pPr marL="50165" marR="1752600"/>
                      <a:r>
                        <a:rPr sz="800" b="1" spc="-4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Register Type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 gridSpan="4">
                  <a:txBody>
                    <a:bodyPr/>
                    <a:p>
                      <a:pPr marL="50165" marR="676275"/>
                      <a:r>
                        <a:rPr sz="800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Straight reading, permanently sealed electronic LCD; digits are 0.28 in. (7 mm) high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558800">
                <a:tc>
                  <a:txBody>
                    <a:bodyPr/>
                    <a:p>
                      <a:pPr marL="50165" marR="1629410"/>
                      <a:r>
                        <a:rPr sz="800" b="1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Register Display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 gridSpan="4">
                  <a:txBody>
                    <a:bodyPr/>
                    <a:p>
                      <a:pPr marL="190500" marR="777875" indent="-101600">
                        <a:buClr>
                          <a:srgbClr val="231F20"/>
                        </a:buClr>
                        <a:buSzPts val="800"/>
                        <a:buFont typeface="Arial"/>
                        <a:buChar char="•"/>
                      </a:pPr>
                      <a:r>
                        <a:rPr sz="8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Consumption (up to nine digits)</a:t>
                      </a:r>
                      <a:endParaRPr/>
                    </a:p>
                    <a:p>
                      <a:pPr marL="190500" marR="777875" indent="-101600">
                        <a:buClr>
                          <a:srgbClr val="231F20"/>
                        </a:buClr>
                        <a:buSzPts val="800"/>
                        <a:buFont typeface="Arial"/>
                        <a:buChar char="•"/>
                      </a:pPr>
                      <a:r>
                        <a:rPr sz="8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Rate of flow (US gallons per minute or cubic meters per hour)</a:t>
                      </a:r>
                      <a:endParaRPr/>
                    </a:p>
                    <a:p>
                      <a:pPr marL="190500" marR="777875" indent="-101600">
                        <a:spcBef>
                          <a:spcPts val="100"/>
                        </a:spcBef>
                        <a:buClr>
                          <a:srgbClr val="231F20"/>
                        </a:buClr>
                        <a:buSzPts val="800"/>
                        <a:buFont typeface="Arial"/>
                        <a:buChar char="•"/>
                      </a:pPr>
                      <a:r>
                        <a:rPr sz="8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Alarms</a:t>
                      </a:r>
                      <a:endParaRPr/>
                    </a:p>
                    <a:p>
                      <a:pPr marL="190500" marR="777875" indent="-101600">
                        <a:buClr>
                          <a:srgbClr val="231F20"/>
                        </a:buClr>
                        <a:buSzPts val="800"/>
                        <a:buFont typeface="Arial"/>
                        <a:buChar char="•"/>
                      </a:pPr>
                      <a:r>
                        <a:rPr sz="800" spc="-2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Unit of measure factory programmed for gallons, cubic feet and cubic meters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431800">
                <a:tc>
                  <a:txBody>
                    <a:bodyPr/>
                    <a:p>
                      <a:pPr marL="50165" marR="1574800"/>
                      <a:r>
                        <a:rPr sz="800" b="1" spc="-4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Register Capacity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 gridSpan="4">
                  <a:txBody>
                    <a:bodyPr/>
                    <a:p>
                      <a:pPr marL="190500" marR="3124200" indent="-101600">
                        <a:buClr>
                          <a:srgbClr val="231F20"/>
                        </a:buClr>
                        <a:buSzPts val="800"/>
                        <a:buFont typeface="Arial"/>
                        <a:buChar char="•"/>
                      </a:pPr>
                      <a:r>
                        <a:rPr sz="8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10,000,000 gallons</a:t>
                      </a:r>
                      <a:endParaRPr/>
                    </a:p>
                    <a:p>
                      <a:pPr marL="190500" marR="3124200" indent="-101600">
                        <a:buClr>
                          <a:srgbClr val="231F20"/>
                        </a:buClr>
                        <a:buSzPts val="800"/>
                        <a:buFont typeface="Arial"/>
                        <a:buChar char="•"/>
                      </a:pPr>
                      <a:r>
                        <a:rPr sz="800" spc="-1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1,000,000 cubic feet</a:t>
                      </a:r>
                      <a:endParaRPr/>
                    </a:p>
                    <a:p>
                      <a:pPr marL="190500" marR="3124200" indent="-101600">
                        <a:spcBef>
                          <a:spcPts val="100"/>
                        </a:spcBef>
                        <a:buClr>
                          <a:srgbClr val="231F20"/>
                        </a:buClr>
                        <a:buSzPts val="800"/>
                        <a:buFont typeface="Arial"/>
                        <a:buChar char="•"/>
                      </a:pPr>
                      <a:r>
                        <a:rPr sz="800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100,000 cubic meters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431800">
                <a:tc>
                  <a:txBody>
                    <a:bodyPr/>
                    <a:p>
                      <a:pPr marL="50165" marR="959485"/>
                      <a:r>
                        <a:rPr sz="800" b="1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Totalization Display Resolution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 gridSpan="4">
                  <a:txBody>
                    <a:bodyPr/>
                    <a:p>
                      <a:pPr marL="190500" marR="3124200" indent="-101600">
                        <a:buClr>
                          <a:srgbClr val="231F20"/>
                        </a:buClr>
                        <a:buSzPts val="800"/>
                        <a:buFont typeface="Arial"/>
                        <a:buChar char="•"/>
                      </a:pPr>
                      <a:r>
                        <a:rPr sz="8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Gallons: 0.XX</a:t>
                      </a:r>
                      <a:endParaRPr/>
                    </a:p>
                    <a:p>
                      <a:pPr marL="190500" marR="3124200" indent="-101600">
                        <a:buClr>
                          <a:srgbClr val="231F20"/>
                        </a:buClr>
                        <a:buSzPts val="800"/>
                        <a:buFont typeface="Arial"/>
                        <a:buChar char="•"/>
                      </a:pPr>
                      <a:r>
                        <a:rPr sz="8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Cubic feet: 0.XXX</a:t>
                      </a:r>
                      <a:endParaRPr/>
                    </a:p>
                    <a:p>
                      <a:pPr marL="190500" marR="3124200" indent="-101600">
                        <a:spcBef>
                          <a:spcPts val="100"/>
                        </a:spcBef>
                        <a:buClr>
                          <a:srgbClr val="231F20"/>
                        </a:buClr>
                        <a:buSzPts val="800"/>
                        <a:buFont typeface="Arial"/>
                        <a:buChar char="•"/>
                      </a:pPr>
                      <a:r>
                        <a:rPr sz="800" spc="-5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Cubic meters: 0.XXXX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 marL="50165" marR="2025650"/>
                      <a:r>
                        <a:rPr sz="800" b="1" spc="-2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Battery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 gridSpan="4">
                  <a:txBody>
                    <a:bodyPr/>
                    <a:p>
                      <a:pPr marL="50165" marR="259080" algn="just">
                        <a:lnSpc>
                          <a:spcPct val="103993"/>
                        </a:lnSpc>
                      </a:pPr>
                      <a:r>
                        <a:rPr sz="800" spc="-2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3.6-volt lithium thionyl chloride; battery is fully encapsulated within the register housing and </a:t>
                      </a:r>
                      <a:r>
                        <a:rPr sz="8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is not replaceable; 20-year battery life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shape 9"/>
          <p:cNvGraphicFramePr>
            <a:graphicFrameLocks noGrp="1"/>
          </p:cNvGraphicFramePr>
          <p:nvPr/>
        </p:nvGraphicFramePr>
        <p:xfrm>
          <a:off x="458788" y="7100888"/>
          <a:ext cx="6607937" cy="889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12365"/>
                <a:gridCol w="4195445"/>
              </a:tblGrid>
              <a:tr h="177800">
                <a:tc>
                  <a:txBody>
                    <a:bodyPr/>
                    <a:p>
                      <a:pPr marL="50165" marR="1693545"/>
                      <a:r>
                        <a:rPr sz="800" b="1" spc="-2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Meter Housing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50165" marR="3387725"/>
                      <a:r>
                        <a:rPr sz="800" spc="-4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316 stainless steel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  <a:tr h="177800">
                <a:tc>
                  <a:txBody>
                    <a:bodyPr/>
                    <a:p>
                      <a:pPr marL="50165" marR="1485265"/>
                      <a:r>
                        <a:rPr sz="800" b="1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Measuring Element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50165" marR="2077720"/>
                      <a:r>
                        <a:rPr sz="800" spc="-2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Pair of ultrasonic sensors located in the flow tube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  <a:tr h="177800">
                <a:tc>
                  <a:txBody>
                    <a:bodyPr/>
                    <a:p>
                      <a:pPr marL="50165" marR="1337945"/>
                      <a:r>
                        <a:rPr sz="800" b="1" spc="-4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Register Housing &amp; Lid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50165" marR="3283585"/>
                      <a:r>
                        <a:rPr sz="800" spc="-2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Engineered polymer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  <a:tr h="177800">
                <a:tc>
                  <a:txBody>
                    <a:bodyPr/>
                    <a:p>
                      <a:pPr marL="50165" marR="1660525"/>
                      <a:r>
                        <a:rPr sz="800" b="1" spc="-2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Metering Insert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50165" marR="2600325"/>
                      <a:r>
                        <a:rPr sz="800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Engineered polymer &amp; stainless steel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  <a:tr h="177800">
                <a:tc>
                  <a:txBody>
                    <a:bodyPr/>
                    <a:p>
                      <a:pPr marL="50165" marR="1815465"/>
                      <a:r>
                        <a:rPr sz="800" b="1" spc="-5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Transducers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50165" marR="1565275"/>
                      <a:r>
                        <a:rPr sz="800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Piezo-ceramic device with wetted surface of stainless CrNiMo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85800" y="662940"/>
            <a:ext cx="6629400" cy="12700"/>
          </a:xfrm>
          <a:custGeom>
            <a:pathLst>
              <a:path w="6629400" h="12700">
                <a:moveTo>
                  <a:pt x="0" y="6350"/>
                </a:moveTo>
                <a:lnTo>
                  <a:pt x="6629400" y="6350"/>
                </a:lnTo>
              </a:path>
            </a:pathLst>
          </a:custGeom>
          <a:ln w="12700" cap="flat">
            <a:solidFill>
              <a:srgbClr val="231F20"/>
            </a:solidFill>
            <a:prstDash val="solid"/>
            <a:miter lim="4"/>
          </a:ln>
        </p:spPr>
      </p:sp>
      <p:sp>
        <p:nvSpPr>
          <p:cNvPr id="3" name="shape 3"/>
          <p:cNvSpPr/>
          <p:nvPr/>
        </p:nvSpPr>
        <p:spPr>
          <a:xfrm>
            <a:off x="685800" y="9372600"/>
            <a:ext cx="6629400" cy="12700"/>
          </a:xfrm>
          <a:custGeom>
            <a:pathLst>
              <a:path w="6629400" h="12700">
                <a:moveTo>
                  <a:pt x="0" y="6350"/>
                </a:moveTo>
                <a:lnTo>
                  <a:pt x="6629400" y="6350"/>
                </a:lnTo>
              </a:path>
            </a:pathLst>
          </a:custGeom>
          <a:ln w="12700" cap="flat">
            <a:solidFill>
              <a:srgbClr val="231F20"/>
            </a:solidFill>
            <a:prstDash val="solid"/>
            <a:miter lim="4"/>
          </a:ln>
        </p:spPr>
      </p:sp>
      <p:pic>
        <p:nvPicPr>
          <p:cNvPr id="4" name="shap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8500" y="4330700"/>
            <a:ext cx="3149600" cy="2095500"/>
          </a:xfrm>
          <a:prstGeom prst="rect"/>
        </p:spPr>
      </p:pic>
      <p:pic>
        <p:nvPicPr>
          <p:cNvPr id="5" name="shap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16000" y="7162800"/>
            <a:ext cx="2705100" cy="1625600"/>
          </a:xfrm>
          <a:prstGeom prst="rect"/>
        </p:spPr>
      </p:pic>
      <p:sp>
        <p:nvSpPr>
          <p:cNvPr id="6" name="shape 6"/>
          <p:cNvSpPr txBox="1"/>
          <p:nvPr/>
        </p:nvSpPr>
        <p:spPr>
          <a:xfrm>
            <a:off x="3405505" y="428625"/>
            <a:ext cx="3923665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i="1" spc="-55">
                <a:solidFill>
                  <a:srgbClr val="231F20"/>
                </a:solidFill>
                <a:latin typeface="Arial"/>
                <a:cs typeface="Arial"/>
              </a:rPr>
              <a:t>U500w Ultrasonic Meter, Cold Water Stainless Steel Meter, 5/8, 5/8 x 3/4, 3/4 and 1 inch</a:t>
            </a:r>
            <a:endParaRPr/>
          </a:p>
        </p:txBody>
      </p:sp>
      <p:sp>
        <p:nvSpPr>
          <p:cNvPr id="7" name="shape 7"/>
          <p:cNvSpPr txBox="1"/>
          <p:nvPr/>
        </p:nvSpPr>
        <p:spPr>
          <a:xfrm>
            <a:off x="673100" y="879475"/>
            <a:ext cx="6654800" cy="16764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3970"/>
            <a:r>
              <a:rPr sz="1100" b="1" spc="20">
                <a:solidFill>
                  <a:srgbClr val="231F20"/>
                </a:solidFill>
                <a:latin typeface="Arial"/>
                <a:cs typeface="Arial"/>
              </a:rPr>
              <a:t>PHYSICAL DIMENSIONS</a:t>
            </a:r>
            <a:endParaRPr/>
          </a:p>
        </p:txBody>
      </p:sp>
      <p:sp>
        <p:nvSpPr>
          <p:cNvPr id="8" name="shape 8"/>
          <p:cNvSpPr txBox="1"/>
          <p:nvPr/>
        </p:nvSpPr>
        <p:spPr>
          <a:xfrm>
            <a:off x="673100" y="4052062"/>
            <a:ext cx="1577340" cy="1524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000" b="1" spc="-30">
                <a:solidFill>
                  <a:srgbClr val="231F20"/>
                </a:solidFill>
                <a:latin typeface="Arial"/>
                <a:cs typeface="Arial"/>
              </a:rPr>
              <a:t>Measurement Designations</a:t>
            </a:r>
            <a:endParaRPr/>
          </a:p>
        </p:txBody>
      </p:sp>
      <p:sp>
        <p:nvSpPr>
          <p:cNvPr id="9" name="shape 9"/>
          <p:cNvSpPr txBox="1"/>
          <p:nvPr/>
        </p:nvSpPr>
        <p:spPr>
          <a:xfrm>
            <a:off x="673100" y="5277896"/>
            <a:ext cx="1577340" cy="1524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450850"/>
            <a:r>
              <a:rPr sz="1000">
                <a:solidFill>
                  <a:srgbClr val="231F20"/>
                </a:solidFill>
                <a:latin typeface="Arial"/>
                <a:cs typeface="Arial"/>
              </a:rPr>
              <a:t>D</a:t>
            </a:r>
            <a:endParaRPr/>
          </a:p>
        </p:txBody>
      </p:sp>
      <p:sp>
        <p:nvSpPr>
          <p:cNvPr id="10" name="shape 10"/>
          <p:cNvSpPr txBox="1"/>
          <p:nvPr/>
        </p:nvSpPr>
        <p:spPr>
          <a:xfrm>
            <a:off x="3544570" y="5679633"/>
            <a:ext cx="236855" cy="1524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000" spc="-50">
                <a:solidFill>
                  <a:srgbClr val="231F20"/>
                </a:solidFill>
                <a:latin typeface="Arial"/>
                <a:cs typeface="Arial"/>
              </a:rPr>
              <a:t>B  </a:t>
            </a:r>
            <a:r>
              <a:rPr sz="1500" spc="-75" baseline="-27777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/>
          </a:p>
        </p:txBody>
      </p:sp>
      <p:sp>
        <p:nvSpPr>
          <p:cNvPr id="11" name="shape 11"/>
          <p:cNvSpPr txBox="1"/>
          <p:nvPr/>
        </p:nvSpPr>
        <p:spPr>
          <a:xfrm>
            <a:off x="2656205" y="6225652"/>
            <a:ext cx="102871" cy="1524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00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/>
          </a:p>
        </p:txBody>
      </p:sp>
      <p:sp>
        <p:nvSpPr>
          <p:cNvPr id="12" name="shape 12"/>
          <p:cNvSpPr txBox="1"/>
          <p:nvPr/>
        </p:nvSpPr>
        <p:spPr>
          <a:xfrm>
            <a:off x="673100" y="6591427"/>
            <a:ext cx="1955800" cy="3429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3970"/>
            <a:r>
              <a:rPr sz="1100" b="1" spc="20">
                <a:solidFill>
                  <a:srgbClr val="231F20"/>
                </a:solidFill>
                <a:latin typeface="Arial"/>
                <a:cs typeface="Arial"/>
              </a:rPr>
              <a:t>PRESSURE LOSS CHART</a:t>
            </a:r>
            <a:endParaRPr/>
          </a:p>
          <a:p>
            <a:pPr marL="12700">
              <a:spcBef>
                <a:spcPts val="300"/>
              </a:spcBef>
            </a:pPr>
            <a:r>
              <a:rPr sz="900" spc="-25">
                <a:solidFill>
                  <a:srgbClr val="231F20"/>
                </a:solidFill>
                <a:latin typeface="Arial"/>
                <a:cs typeface="Arial"/>
              </a:rPr>
              <a:t>Rate of Flow in gallons per minute (gpm)</a:t>
            </a:r>
            <a:endParaRPr/>
          </a:p>
        </p:txBody>
      </p:sp>
      <p:sp>
        <p:nvSpPr>
          <p:cNvPr id="13" name="shape 13"/>
          <p:cNvSpPr txBox="1"/>
          <p:nvPr/>
        </p:nvSpPr>
        <p:spPr>
          <a:xfrm>
            <a:off x="673100" y="9486900"/>
            <a:ext cx="6655435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2835275" algn="l"/>
                <a:tab pos="6337935" algn="l"/>
              </a:tabLst>
            </a:pPr>
            <a:r>
              <a:rPr sz="900" i="1">
                <a:solidFill>
                  <a:srgbClr val="231F20"/>
                </a:solidFill>
                <a:latin typeface="Arial"/>
                <a:cs typeface="Arial"/>
              </a:rPr>
              <a:t>November 2018</a:t>
            </a:r>
            <a:r>
              <a:rPr sz="900" i="1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i="1">
                <a:solidFill>
                  <a:srgbClr val="231F20"/>
                </a:solidFill>
                <a:latin typeface="Arial"/>
                <a:cs typeface="Arial"/>
              </a:rPr>
              <a:t>ESM-DS-02202-EN-04</a:t>
            </a:r>
            <a:r>
              <a:rPr sz="900" i="1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i="1" spc="-65">
                <a:solidFill>
                  <a:srgbClr val="231F20"/>
                </a:solidFill>
                <a:latin typeface="Arial"/>
                <a:cs typeface="Arial"/>
              </a:rPr>
              <a:t>Page 3</a:t>
            </a:r>
            <a:endParaRPr/>
          </a:p>
        </p:txBody>
      </p:sp>
      <p:graphicFrame>
        <p:nvGraphicFramePr>
          <p:cNvPr id="14" name="shape 14"/>
          <p:cNvGraphicFramePr>
            <a:graphicFrameLocks noGrp="1"/>
          </p:cNvGraphicFramePr>
          <p:nvPr/>
        </p:nvGraphicFramePr>
        <p:xfrm>
          <a:off x="687388" y="1185863"/>
          <a:ext cx="6626225" cy="27757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12365"/>
                <a:gridCol w="1053465"/>
                <a:gridCol w="995045"/>
                <a:gridCol w="1134110"/>
                <a:gridCol w="1031875"/>
              </a:tblGrid>
              <a:tr h="304800">
                <a:tc>
                  <a:txBody>
                    <a:bodyPr/>
                    <a:p>
                      <a:pPr marL="26670" marR="1094105"/>
                      <a:r>
                        <a:rPr sz="800" b="1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U500w Ultrasonic Meter Size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189865" marR="189865" algn="ctr"/>
                      <a:r>
                        <a:rPr sz="800" b="1" spc="-2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5/8 in. (16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207645" marR="208280" indent="28575" algn="just">
                        <a:lnSpc>
                          <a:spcPct val="104050"/>
                        </a:lnSpc>
                      </a:pPr>
                      <a:r>
                        <a:rPr sz="800" b="1" spc="-2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5/8 x 3/4 in. </a:t>
                      </a:r>
                      <a:r>
                        <a:rPr sz="800" b="1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(16 x 19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229870" marR="230505" algn="ctr"/>
                      <a:r>
                        <a:rPr sz="800" b="1" spc="-2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3/4 in. (19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223520" marR="224790" algn="ctr"/>
                      <a:r>
                        <a:rPr sz="800" b="1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 in. (25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  <a:tr h="511810">
                <a:tc>
                  <a:txBody>
                    <a:bodyPr/>
                    <a:p>
                      <a:pPr marL="26670" marR="1027430"/>
                      <a:r>
                        <a:rPr sz="800" b="1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Size Designation X Lay Length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219710" marR="220345" indent="12700" algn="just">
                        <a:lnSpc>
                          <a:spcPct val="103993"/>
                        </a:lnSpc>
                      </a:pPr>
                      <a:r>
                        <a:rPr sz="800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5/8 × 7-1/2 in. </a:t>
                      </a:r>
                      <a:r>
                        <a:rPr sz="800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(16 × 191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67310" marR="67945" indent="13970" algn="just">
                        <a:lnSpc>
                          <a:spcPct val="103993"/>
                        </a:lnSpc>
                      </a:pPr>
                      <a:r>
                        <a:rPr sz="800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5/8 × 3/4 × 7-1/2 in. </a:t>
                      </a:r>
                      <a:r>
                        <a:rPr sz="800" spc="-4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(16 x 19 × 1901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220980" marR="222885" algn="ctr">
                        <a:lnSpc>
                          <a:spcPct val="103993"/>
                        </a:lnSpc>
                      </a:pPr>
                      <a:r>
                        <a:rPr sz="800" spc="-4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3/4 × 7-1/2 in. or </a:t>
                      </a:r>
                      <a:r>
                        <a:rPr sz="800" spc="-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3/4 × 9 in.</a:t>
                      </a:r>
                      <a:endParaRPr/>
                    </a:p>
                    <a:p>
                      <a:pPr marL="222250" marR="224155" algn="ctr">
                        <a:lnSpc>
                          <a:spcPct val="103993"/>
                        </a:lnSpc>
                      </a:pPr>
                      <a:r>
                        <a:rPr sz="800" spc="-5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(19 × 191 mm or </a:t>
                      </a:r>
                      <a:r>
                        <a:rPr sz="800" spc="-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19 × 229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208280" marR="210185" indent="36830" algn="just">
                        <a:lnSpc>
                          <a:spcPct val="103993"/>
                        </a:lnSpc>
                      </a:pPr>
                      <a:r>
                        <a:rPr sz="800" spc="-2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 x 10-3/4 in. </a:t>
                      </a:r>
                      <a:r>
                        <a:rPr sz="800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(25 × 273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  <a:tr h="511810">
                <a:tc>
                  <a:txBody>
                    <a:bodyPr/>
                    <a:p>
                      <a:pPr marL="26670" marR="699770"/>
                      <a:r>
                        <a:rPr sz="800" b="1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Weight (without AquaCUE connector)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283210" marR="283845" algn="ctr"/>
                      <a:r>
                        <a:rPr sz="800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2.2 lb (1 kg)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191135" marR="191770" algn="ctr"/>
                      <a:r>
                        <a:rPr sz="800" spc="-4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2.1 lb (0.95 kg)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137160" marR="137795" algn="ctr"/>
                      <a:r>
                        <a:rPr sz="800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3/4 × 7-1/2 in.: 2.1 lb</a:t>
                      </a:r>
                      <a:endParaRPr/>
                    </a:p>
                    <a:p>
                      <a:pPr marL="221615" marR="222885" algn="ctr"/>
                      <a:r>
                        <a:rPr sz="800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3/4 × 9 in.: 2.4 lb</a:t>
                      </a:r>
                      <a:endParaRPr/>
                    </a:p>
                    <a:p>
                      <a:pPr marL="38100" marR="39370" algn="ctr">
                        <a:lnSpc>
                          <a:spcPct val="103951"/>
                        </a:lnSpc>
                        <a:spcBef>
                          <a:spcPts val="100"/>
                        </a:spcBef>
                      </a:pPr>
                      <a:r>
                        <a:rPr sz="800" spc="-4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(20 × 190 mm.: 0.95 kg or </a:t>
                      </a:r>
                      <a:r>
                        <a:rPr sz="800" spc="-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20 × 229 mm: 1.08 kg))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234950" marR="236855" algn="ctr"/>
                      <a:r>
                        <a:rPr sz="800" spc="-4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3.1 lb (1.4 kg)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  <a:tr h="130810">
                <a:tc gridSpan="5">
                  <a:txBody>
                    <a:bodyPr/>
                    <a:p>
                      <a:pPr marL="26670" marR="4346575"/>
                      <a:r>
                        <a:rPr sz="800" spc="-2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See illustration below for Measurement Designations.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257809">
                <a:tc>
                  <a:txBody>
                    <a:bodyPr/>
                    <a:p>
                      <a:pPr marL="26670" marR="1917065"/>
                      <a:r>
                        <a:rPr sz="800" b="1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Length (A)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199390" marR="200025" algn="ctr"/>
                      <a:r>
                        <a:rPr sz="800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7.5 in.(190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170180" marR="170815" algn="ctr"/>
                      <a:r>
                        <a:rPr sz="800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7.5 in.(190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226060" marR="227330" algn="ctr"/>
                      <a:r>
                        <a:rPr sz="800" spc="-4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7.5 in. or 8.98 in.</a:t>
                      </a:r>
                      <a:endParaRPr/>
                    </a:p>
                    <a:p>
                      <a:pPr marL="123825" marR="125095" algn="ctr"/>
                      <a:r>
                        <a:rPr sz="800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(190 mm or 228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99060" marR="100965" algn="ctr"/>
                      <a:r>
                        <a:rPr sz="800" spc="-4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10.745 in. (273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  <a:tr h="130810">
                <a:tc>
                  <a:txBody>
                    <a:bodyPr/>
                    <a:p>
                      <a:pPr marL="26670" marR="1911985"/>
                      <a:r>
                        <a:rPr sz="800" b="1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Height (B 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162560" marR="163195" algn="ctr"/>
                      <a:r>
                        <a:rPr sz="800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2.404 in. (61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133350" marR="133985" algn="ctr"/>
                      <a:r>
                        <a:rPr sz="800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2.404 in. (61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202565" marR="203835" algn="ctr"/>
                      <a:r>
                        <a:rPr sz="800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2.404 in. (61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151130" marR="153035" algn="ctr"/>
                      <a:r>
                        <a:rPr sz="800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2.529 in. (64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  <a:tr h="130810">
                <a:tc>
                  <a:txBody>
                    <a:bodyPr/>
                    <a:p>
                      <a:pPr marL="26670" marR="1934845"/>
                      <a:r>
                        <a:rPr sz="800" b="1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Height (C)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162560" marR="163195" algn="ctr"/>
                      <a:r>
                        <a:rPr sz="800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3.014 in. (76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133350" marR="133985" algn="ctr"/>
                      <a:r>
                        <a:rPr sz="800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3.014 in. (76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202565" marR="203835" algn="ctr"/>
                      <a:r>
                        <a:rPr sz="800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3.094 in. (79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151130" marR="153035" algn="ctr"/>
                      <a:r>
                        <a:rPr sz="800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3.359 in. (85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  <a:tr h="130810">
                <a:tc>
                  <a:txBody>
                    <a:bodyPr/>
                    <a:p>
                      <a:pPr marL="26670" marR="1958975"/>
                      <a:r>
                        <a:rPr sz="800" b="1" spc="-2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Width (D)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162560" marR="163195" algn="ctr"/>
                      <a:r>
                        <a:rPr sz="800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3.898 in. (99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133350" marR="133985" algn="ctr"/>
                      <a:r>
                        <a:rPr sz="800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3.898 in. (99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202565" marR="203835" algn="ctr"/>
                      <a:r>
                        <a:rPr sz="800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3.898 in. (99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151130" marR="153035" algn="ctr"/>
                      <a:r>
                        <a:rPr sz="800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3.898 in. (99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  <a:tr h="177800">
                <a:tc>
                  <a:txBody>
                    <a:bodyPr/>
                    <a:p>
                      <a:pPr marL="26670" marR="1969135"/>
                      <a:r>
                        <a:rPr sz="800" b="1" spc="-4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Bore Size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208280" marR="208280" algn="ctr"/>
                      <a:r>
                        <a:rPr sz="800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5/8 in. (16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178435" marR="179705" algn="ctr"/>
                      <a:r>
                        <a:rPr sz="800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3/4 in. (19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247650" marR="248920" algn="ctr"/>
                      <a:r>
                        <a:rPr sz="800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3/4 in. (19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240030" marR="241935" algn="ctr"/>
                      <a:r>
                        <a:rPr sz="800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 in. (25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  <a:tr h="130810">
                <a:tc>
                  <a:txBody>
                    <a:bodyPr/>
                    <a:p>
                      <a:pPr marL="26670" marR="1104265"/>
                      <a:r>
                        <a:rPr sz="800" b="1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Coupling Nut &amp; Spud Thread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154305" marR="154940" algn="ctr"/>
                      <a:r>
                        <a:rPr sz="800" spc="-4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3/4 in. × 14 NPSM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83185" marR="83820" algn="ctr"/>
                      <a:r>
                        <a:rPr sz="800" spc="-4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 in. × 11-1/2 NPSM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152400" marR="153670" algn="ctr"/>
                      <a:r>
                        <a:rPr sz="800" spc="-4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 in. × 11-1/2 NPSM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26670" marR="29210" algn="ctr"/>
                      <a:r>
                        <a:rPr sz="800" spc="-4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1-1/4 in. × 11-1/2 NPSM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  <a:tr h="177800">
                <a:tc>
                  <a:txBody>
                    <a:bodyPr/>
                    <a:p>
                      <a:pPr marL="26670" marR="1156335"/>
                      <a:r>
                        <a:rPr sz="800" b="1" spc="-4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Tailpiece Pipe Thread (NPT)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208280" marR="208280" algn="ctr"/>
                      <a:r>
                        <a:rPr sz="800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1/2 in. (13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178435" marR="179705" algn="ctr"/>
                      <a:r>
                        <a:rPr sz="800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3/4 in. (19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247650" marR="248920" algn="ctr"/>
                      <a:r>
                        <a:rPr sz="800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3/4 in. (19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240030" marR="241935" algn="ctr"/>
                      <a:r>
                        <a:rPr sz="800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 in. (25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  <a:tr h="177800">
                <a:tc>
                  <a:txBody>
                    <a:bodyPr/>
                    <a:p>
                      <a:pPr marL="26670" marR="1225550"/>
                      <a:r>
                        <a:rPr sz="800" b="1" spc="-4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Service Pipe Thread (NPT)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208280" marR="208280" algn="ctr"/>
                      <a:r>
                        <a:rPr sz="800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1/2 in. (13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178435" marR="179705" algn="ctr"/>
                      <a:r>
                        <a:rPr sz="800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3/4 in. (19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247650" marR="248920" algn="ctr"/>
                      <a:r>
                        <a:rPr sz="800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3/4 in. (19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 marL="240030" marR="241935" algn="ctr"/>
                      <a:r>
                        <a:rPr sz="800" spc="-3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 in. (25 mm)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</a:tbl>
          </a:graphicData>
        </a:graphic>
      </p:graphicFrame>
      <p:grpSp>
        <p:nvGrpSpPr>
          <p:cNvPr id="15" name="shape 15"/>
          <p:cNvGrpSpPr/>
          <p:nvPr/>
        </p:nvGrpSpPr>
        <p:grpSpPr>
          <a:xfrm>
            <a:off x="698501" y="7016877"/>
            <a:ext cx="3143250" cy="2104898"/>
            <a:chOff x="0" y="0"/>
            <a:chExt cx="3143250" cy="2104898"/>
          </a:xfrm>
        </p:grpSpPr>
        <p:sp>
          <p:nvSpPr>
            <p:cNvPr id="16" name="shape 16"/>
            <p:cNvSpPr txBox="1"/>
            <p:nvPr/>
          </p:nvSpPr>
          <p:spPr>
            <a:xfrm>
              <a:off x="224789" y="747601"/>
              <a:ext cx="108586" cy="9906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50">
                  <a:latin typeface="Calibri"/>
                  <a:cs typeface="Calibri"/>
                </a:rPr>
                <a:t>8</a:t>
              </a:r>
              <a:endParaRPr/>
            </a:p>
          </p:txBody>
        </p:sp>
        <p:sp>
          <p:nvSpPr>
            <p:cNvPr id="17" name="shape 17"/>
            <p:cNvSpPr txBox="1"/>
            <p:nvPr/>
          </p:nvSpPr>
          <p:spPr>
            <a:xfrm>
              <a:off x="224789" y="1676826"/>
              <a:ext cx="108586" cy="9906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50">
                  <a:latin typeface="Calibri"/>
                  <a:cs typeface="Calibri"/>
                </a:rPr>
                <a:t>0</a:t>
              </a:r>
              <a:endParaRPr/>
            </a:p>
          </p:txBody>
        </p:sp>
        <p:sp>
          <p:nvSpPr>
            <p:cNvPr id="18" name="shape 18"/>
            <p:cNvSpPr txBox="1"/>
            <p:nvPr/>
          </p:nvSpPr>
          <p:spPr>
            <a:xfrm>
              <a:off x="224789" y="1560748"/>
              <a:ext cx="108586" cy="9906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50">
                  <a:latin typeface="Calibri"/>
                  <a:cs typeface="Calibri"/>
                </a:rPr>
                <a:t>1</a:t>
              </a:r>
              <a:endParaRPr/>
            </a:p>
          </p:txBody>
        </p:sp>
        <p:sp>
          <p:nvSpPr>
            <p:cNvPr id="19" name="shape 19"/>
            <p:cNvSpPr txBox="1"/>
            <p:nvPr/>
          </p:nvSpPr>
          <p:spPr>
            <a:xfrm>
              <a:off x="224789" y="1444670"/>
              <a:ext cx="108586" cy="9906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50">
                  <a:latin typeface="Calibri"/>
                  <a:cs typeface="Calibri"/>
                </a:rPr>
                <a:t>2</a:t>
              </a:r>
              <a:endParaRPr/>
            </a:p>
          </p:txBody>
        </p:sp>
        <p:sp>
          <p:nvSpPr>
            <p:cNvPr id="20" name="shape 20"/>
            <p:cNvSpPr txBox="1"/>
            <p:nvPr/>
          </p:nvSpPr>
          <p:spPr>
            <a:xfrm>
              <a:off x="224789" y="1328593"/>
              <a:ext cx="108586" cy="9906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50">
                  <a:latin typeface="Calibri"/>
                  <a:cs typeface="Calibri"/>
                </a:rPr>
                <a:t>3</a:t>
              </a:r>
              <a:endParaRPr/>
            </a:p>
          </p:txBody>
        </p:sp>
        <p:sp>
          <p:nvSpPr>
            <p:cNvPr id="21" name="shape 21"/>
            <p:cNvSpPr txBox="1"/>
            <p:nvPr/>
          </p:nvSpPr>
          <p:spPr>
            <a:xfrm>
              <a:off x="224789" y="1212515"/>
              <a:ext cx="108586" cy="9906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50">
                  <a:latin typeface="Calibri"/>
                  <a:cs typeface="Calibri"/>
                </a:rPr>
                <a:t>4</a:t>
              </a:r>
              <a:endParaRPr/>
            </a:p>
          </p:txBody>
        </p:sp>
        <p:sp>
          <p:nvSpPr>
            <p:cNvPr id="22" name="shape 22"/>
            <p:cNvSpPr txBox="1"/>
            <p:nvPr/>
          </p:nvSpPr>
          <p:spPr>
            <a:xfrm>
              <a:off x="224789" y="1095865"/>
              <a:ext cx="108586" cy="9906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50">
                  <a:latin typeface="Calibri"/>
                  <a:cs typeface="Calibri"/>
                </a:rPr>
                <a:t>5</a:t>
              </a:r>
              <a:endParaRPr/>
            </a:p>
          </p:txBody>
        </p:sp>
        <p:sp>
          <p:nvSpPr>
            <p:cNvPr id="23" name="shape 23"/>
            <p:cNvSpPr txBox="1"/>
            <p:nvPr/>
          </p:nvSpPr>
          <p:spPr>
            <a:xfrm>
              <a:off x="224789" y="979788"/>
              <a:ext cx="108586" cy="9906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50">
                  <a:latin typeface="Calibri"/>
                  <a:cs typeface="Calibri"/>
                </a:rPr>
                <a:t>6</a:t>
              </a:r>
              <a:endParaRPr/>
            </a:p>
          </p:txBody>
        </p:sp>
        <p:sp>
          <p:nvSpPr>
            <p:cNvPr id="24" name="shape 24"/>
            <p:cNvSpPr txBox="1"/>
            <p:nvPr/>
          </p:nvSpPr>
          <p:spPr>
            <a:xfrm>
              <a:off x="224789" y="863710"/>
              <a:ext cx="108586" cy="9906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50">
                  <a:latin typeface="Calibri"/>
                  <a:cs typeface="Calibri"/>
                </a:rPr>
                <a:t>7</a:t>
              </a:r>
              <a:endParaRPr/>
            </a:p>
          </p:txBody>
        </p:sp>
        <p:sp>
          <p:nvSpPr>
            <p:cNvPr id="25" name="shape 25"/>
            <p:cNvSpPr txBox="1"/>
            <p:nvPr/>
          </p:nvSpPr>
          <p:spPr>
            <a:xfrm>
              <a:off x="224789" y="635969"/>
              <a:ext cx="108586" cy="9906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50">
                  <a:latin typeface="Calibri"/>
                  <a:cs typeface="Calibri"/>
                </a:rPr>
                <a:t>9</a:t>
              </a:r>
              <a:endParaRPr/>
            </a:p>
          </p:txBody>
        </p:sp>
        <p:sp>
          <p:nvSpPr>
            <p:cNvPr id="26" name="shape 26"/>
            <p:cNvSpPr txBox="1"/>
            <p:nvPr/>
          </p:nvSpPr>
          <p:spPr>
            <a:xfrm>
              <a:off x="224789" y="518910"/>
              <a:ext cx="108586" cy="9906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50">
                  <a:latin typeface="Calibri"/>
                  <a:cs typeface="Calibri"/>
                </a:rPr>
                <a:t>10</a:t>
              </a:r>
              <a:endParaRPr/>
            </a:p>
          </p:txBody>
        </p:sp>
        <p:sp>
          <p:nvSpPr>
            <p:cNvPr id="27" name="shape 27"/>
            <p:cNvSpPr txBox="1"/>
            <p:nvPr/>
          </p:nvSpPr>
          <p:spPr>
            <a:xfrm>
              <a:off x="224789" y="404549"/>
              <a:ext cx="108586" cy="9906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50">
                  <a:latin typeface="Calibri"/>
                  <a:cs typeface="Calibri"/>
                </a:rPr>
                <a:t>11</a:t>
              </a:r>
              <a:endParaRPr/>
            </a:p>
          </p:txBody>
        </p:sp>
        <p:sp>
          <p:nvSpPr>
            <p:cNvPr id="28" name="shape 28"/>
            <p:cNvSpPr txBox="1"/>
            <p:nvPr/>
          </p:nvSpPr>
          <p:spPr>
            <a:xfrm>
              <a:off x="224789" y="292886"/>
              <a:ext cx="108586" cy="9906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50">
                  <a:latin typeface="Calibri"/>
                  <a:cs typeface="Calibri"/>
                </a:rPr>
                <a:t>12</a:t>
              </a:r>
              <a:endParaRPr/>
            </a:p>
          </p:txBody>
        </p:sp>
        <p:sp>
          <p:nvSpPr>
            <p:cNvPr id="29" name="shape 29"/>
            <p:cNvSpPr txBox="1"/>
            <p:nvPr/>
          </p:nvSpPr>
          <p:spPr>
            <a:xfrm>
              <a:off x="224789" y="175827"/>
              <a:ext cx="108586" cy="9906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50">
                  <a:latin typeface="Calibri"/>
                  <a:cs typeface="Calibri"/>
                </a:rPr>
                <a:t>13</a:t>
              </a:r>
              <a:endParaRPr/>
            </a:p>
          </p:txBody>
        </p:sp>
        <p:sp>
          <p:nvSpPr>
            <p:cNvPr id="30" name="shape 30"/>
            <p:cNvSpPr txBox="1"/>
            <p:nvPr/>
          </p:nvSpPr>
          <p:spPr>
            <a:xfrm>
              <a:off x="321944" y="1807863"/>
              <a:ext cx="67311" cy="9906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50">
                  <a:latin typeface="Calibri"/>
                  <a:cs typeface="Calibri"/>
                </a:rPr>
                <a:t>0</a:t>
              </a:r>
              <a:endParaRPr/>
            </a:p>
          </p:txBody>
        </p:sp>
        <p:sp>
          <p:nvSpPr>
            <p:cNvPr id="31" name="shape 31"/>
            <p:cNvSpPr txBox="1"/>
            <p:nvPr/>
          </p:nvSpPr>
          <p:spPr>
            <a:xfrm>
              <a:off x="744854" y="1807863"/>
              <a:ext cx="108585" cy="9906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50">
                  <a:latin typeface="Calibri"/>
                  <a:cs typeface="Calibri"/>
                </a:rPr>
                <a:t>10</a:t>
              </a:r>
              <a:endParaRPr/>
            </a:p>
          </p:txBody>
        </p:sp>
        <p:sp>
          <p:nvSpPr>
            <p:cNvPr id="32" name="shape 32"/>
            <p:cNvSpPr txBox="1"/>
            <p:nvPr/>
          </p:nvSpPr>
          <p:spPr>
            <a:xfrm>
              <a:off x="1188719" y="1807863"/>
              <a:ext cx="108585" cy="9906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50">
                  <a:latin typeface="Calibri"/>
                  <a:cs typeface="Calibri"/>
                </a:rPr>
                <a:t>20</a:t>
              </a:r>
              <a:endParaRPr/>
            </a:p>
          </p:txBody>
        </p:sp>
        <p:sp>
          <p:nvSpPr>
            <p:cNvPr id="33" name="shape 33"/>
            <p:cNvSpPr txBox="1"/>
            <p:nvPr/>
          </p:nvSpPr>
          <p:spPr>
            <a:xfrm>
              <a:off x="2075814" y="1807863"/>
              <a:ext cx="109221" cy="9906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50">
                  <a:latin typeface="Calibri"/>
                  <a:cs typeface="Calibri"/>
                </a:rPr>
                <a:t>40</a:t>
              </a:r>
              <a:endParaRPr/>
            </a:p>
          </p:txBody>
        </p:sp>
        <p:sp>
          <p:nvSpPr>
            <p:cNvPr id="34" name="shape 34"/>
            <p:cNvSpPr txBox="1"/>
            <p:nvPr/>
          </p:nvSpPr>
          <p:spPr>
            <a:xfrm>
              <a:off x="2519679" y="1807863"/>
              <a:ext cx="108586" cy="9906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50">
                  <a:latin typeface="Calibri"/>
                  <a:cs typeface="Calibri"/>
                </a:rPr>
                <a:t>50</a:t>
              </a:r>
              <a:endParaRPr/>
            </a:p>
          </p:txBody>
        </p:sp>
        <p:sp>
          <p:nvSpPr>
            <p:cNvPr id="35" name="shape 35"/>
            <p:cNvSpPr txBox="1"/>
            <p:nvPr/>
          </p:nvSpPr>
          <p:spPr>
            <a:xfrm>
              <a:off x="2962909" y="1807863"/>
              <a:ext cx="109221" cy="9906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50">
                  <a:latin typeface="Calibri"/>
                  <a:cs typeface="Calibri"/>
                </a:rPr>
                <a:t>60</a:t>
              </a:r>
              <a:endParaRPr/>
            </a:p>
          </p:txBody>
        </p:sp>
        <p:sp>
          <p:nvSpPr>
            <p:cNvPr id="36" name="shape 36"/>
            <p:cNvSpPr txBox="1"/>
            <p:nvPr/>
          </p:nvSpPr>
          <p:spPr>
            <a:xfrm>
              <a:off x="80161" y="610074"/>
              <a:ext cx="107315" cy="711835"/>
            </a:xfrm>
            <a:prstGeom prst="rect"/>
            <a:noFill/>
          </p:spPr>
          <p:txBody>
            <a:bodyPr vert="vert270" vertOverflow="overflow" horzOverflow="overflow" numCol="1" wrap="square" lIns="0" tIns="0" rIns="0" bIns="0">
              <a:spAutoFit/>
            </a:bodyPr>
            <a:p>
              <a:pPr marL="12700">
                <a:lnSpc>
                  <a:spcPts val="730"/>
                </a:lnSpc>
              </a:pPr>
              <a:r>
                <a:rPr sz="650" b="1">
                  <a:latin typeface="Calibri"/>
                  <a:cs typeface="Calibri"/>
                </a:rPr>
                <a:t>Pressure Drop in PSI</a:t>
              </a:r>
              <a:endParaRPr/>
            </a:p>
          </p:txBody>
        </p:sp>
        <p:sp>
          <p:nvSpPr>
            <p:cNvPr id="37" name="shape 37"/>
            <p:cNvSpPr txBox="1"/>
            <p:nvPr/>
          </p:nvSpPr>
          <p:spPr>
            <a:xfrm>
              <a:off x="1370329" y="1807863"/>
              <a:ext cx="614681" cy="26162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7780" algn="ctr"/>
              <a:r>
                <a:rPr sz="650">
                  <a:latin typeface="Calibri"/>
                  <a:cs typeface="Calibri"/>
                </a:rPr>
                <a:t>30</a:t>
              </a:r>
              <a:endParaRPr/>
            </a:p>
            <a:p>
              <a:pPr algn="ctr">
                <a:spcBef>
                  <a:spcPts val="500"/>
                </a:spcBef>
              </a:pPr>
              <a:r>
                <a:rPr sz="650" b="1">
                  <a:latin typeface="Calibri"/>
                  <a:cs typeface="Calibri"/>
                </a:rPr>
                <a:t>Flow Rate in </a:t>
              </a:r>
              <a:r>
                <a:rPr sz="650" b="1" spc="5">
                  <a:latin typeface="Calibri"/>
                  <a:cs typeface="Calibri"/>
                </a:rPr>
                <a:t>gpm</a:t>
              </a:r>
              <a:endParaRPr/>
            </a:p>
          </p:txBody>
        </p:sp>
        <p:sp>
          <p:nvSpPr>
            <p:cNvPr id="38" name="shape 38"/>
            <p:cNvSpPr txBox="1"/>
            <p:nvPr/>
          </p:nvSpPr>
          <p:spPr>
            <a:xfrm>
              <a:off x="2799714" y="831301"/>
              <a:ext cx="171450" cy="91441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00" b="1">
                  <a:solidFill>
                    <a:srgbClr val="FFFFFF"/>
                  </a:solidFill>
                  <a:latin typeface="Arial"/>
                  <a:cs typeface="Arial"/>
                </a:rPr>
                <a:t>1 in.</a:t>
              </a:r>
              <a:endParaRPr/>
            </a:p>
          </p:txBody>
        </p:sp>
        <p:sp>
          <p:nvSpPr>
            <p:cNvPr id="39" name="shape 39"/>
            <p:cNvSpPr txBox="1"/>
            <p:nvPr/>
          </p:nvSpPr>
          <p:spPr>
            <a:xfrm>
              <a:off x="1844039" y="352461"/>
              <a:ext cx="240031" cy="91441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00" b="1">
                  <a:solidFill>
                    <a:srgbClr val="FFFFFF"/>
                  </a:solidFill>
                  <a:latin typeface="Arial"/>
                  <a:cs typeface="Arial"/>
                </a:rPr>
                <a:t>3/4 in.</a:t>
              </a:r>
              <a:endParaRPr/>
            </a:p>
          </p:txBody>
        </p:sp>
        <p:sp>
          <p:nvSpPr>
            <p:cNvPr id="40" name="shape 40"/>
            <p:cNvSpPr txBox="1"/>
            <p:nvPr/>
          </p:nvSpPr>
          <p:spPr>
            <a:xfrm>
              <a:off x="1198244" y="157907"/>
              <a:ext cx="432435" cy="91441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00" b="1">
                  <a:solidFill>
                    <a:srgbClr val="FFFFFF"/>
                  </a:solidFill>
                  <a:latin typeface="Arial"/>
                  <a:cs typeface="Arial"/>
                </a:rPr>
                <a:t>5/8 in.</a:t>
              </a:r>
              <a:endParaRPr/>
            </a:p>
          </p:txBody>
        </p:sp>
        <p:sp>
          <p:nvSpPr>
            <p:cNvPr id="41" name="shape 41"/>
            <p:cNvSpPr txBox="1"/>
            <p:nvPr/>
          </p:nvSpPr>
          <p:spPr>
            <a:xfrm>
              <a:off x="1198244" y="520480"/>
              <a:ext cx="432435" cy="91441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21590"/>
              <a:r>
                <a:rPr sz="600" b="1">
                  <a:solidFill>
                    <a:srgbClr val="FFFFFF"/>
                  </a:solidFill>
                  <a:latin typeface="Arial"/>
                  <a:cs typeface="Arial"/>
                </a:rPr>
                <a:t>5/8 x 3/4 in.</a:t>
              </a:r>
              <a:endParaRPr/>
            </a:p>
          </p:txBody>
        </p:sp>
        <p:sp>
          <p:nvSpPr>
            <p:cNvPr id="42" name="shape 42"/>
            <p:cNvSpPr/>
            <p:nvPr/>
          </p:nvSpPr>
          <p:spPr>
            <a:xfrm>
              <a:off x="358328" y="450824"/>
              <a:ext cx="1492468" cy="1299104"/>
            </a:xfrm>
            <a:custGeom>
              <a:pathLst>
                <a:path w="1492467" h="1299103">
                  <a:moveTo>
                    <a:pt x="1488292" y="0"/>
                  </a:moveTo>
                  <a:lnTo>
                    <a:pt x="1484109" y="1087"/>
                  </a:lnTo>
                  <a:lnTo>
                    <a:pt x="1463433" y="32850"/>
                  </a:lnTo>
                  <a:lnTo>
                    <a:pt x="1442745" y="66060"/>
                  </a:lnTo>
                  <a:lnTo>
                    <a:pt x="1421460" y="97823"/>
                  </a:lnTo>
                  <a:lnTo>
                    <a:pt x="1246332" y="369563"/>
                  </a:lnTo>
                  <a:lnTo>
                    <a:pt x="1157354" y="500025"/>
                  </a:lnTo>
                  <a:lnTo>
                    <a:pt x="1066241" y="621939"/>
                  </a:lnTo>
                  <a:lnTo>
                    <a:pt x="1052258" y="637827"/>
                  </a:lnTo>
                  <a:lnTo>
                    <a:pt x="1039482" y="653702"/>
                  </a:lnTo>
                  <a:lnTo>
                    <a:pt x="1013333" y="685465"/>
                  </a:lnTo>
                  <a:lnTo>
                    <a:pt x="872210" y="838525"/>
                  </a:lnTo>
                  <a:lnTo>
                    <a:pt x="842416" y="870275"/>
                  </a:lnTo>
                  <a:lnTo>
                    <a:pt x="811999" y="900603"/>
                  </a:lnTo>
                  <a:lnTo>
                    <a:pt x="678789" y="1023323"/>
                  </a:lnTo>
                  <a:lnTo>
                    <a:pt x="666026" y="1034867"/>
                  </a:lnTo>
                  <a:lnTo>
                    <a:pt x="653859" y="1046424"/>
                  </a:lnTo>
                  <a:lnTo>
                    <a:pt x="642302" y="1056533"/>
                  </a:lnTo>
                  <a:lnTo>
                    <a:pt x="630745" y="1068078"/>
                  </a:lnTo>
                  <a:lnTo>
                    <a:pt x="619798" y="1078199"/>
                  </a:lnTo>
                  <a:lnTo>
                    <a:pt x="581859" y="1110973"/>
                  </a:lnTo>
                  <a:lnTo>
                    <a:pt x="542621" y="1137504"/>
                  </a:lnTo>
                  <a:lnTo>
                    <a:pt x="502738" y="1158208"/>
                  </a:lnTo>
                  <a:lnTo>
                    <a:pt x="462864" y="1173500"/>
                  </a:lnTo>
                  <a:lnTo>
                    <a:pt x="439762" y="1182149"/>
                  </a:lnTo>
                  <a:lnTo>
                    <a:pt x="346297" y="1206447"/>
                  </a:lnTo>
                  <a:lnTo>
                    <a:pt x="252623" y="1225961"/>
                  </a:lnTo>
                  <a:lnTo>
                    <a:pt x="65074" y="1260114"/>
                  </a:lnTo>
                  <a:lnTo>
                    <a:pt x="34671" y="1267328"/>
                  </a:lnTo>
                  <a:lnTo>
                    <a:pt x="19469" y="1270223"/>
                  </a:lnTo>
                  <a:lnTo>
                    <a:pt x="4864" y="1273106"/>
                  </a:lnTo>
                  <a:lnTo>
                    <a:pt x="1293" y="1277616"/>
                  </a:lnTo>
                  <a:lnTo>
                    <a:pt x="0" y="1287546"/>
                  </a:lnTo>
                  <a:lnTo>
                    <a:pt x="1898" y="1296035"/>
                  </a:lnTo>
                  <a:lnTo>
                    <a:pt x="6083" y="1299103"/>
                  </a:lnTo>
                  <a:lnTo>
                    <a:pt x="20675" y="1296208"/>
                  </a:lnTo>
                  <a:lnTo>
                    <a:pt x="35890" y="1293325"/>
                  </a:lnTo>
                  <a:lnTo>
                    <a:pt x="66294" y="1286111"/>
                  </a:lnTo>
                  <a:lnTo>
                    <a:pt x="253831" y="1251769"/>
                  </a:lnTo>
                  <a:lnTo>
                    <a:pt x="347500" y="1232188"/>
                  </a:lnTo>
                  <a:lnTo>
                    <a:pt x="440969" y="1208120"/>
                  </a:lnTo>
                  <a:lnTo>
                    <a:pt x="453136" y="1203815"/>
                  </a:lnTo>
                  <a:lnTo>
                    <a:pt x="464693" y="1199497"/>
                  </a:lnTo>
                  <a:lnTo>
                    <a:pt x="505321" y="1183825"/>
                  </a:lnTo>
                  <a:lnTo>
                    <a:pt x="545353" y="1162937"/>
                  </a:lnTo>
                  <a:lnTo>
                    <a:pt x="584743" y="1136139"/>
                  </a:lnTo>
                  <a:lnTo>
                    <a:pt x="623443" y="1102736"/>
                  </a:lnTo>
                  <a:lnTo>
                    <a:pt x="635000" y="1092639"/>
                  </a:lnTo>
                  <a:lnTo>
                    <a:pt x="658114" y="1069538"/>
                  </a:lnTo>
                  <a:lnTo>
                    <a:pt x="670280" y="1057981"/>
                  </a:lnTo>
                  <a:lnTo>
                    <a:pt x="765515" y="972479"/>
                  </a:lnTo>
                  <a:lnTo>
                    <a:pt x="859648" y="880335"/>
                  </a:lnTo>
                  <a:lnTo>
                    <a:pt x="952617" y="781716"/>
                  </a:lnTo>
                  <a:lnTo>
                    <a:pt x="1044359" y="676791"/>
                  </a:lnTo>
                  <a:lnTo>
                    <a:pt x="1071105" y="645053"/>
                  </a:lnTo>
                  <a:lnTo>
                    <a:pt x="1162546" y="522911"/>
                  </a:lnTo>
                  <a:lnTo>
                    <a:pt x="1251885" y="392291"/>
                  </a:lnTo>
                  <a:lnTo>
                    <a:pt x="1427530" y="119489"/>
                  </a:lnTo>
                  <a:lnTo>
                    <a:pt x="1448828" y="87726"/>
                  </a:lnTo>
                  <a:lnTo>
                    <a:pt x="1469504" y="54516"/>
                  </a:lnTo>
                  <a:lnTo>
                    <a:pt x="1490192" y="24188"/>
                  </a:lnTo>
                  <a:lnTo>
                    <a:pt x="1492467" y="15341"/>
                  </a:lnTo>
                  <a:lnTo>
                    <a:pt x="1492008" y="5418"/>
                  </a:lnTo>
                  <a:close/>
                </a:path>
              </a:pathLst>
            </a:custGeom>
            <a:solidFill>
              <a:srgbClr val="4A7EBB"/>
            </a:solidFill>
          </p:spPr>
        </p:sp>
        <p:sp>
          <p:nvSpPr>
            <p:cNvPr id="43" name="shape 43"/>
            <p:cNvSpPr/>
            <p:nvPr/>
          </p:nvSpPr>
          <p:spPr>
            <a:xfrm>
              <a:off x="0" y="0"/>
              <a:ext cx="3143250" cy="2104898"/>
            </a:xfrm>
            <a:custGeom>
              <a:pathLst>
                <a:path w="3143250" h="2104898">
                  <a:moveTo>
                    <a:pt x="158750" y="6350"/>
                  </a:moveTo>
                  <a:cubicBezTo>
                    <a:pt x="158750" y="6350"/>
                    <a:pt x="6350" y="6350"/>
                    <a:pt x="6350" y="158750"/>
                  </a:cubicBezTo>
                  <a:lnTo>
                    <a:pt x="6350" y="1946148"/>
                  </a:lnTo>
                  <a:cubicBezTo>
                    <a:pt x="6350" y="1946148"/>
                    <a:pt x="6350" y="2098548"/>
                    <a:pt x="158750" y="2098548"/>
                  </a:cubicBezTo>
                  <a:lnTo>
                    <a:pt x="2984500" y="2098548"/>
                  </a:lnTo>
                  <a:cubicBezTo>
                    <a:pt x="2984500" y="2098548"/>
                    <a:pt x="3136900" y="2098548"/>
                    <a:pt x="3136900" y="1946148"/>
                  </a:cubicBezTo>
                  <a:lnTo>
                    <a:pt x="3136900" y="158750"/>
                  </a:lnTo>
                  <a:cubicBezTo>
                    <a:pt x="3136900" y="158750"/>
                    <a:pt x="3136900" y="6350"/>
                    <a:pt x="2984500" y="6350"/>
                  </a:cubicBezTo>
                  <a:lnTo>
                    <a:pt x="158750" y="6350"/>
                  </a:lnTo>
                  <a:close/>
                </a:path>
              </a:pathLst>
            </a:custGeom>
            <a:ln w="12700" cap="flat">
              <a:solidFill>
                <a:srgbClr val="ED1B2D"/>
              </a:solidFill>
              <a:prstDash val="solid"/>
              <a:miter lim="4"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662940"/>
            <a:ext cx="6629400" cy="12700"/>
          </a:xfrm>
          <a:custGeom>
            <a:pathLst>
              <a:path w="6629400" h="12700">
                <a:moveTo>
                  <a:pt x="0" y="6350"/>
                </a:moveTo>
                <a:lnTo>
                  <a:pt x="6629400" y="6350"/>
                </a:lnTo>
              </a:path>
            </a:pathLst>
          </a:custGeom>
          <a:ln w="12700" cap="flat">
            <a:solidFill>
              <a:srgbClr val="231F20"/>
            </a:solidFill>
            <a:prstDash val="solid"/>
            <a:miter lim="4"/>
          </a:ln>
        </p:spPr>
      </p:sp>
      <p:sp>
        <p:nvSpPr>
          <p:cNvPr id="3" name="shape 3"/>
          <p:cNvSpPr/>
          <p:nvPr/>
        </p:nvSpPr>
        <p:spPr>
          <a:xfrm>
            <a:off x="457200" y="9372600"/>
            <a:ext cx="6629400" cy="12700"/>
          </a:xfrm>
          <a:custGeom>
            <a:pathLst>
              <a:path w="6629400" h="12700">
                <a:moveTo>
                  <a:pt x="0" y="6350"/>
                </a:moveTo>
                <a:lnTo>
                  <a:pt x="6629400" y="6350"/>
                </a:lnTo>
              </a:path>
            </a:pathLst>
          </a:custGeom>
          <a:ln w="12700" cap="flat">
            <a:solidFill>
              <a:srgbClr val="231F20"/>
            </a:solidFill>
            <a:prstDash val="solid"/>
            <a:miter lim="4"/>
          </a:ln>
        </p:spPr>
      </p:sp>
      <p:grpSp>
        <p:nvGrpSpPr>
          <p:cNvPr id="4" name="shape 4"/>
          <p:cNvGrpSpPr/>
          <p:nvPr/>
        </p:nvGrpSpPr>
        <p:grpSpPr>
          <a:xfrm>
            <a:off x="469900" y="1775078"/>
            <a:ext cx="3085643" cy="1612316"/>
            <a:chOff x="0" y="0"/>
            <a:chExt cx="3085643" cy="1612316"/>
          </a:xfrm>
        </p:grpSpPr>
        <p:sp>
          <p:nvSpPr>
            <p:cNvPr id="5" name="shape 5"/>
            <p:cNvSpPr/>
            <p:nvPr/>
          </p:nvSpPr>
          <p:spPr>
            <a:xfrm>
              <a:off x="843975" y="651115"/>
              <a:ext cx="1720523" cy="191631"/>
            </a:xfrm>
            <a:custGeom>
              <a:pathLst>
                <a:path w="1720522" h="191630">
                  <a:moveTo>
                    <a:pt x="1710738" y="45051"/>
                  </a:moveTo>
                  <a:cubicBezTo>
                    <a:pt x="1664090" y="41520"/>
                    <a:pt x="1612630" y="36428"/>
                    <a:pt x="1570796" y="34472"/>
                  </a:cubicBezTo>
                  <a:cubicBezTo>
                    <a:pt x="1528950" y="32516"/>
                    <a:pt x="1509874" y="29024"/>
                    <a:pt x="1459709" y="33291"/>
                  </a:cubicBezTo>
                  <a:cubicBezTo>
                    <a:pt x="1409557" y="37571"/>
                    <a:pt x="1343301" y="57116"/>
                    <a:pt x="1269819" y="60101"/>
                  </a:cubicBezTo>
                  <a:cubicBezTo>
                    <a:pt x="1196337" y="63072"/>
                    <a:pt x="1092286" y="59542"/>
                    <a:pt x="1018791" y="51172"/>
                  </a:cubicBezTo>
                  <a:cubicBezTo>
                    <a:pt x="945308" y="42778"/>
                    <a:pt x="892197" y="12018"/>
                    <a:pt x="828900" y="9783"/>
                  </a:cubicBezTo>
                  <a:cubicBezTo>
                    <a:pt x="765604" y="7548"/>
                    <a:pt x="702307" y="23652"/>
                    <a:pt x="639010" y="37761"/>
                  </a:cubicBezTo>
                  <a:cubicBezTo>
                    <a:pt x="575713" y="51871"/>
                    <a:pt x="512416" y="70400"/>
                    <a:pt x="449120" y="94416"/>
                  </a:cubicBezTo>
                  <a:cubicBezTo>
                    <a:pt x="385823" y="118444"/>
                    <a:pt x="332711" y="191787"/>
                    <a:pt x="259229" y="181881"/>
                  </a:cubicBezTo>
                  <a:cubicBezTo>
                    <a:pt x="185747" y="171962"/>
                    <a:pt x="91881" y="83926"/>
                    <a:pt x="8201" y="34942"/>
                  </a:cubicBezTo>
                </a:path>
              </a:pathLst>
            </a:custGeom>
            <a:ln w="19634" cap="rnd">
              <a:solidFill>
                <a:srgbClr val="4371A7"/>
              </a:solidFill>
              <a:prstDash val="solid"/>
              <a:round/>
            </a:ln>
          </p:spPr>
        </p:sp>
        <p:sp>
          <p:nvSpPr>
            <p:cNvPr id="6" name="shape 6"/>
            <p:cNvSpPr txBox="1"/>
            <p:nvPr/>
          </p:nvSpPr>
          <p:spPr>
            <a:xfrm>
              <a:off x="184785" y="863930"/>
              <a:ext cx="160655" cy="447041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56515"/>
              <a:r>
                <a:rPr sz="650">
                  <a:latin typeface="Calibri"/>
                  <a:cs typeface="Calibri"/>
                </a:rPr>
                <a:t>98</a:t>
              </a:r>
              <a:endParaRPr/>
            </a:p>
            <a:p>
              <a:pPr marL="56515">
                <a:spcBef>
                  <a:spcPts val="100"/>
                </a:spcBef>
              </a:pPr>
              <a:r>
                <a:rPr sz="650">
                  <a:latin typeface="Calibri"/>
                  <a:cs typeface="Calibri"/>
                </a:rPr>
                <a:t>97</a:t>
              </a:r>
              <a:endParaRPr/>
            </a:p>
            <a:p>
              <a:pPr marL="56515">
                <a:spcBef>
                  <a:spcPts val="200"/>
                </a:spcBef>
              </a:pPr>
              <a:r>
                <a:rPr sz="650">
                  <a:latin typeface="Calibri"/>
                  <a:cs typeface="Calibri"/>
                </a:rPr>
                <a:t>96</a:t>
              </a:r>
              <a:endParaRPr/>
            </a:p>
            <a:p>
              <a:pPr marL="56515">
                <a:spcBef>
                  <a:spcPts val="100"/>
                </a:spcBef>
              </a:pPr>
              <a:r>
                <a:rPr sz="650">
                  <a:latin typeface="Calibri"/>
                  <a:cs typeface="Calibri"/>
                </a:rPr>
                <a:t>95</a:t>
              </a:r>
              <a:endParaRPr/>
            </a:p>
          </p:txBody>
        </p:sp>
        <p:sp>
          <p:nvSpPr>
            <p:cNvPr id="7" name="shape 7"/>
            <p:cNvSpPr txBox="1"/>
            <p:nvPr/>
          </p:nvSpPr>
          <p:spPr>
            <a:xfrm>
              <a:off x="184785" y="511328"/>
              <a:ext cx="160655" cy="335281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50">
                  <a:latin typeface="Calibri"/>
                  <a:cs typeface="Calibri"/>
                </a:rPr>
                <a:t>101</a:t>
              </a:r>
              <a:endParaRPr/>
            </a:p>
            <a:p>
              <a:pPr marL="12700">
                <a:spcBef>
                  <a:spcPts val="100"/>
                </a:spcBef>
              </a:pPr>
              <a:r>
                <a:rPr sz="650">
                  <a:latin typeface="Calibri"/>
                  <a:cs typeface="Calibri"/>
                </a:rPr>
                <a:t>100</a:t>
              </a:r>
              <a:endParaRPr/>
            </a:p>
            <a:p>
              <a:pPr marL="56515">
                <a:spcBef>
                  <a:spcPts val="200"/>
                </a:spcBef>
              </a:pPr>
              <a:r>
                <a:rPr sz="650">
                  <a:latin typeface="Calibri"/>
                  <a:cs typeface="Calibri"/>
                </a:rPr>
                <a:t>99</a:t>
              </a:r>
              <a:endParaRPr/>
            </a:p>
          </p:txBody>
        </p:sp>
        <p:sp>
          <p:nvSpPr>
            <p:cNvPr id="8" name="shape 8"/>
            <p:cNvSpPr txBox="1"/>
            <p:nvPr/>
          </p:nvSpPr>
          <p:spPr>
            <a:xfrm>
              <a:off x="184785" y="41108"/>
              <a:ext cx="160655" cy="447041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50">
                  <a:latin typeface="Calibri"/>
                  <a:cs typeface="Calibri"/>
                </a:rPr>
                <a:t>105</a:t>
              </a:r>
              <a:endParaRPr/>
            </a:p>
            <a:p>
              <a:pPr marL="12700">
                <a:spcBef>
                  <a:spcPts val="100"/>
                </a:spcBef>
              </a:pPr>
              <a:r>
                <a:rPr sz="650">
                  <a:latin typeface="Calibri"/>
                  <a:cs typeface="Calibri"/>
                </a:rPr>
                <a:t>104</a:t>
              </a:r>
              <a:endParaRPr/>
            </a:p>
            <a:p>
              <a:pPr marL="12700">
                <a:spcBef>
                  <a:spcPts val="200"/>
                </a:spcBef>
              </a:pPr>
              <a:r>
                <a:rPr sz="650">
                  <a:latin typeface="Calibri"/>
                  <a:cs typeface="Calibri"/>
                </a:rPr>
                <a:t>103</a:t>
              </a:r>
              <a:endParaRPr/>
            </a:p>
            <a:p>
              <a:pPr marL="12700">
                <a:spcBef>
                  <a:spcPts val="100"/>
                </a:spcBef>
              </a:pPr>
              <a:r>
                <a:rPr sz="650">
                  <a:latin typeface="Calibri"/>
                  <a:cs typeface="Calibri"/>
                </a:rPr>
                <a:t>102</a:t>
              </a:r>
              <a:endParaRPr/>
            </a:p>
          </p:txBody>
        </p:sp>
        <p:sp>
          <p:nvSpPr>
            <p:cNvPr id="9" name="shape 9"/>
            <p:cNvSpPr txBox="1"/>
            <p:nvPr/>
          </p:nvSpPr>
          <p:spPr>
            <a:xfrm>
              <a:off x="320675" y="1330065"/>
              <a:ext cx="787400" cy="99061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>
                <a:tabLst>
                  <a:tab pos="666115" algn="l"/>
                </a:tabLst>
              </a:pPr>
              <a:r>
                <a:rPr sz="650">
                  <a:latin typeface="Calibri"/>
                  <a:cs typeface="Calibri"/>
                </a:rPr>
                <a:t>0.01</a:t>
              </a:r>
              <a:r>
                <a:rPr sz="650">
                  <a:latin typeface="Calibri"/>
                  <a:cs typeface="Calibri"/>
                </a:rPr>
                <a:t>	</a:t>
              </a:r>
              <a:r>
                <a:rPr sz="650">
                  <a:latin typeface="Calibri"/>
                  <a:cs typeface="Calibri"/>
                </a:rPr>
                <a:t>0.1</a:t>
              </a:r>
              <a:endParaRPr/>
            </a:p>
          </p:txBody>
        </p:sp>
        <p:sp>
          <p:nvSpPr>
            <p:cNvPr id="10" name="shape 10"/>
            <p:cNvSpPr txBox="1"/>
            <p:nvPr/>
          </p:nvSpPr>
          <p:spPr>
            <a:xfrm>
              <a:off x="73504" y="321059"/>
              <a:ext cx="110490" cy="735965"/>
            </a:xfrm>
            <a:prstGeom prst="rect"/>
            <a:noFill/>
          </p:spPr>
          <p:txBody>
            <a:bodyPr vert="vert270" vertOverflow="overflow" horzOverflow="overflow" numCol="1" wrap="square" lIns="0" tIns="0" rIns="0" bIns="0">
              <a:spAutoFit/>
            </a:bodyPr>
            <a:p>
              <a:pPr marL="12700">
                <a:lnSpc>
                  <a:spcPts val="755"/>
                </a:lnSpc>
              </a:pPr>
              <a:r>
                <a:rPr sz="650" b="1">
                  <a:latin typeface="Calibri"/>
                  <a:cs typeface="Calibri"/>
                </a:rPr>
                <a:t>Accuracy  in Percent</a:t>
              </a:r>
              <a:endParaRPr/>
            </a:p>
          </p:txBody>
        </p:sp>
        <p:sp>
          <p:nvSpPr>
            <p:cNvPr id="11" name="shape 11"/>
            <p:cNvSpPr/>
            <p:nvPr/>
          </p:nvSpPr>
          <p:spPr>
            <a:xfrm>
              <a:off x="0" y="0"/>
              <a:ext cx="3085643" cy="1612316"/>
            </a:xfrm>
            <a:custGeom>
              <a:pathLst>
                <a:path w="3085642" h="1612315">
                  <a:moveTo>
                    <a:pt x="158750" y="6350"/>
                  </a:moveTo>
                  <a:cubicBezTo>
                    <a:pt x="158750" y="6350"/>
                    <a:pt x="6350" y="6350"/>
                    <a:pt x="6350" y="158750"/>
                  </a:cubicBezTo>
                  <a:lnTo>
                    <a:pt x="6350" y="1453565"/>
                  </a:lnTo>
                  <a:cubicBezTo>
                    <a:pt x="6350" y="1453565"/>
                    <a:pt x="6350" y="1605965"/>
                    <a:pt x="158750" y="1605965"/>
                  </a:cubicBezTo>
                  <a:lnTo>
                    <a:pt x="2926892" y="1605965"/>
                  </a:lnTo>
                  <a:cubicBezTo>
                    <a:pt x="2926892" y="1605965"/>
                    <a:pt x="3079292" y="1605965"/>
                    <a:pt x="3079292" y="1453565"/>
                  </a:cubicBezTo>
                  <a:lnTo>
                    <a:pt x="3079292" y="158750"/>
                  </a:lnTo>
                  <a:cubicBezTo>
                    <a:pt x="3079292" y="158750"/>
                    <a:pt x="3079292" y="6350"/>
                    <a:pt x="2926892" y="6350"/>
                  </a:cubicBezTo>
                  <a:lnTo>
                    <a:pt x="158750" y="6350"/>
                  </a:lnTo>
                  <a:close/>
                </a:path>
              </a:pathLst>
            </a:custGeom>
            <a:ln w="12700" cap="flat">
              <a:solidFill>
                <a:srgbClr val="ED1B2D"/>
              </a:solidFill>
              <a:prstDash val="solid"/>
              <a:miter lim="4"/>
            </a:ln>
          </p:spPr>
        </p:sp>
      </p:grpSp>
      <p:grpSp>
        <p:nvGrpSpPr>
          <p:cNvPr id="12" name="shape 12"/>
          <p:cNvGrpSpPr/>
          <p:nvPr/>
        </p:nvGrpSpPr>
        <p:grpSpPr>
          <a:xfrm>
            <a:off x="3883253" y="1775078"/>
            <a:ext cx="3085643" cy="1612316"/>
            <a:chOff x="0" y="0"/>
            <a:chExt cx="3085643" cy="1612316"/>
          </a:xfrm>
        </p:grpSpPr>
        <p:pic>
          <p:nvPicPr>
            <p:cNvPr id="13" name="shape 13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960" y="74288"/>
              <a:ext cx="2895600" cy="1427312"/>
            </a:xfrm>
            <a:prstGeom prst="rect"/>
          </p:spPr>
        </p:pic>
        <p:sp>
          <p:nvSpPr>
            <p:cNvPr id="14" name="shape 14"/>
            <p:cNvSpPr/>
            <p:nvPr/>
          </p:nvSpPr>
          <p:spPr>
            <a:xfrm>
              <a:off x="0" y="0"/>
              <a:ext cx="3085643" cy="1612316"/>
            </a:xfrm>
            <a:custGeom>
              <a:pathLst>
                <a:path w="3085643" h="1612315">
                  <a:moveTo>
                    <a:pt x="158750" y="6350"/>
                  </a:moveTo>
                  <a:cubicBezTo>
                    <a:pt x="158750" y="6350"/>
                    <a:pt x="6350" y="6350"/>
                    <a:pt x="6350" y="158750"/>
                  </a:cubicBezTo>
                  <a:lnTo>
                    <a:pt x="6350" y="1453565"/>
                  </a:lnTo>
                  <a:cubicBezTo>
                    <a:pt x="6350" y="1453565"/>
                    <a:pt x="6350" y="1605965"/>
                    <a:pt x="158750" y="1605965"/>
                  </a:cubicBezTo>
                  <a:lnTo>
                    <a:pt x="2926892" y="1605965"/>
                  </a:lnTo>
                  <a:cubicBezTo>
                    <a:pt x="2926892" y="1605965"/>
                    <a:pt x="3079292" y="1605965"/>
                    <a:pt x="3079292" y="1453565"/>
                  </a:cubicBezTo>
                  <a:lnTo>
                    <a:pt x="3079292" y="158750"/>
                  </a:lnTo>
                  <a:cubicBezTo>
                    <a:pt x="3079292" y="158750"/>
                    <a:pt x="3079292" y="6350"/>
                    <a:pt x="2926892" y="6350"/>
                  </a:cubicBezTo>
                  <a:lnTo>
                    <a:pt x="158750" y="6350"/>
                  </a:lnTo>
                  <a:close/>
                </a:path>
              </a:pathLst>
            </a:custGeom>
            <a:ln w="12700" cap="flat">
              <a:solidFill>
                <a:srgbClr val="ED1B2D"/>
              </a:solidFill>
              <a:prstDash val="solid"/>
              <a:miter lim="4"/>
            </a:ln>
          </p:spPr>
        </p:sp>
      </p:grpSp>
      <p:grpSp>
        <p:nvGrpSpPr>
          <p:cNvPr id="15" name="shape 15"/>
          <p:cNvGrpSpPr/>
          <p:nvPr/>
        </p:nvGrpSpPr>
        <p:grpSpPr>
          <a:xfrm>
            <a:off x="469900" y="3861104"/>
            <a:ext cx="3085643" cy="1612316"/>
            <a:chOff x="0" y="0"/>
            <a:chExt cx="3085643" cy="1612316"/>
          </a:xfrm>
        </p:grpSpPr>
        <p:pic>
          <p:nvPicPr>
            <p:cNvPr id="16" name="shape 16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25" y="71062"/>
              <a:ext cx="2986088" cy="1455858"/>
            </a:xfrm>
            <a:prstGeom prst="rect"/>
          </p:spPr>
        </p:pic>
        <p:sp>
          <p:nvSpPr>
            <p:cNvPr id="17" name="shape 17"/>
            <p:cNvSpPr/>
            <p:nvPr/>
          </p:nvSpPr>
          <p:spPr>
            <a:xfrm>
              <a:off x="0" y="0"/>
              <a:ext cx="3085643" cy="1612316"/>
            </a:xfrm>
            <a:custGeom>
              <a:pathLst>
                <a:path w="3085642" h="1612315">
                  <a:moveTo>
                    <a:pt x="158750" y="6350"/>
                  </a:moveTo>
                  <a:cubicBezTo>
                    <a:pt x="158750" y="6350"/>
                    <a:pt x="6350" y="6350"/>
                    <a:pt x="6350" y="158750"/>
                  </a:cubicBezTo>
                  <a:lnTo>
                    <a:pt x="6350" y="1453565"/>
                  </a:lnTo>
                  <a:cubicBezTo>
                    <a:pt x="6350" y="1453565"/>
                    <a:pt x="6350" y="1605965"/>
                    <a:pt x="158750" y="1605965"/>
                  </a:cubicBezTo>
                  <a:lnTo>
                    <a:pt x="2926892" y="1605965"/>
                  </a:lnTo>
                  <a:cubicBezTo>
                    <a:pt x="2926892" y="1605965"/>
                    <a:pt x="3079292" y="1605965"/>
                    <a:pt x="3079292" y="1453565"/>
                  </a:cubicBezTo>
                  <a:lnTo>
                    <a:pt x="3079292" y="158750"/>
                  </a:lnTo>
                  <a:cubicBezTo>
                    <a:pt x="3079292" y="158750"/>
                    <a:pt x="3079292" y="6350"/>
                    <a:pt x="2926892" y="6350"/>
                  </a:cubicBezTo>
                  <a:lnTo>
                    <a:pt x="158750" y="6350"/>
                  </a:lnTo>
                  <a:close/>
                </a:path>
              </a:pathLst>
            </a:custGeom>
            <a:ln w="12700" cap="flat">
              <a:solidFill>
                <a:srgbClr val="ED1B2D"/>
              </a:solidFill>
              <a:prstDash val="solid"/>
              <a:miter lim="4"/>
            </a:ln>
          </p:spPr>
        </p:sp>
      </p:grpSp>
      <p:grpSp>
        <p:nvGrpSpPr>
          <p:cNvPr id="18" name="shape 18"/>
          <p:cNvGrpSpPr/>
          <p:nvPr/>
        </p:nvGrpSpPr>
        <p:grpSpPr>
          <a:xfrm>
            <a:off x="3883253" y="3861104"/>
            <a:ext cx="3085643" cy="1612316"/>
            <a:chOff x="0" y="0"/>
            <a:chExt cx="3085643" cy="1612316"/>
          </a:xfrm>
        </p:grpSpPr>
        <p:pic>
          <p:nvPicPr>
            <p:cNvPr id="19" name="shape 19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572" y="75745"/>
              <a:ext cx="2990850" cy="1468676"/>
            </a:xfrm>
            <a:prstGeom prst="rect"/>
          </p:spPr>
        </p:pic>
        <p:sp>
          <p:nvSpPr>
            <p:cNvPr id="20" name="shape 20"/>
            <p:cNvSpPr/>
            <p:nvPr/>
          </p:nvSpPr>
          <p:spPr>
            <a:xfrm>
              <a:off x="0" y="0"/>
              <a:ext cx="3085643" cy="1612316"/>
            </a:xfrm>
            <a:custGeom>
              <a:pathLst>
                <a:path w="3085643" h="1612315">
                  <a:moveTo>
                    <a:pt x="158750" y="6350"/>
                  </a:moveTo>
                  <a:cubicBezTo>
                    <a:pt x="158750" y="6350"/>
                    <a:pt x="6350" y="6350"/>
                    <a:pt x="6350" y="158750"/>
                  </a:cubicBezTo>
                  <a:lnTo>
                    <a:pt x="6350" y="1453565"/>
                  </a:lnTo>
                  <a:cubicBezTo>
                    <a:pt x="6350" y="1453565"/>
                    <a:pt x="6350" y="1605965"/>
                    <a:pt x="158750" y="1605965"/>
                  </a:cubicBezTo>
                  <a:lnTo>
                    <a:pt x="2926892" y="1605965"/>
                  </a:lnTo>
                  <a:cubicBezTo>
                    <a:pt x="2926892" y="1605965"/>
                    <a:pt x="3079292" y="1605965"/>
                    <a:pt x="3079292" y="1453565"/>
                  </a:cubicBezTo>
                  <a:lnTo>
                    <a:pt x="3079292" y="158750"/>
                  </a:lnTo>
                  <a:cubicBezTo>
                    <a:pt x="3079292" y="158750"/>
                    <a:pt x="3079292" y="6350"/>
                    <a:pt x="2926892" y="6350"/>
                  </a:cubicBezTo>
                  <a:lnTo>
                    <a:pt x="158750" y="6350"/>
                  </a:lnTo>
                  <a:close/>
                </a:path>
              </a:pathLst>
            </a:custGeom>
            <a:ln w="12700" cap="flat">
              <a:solidFill>
                <a:srgbClr val="ED1B2D"/>
              </a:solidFill>
              <a:prstDash val="solid"/>
              <a:miter lim="4"/>
            </a:ln>
          </p:spPr>
        </p:sp>
      </p:grpSp>
      <p:graphicFrame>
        <p:nvGraphicFramePr>
          <p:cNvPr id="21" name="shape 21"/>
          <p:cNvGraphicFramePr>
            <a:graphicFrameLocks noGrp="1"/>
          </p:cNvGraphicFramePr>
          <p:nvPr/>
        </p:nvGraphicFramePr>
        <p:xfrm>
          <a:off x="1757421" y="1438562"/>
          <a:ext cx="4196808" cy="228674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72260"/>
                <a:gridCol w="2625090"/>
              </a:tblGrid>
              <a:tr h="1143635">
                <a:tc>
                  <a:txBody>
                    <a:bodyPr/>
                    <a:p>
                      <a:pPr marL="3175" marR="855345">
                        <a:spcBef>
                          <a:spcPts val="200"/>
                        </a:spcBef>
                      </a:pPr>
                      <a:r>
                        <a:rPr sz="1000" b="1" spc="-1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5/8 in. Meter</a:t>
                      </a:r>
                      <a:endParaRPr/>
                    </a:p>
                  </a:txBody>
                  <a:tcPr marL="0" marR="0" marT="2540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589405" marR="22225" algn="r">
                        <a:spcBef>
                          <a:spcPts val="200"/>
                        </a:spcBef>
                      </a:pPr>
                      <a:r>
                        <a:rPr sz="1000" b="1" spc="-1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5/8 x 3/4 in. Meter</a:t>
                      </a:r>
                      <a:endParaRPr/>
                    </a:p>
                  </a:txBody>
                  <a:tcPr marL="0" marR="0" marT="25400" marB="0">
                    <a:lnL/>
                    <a:lnR/>
                    <a:lnT/>
                    <a:lnB/>
                  </a:tcPr>
                </a:tc>
              </a:tr>
              <a:tr h="1143635">
                <a:tc>
                  <a:txBody>
                    <a:bodyPr/>
                    <a:p>
                      <a:pPr marL="64135" marR="511175" indent="298450" algn="just">
                        <a:lnSpc>
                          <a:spcPct val="133901"/>
                        </a:lnSpc>
                      </a:pPr>
                      <a:r>
                        <a:rPr sz="650" spc="590">
                          <a:latin typeface="Calibri"/>
                          <a:cs typeface="Calibri"/>
                        </a:rPr>
                        <a:t>1 10 </a:t>
                      </a:r>
                      <a:r>
                        <a:rPr sz="650" b="1">
                          <a:latin typeface="Calibri"/>
                          <a:cs typeface="Calibri"/>
                        </a:rPr>
                        <a:t>Flow  Rate in gpm</a:t>
                      </a:r>
                      <a:endParaRPr/>
                    </a:p>
                    <a:p>
                      <a:pPr marL="3175" marR="855345">
                        <a:spcBef>
                          <a:spcPts val="1100"/>
                        </a:spcBef>
                      </a:pPr>
                      <a:r>
                        <a:rPr sz="1000" b="1" spc="-1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3/4 in. Meter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7620" marR="2482215"/>
                      <a:r>
                        <a:rPr sz="650">
                          <a:latin typeface="Calibri"/>
                          <a:cs typeface="Calibri"/>
                        </a:rPr>
                        <a:t>100</a:t>
                      </a:r>
                      <a:endParaRPr/>
                    </a:p>
                    <a:p>
                      <a:pPr/>
                      <a:r>
                        <a:rPr sz="1000">
                          <a:latin typeface="Calibri"/>
                          <a:cs typeface="Calibri"/>
                        </a:rPr>
                        <a:t/>
                      </a:r>
                      <a:endParaRPr sz="1000"/>
                    </a:p>
                    <a:p>
                      <a:pPr marL="1795780" marR="228600">
                        <a:spcBef>
                          <a:spcPts val="1200"/>
                        </a:spcBef>
                      </a:pPr>
                      <a:r>
                        <a:rPr sz="1000" b="1" spc="-2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 in. Meter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</a:tr>
            </a:tbl>
          </a:graphicData>
        </a:graphic>
      </p:graphicFrame>
      <p:sp>
        <p:nvSpPr>
          <p:cNvPr id="22" name="shape 22"/>
          <p:cNvSpPr txBox="1"/>
          <p:nvPr/>
        </p:nvSpPr>
        <p:spPr>
          <a:xfrm>
            <a:off x="444500" y="428625"/>
            <a:ext cx="3923030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i="1" spc="-55">
                <a:solidFill>
                  <a:srgbClr val="231F20"/>
                </a:solidFill>
                <a:latin typeface="Arial"/>
                <a:cs typeface="Arial"/>
              </a:rPr>
              <a:t>U500w Ultrasonic Meter, Cold Water Stainless Steel Meter, 5/8, 5/8 x 3/4, 3/4 and 1 inch</a:t>
            </a:r>
            <a:endParaRPr/>
          </a:p>
        </p:txBody>
      </p:sp>
      <p:sp>
        <p:nvSpPr>
          <p:cNvPr id="23" name="shape 23"/>
          <p:cNvSpPr txBox="1"/>
          <p:nvPr/>
        </p:nvSpPr>
        <p:spPr>
          <a:xfrm>
            <a:off x="444500" y="888619"/>
            <a:ext cx="1955800" cy="3429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3970"/>
            <a:r>
              <a:rPr sz="1100" b="1" spc="20">
                <a:solidFill>
                  <a:srgbClr val="231F20"/>
                </a:solidFill>
                <a:latin typeface="Arial"/>
                <a:cs typeface="Arial"/>
              </a:rPr>
              <a:t>ACCURACY CHARTS</a:t>
            </a:r>
            <a:endParaRPr/>
          </a:p>
          <a:p>
            <a:pPr marL="12700">
              <a:spcBef>
                <a:spcPts val="300"/>
              </a:spcBef>
            </a:pPr>
            <a:r>
              <a:rPr sz="900" spc="-25">
                <a:solidFill>
                  <a:srgbClr val="231F20"/>
                </a:solidFill>
                <a:latin typeface="Arial"/>
                <a:cs typeface="Arial"/>
              </a:rPr>
              <a:t>Rate of Flow in gallons per minute (gpm)</a:t>
            </a:r>
            <a:endParaRPr/>
          </a:p>
        </p:txBody>
      </p:sp>
      <p:sp>
        <p:nvSpPr>
          <p:cNvPr id="24" name="shape 24"/>
          <p:cNvSpPr txBox="1"/>
          <p:nvPr/>
        </p:nvSpPr>
        <p:spPr>
          <a:xfrm>
            <a:off x="444500" y="9486900"/>
            <a:ext cx="6655435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2835275" algn="l"/>
                <a:tab pos="5921375" algn="l"/>
              </a:tabLst>
            </a:pPr>
            <a:r>
              <a:rPr sz="900" i="1">
                <a:solidFill>
                  <a:srgbClr val="231F20"/>
                </a:solidFill>
                <a:latin typeface="Arial"/>
                <a:cs typeface="Arial"/>
              </a:rPr>
              <a:t>Page 4</a:t>
            </a:r>
            <a:r>
              <a:rPr sz="900" i="1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i="1">
                <a:solidFill>
                  <a:srgbClr val="231F20"/>
                </a:solidFill>
                <a:latin typeface="Arial"/>
                <a:cs typeface="Arial"/>
              </a:rPr>
              <a:t>ESM-DS-02202-EN-04</a:t>
            </a:r>
            <a:r>
              <a:rPr sz="900" i="1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i="1" spc="-50">
                <a:solidFill>
                  <a:srgbClr val="231F20"/>
                </a:solidFill>
                <a:latin typeface="Arial"/>
                <a:cs typeface="Arial"/>
              </a:rPr>
              <a:t>November 2018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85800" y="662940"/>
            <a:ext cx="6629400" cy="12700"/>
          </a:xfrm>
          <a:custGeom>
            <a:pathLst>
              <a:path w="6629400" h="12700">
                <a:moveTo>
                  <a:pt x="0" y="6350"/>
                </a:moveTo>
                <a:lnTo>
                  <a:pt x="6629400" y="6350"/>
                </a:lnTo>
              </a:path>
            </a:pathLst>
          </a:custGeom>
          <a:ln w="12700" cap="flat">
            <a:solidFill>
              <a:srgbClr val="231F20"/>
            </a:solidFill>
            <a:prstDash val="solid"/>
            <a:miter lim="4"/>
          </a:ln>
        </p:spPr>
      </p:sp>
      <p:sp>
        <p:nvSpPr>
          <p:cNvPr id="3" name="shape 3"/>
          <p:cNvSpPr/>
          <p:nvPr/>
        </p:nvSpPr>
        <p:spPr>
          <a:xfrm>
            <a:off x="685800" y="9372600"/>
            <a:ext cx="6629400" cy="12700"/>
          </a:xfrm>
          <a:custGeom>
            <a:pathLst>
              <a:path w="6629400" h="12700">
                <a:moveTo>
                  <a:pt x="0" y="6350"/>
                </a:moveTo>
                <a:lnTo>
                  <a:pt x="6629400" y="6350"/>
                </a:lnTo>
              </a:path>
            </a:pathLst>
          </a:custGeom>
          <a:ln w="12700" cap="flat">
            <a:solidFill>
              <a:srgbClr val="231F20"/>
            </a:solidFill>
            <a:prstDash val="solid"/>
            <a:miter lim="4"/>
          </a:ln>
        </p:spPr>
      </p:sp>
      <p:pic>
        <p:nvPicPr>
          <p:cNvPr id="4" name="shap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900" y="1384300"/>
            <a:ext cx="4635501" cy="3632200"/>
          </a:xfrm>
          <a:prstGeom prst="rect"/>
        </p:spPr>
      </p:pic>
      <p:pic>
        <p:nvPicPr>
          <p:cNvPr id="5" name="shap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3900" y="5422900"/>
            <a:ext cx="4597400" cy="3632200"/>
          </a:xfrm>
          <a:prstGeom prst="rect"/>
        </p:spPr>
      </p:pic>
      <p:sp>
        <p:nvSpPr>
          <p:cNvPr id="6" name="shape 6"/>
          <p:cNvSpPr txBox="1"/>
          <p:nvPr/>
        </p:nvSpPr>
        <p:spPr>
          <a:xfrm>
            <a:off x="673100" y="1501908"/>
            <a:ext cx="1487171" cy="1219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78105"/>
            <a:r>
              <a:rPr sz="800" b="1">
                <a:latin typeface="Arial"/>
                <a:cs typeface="Arial"/>
              </a:rPr>
              <a:t>U500w Ultrasonic Meters</a:t>
            </a:r>
            <a:endParaRPr/>
          </a:p>
        </p:txBody>
      </p:sp>
      <p:sp>
        <p:nvSpPr>
          <p:cNvPr id="7" name="shape 7"/>
          <p:cNvSpPr txBox="1"/>
          <p:nvPr/>
        </p:nvSpPr>
        <p:spPr>
          <a:xfrm>
            <a:off x="673100" y="1624693"/>
            <a:ext cx="1487171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78105"/>
            <a:r>
              <a:rPr sz="500" b="1" i="1" u="sng">
                <a:latin typeface="Arial"/>
                <a:cs typeface="Arial"/>
              </a:rPr>
              <a:t>PRODUCT TYPE</a:t>
            </a:r>
            <a:endParaRPr/>
          </a:p>
        </p:txBody>
      </p:sp>
      <p:sp>
        <p:nvSpPr>
          <p:cNvPr id="8" name="shape 8"/>
          <p:cNvSpPr txBox="1"/>
          <p:nvPr/>
        </p:nvSpPr>
        <p:spPr>
          <a:xfrm>
            <a:off x="673100" y="1819224"/>
            <a:ext cx="1487171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165"/>
            <a:r>
              <a:rPr sz="450">
                <a:latin typeface="Arial"/>
                <a:cs typeface="Arial"/>
              </a:rPr>
              <a:t>Stainless  Steel Meter</a:t>
            </a:r>
            <a:endParaRPr/>
          </a:p>
        </p:txBody>
      </p:sp>
      <p:sp>
        <p:nvSpPr>
          <p:cNvPr id="9" name="shape 9"/>
          <p:cNvSpPr txBox="1"/>
          <p:nvPr/>
        </p:nvSpPr>
        <p:spPr>
          <a:xfrm>
            <a:off x="673100" y="1906898"/>
            <a:ext cx="1487171" cy="1701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78105"/>
            <a:r>
              <a:rPr sz="500" b="1" i="1" u="sng">
                <a:latin typeface="Arial"/>
                <a:cs typeface="Arial"/>
              </a:rPr>
              <a:t>METER TYPE</a:t>
            </a:r>
            <a:endParaRPr/>
          </a:p>
          <a:p>
            <a:pPr marL="177165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5/8 in. (1/2 x 7-1/2 in.)</a:t>
            </a:r>
            <a:endParaRPr/>
          </a:p>
        </p:txBody>
      </p:sp>
      <p:sp>
        <p:nvSpPr>
          <p:cNvPr id="10" name="shape 10"/>
          <p:cNvSpPr txBox="1"/>
          <p:nvPr/>
        </p:nvSpPr>
        <p:spPr>
          <a:xfrm>
            <a:off x="673100" y="2095033"/>
            <a:ext cx="1487171" cy="264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78105"/>
            <a:r>
              <a:rPr sz="500" b="1" i="1" u="sng">
                <a:latin typeface="Arial"/>
                <a:cs typeface="Arial"/>
              </a:rPr>
              <a:t>WATER APPLICATION</a:t>
            </a:r>
            <a:endParaRPr/>
          </a:p>
          <a:p>
            <a:pPr marL="177165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Potable Water</a:t>
            </a:r>
            <a:endParaRPr/>
          </a:p>
          <a:p>
            <a:pPr marL="177165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Reclaimed Water (Stainless</a:t>
            </a:r>
            <a:r>
              <a:rPr sz="450" spc="40">
                <a:latin typeface="Arial"/>
                <a:cs typeface="Arial"/>
              </a:rPr>
              <a:t> </a:t>
            </a:r>
            <a:r>
              <a:rPr sz="450">
                <a:latin typeface="Arial"/>
                <a:cs typeface="Arial"/>
              </a:rPr>
              <a:t>Steel Meter Only)</a:t>
            </a:r>
            <a:endParaRPr/>
          </a:p>
        </p:txBody>
      </p:sp>
      <p:sp>
        <p:nvSpPr>
          <p:cNvPr id="11" name="shape 11"/>
          <p:cNvSpPr txBox="1"/>
          <p:nvPr/>
        </p:nvSpPr>
        <p:spPr>
          <a:xfrm>
            <a:off x="673100" y="2377236"/>
            <a:ext cx="1487171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78105"/>
            <a:r>
              <a:rPr sz="500" b="1" i="1" u="sng">
                <a:latin typeface="Arial"/>
                <a:cs typeface="Arial"/>
              </a:rPr>
              <a:t>CONNECTIONS  /  GASKETS</a:t>
            </a:r>
            <a:endParaRPr/>
          </a:p>
        </p:txBody>
      </p:sp>
      <p:sp>
        <p:nvSpPr>
          <p:cNvPr id="12" name="shape 12"/>
          <p:cNvSpPr txBox="1"/>
          <p:nvPr/>
        </p:nvSpPr>
        <p:spPr>
          <a:xfrm>
            <a:off x="2233295" y="1442952"/>
            <a:ext cx="132080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30480"/>
            <a:r>
              <a:rPr sz="450">
                <a:latin typeface="Arial"/>
                <a:cs typeface="Arial"/>
              </a:rPr>
              <a:t>UB</a:t>
            </a:r>
            <a:endParaRPr/>
          </a:p>
        </p:txBody>
      </p:sp>
      <p:sp>
        <p:nvSpPr>
          <p:cNvPr id="13" name="shape 13"/>
          <p:cNvSpPr txBox="1"/>
          <p:nvPr/>
        </p:nvSpPr>
        <p:spPr>
          <a:xfrm>
            <a:off x="2233295" y="1819224"/>
            <a:ext cx="132080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UB</a:t>
            </a:r>
            <a:endParaRPr/>
          </a:p>
        </p:txBody>
      </p:sp>
      <p:sp>
        <p:nvSpPr>
          <p:cNvPr id="14" name="shape 14"/>
          <p:cNvSpPr txBox="1"/>
          <p:nvPr/>
        </p:nvSpPr>
        <p:spPr>
          <a:xfrm>
            <a:off x="2379345" y="1430298"/>
            <a:ext cx="52070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15" name="shape 15"/>
          <p:cNvSpPr txBox="1"/>
          <p:nvPr/>
        </p:nvSpPr>
        <p:spPr>
          <a:xfrm>
            <a:off x="2379345" y="1560492"/>
            <a:ext cx="52070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16" name="shape 16"/>
          <p:cNvSpPr txBox="1"/>
          <p:nvPr/>
        </p:nvSpPr>
        <p:spPr>
          <a:xfrm>
            <a:off x="2451735" y="1442907"/>
            <a:ext cx="146050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EAA</a:t>
            </a:r>
            <a:endParaRPr/>
          </a:p>
        </p:txBody>
      </p:sp>
      <p:sp>
        <p:nvSpPr>
          <p:cNvPr id="17" name="shape 17"/>
          <p:cNvSpPr txBox="1"/>
          <p:nvPr/>
        </p:nvSpPr>
        <p:spPr>
          <a:xfrm>
            <a:off x="2451735" y="2007360"/>
            <a:ext cx="146050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EAA</a:t>
            </a:r>
            <a:endParaRPr/>
          </a:p>
        </p:txBody>
      </p:sp>
      <p:sp>
        <p:nvSpPr>
          <p:cNvPr id="18" name="shape 18"/>
          <p:cNvSpPr txBox="1"/>
          <p:nvPr/>
        </p:nvSpPr>
        <p:spPr>
          <a:xfrm>
            <a:off x="2613660" y="1430298"/>
            <a:ext cx="52070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19" name="shape 19"/>
          <p:cNvSpPr txBox="1"/>
          <p:nvPr/>
        </p:nvSpPr>
        <p:spPr>
          <a:xfrm>
            <a:off x="2613660" y="1560492"/>
            <a:ext cx="52070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20" name="shape 20"/>
          <p:cNvSpPr txBox="1"/>
          <p:nvPr/>
        </p:nvSpPr>
        <p:spPr>
          <a:xfrm>
            <a:off x="2722880" y="2195451"/>
            <a:ext cx="71121" cy="1625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P</a:t>
            </a:r>
            <a:endParaRPr/>
          </a:p>
          <a:p>
            <a:pPr marL="1270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R</a:t>
            </a:r>
            <a:endParaRPr/>
          </a:p>
        </p:txBody>
      </p:sp>
      <p:sp>
        <p:nvSpPr>
          <p:cNvPr id="21" name="shape 21"/>
          <p:cNvSpPr txBox="1"/>
          <p:nvPr/>
        </p:nvSpPr>
        <p:spPr>
          <a:xfrm>
            <a:off x="3071495" y="1442907"/>
            <a:ext cx="67945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X</a:t>
            </a:r>
            <a:endParaRPr/>
          </a:p>
        </p:txBody>
      </p:sp>
      <p:sp>
        <p:nvSpPr>
          <p:cNvPr id="22" name="shape 22"/>
          <p:cNvSpPr txBox="1"/>
          <p:nvPr/>
        </p:nvSpPr>
        <p:spPr>
          <a:xfrm>
            <a:off x="3191510" y="1430298"/>
            <a:ext cx="52070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23" name="shape 23"/>
          <p:cNvSpPr txBox="1"/>
          <p:nvPr/>
        </p:nvSpPr>
        <p:spPr>
          <a:xfrm>
            <a:off x="3191510" y="1560492"/>
            <a:ext cx="52070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24" name="shape 24"/>
          <p:cNvSpPr txBox="1"/>
          <p:nvPr/>
        </p:nvSpPr>
        <p:spPr>
          <a:xfrm>
            <a:off x="3285490" y="1442907"/>
            <a:ext cx="102235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E5</a:t>
            </a:r>
            <a:endParaRPr/>
          </a:p>
        </p:txBody>
      </p:sp>
      <p:sp>
        <p:nvSpPr>
          <p:cNvPr id="25" name="shape 25"/>
          <p:cNvSpPr txBox="1"/>
          <p:nvPr/>
        </p:nvSpPr>
        <p:spPr>
          <a:xfrm>
            <a:off x="3425825" y="1430298"/>
            <a:ext cx="52071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26" name="shape 26"/>
          <p:cNvSpPr txBox="1"/>
          <p:nvPr/>
        </p:nvSpPr>
        <p:spPr>
          <a:xfrm>
            <a:off x="3425825" y="1560492"/>
            <a:ext cx="52071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27" name="shape 27"/>
          <p:cNvSpPr txBox="1"/>
          <p:nvPr/>
        </p:nvSpPr>
        <p:spPr>
          <a:xfrm>
            <a:off x="3514090" y="1442907"/>
            <a:ext cx="114935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CA</a:t>
            </a:r>
            <a:endParaRPr/>
          </a:p>
        </p:txBody>
      </p:sp>
      <p:sp>
        <p:nvSpPr>
          <p:cNvPr id="28" name="shape 28"/>
          <p:cNvSpPr txBox="1"/>
          <p:nvPr/>
        </p:nvSpPr>
        <p:spPr>
          <a:xfrm>
            <a:off x="3660140" y="1430298"/>
            <a:ext cx="52070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29" name="shape 29"/>
          <p:cNvSpPr txBox="1"/>
          <p:nvPr/>
        </p:nvSpPr>
        <p:spPr>
          <a:xfrm>
            <a:off x="3660140" y="1560492"/>
            <a:ext cx="52070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30" name="shape 30"/>
          <p:cNvSpPr txBox="1"/>
          <p:nvPr/>
        </p:nvSpPr>
        <p:spPr>
          <a:xfrm>
            <a:off x="3775075" y="1442907"/>
            <a:ext cx="60325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1</a:t>
            </a:r>
            <a:endParaRPr/>
          </a:p>
        </p:txBody>
      </p:sp>
      <p:sp>
        <p:nvSpPr>
          <p:cNvPr id="31" name="shape 31"/>
          <p:cNvSpPr txBox="1"/>
          <p:nvPr/>
        </p:nvSpPr>
        <p:spPr>
          <a:xfrm>
            <a:off x="4066540" y="1430298"/>
            <a:ext cx="52070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32" name="shape 32"/>
          <p:cNvSpPr txBox="1"/>
          <p:nvPr/>
        </p:nvSpPr>
        <p:spPr>
          <a:xfrm>
            <a:off x="4066540" y="1560492"/>
            <a:ext cx="52070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33" name="shape 33"/>
          <p:cNvSpPr txBox="1"/>
          <p:nvPr/>
        </p:nvSpPr>
        <p:spPr>
          <a:xfrm>
            <a:off x="4159885" y="1442907"/>
            <a:ext cx="97791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A1</a:t>
            </a:r>
            <a:endParaRPr/>
          </a:p>
        </p:txBody>
      </p:sp>
      <p:sp>
        <p:nvSpPr>
          <p:cNvPr id="34" name="shape 34"/>
          <p:cNvSpPr txBox="1"/>
          <p:nvPr/>
        </p:nvSpPr>
        <p:spPr>
          <a:xfrm>
            <a:off x="4331970" y="1442907"/>
            <a:ext cx="97155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Y3</a:t>
            </a:r>
            <a:endParaRPr/>
          </a:p>
        </p:txBody>
      </p:sp>
      <p:sp>
        <p:nvSpPr>
          <p:cNvPr id="35" name="shape 35"/>
          <p:cNvSpPr txBox="1"/>
          <p:nvPr/>
        </p:nvSpPr>
        <p:spPr>
          <a:xfrm>
            <a:off x="4472940" y="1430298"/>
            <a:ext cx="52070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36" name="shape 36"/>
          <p:cNvSpPr txBox="1"/>
          <p:nvPr/>
        </p:nvSpPr>
        <p:spPr>
          <a:xfrm>
            <a:off x="4472940" y="1560492"/>
            <a:ext cx="52070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37" name="shape 37"/>
          <p:cNvSpPr txBox="1"/>
          <p:nvPr/>
        </p:nvSpPr>
        <p:spPr>
          <a:xfrm>
            <a:off x="4566285" y="1442907"/>
            <a:ext cx="104141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XX</a:t>
            </a:r>
            <a:endParaRPr/>
          </a:p>
        </p:txBody>
      </p:sp>
      <p:sp>
        <p:nvSpPr>
          <p:cNvPr id="38" name="shape 38"/>
          <p:cNvSpPr txBox="1"/>
          <p:nvPr/>
        </p:nvSpPr>
        <p:spPr>
          <a:xfrm>
            <a:off x="4738370" y="1442907"/>
            <a:ext cx="100330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TF</a:t>
            </a:r>
            <a:endParaRPr/>
          </a:p>
        </p:txBody>
      </p:sp>
      <p:sp>
        <p:nvSpPr>
          <p:cNvPr id="39" name="shape 39"/>
          <p:cNvSpPr txBox="1"/>
          <p:nvPr/>
        </p:nvSpPr>
        <p:spPr>
          <a:xfrm>
            <a:off x="4878705" y="1430298"/>
            <a:ext cx="52071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40" name="shape 40"/>
          <p:cNvSpPr txBox="1"/>
          <p:nvPr/>
        </p:nvSpPr>
        <p:spPr>
          <a:xfrm>
            <a:off x="4878705" y="1560492"/>
            <a:ext cx="52071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415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41" name="shape 41"/>
          <p:cNvSpPr txBox="1"/>
          <p:nvPr/>
        </p:nvSpPr>
        <p:spPr>
          <a:xfrm>
            <a:off x="4972685" y="1442907"/>
            <a:ext cx="104141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XX</a:t>
            </a:r>
            <a:endParaRPr/>
          </a:p>
        </p:txBody>
      </p:sp>
      <p:sp>
        <p:nvSpPr>
          <p:cNvPr id="42" name="shape 42"/>
          <p:cNvSpPr txBox="1"/>
          <p:nvPr/>
        </p:nvSpPr>
        <p:spPr>
          <a:xfrm>
            <a:off x="5113020" y="1430298"/>
            <a:ext cx="52071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43" name="shape 43"/>
          <p:cNvSpPr txBox="1"/>
          <p:nvPr/>
        </p:nvSpPr>
        <p:spPr>
          <a:xfrm>
            <a:off x="5113020" y="1560492"/>
            <a:ext cx="52071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415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44" name="shape 44"/>
          <p:cNvSpPr txBox="1"/>
          <p:nvPr/>
        </p:nvSpPr>
        <p:spPr>
          <a:xfrm>
            <a:off x="5186045" y="1442907"/>
            <a:ext cx="146050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B0A</a:t>
            </a:r>
            <a:endParaRPr/>
          </a:p>
        </p:txBody>
      </p:sp>
      <p:sp>
        <p:nvSpPr>
          <p:cNvPr id="45" name="shape 45"/>
          <p:cNvSpPr txBox="1"/>
          <p:nvPr/>
        </p:nvSpPr>
        <p:spPr>
          <a:xfrm>
            <a:off x="738505" y="2559710"/>
            <a:ext cx="1724025" cy="18791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11760" marR="12700" algn="just">
              <a:lnSpc>
                <a:spcPct val="137273"/>
              </a:lnSpc>
            </a:pPr>
            <a:r>
              <a:rPr sz="450" spc="5">
                <a:latin typeface="Arial"/>
                <a:cs typeface="Arial"/>
              </a:rPr>
              <a:t>NL Straight - Thick Washers (Stainless Steel Meter Only) </a:t>
            </a:r>
            <a:r>
              <a:rPr sz="450">
                <a:latin typeface="Arial"/>
                <a:cs typeface="Arial"/>
              </a:rPr>
              <a:t>None - Thick Washers</a:t>
            </a:r>
            <a:endParaRPr/>
          </a:p>
        </p:txBody>
      </p:sp>
      <p:sp>
        <p:nvSpPr>
          <p:cNvPr id="46" name="shape 46"/>
          <p:cNvSpPr txBox="1"/>
          <p:nvPr/>
        </p:nvSpPr>
        <p:spPr>
          <a:xfrm>
            <a:off x="738505" y="2753553"/>
            <a:ext cx="1724025" cy="1701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ACCESSORIES</a:t>
            </a:r>
            <a:endParaRPr/>
          </a:p>
          <a:p>
            <a:pPr marL="11176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None</a:t>
            </a:r>
            <a:endParaRPr/>
          </a:p>
        </p:txBody>
      </p:sp>
      <p:sp>
        <p:nvSpPr>
          <p:cNvPr id="47" name="shape 47"/>
          <p:cNvSpPr txBox="1"/>
          <p:nvPr/>
        </p:nvSpPr>
        <p:spPr>
          <a:xfrm>
            <a:off x="738505" y="2941689"/>
            <a:ext cx="1724025" cy="1701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REGISTRATION</a:t>
            </a:r>
            <a:endParaRPr/>
          </a:p>
          <a:p>
            <a:pPr marL="11176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Encoder</a:t>
            </a:r>
            <a:endParaRPr/>
          </a:p>
        </p:txBody>
      </p:sp>
      <p:sp>
        <p:nvSpPr>
          <p:cNvPr id="48" name="shape 48"/>
          <p:cNvSpPr txBox="1"/>
          <p:nvPr/>
        </p:nvSpPr>
        <p:spPr>
          <a:xfrm>
            <a:off x="738505" y="3129779"/>
            <a:ext cx="1724025" cy="1701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TECHNOLOGY</a:t>
            </a:r>
            <a:endParaRPr/>
          </a:p>
          <a:p>
            <a:pPr marL="11176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Meter with Cable (No Endpoint)</a:t>
            </a:r>
            <a:endParaRPr/>
          </a:p>
        </p:txBody>
      </p:sp>
      <p:sp>
        <p:nvSpPr>
          <p:cNvPr id="49" name="shape 49"/>
          <p:cNvSpPr txBox="1"/>
          <p:nvPr/>
        </p:nvSpPr>
        <p:spPr>
          <a:xfrm>
            <a:off x="738505" y="3317915"/>
            <a:ext cx="1724025" cy="1701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REGISTRATION FACE</a:t>
            </a:r>
            <a:endParaRPr/>
          </a:p>
          <a:p>
            <a:pPr marL="11176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Standard</a:t>
            </a:r>
            <a:endParaRPr/>
          </a:p>
        </p:txBody>
      </p:sp>
      <p:sp>
        <p:nvSpPr>
          <p:cNvPr id="50" name="shape 50"/>
          <p:cNvSpPr txBox="1"/>
          <p:nvPr/>
        </p:nvSpPr>
        <p:spPr>
          <a:xfrm>
            <a:off x="2874010" y="2571721"/>
            <a:ext cx="112395" cy="1625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SC</a:t>
            </a:r>
            <a:endParaRPr/>
          </a:p>
          <a:p>
            <a:pPr marL="1778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XT</a:t>
            </a:r>
            <a:endParaRPr/>
          </a:p>
        </p:txBody>
      </p:sp>
      <p:sp>
        <p:nvSpPr>
          <p:cNvPr id="51" name="shape 51"/>
          <p:cNvSpPr txBox="1"/>
          <p:nvPr/>
        </p:nvSpPr>
        <p:spPr>
          <a:xfrm>
            <a:off x="3071495" y="2853925"/>
            <a:ext cx="67945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X</a:t>
            </a:r>
            <a:endParaRPr/>
          </a:p>
        </p:txBody>
      </p:sp>
      <p:sp>
        <p:nvSpPr>
          <p:cNvPr id="52" name="shape 52"/>
          <p:cNvSpPr txBox="1"/>
          <p:nvPr/>
        </p:nvSpPr>
        <p:spPr>
          <a:xfrm>
            <a:off x="3285490" y="3042060"/>
            <a:ext cx="102235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E5</a:t>
            </a:r>
            <a:endParaRPr/>
          </a:p>
        </p:txBody>
      </p:sp>
      <p:sp>
        <p:nvSpPr>
          <p:cNvPr id="53" name="shape 53"/>
          <p:cNvSpPr txBox="1"/>
          <p:nvPr/>
        </p:nvSpPr>
        <p:spPr>
          <a:xfrm>
            <a:off x="3514090" y="3230242"/>
            <a:ext cx="114935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CA</a:t>
            </a:r>
            <a:endParaRPr/>
          </a:p>
        </p:txBody>
      </p:sp>
      <p:sp>
        <p:nvSpPr>
          <p:cNvPr id="54" name="shape 54"/>
          <p:cNvSpPr txBox="1"/>
          <p:nvPr/>
        </p:nvSpPr>
        <p:spPr>
          <a:xfrm>
            <a:off x="3775075" y="3418378"/>
            <a:ext cx="60325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1</a:t>
            </a:r>
            <a:endParaRPr/>
          </a:p>
        </p:txBody>
      </p:sp>
      <p:sp>
        <p:nvSpPr>
          <p:cNvPr id="55" name="shape 55"/>
          <p:cNvSpPr txBox="1"/>
          <p:nvPr/>
        </p:nvSpPr>
        <p:spPr>
          <a:xfrm>
            <a:off x="738505" y="3506051"/>
            <a:ext cx="2440941" cy="358089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UNIT OF MEASURE</a:t>
            </a:r>
            <a:r>
              <a:rPr sz="500" b="1" i="1" u="sng" spc="40">
                <a:latin typeface="Arial"/>
                <a:cs typeface="Arial"/>
              </a:rPr>
              <a:t> </a:t>
            </a:r>
            <a:r>
              <a:rPr sz="500" b="1" i="1" u="sng">
                <a:latin typeface="Arial"/>
                <a:cs typeface="Arial"/>
              </a:rPr>
              <a:t>/</a:t>
            </a:r>
            <a:r>
              <a:rPr sz="500" b="1" i="1" u="sng" spc="40">
                <a:latin typeface="Arial"/>
                <a:cs typeface="Arial"/>
              </a:rPr>
              <a:t> </a:t>
            </a:r>
            <a:r>
              <a:rPr sz="500" b="1" i="1" u="sng">
                <a:latin typeface="Arial"/>
                <a:cs typeface="Arial"/>
              </a:rPr>
              <a:t>DIAL RESOLUTION OUTPUT /</a:t>
            </a:r>
            <a:r>
              <a:rPr sz="500" b="1" i="1" u="sng" spc="40">
                <a:latin typeface="Arial"/>
                <a:cs typeface="Arial"/>
              </a:rPr>
              <a:t> </a:t>
            </a:r>
            <a:r>
              <a:rPr sz="500" b="1" i="1" u="sng">
                <a:latin typeface="Arial"/>
                <a:cs typeface="Arial"/>
              </a:rPr>
              <a:t>VISUAL BILLING UNITS</a:t>
            </a:r>
            <a:endParaRPr/>
          </a:p>
          <a:p>
            <a:pPr marL="111760" marR="1439545" algn="just">
              <a:lnSpc>
                <a:spcPct val="137272"/>
              </a:lnSpc>
              <a:spcBef>
                <a:spcPts val="200"/>
              </a:spcBef>
            </a:pPr>
            <a:r>
              <a:rPr sz="450" spc="10">
                <a:latin typeface="Arial"/>
                <a:cs typeface="Arial"/>
              </a:rPr>
              <a:t>9 Dial - 0.01 Gallon, GPM, 1000 </a:t>
            </a:r>
            <a:r>
              <a:rPr sz="450">
                <a:latin typeface="Arial"/>
                <a:cs typeface="Arial"/>
              </a:rPr>
              <a:t>9 Dial - 0.001 ft3, GPM, 100</a:t>
            </a:r>
            <a:endParaRPr/>
          </a:p>
          <a:p>
            <a:pPr marL="111760" algn="just"/>
            <a:r>
              <a:rPr sz="450">
                <a:latin typeface="Arial"/>
                <a:cs typeface="Arial"/>
              </a:rPr>
              <a:t>9 Dial - 0.0001 M3, GPM, 10</a:t>
            </a:r>
            <a:endParaRPr/>
          </a:p>
        </p:txBody>
      </p:sp>
      <p:sp>
        <p:nvSpPr>
          <p:cNvPr id="56" name="shape 56"/>
          <p:cNvSpPr txBox="1"/>
          <p:nvPr/>
        </p:nvSpPr>
        <p:spPr>
          <a:xfrm>
            <a:off x="738505" y="3882367"/>
            <a:ext cx="2440941" cy="1701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TESTING</a:t>
            </a:r>
            <a:endParaRPr/>
          </a:p>
          <a:p>
            <a:pPr marL="11176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BADGER STD (TS-419)</a:t>
            </a:r>
            <a:endParaRPr/>
          </a:p>
        </p:txBody>
      </p:sp>
      <p:sp>
        <p:nvSpPr>
          <p:cNvPr id="57" name="shape 57"/>
          <p:cNvSpPr txBox="1"/>
          <p:nvPr/>
        </p:nvSpPr>
        <p:spPr>
          <a:xfrm>
            <a:off x="738505" y="4070458"/>
            <a:ext cx="2440941" cy="1701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SERIALIZATION</a:t>
            </a:r>
            <a:endParaRPr/>
          </a:p>
          <a:p>
            <a:pPr marL="11176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Year of Mfg | 9 Digit S/N | Barcoded | Primary and Lid Outside</a:t>
            </a:r>
            <a:endParaRPr/>
          </a:p>
        </p:txBody>
      </p:sp>
      <p:sp>
        <p:nvSpPr>
          <p:cNvPr id="58" name="shape 58"/>
          <p:cNvSpPr txBox="1"/>
          <p:nvPr/>
        </p:nvSpPr>
        <p:spPr>
          <a:xfrm>
            <a:off x="738505" y="4258592"/>
            <a:ext cx="2440941" cy="1701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APPLICATION (See Note)</a:t>
            </a:r>
            <a:endParaRPr/>
          </a:p>
          <a:p>
            <a:pPr marL="11176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None</a:t>
            </a:r>
            <a:endParaRPr/>
          </a:p>
        </p:txBody>
      </p:sp>
      <p:sp>
        <p:nvSpPr>
          <p:cNvPr id="59" name="shape 59"/>
          <p:cNvSpPr txBox="1"/>
          <p:nvPr/>
        </p:nvSpPr>
        <p:spPr>
          <a:xfrm>
            <a:off x="738505" y="4439296"/>
            <a:ext cx="2440941" cy="189662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510665" algn="r">
              <a:lnSpc>
                <a:spcPct val="131021"/>
              </a:lnSpc>
            </a:pPr>
            <a:r>
              <a:rPr sz="500" b="1" i="1" u="sng">
                <a:latin typeface="Arial"/>
                <a:cs typeface="Arial"/>
              </a:rPr>
              <a:t>WIRING METHOD (See Note) </a:t>
            </a:r>
            <a:r>
              <a:rPr sz="450">
                <a:latin typeface="Arial"/>
                <a:cs typeface="Arial"/>
              </a:rPr>
              <a:t>Twist Tight - 5 ft (MTR, ASSY)</a:t>
            </a:r>
            <a:endParaRPr/>
          </a:p>
        </p:txBody>
      </p:sp>
      <p:sp>
        <p:nvSpPr>
          <p:cNvPr id="60" name="shape 60"/>
          <p:cNvSpPr txBox="1"/>
          <p:nvPr/>
        </p:nvSpPr>
        <p:spPr>
          <a:xfrm>
            <a:off x="738505" y="4634911"/>
            <a:ext cx="2440941" cy="1701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ENDPOINT SHIPMENT MODE</a:t>
            </a:r>
            <a:endParaRPr/>
          </a:p>
          <a:p>
            <a:pPr marL="11176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N/A</a:t>
            </a:r>
            <a:endParaRPr/>
          </a:p>
        </p:txBody>
      </p:sp>
      <p:sp>
        <p:nvSpPr>
          <p:cNvPr id="61" name="shape 61"/>
          <p:cNvSpPr txBox="1"/>
          <p:nvPr/>
        </p:nvSpPr>
        <p:spPr>
          <a:xfrm>
            <a:off x="738505" y="4823046"/>
            <a:ext cx="2440941" cy="1701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RESERVED</a:t>
            </a:r>
            <a:endParaRPr/>
          </a:p>
          <a:p>
            <a:pPr marL="11176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Standard</a:t>
            </a:r>
            <a:endParaRPr/>
          </a:p>
        </p:txBody>
      </p:sp>
      <p:sp>
        <p:nvSpPr>
          <p:cNvPr id="62" name="shape 62"/>
          <p:cNvSpPr txBox="1"/>
          <p:nvPr/>
        </p:nvSpPr>
        <p:spPr>
          <a:xfrm>
            <a:off x="3899535" y="3606467"/>
            <a:ext cx="154941" cy="25654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415"/>
            <a:r>
              <a:rPr sz="450">
                <a:latin typeface="Arial"/>
                <a:cs typeface="Arial"/>
              </a:rPr>
              <a:t>9AE</a:t>
            </a:r>
            <a:endParaRPr/>
          </a:p>
          <a:p>
            <a:pPr marL="18415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9FD</a:t>
            </a:r>
            <a:endParaRPr/>
          </a:p>
          <a:p>
            <a:pPr marL="1270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9MC</a:t>
            </a:r>
            <a:endParaRPr/>
          </a:p>
        </p:txBody>
      </p:sp>
      <p:sp>
        <p:nvSpPr>
          <p:cNvPr id="63" name="shape 63"/>
          <p:cNvSpPr txBox="1"/>
          <p:nvPr/>
        </p:nvSpPr>
        <p:spPr>
          <a:xfrm>
            <a:off x="4159885" y="3982739"/>
            <a:ext cx="97791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A1</a:t>
            </a:r>
            <a:endParaRPr/>
          </a:p>
        </p:txBody>
      </p:sp>
      <p:sp>
        <p:nvSpPr>
          <p:cNvPr id="64" name="shape 64"/>
          <p:cNvSpPr txBox="1"/>
          <p:nvPr/>
        </p:nvSpPr>
        <p:spPr>
          <a:xfrm>
            <a:off x="4331970" y="4170922"/>
            <a:ext cx="97155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Y3</a:t>
            </a:r>
            <a:endParaRPr/>
          </a:p>
        </p:txBody>
      </p:sp>
      <p:sp>
        <p:nvSpPr>
          <p:cNvPr id="65" name="shape 65"/>
          <p:cNvSpPr txBox="1"/>
          <p:nvPr/>
        </p:nvSpPr>
        <p:spPr>
          <a:xfrm>
            <a:off x="4566285" y="4359057"/>
            <a:ext cx="104141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XX</a:t>
            </a:r>
            <a:endParaRPr/>
          </a:p>
        </p:txBody>
      </p:sp>
      <p:sp>
        <p:nvSpPr>
          <p:cNvPr id="66" name="shape 66"/>
          <p:cNvSpPr txBox="1"/>
          <p:nvPr/>
        </p:nvSpPr>
        <p:spPr>
          <a:xfrm>
            <a:off x="4738370" y="4547146"/>
            <a:ext cx="100965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TF</a:t>
            </a:r>
            <a:endParaRPr/>
          </a:p>
        </p:txBody>
      </p:sp>
      <p:sp>
        <p:nvSpPr>
          <p:cNvPr id="67" name="shape 67"/>
          <p:cNvSpPr txBox="1"/>
          <p:nvPr/>
        </p:nvSpPr>
        <p:spPr>
          <a:xfrm>
            <a:off x="4972685" y="4735282"/>
            <a:ext cx="104141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XX</a:t>
            </a:r>
            <a:endParaRPr/>
          </a:p>
        </p:txBody>
      </p:sp>
      <p:sp>
        <p:nvSpPr>
          <p:cNvPr id="68" name="shape 68"/>
          <p:cNvSpPr txBox="1"/>
          <p:nvPr/>
        </p:nvSpPr>
        <p:spPr>
          <a:xfrm>
            <a:off x="5186045" y="4923418"/>
            <a:ext cx="146050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B0A</a:t>
            </a:r>
            <a:endParaRPr/>
          </a:p>
        </p:txBody>
      </p:sp>
      <p:sp>
        <p:nvSpPr>
          <p:cNvPr id="69" name="shape 69"/>
          <p:cNvSpPr txBox="1"/>
          <p:nvPr/>
        </p:nvSpPr>
        <p:spPr>
          <a:xfrm>
            <a:off x="673100" y="5191252"/>
            <a:ext cx="1479550" cy="4724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000" b="1">
                <a:solidFill>
                  <a:srgbClr val="231F20"/>
                </a:solidFill>
                <a:latin typeface="Arial"/>
                <a:cs typeface="Arial"/>
              </a:rPr>
              <a:t>Meter 5/8 x 3/4 inch</a:t>
            </a:r>
            <a:endParaRPr/>
          </a:p>
          <a:p>
            <a:pPr marL="78740">
              <a:spcBef>
                <a:spcPts val="600"/>
              </a:spcBef>
            </a:pPr>
            <a:r>
              <a:rPr sz="800" b="1">
                <a:latin typeface="Arial"/>
                <a:cs typeface="Arial"/>
              </a:rPr>
              <a:t>Dynasonics</a:t>
            </a:r>
            <a:endParaRPr/>
          </a:p>
          <a:p>
            <a:pPr marL="78740"/>
            <a:r>
              <a:rPr sz="800" b="1">
                <a:latin typeface="Arial"/>
                <a:cs typeface="Arial"/>
              </a:rPr>
              <a:t>U500w Ultrasonic Meters</a:t>
            </a:r>
            <a:endParaRPr/>
          </a:p>
        </p:txBody>
      </p:sp>
      <p:sp>
        <p:nvSpPr>
          <p:cNvPr id="70" name="shape 70"/>
          <p:cNvSpPr txBox="1"/>
          <p:nvPr/>
        </p:nvSpPr>
        <p:spPr>
          <a:xfrm>
            <a:off x="673100" y="5667366"/>
            <a:ext cx="1479550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78740"/>
            <a:r>
              <a:rPr sz="500" b="1" i="1" u="sng">
                <a:latin typeface="Arial"/>
                <a:cs typeface="Arial"/>
              </a:rPr>
              <a:t>PRODUCT TYPE</a:t>
            </a:r>
            <a:endParaRPr/>
          </a:p>
        </p:txBody>
      </p:sp>
      <p:sp>
        <p:nvSpPr>
          <p:cNvPr id="71" name="shape 71"/>
          <p:cNvSpPr txBox="1"/>
          <p:nvPr/>
        </p:nvSpPr>
        <p:spPr>
          <a:xfrm>
            <a:off x="673100" y="5861453"/>
            <a:ext cx="1479550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165"/>
            <a:r>
              <a:rPr sz="450">
                <a:latin typeface="Arial"/>
                <a:cs typeface="Arial"/>
              </a:rPr>
              <a:t>Stainless  Steel Meter</a:t>
            </a:r>
            <a:endParaRPr/>
          </a:p>
        </p:txBody>
      </p:sp>
      <p:sp>
        <p:nvSpPr>
          <p:cNvPr id="72" name="shape 72"/>
          <p:cNvSpPr txBox="1"/>
          <p:nvPr/>
        </p:nvSpPr>
        <p:spPr>
          <a:xfrm>
            <a:off x="673100" y="5949040"/>
            <a:ext cx="1479550" cy="1701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78740"/>
            <a:r>
              <a:rPr sz="500" b="1" i="1" u="sng">
                <a:latin typeface="Arial"/>
                <a:cs typeface="Arial"/>
              </a:rPr>
              <a:t>METER TYPE</a:t>
            </a:r>
            <a:endParaRPr/>
          </a:p>
          <a:p>
            <a:pPr marL="177165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5/8 in. x 3/4 in. (3/4 x 7-1/2 in.)</a:t>
            </a:r>
            <a:endParaRPr/>
          </a:p>
        </p:txBody>
      </p:sp>
      <p:sp>
        <p:nvSpPr>
          <p:cNvPr id="73" name="shape 73"/>
          <p:cNvSpPr txBox="1"/>
          <p:nvPr/>
        </p:nvSpPr>
        <p:spPr>
          <a:xfrm>
            <a:off x="673100" y="6136822"/>
            <a:ext cx="1479550" cy="264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78740"/>
            <a:r>
              <a:rPr sz="500" b="1" i="1" u="sng">
                <a:latin typeface="Arial"/>
                <a:cs typeface="Arial"/>
              </a:rPr>
              <a:t>WATER APPLICATION</a:t>
            </a:r>
            <a:endParaRPr/>
          </a:p>
          <a:p>
            <a:pPr marL="177165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Potable Water</a:t>
            </a:r>
            <a:endParaRPr/>
          </a:p>
          <a:p>
            <a:pPr marL="177165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Reclaimed Water (Stainless</a:t>
            </a:r>
            <a:r>
              <a:rPr sz="450" spc="40">
                <a:latin typeface="Arial"/>
                <a:cs typeface="Arial"/>
              </a:rPr>
              <a:t> </a:t>
            </a:r>
            <a:r>
              <a:rPr sz="450">
                <a:latin typeface="Arial"/>
                <a:cs typeface="Arial"/>
              </a:rPr>
              <a:t>Steel Meter Only)</a:t>
            </a:r>
            <a:endParaRPr/>
          </a:p>
        </p:txBody>
      </p:sp>
      <p:sp>
        <p:nvSpPr>
          <p:cNvPr id="74" name="shape 74"/>
          <p:cNvSpPr txBox="1"/>
          <p:nvPr/>
        </p:nvSpPr>
        <p:spPr>
          <a:xfrm>
            <a:off x="673100" y="6418495"/>
            <a:ext cx="1479550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78740"/>
            <a:r>
              <a:rPr sz="500" b="1" i="1" u="sng">
                <a:latin typeface="Arial"/>
                <a:cs typeface="Arial"/>
              </a:rPr>
              <a:t>CONNECTIONS  /  GASKETS</a:t>
            </a:r>
            <a:endParaRPr/>
          </a:p>
        </p:txBody>
      </p:sp>
      <p:sp>
        <p:nvSpPr>
          <p:cNvPr id="75" name="shape 75"/>
          <p:cNvSpPr txBox="1"/>
          <p:nvPr/>
        </p:nvSpPr>
        <p:spPr>
          <a:xfrm>
            <a:off x="2225040" y="5485888"/>
            <a:ext cx="120015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050"/>
            <a:r>
              <a:rPr sz="450">
                <a:latin typeface="Arial"/>
                <a:cs typeface="Arial"/>
              </a:rPr>
              <a:t>UB</a:t>
            </a:r>
            <a:endParaRPr/>
          </a:p>
        </p:txBody>
      </p:sp>
      <p:sp>
        <p:nvSpPr>
          <p:cNvPr id="76" name="shape 76"/>
          <p:cNvSpPr txBox="1"/>
          <p:nvPr/>
        </p:nvSpPr>
        <p:spPr>
          <a:xfrm>
            <a:off x="2225040" y="5861453"/>
            <a:ext cx="120015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UB</a:t>
            </a:r>
            <a:endParaRPr/>
          </a:p>
        </p:txBody>
      </p:sp>
      <p:sp>
        <p:nvSpPr>
          <p:cNvPr id="77" name="shape 77"/>
          <p:cNvSpPr txBox="1"/>
          <p:nvPr/>
        </p:nvSpPr>
        <p:spPr>
          <a:xfrm>
            <a:off x="2370455" y="5473234"/>
            <a:ext cx="5143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78" name="shape 78"/>
          <p:cNvSpPr txBox="1"/>
          <p:nvPr/>
        </p:nvSpPr>
        <p:spPr>
          <a:xfrm>
            <a:off x="2370455" y="5603299"/>
            <a:ext cx="51436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79" name="shape 79"/>
          <p:cNvSpPr txBox="1"/>
          <p:nvPr/>
        </p:nvSpPr>
        <p:spPr>
          <a:xfrm>
            <a:off x="2437765" y="5485934"/>
            <a:ext cx="148590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EAC</a:t>
            </a:r>
            <a:endParaRPr/>
          </a:p>
        </p:txBody>
      </p:sp>
      <p:sp>
        <p:nvSpPr>
          <p:cNvPr id="80" name="shape 80"/>
          <p:cNvSpPr txBox="1"/>
          <p:nvPr/>
        </p:nvSpPr>
        <p:spPr>
          <a:xfrm>
            <a:off x="2437765" y="6049235"/>
            <a:ext cx="148590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EAC</a:t>
            </a:r>
            <a:endParaRPr/>
          </a:p>
        </p:txBody>
      </p:sp>
      <p:sp>
        <p:nvSpPr>
          <p:cNvPr id="81" name="shape 81"/>
          <p:cNvSpPr txBox="1"/>
          <p:nvPr/>
        </p:nvSpPr>
        <p:spPr>
          <a:xfrm>
            <a:off x="2603500" y="5473234"/>
            <a:ext cx="5143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82" name="shape 82"/>
          <p:cNvSpPr txBox="1"/>
          <p:nvPr/>
        </p:nvSpPr>
        <p:spPr>
          <a:xfrm>
            <a:off x="2603500" y="5603299"/>
            <a:ext cx="51436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83" name="shape 83"/>
          <p:cNvSpPr txBox="1"/>
          <p:nvPr/>
        </p:nvSpPr>
        <p:spPr>
          <a:xfrm>
            <a:off x="2712085" y="6237017"/>
            <a:ext cx="70486" cy="1625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P</a:t>
            </a:r>
            <a:endParaRPr/>
          </a:p>
          <a:p>
            <a:pPr marL="1270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R</a:t>
            </a:r>
            <a:endParaRPr/>
          </a:p>
        </p:txBody>
      </p:sp>
      <p:sp>
        <p:nvSpPr>
          <p:cNvPr id="84" name="shape 84"/>
          <p:cNvSpPr txBox="1"/>
          <p:nvPr/>
        </p:nvSpPr>
        <p:spPr>
          <a:xfrm>
            <a:off x="3178175" y="5473234"/>
            <a:ext cx="5143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85" name="shape 85"/>
          <p:cNvSpPr txBox="1"/>
          <p:nvPr/>
        </p:nvSpPr>
        <p:spPr>
          <a:xfrm>
            <a:off x="3178175" y="5603299"/>
            <a:ext cx="51436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86" name="shape 86"/>
          <p:cNvSpPr txBox="1"/>
          <p:nvPr/>
        </p:nvSpPr>
        <p:spPr>
          <a:xfrm>
            <a:off x="3270885" y="5485934"/>
            <a:ext cx="102236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E5</a:t>
            </a:r>
            <a:endParaRPr/>
          </a:p>
        </p:txBody>
      </p:sp>
      <p:sp>
        <p:nvSpPr>
          <p:cNvPr id="87" name="shape 87"/>
          <p:cNvSpPr txBox="1"/>
          <p:nvPr/>
        </p:nvSpPr>
        <p:spPr>
          <a:xfrm>
            <a:off x="3411220" y="5473234"/>
            <a:ext cx="5143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88" name="shape 88"/>
          <p:cNvSpPr txBox="1"/>
          <p:nvPr/>
        </p:nvSpPr>
        <p:spPr>
          <a:xfrm>
            <a:off x="3411220" y="5603299"/>
            <a:ext cx="51435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89" name="shape 89"/>
          <p:cNvSpPr txBox="1"/>
          <p:nvPr/>
        </p:nvSpPr>
        <p:spPr>
          <a:xfrm>
            <a:off x="3498850" y="5485934"/>
            <a:ext cx="114300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CA</a:t>
            </a:r>
            <a:endParaRPr/>
          </a:p>
        </p:txBody>
      </p:sp>
      <p:sp>
        <p:nvSpPr>
          <p:cNvPr id="90" name="shape 90"/>
          <p:cNvSpPr txBox="1"/>
          <p:nvPr/>
        </p:nvSpPr>
        <p:spPr>
          <a:xfrm>
            <a:off x="3644265" y="5473234"/>
            <a:ext cx="5143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91" name="shape 91"/>
          <p:cNvSpPr txBox="1"/>
          <p:nvPr/>
        </p:nvSpPr>
        <p:spPr>
          <a:xfrm>
            <a:off x="3644265" y="5603299"/>
            <a:ext cx="51435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92" name="shape 92"/>
          <p:cNvSpPr txBox="1"/>
          <p:nvPr/>
        </p:nvSpPr>
        <p:spPr>
          <a:xfrm>
            <a:off x="3757930" y="5485934"/>
            <a:ext cx="60325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1</a:t>
            </a:r>
            <a:endParaRPr/>
          </a:p>
        </p:txBody>
      </p:sp>
      <p:sp>
        <p:nvSpPr>
          <p:cNvPr id="93" name="shape 93"/>
          <p:cNvSpPr txBox="1"/>
          <p:nvPr/>
        </p:nvSpPr>
        <p:spPr>
          <a:xfrm>
            <a:off x="4048125" y="5473234"/>
            <a:ext cx="5143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94" name="shape 94"/>
          <p:cNvSpPr txBox="1"/>
          <p:nvPr/>
        </p:nvSpPr>
        <p:spPr>
          <a:xfrm>
            <a:off x="4048125" y="5603299"/>
            <a:ext cx="51435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95" name="shape 95"/>
          <p:cNvSpPr txBox="1"/>
          <p:nvPr/>
        </p:nvSpPr>
        <p:spPr>
          <a:xfrm>
            <a:off x="4140835" y="5485934"/>
            <a:ext cx="97156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A2</a:t>
            </a:r>
            <a:endParaRPr/>
          </a:p>
        </p:txBody>
      </p:sp>
      <p:sp>
        <p:nvSpPr>
          <p:cNvPr id="96" name="shape 96"/>
          <p:cNvSpPr txBox="1"/>
          <p:nvPr/>
        </p:nvSpPr>
        <p:spPr>
          <a:xfrm>
            <a:off x="4311650" y="5485934"/>
            <a:ext cx="97155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Y3</a:t>
            </a:r>
            <a:endParaRPr/>
          </a:p>
        </p:txBody>
      </p:sp>
      <p:sp>
        <p:nvSpPr>
          <p:cNvPr id="97" name="shape 97"/>
          <p:cNvSpPr txBox="1"/>
          <p:nvPr/>
        </p:nvSpPr>
        <p:spPr>
          <a:xfrm>
            <a:off x="4451985" y="5473234"/>
            <a:ext cx="5143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98" name="shape 98"/>
          <p:cNvSpPr txBox="1"/>
          <p:nvPr/>
        </p:nvSpPr>
        <p:spPr>
          <a:xfrm>
            <a:off x="4451985" y="5603299"/>
            <a:ext cx="51436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99" name="shape 99"/>
          <p:cNvSpPr txBox="1"/>
          <p:nvPr/>
        </p:nvSpPr>
        <p:spPr>
          <a:xfrm>
            <a:off x="4544695" y="5485934"/>
            <a:ext cx="104140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XX</a:t>
            </a:r>
            <a:endParaRPr/>
          </a:p>
        </p:txBody>
      </p:sp>
      <p:sp>
        <p:nvSpPr>
          <p:cNvPr id="100" name="shape 100"/>
          <p:cNvSpPr txBox="1"/>
          <p:nvPr/>
        </p:nvSpPr>
        <p:spPr>
          <a:xfrm>
            <a:off x="4715510" y="5485934"/>
            <a:ext cx="100331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TF</a:t>
            </a:r>
            <a:endParaRPr/>
          </a:p>
        </p:txBody>
      </p:sp>
      <p:sp>
        <p:nvSpPr>
          <p:cNvPr id="101" name="shape 101"/>
          <p:cNvSpPr txBox="1"/>
          <p:nvPr/>
        </p:nvSpPr>
        <p:spPr>
          <a:xfrm>
            <a:off x="4855845" y="5473234"/>
            <a:ext cx="5143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102" name="shape 102"/>
          <p:cNvSpPr txBox="1"/>
          <p:nvPr/>
        </p:nvSpPr>
        <p:spPr>
          <a:xfrm>
            <a:off x="4855845" y="5603299"/>
            <a:ext cx="51435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103" name="shape 103"/>
          <p:cNvSpPr txBox="1"/>
          <p:nvPr/>
        </p:nvSpPr>
        <p:spPr>
          <a:xfrm>
            <a:off x="3405505" y="428625"/>
            <a:ext cx="3923665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i="1" spc="-55">
                <a:solidFill>
                  <a:srgbClr val="231F20"/>
                </a:solidFill>
                <a:latin typeface="Arial"/>
                <a:cs typeface="Arial"/>
              </a:rPr>
              <a:t>U500w Ultrasonic Meter, Cold Water Stainless Steel Meter, 5/8, 5/8 x 3/4, 3/4 and 1 inch</a:t>
            </a:r>
            <a:endParaRPr/>
          </a:p>
        </p:txBody>
      </p:sp>
      <p:sp>
        <p:nvSpPr>
          <p:cNvPr id="104" name="shape 104"/>
          <p:cNvSpPr txBox="1"/>
          <p:nvPr/>
        </p:nvSpPr>
        <p:spPr>
          <a:xfrm>
            <a:off x="5088255" y="5473234"/>
            <a:ext cx="52071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105" name="shape 105"/>
          <p:cNvSpPr txBox="1"/>
          <p:nvPr/>
        </p:nvSpPr>
        <p:spPr>
          <a:xfrm>
            <a:off x="5088255" y="5603299"/>
            <a:ext cx="52071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106" name="shape 106"/>
          <p:cNvSpPr txBox="1"/>
          <p:nvPr/>
        </p:nvSpPr>
        <p:spPr>
          <a:xfrm>
            <a:off x="5161280" y="5485934"/>
            <a:ext cx="144780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B0A</a:t>
            </a:r>
            <a:endParaRPr/>
          </a:p>
        </p:txBody>
      </p:sp>
      <p:sp>
        <p:nvSpPr>
          <p:cNvPr id="107" name="shape 107"/>
          <p:cNvSpPr txBox="1"/>
          <p:nvPr/>
        </p:nvSpPr>
        <p:spPr>
          <a:xfrm>
            <a:off x="739140" y="6600359"/>
            <a:ext cx="1713865" cy="18791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11125" marR="12700" algn="just">
              <a:lnSpc>
                <a:spcPct val="136847"/>
              </a:lnSpc>
            </a:pPr>
            <a:r>
              <a:rPr sz="450">
                <a:latin typeface="Arial"/>
                <a:cs typeface="Arial"/>
              </a:rPr>
              <a:t>NL Straight - Thick Washers (Stainless Steel Meter Only) None - Thick Washers</a:t>
            </a:r>
            <a:endParaRPr/>
          </a:p>
        </p:txBody>
      </p:sp>
      <p:sp>
        <p:nvSpPr>
          <p:cNvPr id="108" name="shape 108"/>
          <p:cNvSpPr txBox="1"/>
          <p:nvPr/>
        </p:nvSpPr>
        <p:spPr>
          <a:xfrm>
            <a:off x="739140" y="6794013"/>
            <a:ext cx="1713865" cy="1701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ACCESSORIES</a:t>
            </a:r>
            <a:endParaRPr/>
          </a:p>
          <a:p>
            <a:pPr marL="111125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None</a:t>
            </a:r>
            <a:endParaRPr/>
          </a:p>
        </p:txBody>
      </p:sp>
      <p:sp>
        <p:nvSpPr>
          <p:cNvPr id="109" name="shape 109"/>
          <p:cNvSpPr txBox="1"/>
          <p:nvPr/>
        </p:nvSpPr>
        <p:spPr>
          <a:xfrm>
            <a:off x="739140" y="6981796"/>
            <a:ext cx="1713865" cy="1701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REGISTRATION</a:t>
            </a:r>
            <a:endParaRPr/>
          </a:p>
          <a:p>
            <a:pPr marL="111125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Encoder</a:t>
            </a:r>
            <a:endParaRPr/>
          </a:p>
        </p:txBody>
      </p:sp>
      <p:sp>
        <p:nvSpPr>
          <p:cNvPr id="110" name="shape 110"/>
          <p:cNvSpPr txBox="1"/>
          <p:nvPr/>
        </p:nvSpPr>
        <p:spPr>
          <a:xfrm>
            <a:off x="739140" y="7169578"/>
            <a:ext cx="1713865" cy="1701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TECHNOLOGY</a:t>
            </a:r>
            <a:endParaRPr/>
          </a:p>
          <a:p>
            <a:pPr marL="111125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Meter with Cable (No Endpoint)</a:t>
            </a:r>
            <a:endParaRPr/>
          </a:p>
        </p:txBody>
      </p:sp>
      <p:sp>
        <p:nvSpPr>
          <p:cNvPr id="111" name="shape 111"/>
          <p:cNvSpPr txBox="1"/>
          <p:nvPr/>
        </p:nvSpPr>
        <p:spPr>
          <a:xfrm>
            <a:off x="739140" y="7357406"/>
            <a:ext cx="1713865" cy="1701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REGISTRATION FACE</a:t>
            </a:r>
            <a:endParaRPr/>
          </a:p>
          <a:p>
            <a:pPr marL="111125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Standard</a:t>
            </a:r>
            <a:endParaRPr/>
          </a:p>
        </p:txBody>
      </p:sp>
      <p:sp>
        <p:nvSpPr>
          <p:cNvPr id="112" name="shape 112"/>
          <p:cNvSpPr txBox="1"/>
          <p:nvPr/>
        </p:nvSpPr>
        <p:spPr>
          <a:xfrm>
            <a:off x="2861945" y="6612628"/>
            <a:ext cx="112395" cy="16256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SC</a:t>
            </a:r>
            <a:endParaRPr/>
          </a:p>
          <a:p>
            <a:pPr marL="1778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XT</a:t>
            </a:r>
            <a:endParaRPr/>
          </a:p>
        </p:txBody>
      </p:sp>
      <p:sp>
        <p:nvSpPr>
          <p:cNvPr id="113" name="shape 113"/>
          <p:cNvSpPr txBox="1"/>
          <p:nvPr/>
        </p:nvSpPr>
        <p:spPr>
          <a:xfrm>
            <a:off x="3058795" y="6894300"/>
            <a:ext cx="67310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X</a:t>
            </a:r>
            <a:endParaRPr/>
          </a:p>
        </p:txBody>
      </p:sp>
      <p:sp>
        <p:nvSpPr>
          <p:cNvPr id="114" name="shape 114"/>
          <p:cNvSpPr txBox="1"/>
          <p:nvPr/>
        </p:nvSpPr>
        <p:spPr>
          <a:xfrm>
            <a:off x="3270885" y="7082083"/>
            <a:ext cx="102236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E5</a:t>
            </a:r>
            <a:endParaRPr/>
          </a:p>
        </p:txBody>
      </p:sp>
      <p:sp>
        <p:nvSpPr>
          <p:cNvPr id="115" name="shape 115"/>
          <p:cNvSpPr txBox="1"/>
          <p:nvPr/>
        </p:nvSpPr>
        <p:spPr>
          <a:xfrm>
            <a:off x="3498850" y="7269819"/>
            <a:ext cx="114300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CA</a:t>
            </a:r>
            <a:endParaRPr/>
          </a:p>
        </p:txBody>
      </p:sp>
      <p:sp>
        <p:nvSpPr>
          <p:cNvPr id="116" name="shape 116"/>
          <p:cNvSpPr txBox="1"/>
          <p:nvPr/>
        </p:nvSpPr>
        <p:spPr>
          <a:xfrm>
            <a:off x="3757930" y="7457602"/>
            <a:ext cx="60325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1</a:t>
            </a:r>
            <a:endParaRPr/>
          </a:p>
        </p:txBody>
      </p:sp>
      <p:sp>
        <p:nvSpPr>
          <p:cNvPr id="117" name="shape 117"/>
          <p:cNvSpPr txBox="1"/>
          <p:nvPr/>
        </p:nvSpPr>
        <p:spPr>
          <a:xfrm>
            <a:off x="739140" y="7545189"/>
            <a:ext cx="2426970" cy="35809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UNIT OF MEASURE</a:t>
            </a:r>
            <a:r>
              <a:rPr sz="500" b="1" i="1" u="sng" spc="35">
                <a:latin typeface="Arial"/>
                <a:cs typeface="Arial"/>
              </a:rPr>
              <a:t> </a:t>
            </a:r>
            <a:r>
              <a:rPr sz="500" b="1" i="1" u="sng">
                <a:latin typeface="Arial"/>
                <a:cs typeface="Arial"/>
              </a:rPr>
              <a:t>/</a:t>
            </a:r>
            <a:r>
              <a:rPr sz="500" b="1" i="1" u="sng" spc="40">
                <a:latin typeface="Arial"/>
                <a:cs typeface="Arial"/>
              </a:rPr>
              <a:t> </a:t>
            </a:r>
            <a:r>
              <a:rPr sz="500" b="1" i="1" u="sng">
                <a:latin typeface="Arial"/>
                <a:cs typeface="Arial"/>
              </a:rPr>
              <a:t>DIAL RESOLUTION OUTPUT /</a:t>
            </a:r>
            <a:r>
              <a:rPr sz="500" b="1" i="1" u="sng" spc="40">
                <a:latin typeface="Arial"/>
                <a:cs typeface="Arial"/>
              </a:rPr>
              <a:t> </a:t>
            </a:r>
            <a:r>
              <a:rPr sz="500" b="1" i="1" u="sng">
                <a:latin typeface="Arial"/>
                <a:cs typeface="Arial"/>
              </a:rPr>
              <a:t>VISUAL BILLING UNITS</a:t>
            </a:r>
            <a:endParaRPr/>
          </a:p>
          <a:p>
            <a:pPr marL="111125" marR="1431290" algn="just">
              <a:lnSpc>
                <a:spcPct val="137012"/>
              </a:lnSpc>
              <a:spcBef>
                <a:spcPts val="200"/>
              </a:spcBef>
            </a:pPr>
            <a:r>
              <a:rPr sz="450" spc="10">
                <a:latin typeface="Arial"/>
                <a:cs typeface="Arial"/>
              </a:rPr>
              <a:t>9 Dial - 0.01 Gallon, GPM, 1000 </a:t>
            </a:r>
            <a:r>
              <a:rPr sz="450">
                <a:latin typeface="Arial"/>
                <a:cs typeface="Arial"/>
              </a:rPr>
              <a:t>9 Dial - 0.001 ft3, GPM, 100</a:t>
            </a:r>
            <a:endParaRPr/>
          </a:p>
          <a:p>
            <a:pPr marL="111125" algn="just"/>
            <a:r>
              <a:rPr sz="450">
                <a:latin typeface="Arial"/>
                <a:cs typeface="Arial"/>
              </a:rPr>
              <a:t>9 Dial - 0.0001 M3, GPM, 10</a:t>
            </a:r>
            <a:endParaRPr/>
          </a:p>
        </p:txBody>
      </p:sp>
      <p:sp>
        <p:nvSpPr>
          <p:cNvPr id="118" name="shape 118"/>
          <p:cNvSpPr txBox="1"/>
          <p:nvPr/>
        </p:nvSpPr>
        <p:spPr>
          <a:xfrm>
            <a:off x="739140" y="7920707"/>
            <a:ext cx="2426970" cy="1701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TESTING</a:t>
            </a:r>
            <a:endParaRPr/>
          </a:p>
          <a:p>
            <a:pPr marL="111125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BADGER STD (TS-420)</a:t>
            </a:r>
            <a:endParaRPr/>
          </a:p>
        </p:txBody>
      </p:sp>
      <p:sp>
        <p:nvSpPr>
          <p:cNvPr id="119" name="shape 119"/>
          <p:cNvSpPr txBox="1"/>
          <p:nvPr/>
        </p:nvSpPr>
        <p:spPr>
          <a:xfrm>
            <a:off x="4948555" y="5485934"/>
            <a:ext cx="104141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XX</a:t>
            </a:r>
            <a:endParaRPr/>
          </a:p>
        </p:txBody>
      </p:sp>
      <p:sp>
        <p:nvSpPr>
          <p:cNvPr id="120" name="shape 120"/>
          <p:cNvSpPr txBox="1"/>
          <p:nvPr/>
        </p:nvSpPr>
        <p:spPr>
          <a:xfrm>
            <a:off x="739140" y="8296317"/>
            <a:ext cx="2426970" cy="1701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APPLICATION (See Note)</a:t>
            </a:r>
            <a:endParaRPr/>
          </a:p>
          <a:p>
            <a:pPr marL="111125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None</a:t>
            </a:r>
            <a:endParaRPr/>
          </a:p>
        </p:txBody>
      </p:sp>
      <p:sp>
        <p:nvSpPr>
          <p:cNvPr id="121" name="shape 121"/>
          <p:cNvSpPr txBox="1"/>
          <p:nvPr/>
        </p:nvSpPr>
        <p:spPr>
          <a:xfrm>
            <a:off x="739140" y="8476421"/>
            <a:ext cx="2426970" cy="189663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501775" algn="r">
              <a:lnSpc>
                <a:spcPct val="130650"/>
              </a:lnSpc>
            </a:pPr>
            <a:r>
              <a:rPr sz="500" b="1" i="1" u="sng">
                <a:latin typeface="Arial"/>
                <a:cs typeface="Arial"/>
              </a:rPr>
              <a:t>WIRING METHOD (See Note) </a:t>
            </a:r>
            <a:r>
              <a:rPr sz="450">
                <a:latin typeface="Arial"/>
                <a:cs typeface="Arial"/>
              </a:rPr>
              <a:t>Twist Tight - 5 ft (MTR, ASSY)</a:t>
            </a:r>
            <a:endParaRPr/>
          </a:p>
        </p:txBody>
      </p:sp>
      <p:sp>
        <p:nvSpPr>
          <p:cNvPr id="122" name="shape 122"/>
          <p:cNvSpPr txBox="1"/>
          <p:nvPr/>
        </p:nvSpPr>
        <p:spPr>
          <a:xfrm>
            <a:off x="739140" y="8671836"/>
            <a:ext cx="2426970" cy="1701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ENDPOINT SHIPMENT MODE</a:t>
            </a:r>
            <a:endParaRPr/>
          </a:p>
          <a:p>
            <a:pPr marL="111125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N/A</a:t>
            </a:r>
            <a:endParaRPr/>
          </a:p>
        </p:txBody>
      </p:sp>
      <p:sp>
        <p:nvSpPr>
          <p:cNvPr id="123" name="shape 123"/>
          <p:cNvSpPr txBox="1"/>
          <p:nvPr/>
        </p:nvSpPr>
        <p:spPr>
          <a:xfrm>
            <a:off x="739140" y="8859617"/>
            <a:ext cx="2426970" cy="1701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RESERVED</a:t>
            </a:r>
            <a:endParaRPr/>
          </a:p>
          <a:p>
            <a:pPr marL="111125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Standard</a:t>
            </a:r>
            <a:endParaRPr/>
          </a:p>
        </p:txBody>
      </p:sp>
      <p:sp>
        <p:nvSpPr>
          <p:cNvPr id="124" name="shape 124"/>
          <p:cNvSpPr txBox="1"/>
          <p:nvPr/>
        </p:nvSpPr>
        <p:spPr>
          <a:xfrm>
            <a:off x="3882390" y="7645384"/>
            <a:ext cx="153670" cy="2565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9AE</a:t>
            </a:r>
            <a:endParaRPr/>
          </a:p>
          <a:p>
            <a:pPr marL="1778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9FD</a:t>
            </a:r>
            <a:endParaRPr/>
          </a:p>
          <a:p>
            <a:pPr marL="1270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9MC</a:t>
            </a:r>
            <a:endParaRPr/>
          </a:p>
        </p:txBody>
      </p:sp>
      <p:sp>
        <p:nvSpPr>
          <p:cNvPr id="125" name="shape 125"/>
          <p:cNvSpPr txBox="1"/>
          <p:nvPr/>
        </p:nvSpPr>
        <p:spPr>
          <a:xfrm>
            <a:off x="4140835" y="8020994"/>
            <a:ext cx="97156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A2</a:t>
            </a:r>
            <a:endParaRPr/>
          </a:p>
        </p:txBody>
      </p:sp>
      <p:sp>
        <p:nvSpPr>
          <p:cNvPr id="126" name="shape 126"/>
          <p:cNvSpPr txBox="1"/>
          <p:nvPr/>
        </p:nvSpPr>
        <p:spPr>
          <a:xfrm>
            <a:off x="4311650" y="8208730"/>
            <a:ext cx="97155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Y3</a:t>
            </a:r>
            <a:endParaRPr/>
          </a:p>
        </p:txBody>
      </p:sp>
      <p:sp>
        <p:nvSpPr>
          <p:cNvPr id="127" name="shape 127"/>
          <p:cNvSpPr txBox="1"/>
          <p:nvPr/>
        </p:nvSpPr>
        <p:spPr>
          <a:xfrm>
            <a:off x="4544695" y="8396512"/>
            <a:ext cx="104140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XX</a:t>
            </a:r>
            <a:endParaRPr/>
          </a:p>
        </p:txBody>
      </p:sp>
      <p:sp>
        <p:nvSpPr>
          <p:cNvPr id="128" name="shape 128"/>
          <p:cNvSpPr txBox="1"/>
          <p:nvPr/>
        </p:nvSpPr>
        <p:spPr>
          <a:xfrm>
            <a:off x="4716145" y="8584295"/>
            <a:ext cx="99696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TF</a:t>
            </a:r>
            <a:endParaRPr/>
          </a:p>
        </p:txBody>
      </p:sp>
      <p:sp>
        <p:nvSpPr>
          <p:cNvPr id="129" name="shape 129"/>
          <p:cNvSpPr txBox="1"/>
          <p:nvPr/>
        </p:nvSpPr>
        <p:spPr>
          <a:xfrm>
            <a:off x="4912360" y="8764098"/>
            <a:ext cx="124461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>
                <a:latin typeface="Arial"/>
                <a:cs typeface="Arial"/>
              </a:rPr>
              <a:t>XX</a:t>
            </a:r>
            <a:endParaRPr/>
          </a:p>
        </p:txBody>
      </p:sp>
      <p:sp>
        <p:nvSpPr>
          <p:cNvPr id="130" name="shape 130"/>
          <p:cNvSpPr txBox="1"/>
          <p:nvPr/>
        </p:nvSpPr>
        <p:spPr>
          <a:xfrm>
            <a:off x="5145405" y="8947204"/>
            <a:ext cx="171450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>
                <a:latin typeface="Arial"/>
                <a:cs typeface="Arial"/>
              </a:rPr>
              <a:t>B0A</a:t>
            </a:r>
            <a:endParaRPr/>
          </a:p>
        </p:txBody>
      </p:sp>
      <p:sp>
        <p:nvSpPr>
          <p:cNvPr id="131" name="shape 131"/>
          <p:cNvSpPr txBox="1"/>
          <p:nvPr/>
        </p:nvSpPr>
        <p:spPr>
          <a:xfrm>
            <a:off x="673100" y="9163812"/>
            <a:ext cx="3469005" cy="1524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424180" algn="l"/>
              </a:tabLst>
            </a:pPr>
            <a:r>
              <a:rPr sz="1000" b="1">
                <a:solidFill>
                  <a:srgbClr val="231F20"/>
                </a:solidFill>
                <a:latin typeface="Arial"/>
                <a:cs typeface="Arial"/>
              </a:rPr>
              <a:t>NOTE:</a:t>
            </a:r>
            <a:r>
              <a:rPr sz="1000" b="1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35">
                <a:solidFill>
                  <a:srgbClr val="231F20"/>
                </a:solidFill>
                <a:latin typeface="Arial"/>
                <a:cs typeface="Arial"/>
              </a:rPr>
              <a:t>For connectivity to AquaCUE, contact your Sales Representative.</a:t>
            </a:r>
            <a:endParaRPr/>
          </a:p>
        </p:txBody>
      </p:sp>
      <p:sp>
        <p:nvSpPr>
          <p:cNvPr id="132" name="shape 132"/>
          <p:cNvSpPr txBox="1"/>
          <p:nvPr/>
        </p:nvSpPr>
        <p:spPr>
          <a:xfrm>
            <a:off x="673100" y="9486900"/>
            <a:ext cx="6655435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2835275" algn="l"/>
                <a:tab pos="6337935" algn="l"/>
              </a:tabLst>
            </a:pPr>
            <a:r>
              <a:rPr sz="900" i="1">
                <a:solidFill>
                  <a:srgbClr val="231F20"/>
                </a:solidFill>
                <a:latin typeface="Arial"/>
                <a:cs typeface="Arial"/>
              </a:rPr>
              <a:t>November 2018</a:t>
            </a:r>
            <a:r>
              <a:rPr sz="900" i="1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i="1">
                <a:solidFill>
                  <a:srgbClr val="231F20"/>
                </a:solidFill>
                <a:latin typeface="Arial"/>
                <a:cs typeface="Arial"/>
              </a:rPr>
              <a:t>ESM-DS-02202-EN-04</a:t>
            </a:r>
            <a:r>
              <a:rPr sz="900" i="1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i="1" spc="-65">
                <a:solidFill>
                  <a:srgbClr val="231F20"/>
                </a:solidFill>
                <a:latin typeface="Arial"/>
                <a:cs typeface="Arial"/>
              </a:rPr>
              <a:t>Page 5</a:t>
            </a:r>
            <a:endParaRPr/>
          </a:p>
        </p:txBody>
      </p:sp>
      <p:sp>
        <p:nvSpPr>
          <p:cNvPr id="133" name="shape 133"/>
          <p:cNvSpPr txBox="1"/>
          <p:nvPr/>
        </p:nvSpPr>
        <p:spPr>
          <a:xfrm>
            <a:off x="673100" y="888619"/>
            <a:ext cx="1487171" cy="601142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462915" indent="1270" algn="just">
              <a:lnSpc>
                <a:spcPct val="167041"/>
              </a:lnSpc>
            </a:pPr>
            <a:r>
              <a:rPr sz="1100" b="1" spc="-95">
                <a:solidFill>
                  <a:srgbClr val="231F20"/>
                </a:solidFill>
                <a:latin typeface="Arial"/>
                <a:cs typeface="Arial"/>
              </a:rPr>
              <a:t>PART NUMBERS </a:t>
            </a:r>
            <a:r>
              <a:rPr sz="1000" b="1">
                <a:solidFill>
                  <a:srgbClr val="231F20"/>
                </a:solidFill>
                <a:latin typeface="Arial"/>
                <a:cs typeface="Arial"/>
              </a:rPr>
              <a:t>Meter 5/8 inch</a:t>
            </a:r>
            <a:endParaRPr/>
          </a:p>
          <a:p>
            <a:pPr marL="78105">
              <a:lnSpc>
                <a:spcPts val="525"/>
              </a:lnSpc>
            </a:pPr>
            <a:r>
              <a:rPr sz="800" b="1">
                <a:latin typeface="Arial"/>
                <a:cs typeface="Arial"/>
              </a:rPr>
              <a:t>Dynasonics</a:t>
            </a:r>
            <a:endParaRPr/>
          </a:p>
        </p:txBody>
      </p:sp>
      <p:sp>
        <p:nvSpPr>
          <p:cNvPr id="134" name="shape 134"/>
          <p:cNvSpPr txBox="1"/>
          <p:nvPr/>
        </p:nvSpPr>
        <p:spPr>
          <a:xfrm>
            <a:off x="739140" y="8108489"/>
            <a:ext cx="2426970" cy="1701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SERIALIZATION</a:t>
            </a:r>
            <a:endParaRPr/>
          </a:p>
          <a:p>
            <a:pPr marL="111125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Year of Mfg | 9 Digit S/N | Barcoded | Primary and Lid Outside</a:t>
            </a:r>
            <a:endParaRPr/>
          </a:p>
        </p:txBody>
      </p:sp>
      <p:graphicFrame>
        <p:nvGraphicFramePr>
          <p:cNvPr id="135" name="shape 135"/>
          <p:cNvGraphicFramePr>
            <a:graphicFrameLocks noGrp="1"/>
          </p:cNvGraphicFramePr>
          <p:nvPr/>
        </p:nvGraphicFramePr>
        <p:xfrm>
          <a:off x="2660270" y="5474985"/>
          <a:ext cx="511500" cy="9279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0815"/>
                <a:gridCol w="170815"/>
                <a:gridCol w="169545"/>
              </a:tblGrid>
              <a:tr h="9271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80"/>
                    </a:p>
                  </a:txBody>
                  <a:tcPr marL="0" marR="0" marT="0" marB="0">
                    <a:lnL w="9525" cmpd="sng">
                      <a:solidFill>
                        <a:srgbClr val="000000"/>
                      </a:solidFill>
                    </a:lnL>
                    <a:lnR w="2857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80"/>
                    </a:p>
                  </a:txBody>
                  <a:tcPr marL="0" marR="0" marT="0" marB="0">
                    <a:lnL w="28575" cmpd="sng">
                      <a:solidFill>
                        <a:srgbClr val="000000"/>
                      </a:solidFill>
                    </a:lnL>
                    <a:lnR w="2857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9850" marR="57785"/>
                      <a:r>
                        <a:rPr sz="450">
                          <a:latin typeface="Arial"/>
                          <a:cs typeface="Arial"/>
                        </a:rPr>
                        <a:t>X</a:t>
                      </a:r>
                      <a:endParaRPr/>
                    </a:p>
                  </a:txBody>
                  <a:tcPr anchor="ctr" marL="0" marR="0" marT="0" marB="0">
                    <a:lnL w="28575" cmpd="sng">
                      <a:solidFill>
                        <a:srgbClr val="000000"/>
                      </a:solidFill>
                    </a:lnL>
                    <a:lnR w="19050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662940"/>
            <a:ext cx="6629400" cy="12700"/>
          </a:xfrm>
          <a:custGeom>
            <a:pathLst>
              <a:path w="6629400" h="12700">
                <a:moveTo>
                  <a:pt x="0" y="6350"/>
                </a:moveTo>
                <a:lnTo>
                  <a:pt x="6629400" y="6350"/>
                </a:lnTo>
              </a:path>
            </a:pathLst>
          </a:custGeom>
          <a:ln w="12700" cap="flat">
            <a:solidFill>
              <a:srgbClr val="231F20"/>
            </a:solidFill>
            <a:prstDash val="solid"/>
            <a:miter lim="4"/>
          </a:ln>
        </p:spPr>
      </p:sp>
      <p:sp>
        <p:nvSpPr>
          <p:cNvPr id="3" name="shape 3"/>
          <p:cNvSpPr/>
          <p:nvPr/>
        </p:nvSpPr>
        <p:spPr>
          <a:xfrm>
            <a:off x="457200" y="9372600"/>
            <a:ext cx="6629400" cy="12700"/>
          </a:xfrm>
          <a:custGeom>
            <a:pathLst>
              <a:path w="6629400" h="12700">
                <a:moveTo>
                  <a:pt x="0" y="6350"/>
                </a:moveTo>
                <a:lnTo>
                  <a:pt x="6629400" y="6350"/>
                </a:lnTo>
              </a:path>
            </a:pathLst>
          </a:custGeom>
          <a:ln w="12700" cap="flat">
            <a:solidFill>
              <a:srgbClr val="231F20"/>
            </a:solidFill>
            <a:prstDash val="solid"/>
            <a:miter lim="4"/>
          </a:ln>
        </p:spPr>
      </p:sp>
      <p:pic>
        <p:nvPicPr>
          <p:cNvPr id="4" name="shap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8000" y="1104900"/>
            <a:ext cx="4622801" cy="3632200"/>
          </a:xfrm>
          <a:prstGeom prst="rect"/>
        </p:spPr>
      </p:pic>
      <p:pic>
        <p:nvPicPr>
          <p:cNvPr id="5" name="shap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8000" y="5207000"/>
            <a:ext cx="4597400" cy="3594100"/>
          </a:xfrm>
          <a:prstGeom prst="rect"/>
        </p:spPr>
      </p:pic>
      <p:sp>
        <p:nvSpPr>
          <p:cNvPr id="6" name="shape 6"/>
          <p:cNvSpPr txBox="1"/>
          <p:nvPr/>
        </p:nvSpPr>
        <p:spPr>
          <a:xfrm>
            <a:off x="444500" y="1345854"/>
            <a:ext cx="1492885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85090"/>
            <a:r>
              <a:rPr sz="500" b="1" i="1" u="sng">
                <a:latin typeface="Arial"/>
                <a:cs typeface="Arial"/>
              </a:rPr>
              <a:t>PRODUCT TYPE</a:t>
            </a:r>
            <a:endParaRPr/>
          </a:p>
        </p:txBody>
      </p:sp>
      <p:sp>
        <p:nvSpPr>
          <p:cNvPr id="7" name="shape 7"/>
          <p:cNvSpPr txBox="1"/>
          <p:nvPr/>
        </p:nvSpPr>
        <p:spPr>
          <a:xfrm>
            <a:off x="444500" y="1540157"/>
            <a:ext cx="1492885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3515"/>
            <a:r>
              <a:rPr sz="450">
                <a:latin typeface="Arial"/>
                <a:cs typeface="Arial"/>
              </a:rPr>
              <a:t>Stainless  Steel Meter</a:t>
            </a:r>
            <a:endParaRPr/>
          </a:p>
        </p:txBody>
      </p:sp>
      <p:sp>
        <p:nvSpPr>
          <p:cNvPr id="8" name="shape 8"/>
          <p:cNvSpPr txBox="1"/>
          <p:nvPr/>
        </p:nvSpPr>
        <p:spPr>
          <a:xfrm>
            <a:off x="444500" y="1627854"/>
            <a:ext cx="1492885" cy="1701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85090"/>
            <a:r>
              <a:rPr sz="500" b="1" i="1" u="sng">
                <a:latin typeface="Arial"/>
                <a:cs typeface="Arial"/>
              </a:rPr>
              <a:t>METER TYPE</a:t>
            </a:r>
            <a:endParaRPr/>
          </a:p>
          <a:p>
            <a:pPr marL="183515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3/4 in. (3/4 x 7-1/2 in.)</a:t>
            </a:r>
            <a:endParaRPr/>
          </a:p>
        </p:txBody>
      </p:sp>
      <p:sp>
        <p:nvSpPr>
          <p:cNvPr id="9" name="shape 9"/>
          <p:cNvSpPr txBox="1"/>
          <p:nvPr/>
        </p:nvSpPr>
        <p:spPr>
          <a:xfrm>
            <a:off x="444500" y="1815855"/>
            <a:ext cx="1492885" cy="264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85090"/>
            <a:r>
              <a:rPr sz="500" b="1" i="1" u="sng">
                <a:latin typeface="Arial"/>
                <a:cs typeface="Arial"/>
              </a:rPr>
              <a:t>WATER APPLICATION</a:t>
            </a:r>
            <a:endParaRPr/>
          </a:p>
          <a:p>
            <a:pPr marL="183515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Potable Water</a:t>
            </a:r>
            <a:endParaRPr/>
          </a:p>
          <a:p>
            <a:pPr marL="183515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Reclaimed Water (Stainless</a:t>
            </a:r>
            <a:r>
              <a:rPr sz="450" spc="40">
                <a:latin typeface="Arial"/>
                <a:cs typeface="Arial"/>
              </a:rPr>
              <a:t> </a:t>
            </a:r>
            <a:r>
              <a:rPr sz="450">
                <a:latin typeface="Arial"/>
                <a:cs typeface="Arial"/>
              </a:rPr>
              <a:t>Steel Meter Only)</a:t>
            </a:r>
            <a:endParaRPr/>
          </a:p>
        </p:txBody>
      </p:sp>
      <p:sp>
        <p:nvSpPr>
          <p:cNvPr id="10" name="shape 10"/>
          <p:cNvSpPr txBox="1"/>
          <p:nvPr/>
        </p:nvSpPr>
        <p:spPr>
          <a:xfrm>
            <a:off x="444500" y="2097856"/>
            <a:ext cx="1492885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85090"/>
            <a:r>
              <a:rPr sz="500" b="1" i="1" u="sng">
                <a:latin typeface="Arial"/>
                <a:cs typeface="Arial"/>
              </a:rPr>
              <a:t>CONNECTIONS  /  GASKETS</a:t>
            </a:r>
            <a:endParaRPr/>
          </a:p>
        </p:txBody>
      </p:sp>
      <p:sp>
        <p:nvSpPr>
          <p:cNvPr id="11" name="shape 11"/>
          <p:cNvSpPr txBox="1"/>
          <p:nvPr/>
        </p:nvSpPr>
        <p:spPr>
          <a:xfrm>
            <a:off x="2010410" y="1170031"/>
            <a:ext cx="125730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4130"/>
            <a:r>
              <a:rPr sz="450">
                <a:latin typeface="Arial"/>
                <a:cs typeface="Arial"/>
              </a:rPr>
              <a:t>UB</a:t>
            </a:r>
            <a:endParaRPr/>
          </a:p>
        </p:txBody>
      </p:sp>
      <p:sp>
        <p:nvSpPr>
          <p:cNvPr id="12" name="shape 12"/>
          <p:cNvSpPr txBox="1"/>
          <p:nvPr/>
        </p:nvSpPr>
        <p:spPr>
          <a:xfrm>
            <a:off x="2010410" y="1540157"/>
            <a:ext cx="125730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UB</a:t>
            </a:r>
            <a:endParaRPr/>
          </a:p>
        </p:txBody>
      </p:sp>
      <p:sp>
        <p:nvSpPr>
          <p:cNvPr id="13" name="shape 13"/>
          <p:cNvSpPr txBox="1"/>
          <p:nvPr/>
        </p:nvSpPr>
        <p:spPr>
          <a:xfrm>
            <a:off x="2155825" y="1151501"/>
            <a:ext cx="52071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14" name="shape 14"/>
          <p:cNvSpPr txBox="1"/>
          <p:nvPr/>
        </p:nvSpPr>
        <p:spPr>
          <a:xfrm>
            <a:off x="2155825" y="1281702"/>
            <a:ext cx="52071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15" name="shape 15"/>
          <p:cNvSpPr txBox="1"/>
          <p:nvPr/>
        </p:nvSpPr>
        <p:spPr>
          <a:xfrm>
            <a:off x="2228850" y="1164201"/>
            <a:ext cx="151130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EBA</a:t>
            </a:r>
            <a:endParaRPr/>
          </a:p>
        </p:txBody>
      </p:sp>
      <p:sp>
        <p:nvSpPr>
          <p:cNvPr id="16" name="shape 16"/>
          <p:cNvSpPr txBox="1"/>
          <p:nvPr/>
        </p:nvSpPr>
        <p:spPr>
          <a:xfrm>
            <a:off x="2228850" y="1728157"/>
            <a:ext cx="151130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EBA</a:t>
            </a:r>
            <a:endParaRPr/>
          </a:p>
        </p:txBody>
      </p:sp>
      <p:sp>
        <p:nvSpPr>
          <p:cNvPr id="17" name="shape 17"/>
          <p:cNvSpPr txBox="1"/>
          <p:nvPr/>
        </p:nvSpPr>
        <p:spPr>
          <a:xfrm>
            <a:off x="2390140" y="1151501"/>
            <a:ext cx="52071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18" name="shape 18"/>
          <p:cNvSpPr txBox="1"/>
          <p:nvPr/>
        </p:nvSpPr>
        <p:spPr>
          <a:xfrm>
            <a:off x="2390140" y="1281702"/>
            <a:ext cx="52071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19" name="shape 19"/>
          <p:cNvSpPr txBox="1"/>
          <p:nvPr/>
        </p:nvSpPr>
        <p:spPr>
          <a:xfrm>
            <a:off x="2499360" y="1916160"/>
            <a:ext cx="71120" cy="1625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P</a:t>
            </a:r>
            <a:endParaRPr/>
          </a:p>
          <a:p>
            <a:pPr marL="1270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R</a:t>
            </a:r>
            <a:endParaRPr/>
          </a:p>
        </p:txBody>
      </p:sp>
      <p:sp>
        <p:nvSpPr>
          <p:cNvPr id="20" name="shape 20"/>
          <p:cNvSpPr txBox="1"/>
          <p:nvPr/>
        </p:nvSpPr>
        <p:spPr>
          <a:xfrm>
            <a:off x="2847975" y="1164201"/>
            <a:ext cx="67946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X</a:t>
            </a:r>
            <a:endParaRPr/>
          </a:p>
        </p:txBody>
      </p:sp>
      <p:sp>
        <p:nvSpPr>
          <p:cNvPr id="21" name="shape 21"/>
          <p:cNvSpPr txBox="1"/>
          <p:nvPr/>
        </p:nvSpPr>
        <p:spPr>
          <a:xfrm>
            <a:off x="2967990" y="1151501"/>
            <a:ext cx="52071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22" name="shape 22"/>
          <p:cNvSpPr txBox="1"/>
          <p:nvPr/>
        </p:nvSpPr>
        <p:spPr>
          <a:xfrm>
            <a:off x="2967990" y="1281702"/>
            <a:ext cx="52071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23" name="shape 23"/>
          <p:cNvSpPr txBox="1"/>
          <p:nvPr/>
        </p:nvSpPr>
        <p:spPr>
          <a:xfrm>
            <a:off x="3061335" y="1164201"/>
            <a:ext cx="102870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E5</a:t>
            </a:r>
            <a:endParaRPr/>
          </a:p>
        </p:txBody>
      </p:sp>
      <p:sp>
        <p:nvSpPr>
          <p:cNvPr id="24" name="shape 24"/>
          <p:cNvSpPr txBox="1"/>
          <p:nvPr/>
        </p:nvSpPr>
        <p:spPr>
          <a:xfrm>
            <a:off x="3202305" y="1151501"/>
            <a:ext cx="51436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25" name="shape 25"/>
          <p:cNvSpPr txBox="1"/>
          <p:nvPr/>
        </p:nvSpPr>
        <p:spPr>
          <a:xfrm>
            <a:off x="3202305" y="1281702"/>
            <a:ext cx="51436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26" name="shape 26"/>
          <p:cNvSpPr txBox="1"/>
          <p:nvPr/>
        </p:nvSpPr>
        <p:spPr>
          <a:xfrm>
            <a:off x="3290570" y="1164201"/>
            <a:ext cx="114300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CA</a:t>
            </a:r>
            <a:endParaRPr/>
          </a:p>
        </p:txBody>
      </p:sp>
      <p:sp>
        <p:nvSpPr>
          <p:cNvPr id="27" name="shape 27"/>
          <p:cNvSpPr txBox="1"/>
          <p:nvPr/>
        </p:nvSpPr>
        <p:spPr>
          <a:xfrm>
            <a:off x="3435985" y="1151501"/>
            <a:ext cx="52071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28" name="shape 28"/>
          <p:cNvSpPr txBox="1"/>
          <p:nvPr/>
        </p:nvSpPr>
        <p:spPr>
          <a:xfrm>
            <a:off x="3435985" y="1281702"/>
            <a:ext cx="52071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29" name="shape 29"/>
          <p:cNvSpPr txBox="1"/>
          <p:nvPr/>
        </p:nvSpPr>
        <p:spPr>
          <a:xfrm>
            <a:off x="3550920" y="1164201"/>
            <a:ext cx="60325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1</a:t>
            </a:r>
            <a:endParaRPr/>
          </a:p>
        </p:txBody>
      </p:sp>
      <p:sp>
        <p:nvSpPr>
          <p:cNvPr id="30" name="shape 30"/>
          <p:cNvSpPr txBox="1"/>
          <p:nvPr/>
        </p:nvSpPr>
        <p:spPr>
          <a:xfrm>
            <a:off x="3842385" y="1151501"/>
            <a:ext cx="52071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31" name="shape 31"/>
          <p:cNvSpPr txBox="1"/>
          <p:nvPr/>
        </p:nvSpPr>
        <p:spPr>
          <a:xfrm>
            <a:off x="3842385" y="1281702"/>
            <a:ext cx="52071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32" name="shape 32"/>
          <p:cNvSpPr txBox="1"/>
          <p:nvPr/>
        </p:nvSpPr>
        <p:spPr>
          <a:xfrm>
            <a:off x="3935730" y="1164201"/>
            <a:ext cx="97155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A3</a:t>
            </a:r>
            <a:endParaRPr/>
          </a:p>
        </p:txBody>
      </p:sp>
      <p:sp>
        <p:nvSpPr>
          <p:cNvPr id="33" name="shape 33"/>
          <p:cNvSpPr txBox="1"/>
          <p:nvPr/>
        </p:nvSpPr>
        <p:spPr>
          <a:xfrm>
            <a:off x="4107815" y="1164201"/>
            <a:ext cx="97155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Y3</a:t>
            </a:r>
            <a:endParaRPr/>
          </a:p>
        </p:txBody>
      </p:sp>
      <p:sp>
        <p:nvSpPr>
          <p:cNvPr id="34" name="shape 34"/>
          <p:cNvSpPr txBox="1"/>
          <p:nvPr/>
        </p:nvSpPr>
        <p:spPr>
          <a:xfrm>
            <a:off x="4248150" y="1151501"/>
            <a:ext cx="52071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35" name="shape 35"/>
          <p:cNvSpPr txBox="1"/>
          <p:nvPr/>
        </p:nvSpPr>
        <p:spPr>
          <a:xfrm>
            <a:off x="4248150" y="1281702"/>
            <a:ext cx="52071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36" name="shape 36"/>
          <p:cNvSpPr txBox="1"/>
          <p:nvPr/>
        </p:nvSpPr>
        <p:spPr>
          <a:xfrm>
            <a:off x="4341495" y="1164201"/>
            <a:ext cx="104140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XX</a:t>
            </a:r>
            <a:endParaRPr/>
          </a:p>
        </p:txBody>
      </p:sp>
      <p:sp>
        <p:nvSpPr>
          <p:cNvPr id="37" name="shape 37"/>
          <p:cNvSpPr txBox="1"/>
          <p:nvPr/>
        </p:nvSpPr>
        <p:spPr>
          <a:xfrm>
            <a:off x="4513580" y="1164201"/>
            <a:ext cx="100330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TF</a:t>
            </a:r>
            <a:endParaRPr/>
          </a:p>
        </p:txBody>
      </p:sp>
      <p:sp>
        <p:nvSpPr>
          <p:cNvPr id="38" name="shape 38"/>
          <p:cNvSpPr txBox="1"/>
          <p:nvPr/>
        </p:nvSpPr>
        <p:spPr>
          <a:xfrm>
            <a:off x="4653915" y="1151501"/>
            <a:ext cx="52070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39" name="shape 39"/>
          <p:cNvSpPr txBox="1"/>
          <p:nvPr/>
        </p:nvSpPr>
        <p:spPr>
          <a:xfrm>
            <a:off x="4653915" y="1281702"/>
            <a:ext cx="52070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40" name="shape 40"/>
          <p:cNvSpPr txBox="1"/>
          <p:nvPr/>
        </p:nvSpPr>
        <p:spPr>
          <a:xfrm>
            <a:off x="4747895" y="1164201"/>
            <a:ext cx="104140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XX</a:t>
            </a:r>
            <a:endParaRPr/>
          </a:p>
        </p:txBody>
      </p:sp>
      <p:sp>
        <p:nvSpPr>
          <p:cNvPr id="41" name="shape 41"/>
          <p:cNvSpPr txBox="1"/>
          <p:nvPr/>
        </p:nvSpPr>
        <p:spPr>
          <a:xfrm>
            <a:off x="4888230" y="1151501"/>
            <a:ext cx="52071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42" name="shape 42"/>
          <p:cNvSpPr txBox="1"/>
          <p:nvPr/>
        </p:nvSpPr>
        <p:spPr>
          <a:xfrm>
            <a:off x="4888230" y="1281702"/>
            <a:ext cx="52071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43" name="shape 43"/>
          <p:cNvSpPr txBox="1"/>
          <p:nvPr/>
        </p:nvSpPr>
        <p:spPr>
          <a:xfrm>
            <a:off x="4961255" y="1164201"/>
            <a:ext cx="145416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B0A</a:t>
            </a:r>
            <a:endParaRPr/>
          </a:p>
        </p:txBody>
      </p:sp>
      <p:sp>
        <p:nvSpPr>
          <p:cNvPr id="44" name="shape 44"/>
          <p:cNvSpPr txBox="1"/>
          <p:nvPr/>
        </p:nvSpPr>
        <p:spPr>
          <a:xfrm>
            <a:off x="516890" y="2280063"/>
            <a:ext cx="1722121" cy="18791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11125" marR="12700" algn="just">
              <a:lnSpc>
                <a:spcPct val="137008"/>
              </a:lnSpc>
            </a:pPr>
            <a:r>
              <a:rPr sz="450" spc="5">
                <a:latin typeface="Arial"/>
                <a:cs typeface="Arial"/>
              </a:rPr>
              <a:t>NL Straight - Thick Washers (Stainless Steel Meter Only) </a:t>
            </a:r>
            <a:r>
              <a:rPr sz="450">
                <a:latin typeface="Arial"/>
                <a:cs typeface="Arial"/>
              </a:rPr>
              <a:t>None - Thick Washers</a:t>
            </a:r>
            <a:endParaRPr/>
          </a:p>
        </p:txBody>
      </p:sp>
      <p:sp>
        <p:nvSpPr>
          <p:cNvPr id="45" name="shape 45"/>
          <p:cNvSpPr txBox="1"/>
          <p:nvPr/>
        </p:nvSpPr>
        <p:spPr>
          <a:xfrm>
            <a:off x="516890" y="2473812"/>
            <a:ext cx="1722121" cy="1701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ACCESSORIES</a:t>
            </a:r>
            <a:endParaRPr/>
          </a:p>
          <a:p>
            <a:pPr marL="111125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None</a:t>
            </a:r>
            <a:endParaRPr/>
          </a:p>
        </p:txBody>
      </p:sp>
      <p:sp>
        <p:nvSpPr>
          <p:cNvPr id="46" name="shape 46"/>
          <p:cNvSpPr txBox="1"/>
          <p:nvPr/>
        </p:nvSpPr>
        <p:spPr>
          <a:xfrm>
            <a:off x="516890" y="2661814"/>
            <a:ext cx="1722121" cy="1701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REGISTRATION</a:t>
            </a:r>
            <a:endParaRPr/>
          </a:p>
          <a:p>
            <a:pPr marL="111125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Encoder</a:t>
            </a:r>
            <a:endParaRPr/>
          </a:p>
        </p:txBody>
      </p:sp>
      <p:sp>
        <p:nvSpPr>
          <p:cNvPr id="47" name="shape 47"/>
          <p:cNvSpPr txBox="1"/>
          <p:nvPr/>
        </p:nvSpPr>
        <p:spPr>
          <a:xfrm>
            <a:off x="516890" y="2849813"/>
            <a:ext cx="1722121" cy="1701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TECHNOLOGY</a:t>
            </a:r>
            <a:endParaRPr/>
          </a:p>
          <a:p>
            <a:pPr marL="111125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Meter with Cable (No Endpoint)</a:t>
            </a:r>
            <a:endParaRPr/>
          </a:p>
        </p:txBody>
      </p:sp>
      <p:sp>
        <p:nvSpPr>
          <p:cNvPr id="48" name="shape 48"/>
          <p:cNvSpPr txBox="1"/>
          <p:nvPr/>
        </p:nvSpPr>
        <p:spPr>
          <a:xfrm>
            <a:off x="516890" y="3037860"/>
            <a:ext cx="1722121" cy="1701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REGISTRATION FACE</a:t>
            </a:r>
            <a:endParaRPr/>
          </a:p>
          <a:p>
            <a:pPr marL="111125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Standard</a:t>
            </a:r>
            <a:endParaRPr/>
          </a:p>
        </p:txBody>
      </p:sp>
      <p:sp>
        <p:nvSpPr>
          <p:cNvPr id="49" name="shape 49"/>
          <p:cNvSpPr txBox="1"/>
          <p:nvPr/>
        </p:nvSpPr>
        <p:spPr>
          <a:xfrm>
            <a:off x="2650490" y="2292207"/>
            <a:ext cx="112396" cy="1625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SC</a:t>
            </a:r>
            <a:endParaRPr/>
          </a:p>
          <a:p>
            <a:pPr marL="1778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XT</a:t>
            </a:r>
            <a:endParaRPr/>
          </a:p>
        </p:txBody>
      </p:sp>
      <p:sp>
        <p:nvSpPr>
          <p:cNvPr id="50" name="shape 50"/>
          <p:cNvSpPr txBox="1"/>
          <p:nvPr/>
        </p:nvSpPr>
        <p:spPr>
          <a:xfrm>
            <a:off x="2847975" y="2574207"/>
            <a:ext cx="67946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X</a:t>
            </a:r>
            <a:endParaRPr/>
          </a:p>
        </p:txBody>
      </p:sp>
      <p:sp>
        <p:nvSpPr>
          <p:cNvPr id="51" name="shape 51"/>
          <p:cNvSpPr txBox="1"/>
          <p:nvPr/>
        </p:nvSpPr>
        <p:spPr>
          <a:xfrm>
            <a:off x="3061335" y="2762210"/>
            <a:ext cx="102870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E5</a:t>
            </a:r>
            <a:endParaRPr/>
          </a:p>
        </p:txBody>
      </p:sp>
      <p:sp>
        <p:nvSpPr>
          <p:cNvPr id="52" name="shape 52"/>
          <p:cNvSpPr txBox="1"/>
          <p:nvPr/>
        </p:nvSpPr>
        <p:spPr>
          <a:xfrm>
            <a:off x="3290570" y="2950163"/>
            <a:ext cx="114300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CA</a:t>
            </a:r>
            <a:endParaRPr/>
          </a:p>
        </p:txBody>
      </p:sp>
      <p:sp>
        <p:nvSpPr>
          <p:cNvPr id="53" name="shape 53"/>
          <p:cNvSpPr txBox="1"/>
          <p:nvPr/>
        </p:nvSpPr>
        <p:spPr>
          <a:xfrm>
            <a:off x="3550920" y="3138164"/>
            <a:ext cx="60325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1</a:t>
            </a:r>
            <a:endParaRPr/>
          </a:p>
        </p:txBody>
      </p:sp>
      <p:sp>
        <p:nvSpPr>
          <p:cNvPr id="54" name="shape 54"/>
          <p:cNvSpPr txBox="1"/>
          <p:nvPr/>
        </p:nvSpPr>
        <p:spPr>
          <a:xfrm>
            <a:off x="516890" y="3225861"/>
            <a:ext cx="2439035" cy="358089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UNIT OF MEASURE</a:t>
            </a:r>
            <a:r>
              <a:rPr sz="500" b="1" i="1" u="sng" spc="40">
                <a:latin typeface="Arial"/>
                <a:cs typeface="Arial"/>
              </a:rPr>
              <a:t> </a:t>
            </a:r>
            <a:r>
              <a:rPr sz="500" b="1" i="1" u="sng">
                <a:latin typeface="Arial"/>
                <a:cs typeface="Arial"/>
              </a:rPr>
              <a:t>/</a:t>
            </a:r>
            <a:r>
              <a:rPr sz="500" b="1" i="1" u="sng" spc="40">
                <a:latin typeface="Arial"/>
                <a:cs typeface="Arial"/>
              </a:rPr>
              <a:t> </a:t>
            </a:r>
            <a:r>
              <a:rPr sz="500" b="1" i="1" u="sng">
                <a:latin typeface="Arial"/>
                <a:cs typeface="Arial"/>
              </a:rPr>
              <a:t>DIAL RESOLUTION OUTPUT /</a:t>
            </a:r>
            <a:r>
              <a:rPr sz="500" b="1" i="1" u="sng" spc="40">
                <a:latin typeface="Arial"/>
                <a:cs typeface="Arial"/>
              </a:rPr>
              <a:t> </a:t>
            </a:r>
            <a:r>
              <a:rPr sz="500" b="1" i="1" u="sng">
                <a:latin typeface="Arial"/>
                <a:cs typeface="Arial"/>
              </a:rPr>
              <a:t>VISUAL BILLING UNITS</a:t>
            </a:r>
            <a:endParaRPr/>
          </a:p>
          <a:p>
            <a:pPr marL="111125" marR="1438910" algn="just">
              <a:lnSpc>
                <a:spcPct val="137173"/>
              </a:lnSpc>
              <a:spcBef>
                <a:spcPts val="200"/>
              </a:spcBef>
            </a:pPr>
            <a:r>
              <a:rPr sz="450" spc="10">
                <a:latin typeface="Arial"/>
                <a:cs typeface="Arial"/>
              </a:rPr>
              <a:t>9 Dial - 0.01 Gallon, GPM, 1000 </a:t>
            </a:r>
            <a:r>
              <a:rPr sz="450">
                <a:latin typeface="Arial"/>
                <a:cs typeface="Arial"/>
              </a:rPr>
              <a:t>9 Dial - 0.001 ft3, GPM, 100</a:t>
            </a:r>
            <a:endParaRPr/>
          </a:p>
          <a:p>
            <a:pPr marL="111125" algn="just"/>
            <a:r>
              <a:rPr sz="450">
                <a:latin typeface="Arial"/>
                <a:cs typeface="Arial"/>
              </a:rPr>
              <a:t>9 Dial - 0.0001 M3, GPM, 10</a:t>
            </a:r>
            <a:endParaRPr/>
          </a:p>
        </p:txBody>
      </p:sp>
      <p:sp>
        <p:nvSpPr>
          <p:cNvPr id="55" name="shape 55"/>
          <p:cNvSpPr txBox="1"/>
          <p:nvPr/>
        </p:nvSpPr>
        <p:spPr>
          <a:xfrm>
            <a:off x="516890" y="3601817"/>
            <a:ext cx="2439035" cy="1701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TESTING</a:t>
            </a:r>
            <a:endParaRPr/>
          </a:p>
          <a:p>
            <a:pPr marL="111125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BADGER STD (TS-421)</a:t>
            </a:r>
            <a:endParaRPr/>
          </a:p>
        </p:txBody>
      </p:sp>
      <p:sp>
        <p:nvSpPr>
          <p:cNvPr id="56" name="shape 56"/>
          <p:cNvSpPr txBox="1"/>
          <p:nvPr/>
        </p:nvSpPr>
        <p:spPr>
          <a:xfrm>
            <a:off x="516890" y="3789817"/>
            <a:ext cx="2439035" cy="1701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SERIALIZATION</a:t>
            </a:r>
            <a:endParaRPr/>
          </a:p>
          <a:p>
            <a:pPr marL="111125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Year of Mfg | 9 Digit S/N | Barcoded | Primary and Lid Outside</a:t>
            </a:r>
            <a:endParaRPr/>
          </a:p>
        </p:txBody>
      </p:sp>
      <p:sp>
        <p:nvSpPr>
          <p:cNvPr id="57" name="shape 57"/>
          <p:cNvSpPr txBox="1"/>
          <p:nvPr/>
        </p:nvSpPr>
        <p:spPr>
          <a:xfrm>
            <a:off x="516890" y="3977865"/>
            <a:ext cx="2439035" cy="1701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APPLICATION (See Note)</a:t>
            </a:r>
            <a:endParaRPr/>
          </a:p>
          <a:p>
            <a:pPr marL="111125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None</a:t>
            </a:r>
            <a:endParaRPr/>
          </a:p>
        </p:txBody>
      </p:sp>
      <p:sp>
        <p:nvSpPr>
          <p:cNvPr id="58" name="shape 58"/>
          <p:cNvSpPr txBox="1"/>
          <p:nvPr/>
        </p:nvSpPr>
        <p:spPr>
          <a:xfrm>
            <a:off x="516890" y="4158311"/>
            <a:ext cx="2439035" cy="189662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509395" algn="r">
              <a:lnSpc>
                <a:spcPct val="130801"/>
              </a:lnSpc>
            </a:pPr>
            <a:r>
              <a:rPr sz="500" b="1" i="1" u="sng">
                <a:latin typeface="Arial"/>
                <a:cs typeface="Arial"/>
              </a:rPr>
              <a:t>WIRING METHOD (See Note) </a:t>
            </a:r>
            <a:r>
              <a:rPr sz="450">
                <a:latin typeface="Arial"/>
                <a:cs typeface="Arial"/>
              </a:rPr>
              <a:t>Twist Tight - 5 ft (MTR, ASSY)</a:t>
            </a:r>
            <a:endParaRPr/>
          </a:p>
        </p:txBody>
      </p:sp>
      <p:sp>
        <p:nvSpPr>
          <p:cNvPr id="59" name="shape 59"/>
          <p:cNvSpPr txBox="1"/>
          <p:nvPr/>
        </p:nvSpPr>
        <p:spPr>
          <a:xfrm>
            <a:off x="516890" y="4353821"/>
            <a:ext cx="2439035" cy="1701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ENDPOINT SHIPMENT MODE</a:t>
            </a:r>
            <a:endParaRPr/>
          </a:p>
          <a:p>
            <a:pPr marL="111125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N/A</a:t>
            </a:r>
            <a:endParaRPr/>
          </a:p>
        </p:txBody>
      </p:sp>
      <p:sp>
        <p:nvSpPr>
          <p:cNvPr id="60" name="shape 60"/>
          <p:cNvSpPr txBox="1"/>
          <p:nvPr/>
        </p:nvSpPr>
        <p:spPr>
          <a:xfrm>
            <a:off x="516890" y="4541821"/>
            <a:ext cx="2439035" cy="1701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RESERVED</a:t>
            </a:r>
            <a:endParaRPr/>
          </a:p>
          <a:p>
            <a:pPr marL="111125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Standard</a:t>
            </a:r>
            <a:endParaRPr/>
          </a:p>
        </p:txBody>
      </p:sp>
      <p:sp>
        <p:nvSpPr>
          <p:cNvPr id="61" name="shape 61"/>
          <p:cNvSpPr txBox="1"/>
          <p:nvPr/>
        </p:nvSpPr>
        <p:spPr>
          <a:xfrm>
            <a:off x="3675380" y="3326165"/>
            <a:ext cx="154941" cy="25654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415"/>
            <a:r>
              <a:rPr sz="450">
                <a:latin typeface="Arial"/>
                <a:cs typeface="Arial"/>
              </a:rPr>
              <a:t>9AE</a:t>
            </a:r>
            <a:endParaRPr/>
          </a:p>
          <a:p>
            <a:pPr marL="18415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9FD</a:t>
            </a:r>
            <a:endParaRPr/>
          </a:p>
          <a:p>
            <a:pPr marL="1270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9MC</a:t>
            </a:r>
            <a:endParaRPr/>
          </a:p>
        </p:txBody>
      </p:sp>
      <p:sp>
        <p:nvSpPr>
          <p:cNvPr id="62" name="shape 62"/>
          <p:cNvSpPr txBox="1"/>
          <p:nvPr/>
        </p:nvSpPr>
        <p:spPr>
          <a:xfrm>
            <a:off x="3935730" y="3702213"/>
            <a:ext cx="97155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A3</a:t>
            </a:r>
            <a:endParaRPr/>
          </a:p>
        </p:txBody>
      </p:sp>
      <p:sp>
        <p:nvSpPr>
          <p:cNvPr id="63" name="shape 63"/>
          <p:cNvSpPr txBox="1"/>
          <p:nvPr/>
        </p:nvSpPr>
        <p:spPr>
          <a:xfrm>
            <a:off x="4107815" y="3890168"/>
            <a:ext cx="97155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Y3</a:t>
            </a:r>
            <a:endParaRPr/>
          </a:p>
        </p:txBody>
      </p:sp>
      <p:sp>
        <p:nvSpPr>
          <p:cNvPr id="64" name="shape 64"/>
          <p:cNvSpPr txBox="1"/>
          <p:nvPr/>
        </p:nvSpPr>
        <p:spPr>
          <a:xfrm>
            <a:off x="4341495" y="4078169"/>
            <a:ext cx="104140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XX</a:t>
            </a:r>
            <a:endParaRPr/>
          </a:p>
        </p:txBody>
      </p:sp>
      <p:sp>
        <p:nvSpPr>
          <p:cNvPr id="65" name="shape 65"/>
          <p:cNvSpPr txBox="1"/>
          <p:nvPr/>
        </p:nvSpPr>
        <p:spPr>
          <a:xfrm>
            <a:off x="4513580" y="4266170"/>
            <a:ext cx="100966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TF</a:t>
            </a:r>
            <a:endParaRPr/>
          </a:p>
        </p:txBody>
      </p:sp>
      <p:sp>
        <p:nvSpPr>
          <p:cNvPr id="66" name="shape 66"/>
          <p:cNvSpPr txBox="1"/>
          <p:nvPr/>
        </p:nvSpPr>
        <p:spPr>
          <a:xfrm>
            <a:off x="4747895" y="4454217"/>
            <a:ext cx="104140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XX</a:t>
            </a:r>
            <a:endParaRPr/>
          </a:p>
        </p:txBody>
      </p:sp>
      <p:sp>
        <p:nvSpPr>
          <p:cNvPr id="67" name="shape 67"/>
          <p:cNvSpPr txBox="1"/>
          <p:nvPr/>
        </p:nvSpPr>
        <p:spPr>
          <a:xfrm>
            <a:off x="4961255" y="4637489"/>
            <a:ext cx="145416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B0A</a:t>
            </a:r>
            <a:endParaRPr/>
          </a:p>
        </p:txBody>
      </p:sp>
      <p:sp>
        <p:nvSpPr>
          <p:cNvPr id="68" name="shape 68"/>
          <p:cNvSpPr txBox="1"/>
          <p:nvPr/>
        </p:nvSpPr>
        <p:spPr>
          <a:xfrm>
            <a:off x="444500" y="4889500"/>
            <a:ext cx="1024890" cy="1524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000" b="1" spc="-25">
                <a:solidFill>
                  <a:srgbClr val="231F20"/>
                </a:solidFill>
                <a:latin typeface="Arial"/>
                <a:cs typeface="Arial"/>
              </a:rPr>
              <a:t>Meter 3/4 x 9 inch</a:t>
            </a:r>
            <a:endParaRPr/>
          </a:p>
        </p:txBody>
      </p:sp>
      <p:sp>
        <p:nvSpPr>
          <p:cNvPr id="69" name="shape 69"/>
          <p:cNvSpPr txBox="1"/>
          <p:nvPr/>
        </p:nvSpPr>
        <p:spPr>
          <a:xfrm>
            <a:off x="522605" y="5199665"/>
            <a:ext cx="1409700" cy="2413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750" b="1">
                <a:latin typeface="Arial"/>
                <a:cs typeface="Arial"/>
              </a:rPr>
              <a:t>Dynasonics</a:t>
            </a:r>
            <a:endParaRPr/>
          </a:p>
          <a:p>
            <a:pPr marL="12700">
              <a:spcBef>
                <a:spcPts val="100"/>
              </a:spcBef>
            </a:pPr>
            <a:r>
              <a:rPr sz="750" b="1">
                <a:latin typeface="Arial"/>
                <a:cs typeface="Arial"/>
              </a:rPr>
              <a:t>U500w Ultrasonic Meters</a:t>
            </a:r>
            <a:endParaRPr/>
          </a:p>
        </p:txBody>
      </p:sp>
      <p:sp>
        <p:nvSpPr>
          <p:cNvPr id="70" name="shape 70"/>
          <p:cNvSpPr txBox="1"/>
          <p:nvPr/>
        </p:nvSpPr>
        <p:spPr>
          <a:xfrm>
            <a:off x="522605" y="5441329"/>
            <a:ext cx="1409700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PRODUCT TYPE</a:t>
            </a:r>
            <a:endParaRPr/>
          </a:p>
        </p:txBody>
      </p:sp>
      <p:sp>
        <p:nvSpPr>
          <p:cNvPr id="71" name="shape 71"/>
          <p:cNvSpPr txBox="1"/>
          <p:nvPr/>
        </p:nvSpPr>
        <p:spPr>
          <a:xfrm>
            <a:off x="522605" y="5634184"/>
            <a:ext cx="1409700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10490"/>
            <a:r>
              <a:rPr sz="450">
                <a:latin typeface="Arial"/>
                <a:cs typeface="Arial"/>
              </a:rPr>
              <a:t>Stainless  Steel Meter</a:t>
            </a:r>
            <a:endParaRPr/>
          </a:p>
        </p:txBody>
      </p:sp>
      <p:sp>
        <p:nvSpPr>
          <p:cNvPr id="72" name="shape 72"/>
          <p:cNvSpPr txBox="1"/>
          <p:nvPr/>
        </p:nvSpPr>
        <p:spPr>
          <a:xfrm>
            <a:off x="522605" y="5721153"/>
            <a:ext cx="1409700" cy="1701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METER TYPE</a:t>
            </a:r>
            <a:endParaRPr/>
          </a:p>
          <a:p>
            <a:pPr marL="11049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3/4 in. (3/4 x 9 in.)</a:t>
            </a:r>
            <a:endParaRPr/>
          </a:p>
        </p:txBody>
      </p:sp>
      <p:sp>
        <p:nvSpPr>
          <p:cNvPr id="73" name="shape 73"/>
          <p:cNvSpPr txBox="1"/>
          <p:nvPr/>
        </p:nvSpPr>
        <p:spPr>
          <a:xfrm>
            <a:off x="522605" y="5907704"/>
            <a:ext cx="1409700" cy="264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WATER APPLICATION</a:t>
            </a:r>
            <a:endParaRPr/>
          </a:p>
          <a:p>
            <a:pPr marL="11049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Potable Water</a:t>
            </a:r>
            <a:endParaRPr/>
          </a:p>
          <a:p>
            <a:pPr marL="11049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Reclaimed Water (Stainless</a:t>
            </a:r>
            <a:r>
              <a:rPr sz="450" spc="40">
                <a:latin typeface="Arial"/>
                <a:cs typeface="Arial"/>
              </a:rPr>
              <a:t> </a:t>
            </a:r>
            <a:r>
              <a:rPr sz="450">
                <a:latin typeface="Arial"/>
                <a:cs typeface="Arial"/>
              </a:rPr>
              <a:t>Steel Meter Only)</a:t>
            </a:r>
            <a:endParaRPr/>
          </a:p>
        </p:txBody>
      </p:sp>
      <p:sp>
        <p:nvSpPr>
          <p:cNvPr id="74" name="shape 74"/>
          <p:cNvSpPr txBox="1"/>
          <p:nvPr/>
        </p:nvSpPr>
        <p:spPr>
          <a:xfrm>
            <a:off x="522605" y="6187529"/>
            <a:ext cx="1409700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CONNECTIONS  /  GASKETS</a:t>
            </a:r>
            <a:endParaRPr/>
          </a:p>
        </p:txBody>
      </p:sp>
      <p:sp>
        <p:nvSpPr>
          <p:cNvPr id="75" name="shape 75"/>
          <p:cNvSpPr txBox="1"/>
          <p:nvPr/>
        </p:nvSpPr>
        <p:spPr>
          <a:xfrm>
            <a:off x="2004060" y="5261083"/>
            <a:ext cx="131445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30480"/>
            <a:r>
              <a:rPr sz="450">
                <a:latin typeface="Arial"/>
                <a:cs typeface="Arial"/>
              </a:rPr>
              <a:t>UB</a:t>
            </a:r>
            <a:endParaRPr/>
          </a:p>
        </p:txBody>
      </p:sp>
      <p:sp>
        <p:nvSpPr>
          <p:cNvPr id="76" name="shape 76"/>
          <p:cNvSpPr txBox="1"/>
          <p:nvPr/>
        </p:nvSpPr>
        <p:spPr>
          <a:xfrm>
            <a:off x="2004060" y="5634184"/>
            <a:ext cx="131445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UB</a:t>
            </a:r>
            <a:endParaRPr/>
          </a:p>
        </p:txBody>
      </p:sp>
      <p:sp>
        <p:nvSpPr>
          <p:cNvPr id="77" name="shape 77"/>
          <p:cNvSpPr txBox="1"/>
          <p:nvPr/>
        </p:nvSpPr>
        <p:spPr>
          <a:xfrm>
            <a:off x="2148840" y="5248429"/>
            <a:ext cx="52071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78" name="shape 78"/>
          <p:cNvSpPr txBox="1"/>
          <p:nvPr/>
        </p:nvSpPr>
        <p:spPr>
          <a:xfrm>
            <a:off x="2148840" y="5377722"/>
            <a:ext cx="52071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79" name="shape 79"/>
          <p:cNvSpPr txBox="1"/>
          <p:nvPr/>
        </p:nvSpPr>
        <p:spPr>
          <a:xfrm>
            <a:off x="2216150" y="5261129"/>
            <a:ext cx="149861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EBB</a:t>
            </a:r>
            <a:endParaRPr/>
          </a:p>
        </p:txBody>
      </p:sp>
      <p:sp>
        <p:nvSpPr>
          <p:cNvPr id="80" name="shape 80"/>
          <p:cNvSpPr txBox="1"/>
          <p:nvPr/>
        </p:nvSpPr>
        <p:spPr>
          <a:xfrm>
            <a:off x="2216150" y="5820733"/>
            <a:ext cx="149861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EBB</a:t>
            </a:r>
            <a:endParaRPr/>
          </a:p>
        </p:txBody>
      </p:sp>
      <p:sp>
        <p:nvSpPr>
          <p:cNvPr id="81" name="shape 81"/>
          <p:cNvSpPr txBox="1"/>
          <p:nvPr/>
        </p:nvSpPr>
        <p:spPr>
          <a:xfrm>
            <a:off x="2381250" y="5248429"/>
            <a:ext cx="52071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82" name="shape 82"/>
          <p:cNvSpPr txBox="1"/>
          <p:nvPr/>
        </p:nvSpPr>
        <p:spPr>
          <a:xfrm>
            <a:off x="2381250" y="5377722"/>
            <a:ext cx="52071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83" name="shape 83"/>
          <p:cNvSpPr txBox="1"/>
          <p:nvPr/>
        </p:nvSpPr>
        <p:spPr>
          <a:xfrm>
            <a:off x="2489835" y="6007283"/>
            <a:ext cx="70486" cy="1625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P</a:t>
            </a:r>
            <a:endParaRPr/>
          </a:p>
          <a:p>
            <a:pPr marL="1270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R</a:t>
            </a:r>
            <a:endParaRPr/>
          </a:p>
        </p:txBody>
      </p:sp>
      <p:sp>
        <p:nvSpPr>
          <p:cNvPr id="84" name="shape 84"/>
          <p:cNvSpPr txBox="1"/>
          <p:nvPr/>
        </p:nvSpPr>
        <p:spPr>
          <a:xfrm>
            <a:off x="2835910" y="5261129"/>
            <a:ext cx="67311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X</a:t>
            </a:r>
            <a:endParaRPr/>
          </a:p>
        </p:txBody>
      </p:sp>
      <p:sp>
        <p:nvSpPr>
          <p:cNvPr id="85" name="shape 85"/>
          <p:cNvSpPr txBox="1"/>
          <p:nvPr/>
        </p:nvSpPr>
        <p:spPr>
          <a:xfrm>
            <a:off x="2954655" y="5248429"/>
            <a:ext cx="5143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86" name="shape 86"/>
          <p:cNvSpPr txBox="1"/>
          <p:nvPr/>
        </p:nvSpPr>
        <p:spPr>
          <a:xfrm>
            <a:off x="2954655" y="5377722"/>
            <a:ext cx="51436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87" name="shape 87"/>
          <p:cNvSpPr txBox="1"/>
          <p:nvPr/>
        </p:nvSpPr>
        <p:spPr>
          <a:xfrm>
            <a:off x="3047365" y="5261129"/>
            <a:ext cx="102236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E5</a:t>
            </a:r>
            <a:endParaRPr/>
          </a:p>
        </p:txBody>
      </p:sp>
      <p:sp>
        <p:nvSpPr>
          <p:cNvPr id="88" name="shape 88"/>
          <p:cNvSpPr txBox="1"/>
          <p:nvPr/>
        </p:nvSpPr>
        <p:spPr>
          <a:xfrm>
            <a:off x="3187065" y="5248429"/>
            <a:ext cx="5143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89" name="shape 89"/>
          <p:cNvSpPr txBox="1"/>
          <p:nvPr/>
        </p:nvSpPr>
        <p:spPr>
          <a:xfrm>
            <a:off x="3187065" y="5377722"/>
            <a:ext cx="51436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90" name="shape 90"/>
          <p:cNvSpPr txBox="1"/>
          <p:nvPr/>
        </p:nvSpPr>
        <p:spPr>
          <a:xfrm>
            <a:off x="3274695" y="5261129"/>
            <a:ext cx="113665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CA</a:t>
            </a:r>
            <a:endParaRPr/>
          </a:p>
        </p:txBody>
      </p:sp>
      <p:sp>
        <p:nvSpPr>
          <p:cNvPr id="91" name="shape 91"/>
          <p:cNvSpPr txBox="1"/>
          <p:nvPr/>
        </p:nvSpPr>
        <p:spPr>
          <a:xfrm>
            <a:off x="3419475" y="5248429"/>
            <a:ext cx="5143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92" name="shape 92"/>
          <p:cNvSpPr txBox="1"/>
          <p:nvPr/>
        </p:nvSpPr>
        <p:spPr>
          <a:xfrm>
            <a:off x="3419475" y="5377722"/>
            <a:ext cx="51435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93" name="shape 93"/>
          <p:cNvSpPr txBox="1"/>
          <p:nvPr/>
        </p:nvSpPr>
        <p:spPr>
          <a:xfrm>
            <a:off x="3533140" y="5261129"/>
            <a:ext cx="60325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1</a:t>
            </a:r>
            <a:endParaRPr/>
          </a:p>
        </p:txBody>
      </p:sp>
      <p:sp>
        <p:nvSpPr>
          <p:cNvPr id="94" name="shape 94"/>
          <p:cNvSpPr txBox="1"/>
          <p:nvPr/>
        </p:nvSpPr>
        <p:spPr>
          <a:xfrm>
            <a:off x="3822065" y="5248429"/>
            <a:ext cx="5207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95" name="shape 95"/>
          <p:cNvSpPr txBox="1"/>
          <p:nvPr/>
        </p:nvSpPr>
        <p:spPr>
          <a:xfrm>
            <a:off x="3822065" y="5377722"/>
            <a:ext cx="52070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96" name="shape 96"/>
          <p:cNvSpPr txBox="1"/>
          <p:nvPr/>
        </p:nvSpPr>
        <p:spPr>
          <a:xfrm>
            <a:off x="3915410" y="5261129"/>
            <a:ext cx="96521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A3</a:t>
            </a:r>
            <a:endParaRPr/>
          </a:p>
        </p:txBody>
      </p:sp>
      <p:sp>
        <p:nvSpPr>
          <p:cNvPr id="97" name="shape 97"/>
          <p:cNvSpPr txBox="1"/>
          <p:nvPr/>
        </p:nvSpPr>
        <p:spPr>
          <a:xfrm>
            <a:off x="4085590" y="5261129"/>
            <a:ext cx="96520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Y3</a:t>
            </a:r>
            <a:endParaRPr/>
          </a:p>
        </p:txBody>
      </p:sp>
      <p:sp>
        <p:nvSpPr>
          <p:cNvPr id="98" name="shape 98"/>
          <p:cNvSpPr txBox="1"/>
          <p:nvPr/>
        </p:nvSpPr>
        <p:spPr>
          <a:xfrm>
            <a:off x="4224655" y="5248429"/>
            <a:ext cx="52071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99" name="shape 99"/>
          <p:cNvSpPr txBox="1"/>
          <p:nvPr/>
        </p:nvSpPr>
        <p:spPr>
          <a:xfrm>
            <a:off x="4224655" y="5377722"/>
            <a:ext cx="52071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100" name="shape 100"/>
          <p:cNvSpPr txBox="1"/>
          <p:nvPr/>
        </p:nvSpPr>
        <p:spPr>
          <a:xfrm>
            <a:off x="4318000" y="5261129"/>
            <a:ext cx="103505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XX</a:t>
            </a:r>
            <a:endParaRPr/>
          </a:p>
        </p:txBody>
      </p:sp>
      <p:sp>
        <p:nvSpPr>
          <p:cNvPr id="101" name="shape 101"/>
          <p:cNvSpPr txBox="1"/>
          <p:nvPr/>
        </p:nvSpPr>
        <p:spPr>
          <a:xfrm>
            <a:off x="4488180" y="5261129"/>
            <a:ext cx="100330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TF</a:t>
            </a:r>
            <a:endParaRPr/>
          </a:p>
        </p:txBody>
      </p:sp>
      <p:sp>
        <p:nvSpPr>
          <p:cNvPr id="102" name="shape 102"/>
          <p:cNvSpPr txBox="1"/>
          <p:nvPr/>
        </p:nvSpPr>
        <p:spPr>
          <a:xfrm>
            <a:off x="4627880" y="5248429"/>
            <a:ext cx="5143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103" name="shape 103"/>
          <p:cNvSpPr txBox="1"/>
          <p:nvPr/>
        </p:nvSpPr>
        <p:spPr>
          <a:xfrm>
            <a:off x="444500" y="428625"/>
            <a:ext cx="3923030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i="1" spc="-55">
                <a:solidFill>
                  <a:srgbClr val="231F20"/>
                </a:solidFill>
                <a:latin typeface="Arial"/>
                <a:cs typeface="Arial"/>
              </a:rPr>
              <a:t>U500w Ultrasonic Meter, Cold Water Stainless Steel Meter, 5/8, 5/8 x 3/4, 3/4 and 1 inch</a:t>
            </a:r>
            <a:endParaRPr/>
          </a:p>
        </p:txBody>
      </p:sp>
      <p:sp>
        <p:nvSpPr>
          <p:cNvPr id="104" name="shape 104"/>
          <p:cNvSpPr txBox="1"/>
          <p:nvPr/>
        </p:nvSpPr>
        <p:spPr>
          <a:xfrm>
            <a:off x="4720590" y="5261129"/>
            <a:ext cx="103505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XX</a:t>
            </a:r>
            <a:endParaRPr/>
          </a:p>
        </p:txBody>
      </p:sp>
      <p:sp>
        <p:nvSpPr>
          <p:cNvPr id="105" name="shape 105"/>
          <p:cNvSpPr txBox="1"/>
          <p:nvPr/>
        </p:nvSpPr>
        <p:spPr>
          <a:xfrm>
            <a:off x="4860290" y="5248429"/>
            <a:ext cx="5143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106" name="shape 106"/>
          <p:cNvSpPr txBox="1"/>
          <p:nvPr/>
        </p:nvSpPr>
        <p:spPr>
          <a:xfrm>
            <a:off x="4860290" y="5377722"/>
            <a:ext cx="51435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107" name="shape 107"/>
          <p:cNvSpPr txBox="1"/>
          <p:nvPr/>
        </p:nvSpPr>
        <p:spPr>
          <a:xfrm>
            <a:off x="4932680" y="5261129"/>
            <a:ext cx="144780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B0A</a:t>
            </a:r>
            <a:endParaRPr/>
          </a:p>
        </p:txBody>
      </p:sp>
      <p:sp>
        <p:nvSpPr>
          <p:cNvPr id="108" name="shape 108"/>
          <p:cNvSpPr txBox="1"/>
          <p:nvPr/>
        </p:nvSpPr>
        <p:spPr>
          <a:xfrm>
            <a:off x="522605" y="6368839"/>
            <a:ext cx="1709421" cy="186538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10490" marR="12700" algn="just">
              <a:lnSpc>
                <a:spcPct val="135950"/>
              </a:lnSpc>
            </a:pPr>
            <a:r>
              <a:rPr sz="450">
                <a:latin typeface="Arial"/>
                <a:cs typeface="Arial"/>
              </a:rPr>
              <a:t>NL Straight - Thick Washers (Stainless Steel Meter Only) None - Thick Washers</a:t>
            </a:r>
            <a:endParaRPr/>
          </a:p>
        </p:txBody>
      </p:sp>
      <p:sp>
        <p:nvSpPr>
          <p:cNvPr id="109" name="shape 109"/>
          <p:cNvSpPr txBox="1"/>
          <p:nvPr/>
        </p:nvSpPr>
        <p:spPr>
          <a:xfrm>
            <a:off x="522605" y="6560583"/>
            <a:ext cx="1709421" cy="1701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ACCESSORIES</a:t>
            </a:r>
            <a:endParaRPr/>
          </a:p>
          <a:p>
            <a:pPr marL="11049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None</a:t>
            </a:r>
            <a:endParaRPr/>
          </a:p>
        </p:txBody>
      </p:sp>
      <p:sp>
        <p:nvSpPr>
          <p:cNvPr id="110" name="shape 110"/>
          <p:cNvSpPr txBox="1"/>
          <p:nvPr/>
        </p:nvSpPr>
        <p:spPr>
          <a:xfrm>
            <a:off x="522605" y="6747133"/>
            <a:ext cx="1709421" cy="1701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REGISTRATION</a:t>
            </a:r>
            <a:endParaRPr/>
          </a:p>
          <a:p>
            <a:pPr marL="11049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Encoder</a:t>
            </a:r>
            <a:endParaRPr/>
          </a:p>
        </p:txBody>
      </p:sp>
      <p:sp>
        <p:nvSpPr>
          <p:cNvPr id="111" name="shape 111"/>
          <p:cNvSpPr txBox="1"/>
          <p:nvPr/>
        </p:nvSpPr>
        <p:spPr>
          <a:xfrm>
            <a:off x="522605" y="6933683"/>
            <a:ext cx="1709421" cy="1701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TECHNOLOGY</a:t>
            </a:r>
            <a:endParaRPr/>
          </a:p>
          <a:p>
            <a:pPr marL="11049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Meter with Cable (No Endpoint)</a:t>
            </a:r>
            <a:endParaRPr/>
          </a:p>
        </p:txBody>
      </p:sp>
      <p:sp>
        <p:nvSpPr>
          <p:cNvPr id="112" name="shape 112"/>
          <p:cNvSpPr txBox="1"/>
          <p:nvPr/>
        </p:nvSpPr>
        <p:spPr>
          <a:xfrm>
            <a:off x="522605" y="7120280"/>
            <a:ext cx="1709421" cy="1701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REGISTRATION FACE</a:t>
            </a:r>
            <a:endParaRPr/>
          </a:p>
          <a:p>
            <a:pPr marL="11049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Standard</a:t>
            </a:r>
            <a:endParaRPr/>
          </a:p>
        </p:txBody>
      </p:sp>
      <p:sp>
        <p:nvSpPr>
          <p:cNvPr id="113" name="shape 113"/>
          <p:cNvSpPr txBox="1"/>
          <p:nvPr/>
        </p:nvSpPr>
        <p:spPr>
          <a:xfrm>
            <a:off x="2639695" y="6380429"/>
            <a:ext cx="111760" cy="16256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SC</a:t>
            </a:r>
            <a:endParaRPr/>
          </a:p>
          <a:p>
            <a:pPr marL="1778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XT</a:t>
            </a:r>
            <a:endParaRPr/>
          </a:p>
        </p:txBody>
      </p:sp>
      <p:sp>
        <p:nvSpPr>
          <p:cNvPr id="114" name="shape 114"/>
          <p:cNvSpPr txBox="1"/>
          <p:nvPr/>
        </p:nvSpPr>
        <p:spPr>
          <a:xfrm>
            <a:off x="2835910" y="6660254"/>
            <a:ext cx="67311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X</a:t>
            </a:r>
            <a:endParaRPr/>
          </a:p>
        </p:txBody>
      </p:sp>
      <p:sp>
        <p:nvSpPr>
          <p:cNvPr id="115" name="shape 115"/>
          <p:cNvSpPr txBox="1"/>
          <p:nvPr/>
        </p:nvSpPr>
        <p:spPr>
          <a:xfrm>
            <a:off x="3047365" y="6846804"/>
            <a:ext cx="102236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E5</a:t>
            </a:r>
            <a:endParaRPr/>
          </a:p>
        </p:txBody>
      </p:sp>
      <p:sp>
        <p:nvSpPr>
          <p:cNvPr id="116" name="shape 116"/>
          <p:cNvSpPr txBox="1"/>
          <p:nvPr/>
        </p:nvSpPr>
        <p:spPr>
          <a:xfrm>
            <a:off x="3274695" y="7033309"/>
            <a:ext cx="113665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CA</a:t>
            </a:r>
            <a:endParaRPr/>
          </a:p>
        </p:txBody>
      </p:sp>
      <p:sp>
        <p:nvSpPr>
          <p:cNvPr id="117" name="shape 117"/>
          <p:cNvSpPr txBox="1"/>
          <p:nvPr/>
        </p:nvSpPr>
        <p:spPr>
          <a:xfrm>
            <a:off x="3533140" y="7219859"/>
            <a:ext cx="60325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1</a:t>
            </a:r>
            <a:endParaRPr/>
          </a:p>
        </p:txBody>
      </p:sp>
      <p:sp>
        <p:nvSpPr>
          <p:cNvPr id="118" name="shape 118"/>
          <p:cNvSpPr txBox="1"/>
          <p:nvPr/>
        </p:nvSpPr>
        <p:spPr>
          <a:xfrm>
            <a:off x="522605" y="7306829"/>
            <a:ext cx="2419985" cy="356718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UNIT OF MEASURE</a:t>
            </a:r>
            <a:r>
              <a:rPr sz="500" b="1" i="1" u="sng" spc="35">
                <a:latin typeface="Arial"/>
                <a:cs typeface="Arial"/>
              </a:rPr>
              <a:t> </a:t>
            </a:r>
            <a:r>
              <a:rPr sz="500" b="1" i="1" u="sng">
                <a:latin typeface="Arial"/>
                <a:cs typeface="Arial"/>
              </a:rPr>
              <a:t>/</a:t>
            </a:r>
            <a:r>
              <a:rPr sz="500" b="1" i="1" u="sng" spc="40">
                <a:latin typeface="Arial"/>
                <a:cs typeface="Arial"/>
              </a:rPr>
              <a:t> </a:t>
            </a:r>
            <a:r>
              <a:rPr sz="500" b="1" i="1" u="sng">
                <a:latin typeface="Arial"/>
                <a:cs typeface="Arial"/>
              </a:rPr>
              <a:t>DIAL RESOLUTION OUTPUT /</a:t>
            </a:r>
            <a:r>
              <a:rPr sz="500" b="1" i="1" u="sng" spc="40">
                <a:latin typeface="Arial"/>
                <a:cs typeface="Arial"/>
              </a:rPr>
              <a:t> </a:t>
            </a:r>
            <a:r>
              <a:rPr sz="500" b="1" i="1" u="sng">
                <a:latin typeface="Arial"/>
                <a:cs typeface="Arial"/>
              </a:rPr>
              <a:t>VISUAL BILLING UNITS</a:t>
            </a:r>
            <a:endParaRPr/>
          </a:p>
          <a:p>
            <a:pPr marL="110490" marR="1427480" algn="just">
              <a:lnSpc>
                <a:spcPct val="136113"/>
              </a:lnSpc>
              <a:spcBef>
                <a:spcPts val="200"/>
              </a:spcBef>
            </a:pPr>
            <a:r>
              <a:rPr sz="450" spc="10">
                <a:latin typeface="Arial"/>
                <a:cs typeface="Arial"/>
              </a:rPr>
              <a:t>9 Dial - 0.01 Gallon, GPM, 1000 </a:t>
            </a:r>
            <a:r>
              <a:rPr sz="450">
                <a:latin typeface="Arial"/>
                <a:cs typeface="Arial"/>
              </a:rPr>
              <a:t>9 Dial - 0.001 ft3, GPM, 100</a:t>
            </a:r>
            <a:endParaRPr/>
          </a:p>
          <a:p>
            <a:pPr marL="110490" algn="just"/>
            <a:r>
              <a:rPr sz="450">
                <a:latin typeface="Arial"/>
                <a:cs typeface="Arial"/>
              </a:rPr>
              <a:t>9 Dial - 0.0001 M3, GPM, 10</a:t>
            </a:r>
            <a:endParaRPr/>
          </a:p>
        </p:txBody>
      </p:sp>
      <p:sp>
        <p:nvSpPr>
          <p:cNvPr id="119" name="shape 119"/>
          <p:cNvSpPr txBox="1"/>
          <p:nvPr/>
        </p:nvSpPr>
        <p:spPr>
          <a:xfrm>
            <a:off x="4627880" y="5377722"/>
            <a:ext cx="51436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120" name="shape 120"/>
          <p:cNvSpPr txBox="1"/>
          <p:nvPr/>
        </p:nvSpPr>
        <p:spPr>
          <a:xfrm>
            <a:off x="522605" y="7866433"/>
            <a:ext cx="2419985" cy="1701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SERIALIZATION</a:t>
            </a:r>
            <a:endParaRPr/>
          </a:p>
          <a:p>
            <a:pPr marL="11049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Year of Mfg | 9 Digit S/N | Barcoded | Primary and Lid Outside</a:t>
            </a:r>
            <a:endParaRPr/>
          </a:p>
        </p:txBody>
      </p:sp>
      <p:sp>
        <p:nvSpPr>
          <p:cNvPr id="121" name="shape 121"/>
          <p:cNvSpPr txBox="1"/>
          <p:nvPr/>
        </p:nvSpPr>
        <p:spPr>
          <a:xfrm>
            <a:off x="522605" y="8053028"/>
            <a:ext cx="2419985" cy="1701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APPLICATION (See Note)</a:t>
            </a:r>
            <a:endParaRPr/>
          </a:p>
          <a:p>
            <a:pPr marL="11049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None</a:t>
            </a:r>
            <a:endParaRPr/>
          </a:p>
        </p:txBody>
      </p:sp>
      <p:sp>
        <p:nvSpPr>
          <p:cNvPr id="122" name="shape 122"/>
          <p:cNvSpPr txBox="1"/>
          <p:nvPr/>
        </p:nvSpPr>
        <p:spPr>
          <a:xfrm>
            <a:off x="522605" y="8232654"/>
            <a:ext cx="2419985" cy="188215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497330" algn="r">
              <a:lnSpc>
                <a:spcPct val="129792"/>
              </a:lnSpc>
            </a:pPr>
            <a:r>
              <a:rPr sz="500" b="1" i="1" u="sng">
                <a:latin typeface="Arial"/>
                <a:cs typeface="Arial"/>
              </a:rPr>
              <a:t>WIRING METHOD (See Note) </a:t>
            </a:r>
            <a:r>
              <a:rPr sz="450">
                <a:latin typeface="Arial"/>
                <a:cs typeface="Arial"/>
              </a:rPr>
              <a:t>Twist Tight - 5 ft (MTR, ASSY)</a:t>
            </a:r>
            <a:endParaRPr/>
          </a:p>
        </p:txBody>
      </p:sp>
      <p:sp>
        <p:nvSpPr>
          <p:cNvPr id="123" name="shape 123"/>
          <p:cNvSpPr txBox="1"/>
          <p:nvPr/>
        </p:nvSpPr>
        <p:spPr>
          <a:xfrm>
            <a:off x="522605" y="8426083"/>
            <a:ext cx="2419985" cy="1574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ENDPOINT SHIPMENT MODE</a:t>
            </a:r>
            <a:endParaRPr/>
          </a:p>
          <a:p>
            <a:pPr marL="110490">
              <a:spcBef>
                <a:spcPts val="100"/>
              </a:spcBef>
            </a:pPr>
            <a:r>
              <a:rPr sz="450">
                <a:latin typeface="Arial"/>
                <a:cs typeface="Arial"/>
              </a:rPr>
              <a:t>N/A</a:t>
            </a:r>
            <a:endParaRPr/>
          </a:p>
        </p:txBody>
      </p:sp>
      <p:sp>
        <p:nvSpPr>
          <p:cNvPr id="124" name="shape 124"/>
          <p:cNvSpPr txBox="1"/>
          <p:nvPr/>
        </p:nvSpPr>
        <p:spPr>
          <a:xfrm>
            <a:off x="522605" y="8607942"/>
            <a:ext cx="2419985" cy="1701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RESERVED</a:t>
            </a:r>
            <a:endParaRPr/>
          </a:p>
          <a:p>
            <a:pPr marL="11049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Standard</a:t>
            </a:r>
            <a:endParaRPr/>
          </a:p>
        </p:txBody>
      </p:sp>
      <p:sp>
        <p:nvSpPr>
          <p:cNvPr id="125" name="shape 125"/>
          <p:cNvSpPr txBox="1"/>
          <p:nvPr/>
        </p:nvSpPr>
        <p:spPr>
          <a:xfrm>
            <a:off x="3656965" y="7406408"/>
            <a:ext cx="153670" cy="2565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9AE</a:t>
            </a:r>
            <a:endParaRPr/>
          </a:p>
          <a:p>
            <a:pPr marL="1778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9FD</a:t>
            </a:r>
            <a:endParaRPr/>
          </a:p>
          <a:p>
            <a:pPr marL="1270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9MC</a:t>
            </a:r>
            <a:endParaRPr/>
          </a:p>
        </p:txBody>
      </p:sp>
      <p:sp>
        <p:nvSpPr>
          <p:cNvPr id="126" name="shape 126"/>
          <p:cNvSpPr txBox="1"/>
          <p:nvPr/>
        </p:nvSpPr>
        <p:spPr>
          <a:xfrm>
            <a:off x="3914775" y="7779554"/>
            <a:ext cx="97155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A3</a:t>
            </a:r>
            <a:endParaRPr/>
          </a:p>
        </p:txBody>
      </p:sp>
      <p:sp>
        <p:nvSpPr>
          <p:cNvPr id="127" name="shape 127"/>
          <p:cNvSpPr txBox="1"/>
          <p:nvPr/>
        </p:nvSpPr>
        <p:spPr>
          <a:xfrm>
            <a:off x="4085590" y="7966059"/>
            <a:ext cx="96520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Y3</a:t>
            </a:r>
            <a:endParaRPr/>
          </a:p>
        </p:txBody>
      </p:sp>
      <p:sp>
        <p:nvSpPr>
          <p:cNvPr id="128" name="shape 128"/>
          <p:cNvSpPr txBox="1"/>
          <p:nvPr/>
        </p:nvSpPr>
        <p:spPr>
          <a:xfrm>
            <a:off x="4318000" y="8152608"/>
            <a:ext cx="103505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XX</a:t>
            </a:r>
            <a:endParaRPr/>
          </a:p>
        </p:txBody>
      </p:sp>
      <p:sp>
        <p:nvSpPr>
          <p:cNvPr id="129" name="shape 129"/>
          <p:cNvSpPr txBox="1"/>
          <p:nvPr/>
        </p:nvSpPr>
        <p:spPr>
          <a:xfrm>
            <a:off x="4488180" y="8339158"/>
            <a:ext cx="100330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TF</a:t>
            </a:r>
            <a:endParaRPr/>
          </a:p>
        </p:txBody>
      </p:sp>
      <p:sp>
        <p:nvSpPr>
          <p:cNvPr id="130" name="shape 130"/>
          <p:cNvSpPr txBox="1"/>
          <p:nvPr/>
        </p:nvSpPr>
        <p:spPr>
          <a:xfrm>
            <a:off x="4720590" y="8521063"/>
            <a:ext cx="103505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XX</a:t>
            </a:r>
            <a:endParaRPr/>
          </a:p>
        </p:txBody>
      </p:sp>
      <p:sp>
        <p:nvSpPr>
          <p:cNvPr id="131" name="shape 131"/>
          <p:cNvSpPr txBox="1"/>
          <p:nvPr/>
        </p:nvSpPr>
        <p:spPr>
          <a:xfrm>
            <a:off x="4932680" y="8707613"/>
            <a:ext cx="144780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B0A</a:t>
            </a:r>
            <a:endParaRPr/>
          </a:p>
        </p:txBody>
      </p:sp>
      <p:sp>
        <p:nvSpPr>
          <p:cNvPr id="132" name="shape 132"/>
          <p:cNvSpPr txBox="1"/>
          <p:nvPr/>
        </p:nvSpPr>
        <p:spPr>
          <a:xfrm>
            <a:off x="444500" y="8913368"/>
            <a:ext cx="3469005" cy="1524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424180" algn="l"/>
              </a:tabLst>
            </a:pPr>
            <a:r>
              <a:rPr sz="1000" b="1">
                <a:solidFill>
                  <a:srgbClr val="231F20"/>
                </a:solidFill>
                <a:latin typeface="Arial"/>
                <a:cs typeface="Arial"/>
              </a:rPr>
              <a:t>NOTE:</a:t>
            </a:r>
            <a:r>
              <a:rPr sz="1000" b="1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35">
                <a:solidFill>
                  <a:srgbClr val="231F20"/>
                </a:solidFill>
                <a:latin typeface="Arial"/>
                <a:cs typeface="Arial"/>
              </a:rPr>
              <a:t>For connectivity to AquaCUE, contact your Sales Representative.</a:t>
            </a:r>
            <a:endParaRPr/>
          </a:p>
        </p:txBody>
      </p:sp>
      <p:sp>
        <p:nvSpPr>
          <p:cNvPr id="133" name="shape 133"/>
          <p:cNvSpPr txBox="1"/>
          <p:nvPr/>
        </p:nvSpPr>
        <p:spPr>
          <a:xfrm>
            <a:off x="444500" y="9486900"/>
            <a:ext cx="6655435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2835275" algn="l"/>
                <a:tab pos="5921375" algn="l"/>
              </a:tabLst>
            </a:pPr>
            <a:r>
              <a:rPr sz="900" i="1">
                <a:solidFill>
                  <a:srgbClr val="231F20"/>
                </a:solidFill>
                <a:latin typeface="Arial"/>
                <a:cs typeface="Arial"/>
              </a:rPr>
              <a:t>Page 6</a:t>
            </a:r>
            <a:r>
              <a:rPr sz="900" i="1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i="1">
                <a:solidFill>
                  <a:srgbClr val="231F20"/>
                </a:solidFill>
                <a:latin typeface="Arial"/>
                <a:cs typeface="Arial"/>
              </a:rPr>
              <a:t>ESM-DS-02202-EN-04</a:t>
            </a:r>
            <a:r>
              <a:rPr sz="900" i="1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i="1" spc="-50">
                <a:solidFill>
                  <a:srgbClr val="231F20"/>
                </a:solidFill>
                <a:latin typeface="Arial"/>
                <a:cs typeface="Arial"/>
              </a:rPr>
              <a:t>November 2018</a:t>
            </a:r>
            <a:endParaRPr/>
          </a:p>
        </p:txBody>
      </p:sp>
      <p:sp>
        <p:nvSpPr>
          <p:cNvPr id="134" name="shape 134"/>
          <p:cNvSpPr txBox="1"/>
          <p:nvPr/>
        </p:nvSpPr>
        <p:spPr>
          <a:xfrm>
            <a:off x="444500" y="881126"/>
            <a:ext cx="1492885" cy="45974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000" b="1">
                <a:solidFill>
                  <a:srgbClr val="231F20"/>
                </a:solidFill>
                <a:latin typeface="Arial"/>
                <a:cs typeface="Arial"/>
              </a:rPr>
              <a:t>Meter 3/4 x 7-1/2 inch</a:t>
            </a:r>
            <a:endParaRPr/>
          </a:p>
          <a:p>
            <a:pPr marL="85090">
              <a:spcBef>
                <a:spcPts val="500"/>
              </a:spcBef>
            </a:pPr>
            <a:r>
              <a:rPr sz="800" b="1">
                <a:latin typeface="Arial"/>
                <a:cs typeface="Arial"/>
              </a:rPr>
              <a:t>Dynasonics</a:t>
            </a:r>
            <a:endParaRPr/>
          </a:p>
          <a:p>
            <a:pPr marL="85090"/>
            <a:r>
              <a:rPr sz="800" b="1">
                <a:latin typeface="Arial"/>
                <a:cs typeface="Arial"/>
              </a:rPr>
              <a:t>U500w Ultrasonic Meters</a:t>
            </a:r>
            <a:endParaRPr/>
          </a:p>
        </p:txBody>
      </p:sp>
      <p:sp>
        <p:nvSpPr>
          <p:cNvPr id="135" name="shape 135"/>
          <p:cNvSpPr txBox="1"/>
          <p:nvPr/>
        </p:nvSpPr>
        <p:spPr>
          <a:xfrm>
            <a:off x="522605" y="7679883"/>
            <a:ext cx="2419985" cy="1701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TESTING</a:t>
            </a:r>
            <a:endParaRPr/>
          </a:p>
          <a:p>
            <a:pPr marL="11049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BADGER STD (TS-421)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85800" y="662940"/>
            <a:ext cx="6629400" cy="12700"/>
          </a:xfrm>
          <a:custGeom>
            <a:pathLst>
              <a:path w="6629400" h="12700">
                <a:moveTo>
                  <a:pt x="0" y="6350"/>
                </a:moveTo>
                <a:lnTo>
                  <a:pt x="6629400" y="6350"/>
                </a:lnTo>
              </a:path>
            </a:pathLst>
          </a:custGeom>
          <a:ln w="12700" cap="flat">
            <a:solidFill>
              <a:srgbClr val="231F20"/>
            </a:solidFill>
            <a:prstDash val="solid"/>
            <a:miter lim="4"/>
          </a:ln>
        </p:spPr>
      </p:sp>
      <p:sp>
        <p:nvSpPr>
          <p:cNvPr id="3" name="shape 3"/>
          <p:cNvSpPr/>
          <p:nvPr/>
        </p:nvSpPr>
        <p:spPr>
          <a:xfrm>
            <a:off x="685800" y="9372600"/>
            <a:ext cx="6629400" cy="12700"/>
          </a:xfrm>
          <a:custGeom>
            <a:pathLst>
              <a:path w="6629400" h="12700">
                <a:moveTo>
                  <a:pt x="0" y="6350"/>
                </a:moveTo>
                <a:lnTo>
                  <a:pt x="6629400" y="6350"/>
                </a:lnTo>
              </a:path>
            </a:pathLst>
          </a:custGeom>
          <a:ln w="12700" cap="flat">
            <a:solidFill>
              <a:srgbClr val="231F20"/>
            </a:solidFill>
            <a:prstDash val="solid"/>
            <a:miter lim="4"/>
          </a:ln>
        </p:spPr>
      </p:sp>
      <p:pic>
        <p:nvPicPr>
          <p:cNvPr id="4" name="shap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1200" y="1231900"/>
            <a:ext cx="4635501" cy="3594100"/>
          </a:xfrm>
          <a:prstGeom prst="rect"/>
        </p:spPr>
      </p:pic>
      <p:sp>
        <p:nvSpPr>
          <p:cNvPr id="5" name="shape 5"/>
          <p:cNvSpPr txBox="1"/>
          <p:nvPr/>
        </p:nvSpPr>
        <p:spPr>
          <a:xfrm>
            <a:off x="667385" y="881126"/>
            <a:ext cx="724535" cy="1524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000" b="1" spc="-25">
                <a:solidFill>
                  <a:srgbClr val="231F20"/>
                </a:solidFill>
                <a:latin typeface="Arial"/>
                <a:cs typeface="Arial"/>
              </a:rPr>
              <a:t>Meter 1 inch</a:t>
            </a:r>
            <a:endParaRPr/>
          </a:p>
        </p:txBody>
      </p:sp>
      <p:sp>
        <p:nvSpPr>
          <p:cNvPr id="6" name="shape 6"/>
          <p:cNvSpPr txBox="1"/>
          <p:nvPr/>
        </p:nvSpPr>
        <p:spPr>
          <a:xfrm>
            <a:off x="727710" y="1192688"/>
            <a:ext cx="1421130" cy="5156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800" b="1">
                <a:latin typeface="Arial"/>
                <a:cs typeface="Arial"/>
              </a:rPr>
              <a:t>Dynasonics</a:t>
            </a:r>
            <a:endParaRPr/>
          </a:p>
          <a:p>
            <a:pPr marL="12700"/>
            <a:r>
              <a:rPr sz="800" b="1" u="sng">
                <a:latin typeface="Arial"/>
                <a:cs typeface="Arial"/>
              </a:rPr>
              <a:t>U500w Ultrasonic Meters</a:t>
            </a:r>
            <a:endParaRPr/>
          </a:p>
          <a:p>
            <a:pPr marL="12700"/>
            <a:r>
              <a:rPr sz="500" b="1" i="1" u="sng">
                <a:latin typeface="Arial"/>
                <a:cs typeface="Arial"/>
              </a:rPr>
              <a:t>PRODUCT TYPE</a:t>
            </a:r>
            <a:endParaRPr/>
          </a:p>
          <a:p>
            <a:pPr marL="111760">
              <a:spcBef>
                <a:spcPts val="1000"/>
              </a:spcBef>
            </a:pPr>
            <a:r>
              <a:rPr sz="450">
                <a:latin typeface="Arial"/>
                <a:cs typeface="Arial"/>
              </a:rPr>
              <a:t>Stainless  Steel Meter</a:t>
            </a:r>
            <a:endParaRPr/>
          </a:p>
        </p:txBody>
      </p:sp>
      <p:sp>
        <p:nvSpPr>
          <p:cNvPr id="7" name="shape 7"/>
          <p:cNvSpPr txBox="1"/>
          <p:nvPr/>
        </p:nvSpPr>
        <p:spPr>
          <a:xfrm>
            <a:off x="727710" y="1724523"/>
            <a:ext cx="1421130" cy="1701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METER TYPE</a:t>
            </a:r>
            <a:endParaRPr/>
          </a:p>
          <a:p>
            <a:pPr marL="11176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1 in. (1 x 10-3/4 in.)</a:t>
            </a:r>
            <a:endParaRPr/>
          </a:p>
        </p:txBody>
      </p:sp>
      <p:sp>
        <p:nvSpPr>
          <p:cNvPr id="8" name="shape 8"/>
          <p:cNvSpPr txBox="1"/>
          <p:nvPr/>
        </p:nvSpPr>
        <p:spPr>
          <a:xfrm>
            <a:off x="727710" y="1912596"/>
            <a:ext cx="1421130" cy="264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WATER APPLICATION</a:t>
            </a:r>
            <a:endParaRPr/>
          </a:p>
          <a:p>
            <a:pPr marL="11176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Potable Water</a:t>
            </a:r>
            <a:endParaRPr/>
          </a:p>
          <a:p>
            <a:pPr marL="11176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Reclaimed Water (Stainless</a:t>
            </a:r>
            <a:r>
              <a:rPr sz="450" spc="40">
                <a:latin typeface="Arial"/>
                <a:cs typeface="Arial"/>
              </a:rPr>
              <a:t> </a:t>
            </a:r>
            <a:r>
              <a:rPr sz="450">
                <a:latin typeface="Arial"/>
                <a:cs typeface="Arial"/>
              </a:rPr>
              <a:t>Steel Meter Only)</a:t>
            </a:r>
            <a:endParaRPr/>
          </a:p>
        </p:txBody>
      </p:sp>
      <p:sp>
        <p:nvSpPr>
          <p:cNvPr id="9" name="shape 9"/>
          <p:cNvSpPr txBox="1"/>
          <p:nvPr/>
        </p:nvSpPr>
        <p:spPr>
          <a:xfrm>
            <a:off x="727710" y="2194703"/>
            <a:ext cx="1421130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CONNECTIONS  /  GASKETS</a:t>
            </a:r>
            <a:endParaRPr/>
          </a:p>
        </p:txBody>
      </p:sp>
      <p:sp>
        <p:nvSpPr>
          <p:cNvPr id="10" name="shape 10"/>
          <p:cNvSpPr txBox="1"/>
          <p:nvPr/>
        </p:nvSpPr>
        <p:spPr>
          <a:xfrm>
            <a:off x="2221865" y="1260646"/>
            <a:ext cx="126365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4765"/>
            <a:r>
              <a:rPr sz="450">
                <a:latin typeface="Arial"/>
                <a:cs typeface="Arial"/>
              </a:rPr>
              <a:t>UB</a:t>
            </a:r>
            <a:endParaRPr/>
          </a:p>
        </p:txBody>
      </p:sp>
      <p:sp>
        <p:nvSpPr>
          <p:cNvPr id="11" name="shape 11"/>
          <p:cNvSpPr txBox="1"/>
          <p:nvPr/>
        </p:nvSpPr>
        <p:spPr>
          <a:xfrm>
            <a:off x="2221865" y="1636792"/>
            <a:ext cx="126365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UB</a:t>
            </a:r>
            <a:endParaRPr/>
          </a:p>
        </p:txBody>
      </p:sp>
      <p:sp>
        <p:nvSpPr>
          <p:cNvPr id="12" name="shape 12"/>
          <p:cNvSpPr txBox="1"/>
          <p:nvPr/>
        </p:nvSpPr>
        <p:spPr>
          <a:xfrm>
            <a:off x="2367915" y="1247994"/>
            <a:ext cx="52071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13" name="shape 13"/>
          <p:cNvSpPr txBox="1"/>
          <p:nvPr/>
        </p:nvSpPr>
        <p:spPr>
          <a:xfrm>
            <a:off x="2367915" y="1378237"/>
            <a:ext cx="52071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14" name="shape 14"/>
          <p:cNvSpPr txBox="1"/>
          <p:nvPr/>
        </p:nvSpPr>
        <p:spPr>
          <a:xfrm>
            <a:off x="2435225" y="1260694"/>
            <a:ext cx="156211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ECA</a:t>
            </a:r>
            <a:endParaRPr/>
          </a:p>
        </p:txBody>
      </p:sp>
      <p:sp>
        <p:nvSpPr>
          <p:cNvPr id="15" name="shape 15"/>
          <p:cNvSpPr txBox="1"/>
          <p:nvPr/>
        </p:nvSpPr>
        <p:spPr>
          <a:xfrm>
            <a:off x="2435225" y="1824865"/>
            <a:ext cx="156211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ECA</a:t>
            </a:r>
            <a:endParaRPr/>
          </a:p>
        </p:txBody>
      </p:sp>
      <p:sp>
        <p:nvSpPr>
          <p:cNvPr id="16" name="shape 16"/>
          <p:cNvSpPr txBox="1"/>
          <p:nvPr/>
        </p:nvSpPr>
        <p:spPr>
          <a:xfrm>
            <a:off x="2602230" y="1247994"/>
            <a:ext cx="52071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17" name="shape 17"/>
          <p:cNvSpPr txBox="1"/>
          <p:nvPr/>
        </p:nvSpPr>
        <p:spPr>
          <a:xfrm>
            <a:off x="2602230" y="1378237"/>
            <a:ext cx="52071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18" name="shape 18"/>
          <p:cNvSpPr txBox="1"/>
          <p:nvPr/>
        </p:nvSpPr>
        <p:spPr>
          <a:xfrm>
            <a:off x="2711450" y="2012936"/>
            <a:ext cx="71121" cy="1625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P</a:t>
            </a:r>
            <a:endParaRPr/>
          </a:p>
          <a:p>
            <a:pPr marL="1270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R</a:t>
            </a:r>
            <a:endParaRPr/>
          </a:p>
        </p:txBody>
      </p:sp>
      <p:sp>
        <p:nvSpPr>
          <p:cNvPr id="19" name="shape 19"/>
          <p:cNvSpPr txBox="1"/>
          <p:nvPr/>
        </p:nvSpPr>
        <p:spPr>
          <a:xfrm>
            <a:off x="3060065" y="1260694"/>
            <a:ext cx="67946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X</a:t>
            </a:r>
            <a:endParaRPr/>
          </a:p>
        </p:txBody>
      </p:sp>
      <p:sp>
        <p:nvSpPr>
          <p:cNvPr id="20" name="shape 20"/>
          <p:cNvSpPr txBox="1"/>
          <p:nvPr/>
        </p:nvSpPr>
        <p:spPr>
          <a:xfrm>
            <a:off x="3180080" y="1247994"/>
            <a:ext cx="52071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21" name="shape 21"/>
          <p:cNvSpPr txBox="1"/>
          <p:nvPr/>
        </p:nvSpPr>
        <p:spPr>
          <a:xfrm>
            <a:off x="3180080" y="1378237"/>
            <a:ext cx="52071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22" name="shape 22"/>
          <p:cNvSpPr txBox="1"/>
          <p:nvPr/>
        </p:nvSpPr>
        <p:spPr>
          <a:xfrm>
            <a:off x="3273425" y="1260694"/>
            <a:ext cx="102871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E5</a:t>
            </a:r>
            <a:endParaRPr/>
          </a:p>
        </p:txBody>
      </p:sp>
      <p:sp>
        <p:nvSpPr>
          <p:cNvPr id="23" name="shape 23"/>
          <p:cNvSpPr txBox="1"/>
          <p:nvPr/>
        </p:nvSpPr>
        <p:spPr>
          <a:xfrm>
            <a:off x="3414395" y="1247994"/>
            <a:ext cx="52071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24" name="shape 24"/>
          <p:cNvSpPr txBox="1"/>
          <p:nvPr/>
        </p:nvSpPr>
        <p:spPr>
          <a:xfrm>
            <a:off x="3414395" y="1378237"/>
            <a:ext cx="52071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25" name="shape 25"/>
          <p:cNvSpPr txBox="1"/>
          <p:nvPr/>
        </p:nvSpPr>
        <p:spPr>
          <a:xfrm>
            <a:off x="3502660" y="1260694"/>
            <a:ext cx="114300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CA</a:t>
            </a:r>
            <a:endParaRPr/>
          </a:p>
        </p:txBody>
      </p:sp>
      <p:sp>
        <p:nvSpPr>
          <p:cNvPr id="26" name="shape 26"/>
          <p:cNvSpPr txBox="1"/>
          <p:nvPr/>
        </p:nvSpPr>
        <p:spPr>
          <a:xfrm>
            <a:off x="3648710" y="1247994"/>
            <a:ext cx="52071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27" name="shape 27"/>
          <p:cNvSpPr txBox="1"/>
          <p:nvPr/>
        </p:nvSpPr>
        <p:spPr>
          <a:xfrm>
            <a:off x="3648710" y="1378237"/>
            <a:ext cx="52071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28" name="shape 28"/>
          <p:cNvSpPr txBox="1"/>
          <p:nvPr/>
        </p:nvSpPr>
        <p:spPr>
          <a:xfrm>
            <a:off x="3763010" y="1260694"/>
            <a:ext cx="60961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1</a:t>
            </a:r>
            <a:endParaRPr/>
          </a:p>
        </p:txBody>
      </p:sp>
      <p:sp>
        <p:nvSpPr>
          <p:cNvPr id="29" name="shape 29"/>
          <p:cNvSpPr txBox="1"/>
          <p:nvPr/>
        </p:nvSpPr>
        <p:spPr>
          <a:xfrm>
            <a:off x="4054475" y="1247994"/>
            <a:ext cx="52071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30" name="shape 30"/>
          <p:cNvSpPr txBox="1"/>
          <p:nvPr/>
        </p:nvSpPr>
        <p:spPr>
          <a:xfrm>
            <a:off x="4054475" y="1378237"/>
            <a:ext cx="52071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31" name="shape 31"/>
          <p:cNvSpPr txBox="1"/>
          <p:nvPr/>
        </p:nvSpPr>
        <p:spPr>
          <a:xfrm>
            <a:off x="4148455" y="1260694"/>
            <a:ext cx="97155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A4</a:t>
            </a:r>
            <a:endParaRPr/>
          </a:p>
        </p:txBody>
      </p:sp>
      <p:sp>
        <p:nvSpPr>
          <p:cNvPr id="32" name="shape 32"/>
          <p:cNvSpPr txBox="1"/>
          <p:nvPr/>
        </p:nvSpPr>
        <p:spPr>
          <a:xfrm>
            <a:off x="4319905" y="1260694"/>
            <a:ext cx="97155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Y3</a:t>
            </a:r>
            <a:endParaRPr/>
          </a:p>
        </p:txBody>
      </p:sp>
      <p:sp>
        <p:nvSpPr>
          <p:cNvPr id="33" name="shape 33"/>
          <p:cNvSpPr txBox="1"/>
          <p:nvPr/>
        </p:nvSpPr>
        <p:spPr>
          <a:xfrm>
            <a:off x="4460875" y="1247994"/>
            <a:ext cx="52071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34" name="shape 34"/>
          <p:cNvSpPr txBox="1"/>
          <p:nvPr/>
        </p:nvSpPr>
        <p:spPr>
          <a:xfrm>
            <a:off x="4460875" y="1378237"/>
            <a:ext cx="52071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35" name="shape 35"/>
          <p:cNvSpPr txBox="1"/>
          <p:nvPr/>
        </p:nvSpPr>
        <p:spPr>
          <a:xfrm>
            <a:off x="4554220" y="1260694"/>
            <a:ext cx="104140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XX</a:t>
            </a:r>
            <a:endParaRPr/>
          </a:p>
        </p:txBody>
      </p:sp>
      <p:sp>
        <p:nvSpPr>
          <p:cNvPr id="36" name="shape 36"/>
          <p:cNvSpPr txBox="1"/>
          <p:nvPr/>
        </p:nvSpPr>
        <p:spPr>
          <a:xfrm>
            <a:off x="4726305" y="1260694"/>
            <a:ext cx="100330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TF</a:t>
            </a:r>
            <a:endParaRPr/>
          </a:p>
        </p:txBody>
      </p:sp>
      <p:sp>
        <p:nvSpPr>
          <p:cNvPr id="37" name="shape 37"/>
          <p:cNvSpPr txBox="1"/>
          <p:nvPr/>
        </p:nvSpPr>
        <p:spPr>
          <a:xfrm>
            <a:off x="4866640" y="1247994"/>
            <a:ext cx="52070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38" name="shape 38"/>
          <p:cNvSpPr txBox="1"/>
          <p:nvPr/>
        </p:nvSpPr>
        <p:spPr>
          <a:xfrm>
            <a:off x="4866640" y="1378237"/>
            <a:ext cx="52070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39" name="shape 39"/>
          <p:cNvSpPr txBox="1"/>
          <p:nvPr/>
        </p:nvSpPr>
        <p:spPr>
          <a:xfrm>
            <a:off x="4960620" y="1260694"/>
            <a:ext cx="104140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XX</a:t>
            </a:r>
            <a:endParaRPr/>
          </a:p>
        </p:txBody>
      </p:sp>
      <p:sp>
        <p:nvSpPr>
          <p:cNvPr id="40" name="shape 40"/>
          <p:cNvSpPr txBox="1"/>
          <p:nvPr/>
        </p:nvSpPr>
        <p:spPr>
          <a:xfrm>
            <a:off x="5100955" y="1247994"/>
            <a:ext cx="52071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b="1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41" name="shape 41"/>
          <p:cNvSpPr txBox="1"/>
          <p:nvPr/>
        </p:nvSpPr>
        <p:spPr>
          <a:xfrm>
            <a:off x="5100955" y="1378237"/>
            <a:ext cx="52071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-</a:t>
            </a:r>
            <a:endParaRPr/>
          </a:p>
        </p:txBody>
      </p:sp>
      <p:sp>
        <p:nvSpPr>
          <p:cNvPr id="42" name="shape 42"/>
          <p:cNvSpPr txBox="1"/>
          <p:nvPr/>
        </p:nvSpPr>
        <p:spPr>
          <a:xfrm>
            <a:off x="5173980" y="1260694"/>
            <a:ext cx="145416" cy="685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B0A</a:t>
            </a:r>
            <a:endParaRPr/>
          </a:p>
        </p:txBody>
      </p:sp>
      <p:sp>
        <p:nvSpPr>
          <p:cNvPr id="43" name="shape 43"/>
          <p:cNvSpPr txBox="1"/>
          <p:nvPr/>
        </p:nvSpPr>
        <p:spPr>
          <a:xfrm>
            <a:off x="727710" y="2377023"/>
            <a:ext cx="1723390" cy="18791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11760" marR="12700" algn="just">
              <a:lnSpc>
                <a:spcPct val="137061"/>
              </a:lnSpc>
            </a:pPr>
            <a:r>
              <a:rPr sz="450" spc="5">
                <a:latin typeface="Arial"/>
                <a:cs typeface="Arial"/>
              </a:rPr>
              <a:t>NL Straight - Thick Washers (Stainless Steel Meter Only) </a:t>
            </a:r>
            <a:r>
              <a:rPr sz="450">
                <a:latin typeface="Arial"/>
                <a:cs typeface="Arial"/>
              </a:rPr>
              <a:t>None - Thick Washers</a:t>
            </a:r>
            <a:endParaRPr/>
          </a:p>
        </p:txBody>
      </p:sp>
      <p:sp>
        <p:nvSpPr>
          <p:cNvPr id="44" name="shape 44"/>
          <p:cNvSpPr txBox="1"/>
          <p:nvPr/>
        </p:nvSpPr>
        <p:spPr>
          <a:xfrm>
            <a:off x="727710" y="2570803"/>
            <a:ext cx="1723390" cy="1701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ACCESSORIES</a:t>
            </a:r>
            <a:endParaRPr/>
          </a:p>
          <a:p>
            <a:pPr marL="11176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None</a:t>
            </a:r>
            <a:endParaRPr/>
          </a:p>
        </p:txBody>
      </p:sp>
      <p:sp>
        <p:nvSpPr>
          <p:cNvPr id="45" name="shape 45"/>
          <p:cNvSpPr txBox="1"/>
          <p:nvPr/>
        </p:nvSpPr>
        <p:spPr>
          <a:xfrm>
            <a:off x="727710" y="2758876"/>
            <a:ext cx="1723390" cy="1701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REGISTRATION</a:t>
            </a:r>
            <a:endParaRPr/>
          </a:p>
          <a:p>
            <a:pPr marL="11176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Encoder</a:t>
            </a:r>
            <a:endParaRPr/>
          </a:p>
        </p:txBody>
      </p:sp>
      <p:sp>
        <p:nvSpPr>
          <p:cNvPr id="46" name="shape 46"/>
          <p:cNvSpPr txBox="1"/>
          <p:nvPr/>
        </p:nvSpPr>
        <p:spPr>
          <a:xfrm>
            <a:off x="727710" y="2946947"/>
            <a:ext cx="1723390" cy="1701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TECHNOLOGY</a:t>
            </a:r>
            <a:endParaRPr/>
          </a:p>
          <a:p>
            <a:pPr marL="11176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Meter with Cable (No Endpoint)</a:t>
            </a:r>
            <a:endParaRPr/>
          </a:p>
        </p:txBody>
      </p:sp>
      <p:sp>
        <p:nvSpPr>
          <p:cNvPr id="47" name="shape 47"/>
          <p:cNvSpPr txBox="1"/>
          <p:nvPr/>
        </p:nvSpPr>
        <p:spPr>
          <a:xfrm>
            <a:off x="727710" y="3135065"/>
            <a:ext cx="1723390" cy="1701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REGISTRATION FACE</a:t>
            </a:r>
            <a:endParaRPr/>
          </a:p>
          <a:p>
            <a:pPr marL="11176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Standard</a:t>
            </a:r>
            <a:endParaRPr/>
          </a:p>
        </p:txBody>
      </p:sp>
      <p:sp>
        <p:nvSpPr>
          <p:cNvPr id="48" name="shape 48"/>
          <p:cNvSpPr txBox="1"/>
          <p:nvPr/>
        </p:nvSpPr>
        <p:spPr>
          <a:xfrm>
            <a:off x="2862580" y="2389126"/>
            <a:ext cx="112396" cy="1625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SC</a:t>
            </a:r>
            <a:endParaRPr/>
          </a:p>
          <a:p>
            <a:pPr marL="1778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XT</a:t>
            </a:r>
            <a:endParaRPr/>
          </a:p>
        </p:txBody>
      </p:sp>
      <p:sp>
        <p:nvSpPr>
          <p:cNvPr id="49" name="shape 49"/>
          <p:cNvSpPr txBox="1"/>
          <p:nvPr/>
        </p:nvSpPr>
        <p:spPr>
          <a:xfrm>
            <a:off x="3060065" y="2671234"/>
            <a:ext cx="67946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X</a:t>
            </a:r>
            <a:endParaRPr/>
          </a:p>
        </p:txBody>
      </p:sp>
      <p:sp>
        <p:nvSpPr>
          <p:cNvPr id="50" name="shape 50"/>
          <p:cNvSpPr txBox="1"/>
          <p:nvPr/>
        </p:nvSpPr>
        <p:spPr>
          <a:xfrm>
            <a:off x="3273425" y="2859307"/>
            <a:ext cx="102871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E5</a:t>
            </a:r>
            <a:endParaRPr/>
          </a:p>
        </p:txBody>
      </p:sp>
      <p:sp>
        <p:nvSpPr>
          <p:cNvPr id="51" name="shape 51"/>
          <p:cNvSpPr txBox="1"/>
          <p:nvPr/>
        </p:nvSpPr>
        <p:spPr>
          <a:xfrm>
            <a:off x="3502660" y="3047333"/>
            <a:ext cx="114300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CA</a:t>
            </a:r>
            <a:endParaRPr/>
          </a:p>
        </p:txBody>
      </p:sp>
      <p:sp>
        <p:nvSpPr>
          <p:cNvPr id="52" name="shape 52"/>
          <p:cNvSpPr txBox="1"/>
          <p:nvPr/>
        </p:nvSpPr>
        <p:spPr>
          <a:xfrm>
            <a:off x="3763010" y="3235405"/>
            <a:ext cx="60961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1</a:t>
            </a:r>
            <a:endParaRPr/>
          </a:p>
        </p:txBody>
      </p:sp>
      <p:sp>
        <p:nvSpPr>
          <p:cNvPr id="53" name="shape 53"/>
          <p:cNvSpPr txBox="1"/>
          <p:nvPr/>
        </p:nvSpPr>
        <p:spPr>
          <a:xfrm>
            <a:off x="3405505" y="428625"/>
            <a:ext cx="3923665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i="1" spc="-55">
                <a:solidFill>
                  <a:srgbClr val="231F20"/>
                </a:solidFill>
                <a:latin typeface="Arial"/>
                <a:cs typeface="Arial"/>
              </a:rPr>
              <a:t>U500w Ultrasonic Meter, Cold Water Stainless Steel Meter, 5/8, 5/8 x 3/4, 3/4 and 1 inch</a:t>
            </a:r>
            <a:endParaRPr/>
          </a:p>
        </p:txBody>
      </p:sp>
      <p:sp>
        <p:nvSpPr>
          <p:cNvPr id="54" name="shape 54"/>
          <p:cNvSpPr txBox="1"/>
          <p:nvPr/>
        </p:nvSpPr>
        <p:spPr>
          <a:xfrm>
            <a:off x="727710" y="3699236"/>
            <a:ext cx="2440305" cy="1701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TESTING</a:t>
            </a:r>
            <a:endParaRPr/>
          </a:p>
          <a:p>
            <a:pPr marL="11176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BADGER STD (TS-422)</a:t>
            </a:r>
            <a:endParaRPr/>
          </a:p>
        </p:txBody>
      </p:sp>
      <p:sp>
        <p:nvSpPr>
          <p:cNvPr id="55" name="shape 55"/>
          <p:cNvSpPr txBox="1"/>
          <p:nvPr/>
        </p:nvSpPr>
        <p:spPr>
          <a:xfrm>
            <a:off x="727710" y="3887309"/>
            <a:ext cx="2440305" cy="1701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SERIALIZATION</a:t>
            </a:r>
            <a:endParaRPr/>
          </a:p>
          <a:p>
            <a:pPr marL="11176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Year of Mfg | 9 Digit S/N | Barcoded | Primary and Lid Outside</a:t>
            </a:r>
            <a:endParaRPr/>
          </a:p>
        </p:txBody>
      </p:sp>
      <p:sp>
        <p:nvSpPr>
          <p:cNvPr id="56" name="shape 56"/>
          <p:cNvSpPr txBox="1"/>
          <p:nvPr/>
        </p:nvSpPr>
        <p:spPr>
          <a:xfrm>
            <a:off x="727710" y="4075426"/>
            <a:ext cx="2440305" cy="1701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APPLICATION (See Note)</a:t>
            </a:r>
            <a:endParaRPr/>
          </a:p>
          <a:p>
            <a:pPr marL="11176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None</a:t>
            </a:r>
            <a:endParaRPr/>
          </a:p>
        </p:txBody>
      </p:sp>
      <p:sp>
        <p:nvSpPr>
          <p:cNvPr id="57" name="shape 57"/>
          <p:cNvSpPr txBox="1"/>
          <p:nvPr/>
        </p:nvSpPr>
        <p:spPr>
          <a:xfrm>
            <a:off x="727710" y="4255985"/>
            <a:ext cx="2440305" cy="189662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510030" algn="r">
              <a:lnSpc>
                <a:spcPct val="130850"/>
              </a:lnSpc>
            </a:pPr>
            <a:r>
              <a:rPr sz="500" b="1" i="1" u="sng">
                <a:latin typeface="Arial"/>
                <a:cs typeface="Arial"/>
              </a:rPr>
              <a:t>WIRING METHOD (See Note) </a:t>
            </a:r>
            <a:r>
              <a:rPr sz="450">
                <a:latin typeface="Arial"/>
                <a:cs typeface="Arial"/>
              </a:rPr>
              <a:t>Twist Tight - 5 ft (MTR, ASSY)</a:t>
            </a:r>
            <a:endParaRPr/>
          </a:p>
        </p:txBody>
      </p:sp>
      <p:sp>
        <p:nvSpPr>
          <p:cNvPr id="58" name="shape 58"/>
          <p:cNvSpPr txBox="1"/>
          <p:nvPr/>
        </p:nvSpPr>
        <p:spPr>
          <a:xfrm>
            <a:off x="727710" y="4451525"/>
            <a:ext cx="2440305" cy="1701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ENDPOINT SHIPMENT MODE</a:t>
            </a:r>
            <a:endParaRPr/>
          </a:p>
          <a:p>
            <a:pPr marL="11176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N/A</a:t>
            </a:r>
            <a:endParaRPr/>
          </a:p>
        </p:txBody>
      </p:sp>
      <p:sp>
        <p:nvSpPr>
          <p:cNvPr id="59" name="shape 59"/>
          <p:cNvSpPr txBox="1"/>
          <p:nvPr/>
        </p:nvSpPr>
        <p:spPr>
          <a:xfrm>
            <a:off x="727710" y="4634868"/>
            <a:ext cx="2440305" cy="1701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RESERVED</a:t>
            </a:r>
            <a:endParaRPr/>
          </a:p>
          <a:p>
            <a:pPr marL="11176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Standard</a:t>
            </a:r>
            <a:endParaRPr/>
          </a:p>
        </p:txBody>
      </p:sp>
      <p:sp>
        <p:nvSpPr>
          <p:cNvPr id="60" name="shape 60"/>
          <p:cNvSpPr txBox="1"/>
          <p:nvPr/>
        </p:nvSpPr>
        <p:spPr>
          <a:xfrm>
            <a:off x="3888105" y="3423478"/>
            <a:ext cx="154305" cy="25654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450">
                <a:latin typeface="Arial"/>
                <a:cs typeface="Arial"/>
              </a:rPr>
              <a:t>9AE</a:t>
            </a:r>
            <a:endParaRPr/>
          </a:p>
          <a:p>
            <a:pPr marL="1778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9FD</a:t>
            </a:r>
            <a:endParaRPr/>
          </a:p>
          <a:p>
            <a:pPr marL="12700">
              <a:spcBef>
                <a:spcPts val="200"/>
              </a:spcBef>
            </a:pPr>
            <a:r>
              <a:rPr sz="450">
                <a:latin typeface="Arial"/>
                <a:cs typeface="Arial"/>
              </a:rPr>
              <a:t>9MC</a:t>
            </a:r>
            <a:endParaRPr/>
          </a:p>
        </p:txBody>
      </p:sp>
      <p:sp>
        <p:nvSpPr>
          <p:cNvPr id="61" name="shape 61"/>
          <p:cNvSpPr txBox="1"/>
          <p:nvPr/>
        </p:nvSpPr>
        <p:spPr>
          <a:xfrm>
            <a:off x="727710" y="3323138"/>
            <a:ext cx="2440305" cy="358089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 b="1" i="1" u="sng">
                <a:latin typeface="Arial"/>
                <a:cs typeface="Arial"/>
              </a:rPr>
              <a:t>UNIT OF MEASURE</a:t>
            </a:r>
            <a:r>
              <a:rPr sz="500" b="1" i="1" u="sng" spc="40">
                <a:latin typeface="Arial"/>
                <a:cs typeface="Arial"/>
              </a:rPr>
              <a:t> </a:t>
            </a:r>
            <a:r>
              <a:rPr sz="500" b="1" i="1" u="sng">
                <a:latin typeface="Arial"/>
                <a:cs typeface="Arial"/>
              </a:rPr>
              <a:t>/</a:t>
            </a:r>
            <a:r>
              <a:rPr sz="500" b="1" i="1" u="sng" spc="40">
                <a:latin typeface="Arial"/>
                <a:cs typeface="Arial"/>
              </a:rPr>
              <a:t> </a:t>
            </a:r>
            <a:r>
              <a:rPr sz="500" b="1" i="1" u="sng">
                <a:latin typeface="Arial"/>
                <a:cs typeface="Arial"/>
              </a:rPr>
              <a:t>DIAL RESOLUTION OUTPUT /</a:t>
            </a:r>
            <a:r>
              <a:rPr sz="500" b="1" i="1" u="sng" spc="40">
                <a:latin typeface="Arial"/>
                <a:cs typeface="Arial"/>
              </a:rPr>
              <a:t> </a:t>
            </a:r>
            <a:r>
              <a:rPr sz="500" b="1" i="1" u="sng">
                <a:latin typeface="Arial"/>
                <a:cs typeface="Arial"/>
              </a:rPr>
              <a:t>VISUAL BILLING UNITS</a:t>
            </a:r>
            <a:endParaRPr/>
          </a:p>
          <a:p>
            <a:pPr marL="111760" marR="1439545" algn="just">
              <a:lnSpc>
                <a:spcPct val="137225"/>
              </a:lnSpc>
              <a:spcBef>
                <a:spcPts val="200"/>
              </a:spcBef>
            </a:pPr>
            <a:r>
              <a:rPr sz="450" spc="10">
                <a:latin typeface="Arial"/>
                <a:cs typeface="Arial"/>
              </a:rPr>
              <a:t>9 Dial - 0.01 Gallon, GPM, 1000 </a:t>
            </a:r>
            <a:r>
              <a:rPr sz="450">
                <a:latin typeface="Arial"/>
                <a:cs typeface="Arial"/>
              </a:rPr>
              <a:t>9 Dial - 0.001 ft3, GPM, 100</a:t>
            </a:r>
            <a:endParaRPr/>
          </a:p>
          <a:p>
            <a:pPr marL="111760" algn="just"/>
            <a:r>
              <a:rPr sz="450">
                <a:latin typeface="Arial"/>
                <a:cs typeface="Arial"/>
              </a:rPr>
              <a:t>9 Dial - 0.0001 M3, GPM, 10</a:t>
            </a:r>
            <a:endParaRPr/>
          </a:p>
        </p:txBody>
      </p:sp>
      <p:sp>
        <p:nvSpPr>
          <p:cNvPr id="62" name="shape 62"/>
          <p:cNvSpPr txBox="1"/>
          <p:nvPr/>
        </p:nvSpPr>
        <p:spPr>
          <a:xfrm>
            <a:off x="4319905" y="3987695"/>
            <a:ext cx="97155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Y3</a:t>
            </a:r>
            <a:endParaRPr/>
          </a:p>
        </p:txBody>
      </p:sp>
      <p:sp>
        <p:nvSpPr>
          <p:cNvPr id="63" name="shape 63"/>
          <p:cNvSpPr txBox="1"/>
          <p:nvPr/>
        </p:nvSpPr>
        <p:spPr>
          <a:xfrm>
            <a:off x="4554220" y="4175767"/>
            <a:ext cx="104140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XX</a:t>
            </a:r>
            <a:endParaRPr/>
          </a:p>
        </p:txBody>
      </p:sp>
      <p:sp>
        <p:nvSpPr>
          <p:cNvPr id="64" name="shape 64"/>
          <p:cNvSpPr txBox="1"/>
          <p:nvPr/>
        </p:nvSpPr>
        <p:spPr>
          <a:xfrm>
            <a:off x="4726305" y="4363840"/>
            <a:ext cx="100966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TF</a:t>
            </a:r>
            <a:endParaRPr/>
          </a:p>
        </p:txBody>
      </p:sp>
      <p:sp>
        <p:nvSpPr>
          <p:cNvPr id="65" name="shape 65"/>
          <p:cNvSpPr txBox="1"/>
          <p:nvPr/>
        </p:nvSpPr>
        <p:spPr>
          <a:xfrm>
            <a:off x="4960620" y="4547228"/>
            <a:ext cx="104140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XX</a:t>
            </a:r>
            <a:endParaRPr/>
          </a:p>
        </p:txBody>
      </p:sp>
      <p:sp>
        <p:nvSpPr>
          <p:cNvPr id="66" name="shape 66"/>
          <p:cNvSpPr txBox="1"/>
          <p:nvPr/>
        </p:nvSpPr>
        <p:spPr>
          <a:xfrm>
            <a:off x="5173980" y="4735299"/>
            <a:ext cx="145416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B0A</a:t>
            </a:r>
            <a:endParaRPr/>
          </a:p>
        </p:txBody>
      </p:sp>
      <p:sp>
        <p:nvSpPr>
          <p:cNvPr id="67" name="shape 67"/>
          <p:cNvSpPr txBox="1"/>
          <p:nvPr/>
        </p:nvSpPr>
        <p:spPr>
          <a:xfrm>
            <a:off x="667385" y="4988179"/>
            <a:ext cx="3469006" cy="1524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424180" algn="l"/>
              </a:tabLst>
            </a:pPr>
            <a:r>
              <a:rPr sz="1000" b="1">
                <a:solidFill>
                  <a:srgbClr val="231F20"/>
                </a:solidFill>
                <a:latin typeface="Arial"/>
                <a:cs typeface="Arial"/>
              </a:rPr>
              <a:t>NOTE:</a:t>
            </a:r>
            <a:r>
              <a:rPr sz="1000" b="1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35">
                <a:solidFill>
                  <a:srgbClr val="231F20"/>
                </a:solidFill>
                <a:latin typeface="Arial"/>
                <a:cs typeface="Arial"/>
              </a:rPr>
              <a:t>For connectivity to AquaCUE, contact your Sales Representative.</a:t>
            </a:r>
            <a:endParaRPr/>
          </a:p>
        </p:txBody>
      </p:sp>
      <p:sp>
        <p:nvSpPr>
          <p:cNvPr id="68" name="shape 68"/>
          <p:cNvSpPr txBox="1"/>
          <p:nvPr/>
        </p:nvSpPr>
        <p:spPr>
          <a:xfrm>
            <a:off x="673100" y="9486900"/>
            <a:ext cx="6655435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2835275" algn="l"/>
                <a:tab pos="6337935" algn="l"/>
              </a:tabLst>
            </a:pPr>
            <a:r>
              <a:rPr sz="900" i="1">
                <a:solidFill>
                  <a:srgbClr val="231F20"/>
                </a:solidFill>
                <a:latin typeface="Arial"/>
                <a:cs typeface="Arial"/>
              </a:rPr>
              <a:t>November 2018</a:t>
            </a:r>
            <a:r>
              <a:rPr sz="900" i="1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i="1">
                <a:solidFill>
                  <a:srgbClr val="231F20"/>
                </a:solidFill>
                <a:latin typeface="Arial"/>
                <a:cs typeface="Arial"/>
              </a:rPr>
              <a:t>ESM-DS-02202-EN-04</a:t>
            </a:r>
            <a:r>
              <a:rPr sz="900" i="1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i="1" spc="-65">
                <a:solidFill>
                  <a:srgbClr val="231F20"/>
                </a:solidFill>
                <a:latin typeface="Arial"/>
                <a:cs typeface="Arial"/>
              </a:rPr>
              <a:t>Page 7</a:t>
            </a:r>
            <a:endParaRPr/>
          </a:p>
        </p:txBody>
      </p:sp>
      <p:sp>
        <p:nvSpPr>
          <p:cNvPr id="69" name="shape 69"/>
          <p:cNvSpPr txBox="1"/>
          <p:nvPr/>
        </p:nvSpPr>
        <p:spPr>
          <a:xfrm>
            <a:off x="4148455" y="3799669"/>
            <a:ext cx="97155" cy="68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450">
                <a:latin typeface="Arial"/>
                <a:cs typeface="Arial"/>
              </a:rPr>
              <a:t>A4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521" y="8838028"/>
            <a:ext cx="6629082" cy="12700"/>
          </a:xfrm>
          <a:custGeom>
            <a:pathLst>
              <a:path w="6629082" h="12700">
                <a:moveTo>
                  <a:pt x="0" y="6350"/>
                </a:moveTo>
                <a:lnTo>
                  <a:pt x="6629082" y="6350"/>
                </a:lnTo>
              </a:path>
            </a:pathLst>
          </a:custGeom>
          <a:ln w="12700" cap="flat">
            <a:solidFill>
              <a:srgbClr val="7F8080"/>
            </a:solidFill>
            <a:prstDash val="solid"/>
            <a:miter lim="4"/>
          </a:ln>
        </p:spPr>
      </p:sp>
      <p:sp>
        <p:nvSpPr>
          <p:cNvPr id="3" name="shape 3"/>
          <p:cNvSpPr/>
          <p:nvPr/>
        </p:nvSpPr>
        <p:spPr>
          <a:xfrm>
            <a:off x="457200" y="662940"/>
            <a:ext cx="6629400" cy="12700"/>
          </a:xfrm>
          <a:custGeom>
            <a:pathLst>
              <a:path w="6629400" h="12700">
                <a:moveTo>
                  <a:pt x="0" y="6350"/>
                </a:moveTo>
                <a:lnTo>
                  <a:pt x="6629400" y="6350"/>
                </a:lnTo>
              </a:path>
            </a:pathLst>
          </a:custGeom>
          <a:ln w="12700" cap="flat">
            <a:solidFill>
              <a:srgbClr val="231F20"/>
            </a:solidFill>
            <a:prstDash val="solid"/>
            <a:miter lim="4"/>
          </a:ln>
        </p:spPr>
      </p:sp>
      <p:sp>
        <p:nvSpPr>
          <p:cNvPr id="4" name="shape 4"/>
          <p:cNvSpPr txBox="1"/>
          <p:nvPr/>
        </p:nvSpPr>
        <p:spPr>
          <a:xfrm>
            <a:off x="431800" y="417521"/>
            <a:ext cx="3923030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i="1" spc="-55">
                <a:solidFill>
                  <a:srgbClr val="231F20"/>
                </a:solidFill>
                <a:latin typeface="Arial"/>
                <a:cs typeface="Arial"/>
              </a:rPr>
              <a:t>U500w Ultrasonic Meter, Cold Water Stainless Steel Meter, 5/8, 5/8 x 3/4, 3/4 and 1 inch</a:t>
            </a:r>
            <a:endParaRPr/>
          </a:p>
        </p:txBody>
      </p:sp>
      <p:sp>
        <p:nvSpPr>
          <p:cNvPr id="5" name="shape 5"/>
          <p:cNvSpPr txBox="1"/>
          <p:nvPr/>
        </p:nvSpPr>
        <p:spPr>
          <a:xfrm>
            <a:off x="444500" y="8112379"/>
            <a:ext cx="6547485" cy="678994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algn="just"/>
            <a:r>
              <a:rPr sz="1100" b="1">
                <a:solidFill>
                  <a:srgbClr val="FF0000"/>
                </a:solidFill>
                <a:latin typeface="Arial"/>
                <a:cs typeface="Arial"/>
              </a:rPr>
              <a:t>Control. Manage. Optimize.</a:t>
            </a:r>
            <a:endParaRPr/>
          </a:p>
          <a:p>
            <a:pPr marL="12700" marR="12700" algn="just">
              <a:lnSpc>
                <a:spcPct val="103993"/>
              </a:lnSpc>
              <a:spcBef>
                <a:spcPts val="300"/>
              </a:spcBef>
            </a:pPr>
            <a:r>
              <a:rPr sz="700" spc="-25">
                <a:solidFill>
                  <a:srgbClr val="7F8080"/>
                </a:solidFill>
                <a:latin typeface="Arial"/>
                <a:cs typeface="Arial"/>
              </a:rPr>
              <a:t>Dynasonics is a registered trademark of Badger Meter, Inc. Other trademarks appearing in this document are the property of their respective entities. Due to continuous research, </a:t>
            </a:r>
            <a:r>
              <a:rPr sz="700" spc="-10">
                <a:solidFill>
                  <a:srgbClr val="7F8080"/>
                </a:solidFill>
                <a:latin typeface="Arial"/>
                <a:cs typeface="Arial"/>
              </a:rPr>
              <a:t>product improvements and enhancements, Badger Meter reserves the right to change product or system specifications without notice, except to the extent an outstanding</a:t>
            </a:r>
            <a:endParaRPr/>
          </a:p>
          <a:p>
            <a:pPr marL="12700" marR="3803650" algn="just">
              <a:lnSpc>
                <a:spcPct val="87176"/>
              </a:lnSpc>
              <a:spcBef>
                <a:spcPts val="100"/>
              </a:spcBef>
            </a:pPr>
            <a:r>
              <a:rPr sz="700" spc="-25">
                <a:solidFill>
                  <a:srgbClr val="7F8080"/>
                </a:solidFill>
                <a:latin typeface="Arial"/>
                <a:cs typeface="Arial"/>
              </a:rPr>
              <a:t>contractual obligation exists. © 2018 Badger Meter, Inc. All rights reserved. </a:t>
            </a:r>
            <a:r>
              <a:rPr sz="1100" b="1">
                <a:solidFill>
                  <a:srgbClr val="231F20"/>
                </a:solidFill>
                <a:latin typeface="Arial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www.badgermeter.com</a:t>
            </a:r>
            <a:endParaRPr/>
          </a:p>
        </p:txBody>
      </p:sp>
      <p:sp>
        <p:nvSpPr>
          <p:cNvPr id="6" name="shape 6"/>
          <p:cNvSpPr txBox="1"/>
          <p:nvPr/>
        </p:nvSpPr>
        <p:spPr>
          <a:xfrm>
            <a:off x="444500" y="8888222"/>
            <a:ext cx="6547485" cy="716535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1590"/>
            <a:r>
              <a:rPr sz="600" b="1">
                <a:solidFill>
                  <a:srgbClr val="7F8080"/>
                </a:solidFill>
                <a:latin typeface="Arial"/>
                <a:cs typeface="Arial"/>
              </a:rPr>
              <a:t>The Americas | Badger Meter </a:t>
            </a:r>
            <a:r>
              <a:rPr sz="600">
                <a:solidFill>
                  <a:srgbClr val="7F8080"/>
                </a:solidFill>
                <a:latin typeface="Arial"/>
                <a:cs typeface="Arial"/>
              </a:rPr>
              <a:t>| 4545 West Brown Deer Rd | PO Box 245036 | Milwaukee, WI 53224-9536 | 800-876-3837 | 414-355-0400</a:t>
            </a:r>
            <a:endParaRPr/>
          </a:p>
          <a:p>
            <a:pPr marL="21590" marR="694055">
              <a:lnSpc>
                <a:spcPct val="97389"/>
              </a:lnSpc>
            </a:pPr>
            <a:r>
              <a:rPr sz="600" b="1" spc="-35">
                <a:solidFill>
                  <a:srgbClr val="7F8080"/>
                </a:solidFill>
                <a:latin typeface="Arial"/>
                <a:cs typeface="Arial"/>
              </a:rPr>
              <a:t>México | Badger Meter de las Americas, S.A. de C.V. </a:t>
            </a:r>
            <a:r>
              <a:rPr sz="600" spc="-35">
                <a:solidFill>
                  <a:srgbClr val="7F8080"/>
                </a:solidFill>
                <a:latin typeface="Arial"/>
                <a:cs typeface="Arial"/>
              </a:rPr>
              <a:t>| Pedro Luis Ogazón N°32 | Esq. Angelina N°24 | Colonia Guadalupe Inn | CP 01050 | México, DF | México | +52-55-5662-0882 </a:t>
            </a:r>
            <a:r>
              <a:rPr sz="600" b="1" spc="-40">
                <a:solidFill>
                  <a:srgbClr val="7F8080"/>
                </a:solidFill>
                <a:latin typeface="Arial"/>
                <a:cs typeface="Arial"/>
              </a:rPr>
              <a:t>Europe, Eastern Europe Branch Office (for Poland, Latvia, Lithuania, Estonia, Ukraine, Belarus) </a:t>
            </a:r>
            <a:r>
              <a:rPr sz="600" spc="-40">
                <a:solidFill>
                  <a:srgbClr val="7F8080"/>
                </a:solidFill>
                <a:latin typeface="Arial"/>
                <a:cs typeface="Arial"/>
              </a:rPr>
              <a:t>| Badger Meter Europe | ul. Korfantego 6 | 44-193 Knurów | Poland | +48-32-236-8787 </a:t>
            </a:r>
            <a:r>
              <a:rPr sz="600" b="1">
                <a:solidFill>
                  <a:srgbClr val="7F8080"/>
                </a:solidFill>
                <a:latin typeface="Arial"/>
                <a:cs typeface="Arial"/>
              </a:rPr>
              <a:t>Europe, Middle East and Africa | Badger Meter Europa GmbH </a:t>
            </a:r>
            <a:r>
              <a:rPr sz="600">
                <a:solidFill>
                  <a:srgbClr val="7F8080"/>
                </a:solidFill>
                <a:latin typeface="Arial"/>
                <a:cs typeface="Arial"/>
              </a:rPr>
              <a:t>| Nurtinger Str 76 | 72639 Neuffen | Germany | +49-7025-9208-0</a:t>
            </a:r>
            <a:endParaRPr/>
          </a:p>
          <a:p>
            <a:pPr marL="21590" marR="984885" algn="just">
              <a:lnSpc>
                <a:spcPct val="97389"/>
              </a:lnSpc>
            </a:pPr>
            <a:r>
              <a:rPr sz="600" b="1" spc="-35">
                <a:solidFill>
                  <a:srgbClr val="7F8080"/>
                </a:solidFill>
                <a:latin typeface="Arial"/>
                <a:cs typeface="Arial"/>
              </a:rPr>
              <a:t>Europe, Middle East Branch Office | Badger Meter Europe </a:t>
            </a:r>
            <a:r>
              <a:rPr sz="600" spc="-35">
                <a:solidFill>
                  <a:srgbClr val="7F8080"/>
                </a:solidFill>
                <a:latin typeface="Arial"/>
                <a:cs typeface="Arial"/>
              </a:rPr>
              <a:t>| PO Box 341442 | Dubai Silicon Oasis, Head Quarter Building, Wing C, Office #C209 | Dubai / UAE | +971-4-371 2503 </a:t>
            </a:r>
            <a:r>
              <a:rPr sz="600" b="1">
                <a:solidFill>
                  <a:srgbClr val="7F8080"/>
                </a:solidFill>
                <a:latin typeface="Arial"/>
                <a:cs typeface="Arial"/>
              </a:rPr>
              <a:t>Slovakia | Badger Meter Slovakia s.r.o. </a:t>
            </a:r>
            <a:r>
              <a:rPr sz="600">
                <a:solidFill>
                  <a:srgbClr val="7F8080"/>
                </a:solidFill>
                <a:latin typeface="Arial"/>
                <a:cs typeface="Arial"/>
              </a:rPr>
              <a:t>| Racianska 109/B | 831 02 Bratislava, Slovakia | +421-2-44 63 83 01</a:t>
            </a:r>
            <a:endParaRPr/>
          </a:p>
          <a:p>
            <a:pPr marL="21590" algn="just"/>
            <a:r>
              <a:rPr sz="600" b="1">
                <a:solidFill>
                  <a:srgbClr val="7F8080"/>
                </a:solidFill>
                <a:latin typeface="Arial"/>
                <a:cs typeface="Arial"/>
              </a:rPr>
              <a:t>Asia Pacific | Badger Meter </a:t>
            </a:r>
            <a:r>
              <a:rPr sz="600">
                <a:solidFill>
                  <a:srgbClr val="7F8080"/>
                </a:solidFill>
                <a:latin typeface="Arial"/>
                <a:cs typeface="Arial"/>
              </a:rPr>
              <a:t>| 80 Marine Parade Rd | 21-06 Parkway Parade | Singapore 449269 | +65-63464836</a:t>
            </a:r>
            <a:endParaRPr/>
          </a:p>
          <a:p>
            <a:pPr marL="21590" algn="just">
              <a:lnSpc>
                <a:spcPts val="710"/>
              </a:lnSpc>
            </a:pPr>
            <a:r>
              <a:rPr sz="600" b="1">
                <a:solidFill>
                  <a:srgbClr val="7F8080"/>
                </a:solidFill>
                <a:latin typeface="Arial"/>
                <a:cs typeface="Arial"/>
              </a:rPr>
              <a:t>Switzerland | Badger Meter Swiss AG </a:t>
            </a:r>
            <a:r>
              <a:rPr sz="600">
                <a:solidFill>
                  <a:srgbClr val="7F8080"/>
                </a:solidFill>
                <a:latin typeface="Arial"/>
                <a:cs typeface="Arial"/>
              </a:rPr>
              <a:t>| Mittelholzerstrasse 8 | 3006 Bern | Switzerland | +41-31-932 01 11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Company>Avanquest</Company>
  <Application>Avanquest Pdf2Office Converter v.0.91.2025103001.0</Application>
  <PresentationFormat>On-screen Show (4:3)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2039121</dc:title>
  <dc:subject/>
  <dc:creator>Adobe PDF Library 15.0</dc:creator>
  <cp:keywords/>
  <dc:description/>
  <cp:lastModifiedBy/>
  <cp:revision>1</cp:revision>
  <cp:category>pdf2pptx</cp:category>
  <cp:contentStatus>Created with Avanquest.Pdf 0.91.2025103001.0</cp:contentStatus>
  <dcterms:created xsi:type="dcterms:W3CDTF">2018-11-05T22:05:52+0000</dcterms:created>
  <dcterms:modified xsi:type="dcterms:W3CDTF">2018-11-05T22:05:56+0000</dcterms:modified>
</cp:coreProperties>
</file>